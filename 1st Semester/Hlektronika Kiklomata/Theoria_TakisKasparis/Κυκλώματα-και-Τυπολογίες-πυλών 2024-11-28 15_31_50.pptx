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256" r:id="rId3"/>
    <p:sldId id="261" r:id="rId4"/>
    <p:sldId id="263" r:id="rId5"/>
    <p:sldId id="270" r:id="rId6"/>
    <p:sldId id="260" r:id="rId7"/>
    <p:sldId id="264" r:id="rId8"/>
    <p:sldId id="284" r:id="rId9"/>
    <p:sldId id="285" r:id="rId10"/>
    <p:sldId id="286" r:id="rId11"/>
    <p:sldId id="287" r:id="rId12"/>
    <p:sldId id="288" r:id="rId13"/>
    <p:sldId id="289" r:id="rId14"/>
    <p:sldId id="290" r:id="rId15"/>
    <p:sldId id="267" r:id="rId16"/>
    <p:sldId id="269" r:id="rId17"/>
    <p:sldId id="262" r:id="rId18"/>
    <p:sldId id="257" r:id="rId19"/>
    <p:sldId id="258" r:id="rId20"/>
    <p:sldId id="278" r:id="rId21"/>
    <p:sldId id="280" r:id="rId22"/>
    <p:sldId id="272" r:id="rId23"/>
    <p:sldId id="273" r:id="rId24"/>
    <p:sldId id="274" r:id="rId25"/>
    <p:sldId id="275" r:id="rId26"/>
    <p:sldId id="276" r:id="rId27"/>
    <p:sldId id="277" r:id="rId28"/>
    <p:sldId id="27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32" autoAdjust="0"/>
    <p:restoredTop sz="94513" autoAdjust="0"/>
  </p:normalViewPr>
  <p:slideViewPr>
    <p:cSldViewPr snapToGrid="0">
      <p:cViewPr>
        <p:scale>
          <a:sx n="66" d="100"/>
          <a:sy n="66" d="100"/>
        </p:scale>
        <p:origin x="32" y="9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ios A. Karyos" userId="f01b131e-ede6-4a9b-992a-25a6022f7e2b" providerId="ADAL" clId="{B963D793-951D-4D77-AC94-E69117B0E5D0}"/>
    <pc:docChg chg="modSld">
      <pc:chgData name="Georgios A. Karyos" userId="f01b131e-ede6-4a9b-992a-25a6022f7e2b" providerId="ADAL" clId="{B963D793-951D-4D77-AC94-E69117B0E5D0}" dt="2024-11-29T12:40:43.586" v="2" actId="20577"/>
      <pc:docMkLst>
        <pc:docMk/>
      </pc:docMkLst>
      <pc:sldChg chg="modSp mod">
        <pc:chgData name="Georgios A. Karyos" userId="f01b131e-ede6-4a9b-992a-25a6022f7e2b" providerId="ADAL" clId="{B963D793-951D-4D77-AC94-E69117B0E5D0}" dt="2024-11-29T12:40:43.586" v="2" actId="20577"/>
        <pc:sldMkLst>
          <pc:docMk/>
          <pc:sldMk cId="1668879900" sldId="275"/>
        </pc:sldMkLst>
        <pc:spChg chg="mod">
          <ac:chgData name="Georgios A. Karyos" userId="f01b131e-ede6-4a9b-992a-25a6022f7e2b" providerId="ADAL" clId="{B963D793-951D-4D77-AC94-E69117B0E5D0}" dt="2024-11-29T12:40:43.586" v="2" actId="20577"/>
          <ac:spMkLst>
            <pc:docMk/>
            <pc:sldMk cId="1668879900" sldId="275"/>
            <ac:spMk id="5" creationId="{0C316419-F6C1-4A76-B727-B86DCCA3CD1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D82F3-DA8F-492F-9805-3EDEC4DDEF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C53759-4E52-46E5-935E-9B17B94EF8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65D450-ADB3-4EC3-AFDA-53FEB8ECF86A}"/>
              </a:ext>
            </a:extLst>
          </p:cNvPr>
          <p:cNvSpPr>
            <a:spLocks noGrp="1"/>
          </p:cNvSpPr>
          <p:nvPr>
            <p:ph type="dt" sz="half" idx="10"/>
          </p:nvPr>
        </p:nvSpPr>
        <p:spPr/>
        <p:txBody>
          <a:bodyPr/>
          <a:lstStyle/>
          <a:p>
            <a:fld id="{5C72D1A2-FBFD-4BFA-9CB9-7089C31DD1A2}" type="datetimeFigureOut">
              <a:rPr lang="en-US" smtClean="0"/>
              <a:t>12/3/2024</a:t>
            </a:fld>
            <a:endParaRPr lang="en-US"/>
          </a:p>
        </p:txBody>
      </p:sp>
      <p:sp>
        <p:nvSpPr>
          <p:cNvPr id="5" name="Footer Placeholder 4">
            <a:extLst>
              <a:ext uri="{FF2B5EF4-FFF2-40B4-BE49-F238E27FC236}">
                <a16:creationId xmlns:a16="http://schemas.microsoft.com/office/drawing/2014/main" id="{BFC75890-06DA-4221-9EA3-85A0FF57E6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91F46F-339D-4E50-95ED-65CEC455F3E7}"/>
              </a:ext>
            </a:extLst>
          </p:cNvPr>
          <p:cNvSpPr>
            <a:spLocks noGrp="1"/>
          </p:cNvSpPr>
          <p:nvPr>
            <p:ph type="sldNum" sz="quarter" idx="12"/>
          </p:nvPr>
        </p:nvSpPr>
        <p:spPr/>
        <p:txBody>
          <a:bodyPr/>
          <a:lstStyle/>
          <a:p>
            <a:fld id="{0945789A-D151-45B3-8010-69C7A8937669}" type="slidenum">
              <a:rPr lang="en-US" smtClean="0"/>
              <a:t>‹#›</a:t>
            </a:fld>
            <a:endParaRPr lang="en-US"/>
          </a:p>
        </p:txBody>
      </p:sp>
    </p:spTree>
    <p:extLst>
      <p:ext uri="{BB962C8B-B14F-4D97-AF65-F5344CB8AC3E}">
        <p14:creationId xmlns:p14="http://schemas.microsoft.com/office/powerpoint/2010/main" val="3304705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38224-5800-4C0E-8B8D-C2039F2856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B21BFB-8470-4E6B-A2D3-12FF5A7A4C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F847C0-2966-4A64-9827-AF79AE75F005}"/>
              </a:ext>
            </a:extLst>
          </p:cNvPr>
          <p:cNvSpPr>
            <a:spLocks noGrp="1"/>
          </p:cNvSpPr>
          <p:nvPr>
            <p:ph type="dt" sz="half" idx="10"/>
          </p:nvPr>
        </p:nvSpPr>
        <p:spPr/>
        <p:txBody>
          <a:bodyPr/>
          <a:lstStyle/>
          <a:p>
            <a:fld id="{5C72D1A2-FBFD-4BFA-9CB9-7089C31DD1A2}" type="datetimeFigureOut">
              <a:rPr lang="en-US" smtClean="0"/>
              <a:t>12/3/2024</a:t>
            </a:fld>
            <a:endParaRPr lang="en-US"/>
          </a:p>
        </p:txBody>
      </p:sp>
      <p:sp>
        <p:nvSpPr>
          <p:cNvPr id="5" name="Footer Placeholder 4">
            <a:extLst>
              <a:ext uri="{FF2B5EF4-FFF2-40B4-BE49-F238E27FC236}">
                <a16:creationId xmlns:a16="http://schemas.microsoft.com/office/drawing/2014/main" id="{A93A45C0-2B15-44A9-8E9B-4FC799C959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27B3D4-AFB4-43B5-BA41-0FFCB1F06FF9}"/>
              </a:ext>
            </a:extLst>
          </p:cNvPr>
          <p:cNvSpPr>
            <a:spLocks noGrp="1"/>
          </p:cNvSpPr>
          <p:nvPr>
            <p:ph type="sldNum" sz="quarter" idx="12"/>
          </p:nvPr>
        </p:nvSpPr>
        <p:spPr/>
        <p:txBody>
          <a:bodyPr/>
          <a:lstStyle/>
          <a:p>
            <a:fld id="{0945789A-D151-45B3-8010-69C7A8937669}" type="slidenum">
              <a:rPr lang="en-US" smtClean="0"/>
              <a:t>‹#›</a:t>
            </a:fld>
            <a:endParaRPr lang="en-US"/>
          </a:p>
        </p:txBody>
      </p:sp>
    </p:spTree>
    <p:extLst>
      <p:ext uri="{BB962C8B-B14F-4D97-AF65-F5344CB8AC3E}">
        <p14:creationId xmlns:p14="http://schemas.microsoft.com/office/powerpoint/2010/main" val="1895108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AB364-B6E5-454D-95AB-636C5E8C88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E3E609-9FE1-4CC1-8BEF-4E18288690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E6F4D3-2FD2-4798-895A-EFF9E5B41562}"/>
              </a:ext>
            </a:extLst>
          </p:cNvPr>
          <p:cNvSpPr>
            <a:spLocks noGrp="1"/>
          </p:cNvSpPr>
          <p:nvPr>
            <p:ph type="dt" sz="half" idx="10"/>
          </p:nvPr>
        </p:nvSpPr>
        <p:spPr/>
        <p:txBody>
          <a:bodyPr/>
          <a:lstStyle/>
          <a:p>
            <a:fld id="{5C72D1A2-FBFD-4BFA-9CB9-7089C31DD1A2}" type="datetimeFigureOut">
              <a:rPr lang="en-US" smtClean="0"/>
              <a:t>12/3/2024</a:t>
            </a:fld>
            <a:endParaRPr lang="en-US"/>
          </a:p>
        </p:txBody>
      </p:sp>
      <p:sp>
        <p:nvSpPr>
          <p:cNvPr id="5" name="Footer Placeholder 4">
            <a:extLst>
              <a:ext uri="{FF2B5EF4-FFF2-40B4-BE49-F238E27FC236}">
                <a16:creationId xmlns:a16="http://schemas.microsoft.com/office/drawing/2014/main" id="{EC11E6C4-D7A1-4730-AFC9-59B5588087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FCF570-0D33-4248-8809-89333F5C1615}"/>
              </a:ext>
            </a:extLst>
          </p:cNvPr>
          <p:cNvSpPr>
            <a:spLocks noGrp="1"/>
          </p:cNvSpPr>
          <p:nvPr>
            <p:ph type="sldNum" sz="quarter" idx="12"/>
          </p:nvPr>
        </p:nvSpPr>
        <p:spPr/>
        <p:txBody>
          <a:bodyPr/>
          <a:lstStyle/>
          <a:p>
            <a:fld id="{0945789A-D151-45B3-8010-69C7A8937669}" type="slidenum">
              <a:rPr lang="en-US" smtClean="0"/>
              <a:t>‹#›</a:t>
            </a:fld>
            <a:endParaRPr lang="en-US"/>
          </a:p>
        </p:txBody>
      </p:sp>
    </p:spTree>
    <p:extLst>
      <p:ext uri="{BB962C8B-B14F-4D97-AF65-F5344CB8AC3E}">
        <p14:creationId xmlns:p14="http://schemas.microsoft.com/office/powerpoint/2010/main" val="1698843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5240C-5ED8-489B-B064-887932C75E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3387E9-4030-4315-BE82-EF833B64AA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0ED59F-CEAF-41D5-866C-5AC0B56219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543AA3-E065-4DB8-BDFD-34CE85D69C53}"/>
              </a:ext>
            </a:extLst>
          </p:cNvPr>
          <p:cNvSpPr>
            <a:spLocks noGrp="1"/>
          </p:cNvSpPr>
          <p:nvPr>
            <p:ph type="dt" sz="half" idx="10"/>
          </p:nvPr>
        </p:nvSpPr>
        <p:spPr/>
        <p:txBody>
          <a:bodyPr/>
          <a:lstStyle/>
          <a:p>
            <a:fld id="{5C72D1A2-FBFD-4BFA-9CB9-7089C31DD1A2}" type="datetimeFigureOut">
              <a:rPr lang="en-US" smtClean="0"/>
              <a:t>12/3/2024</a:t>
            </a:fld>
            <a:endParaRPr lang="en-US"/>
          </a:p>
        </p:txBody>
      </p:sp>
      <p:sp>
        <p:nvSpPr>
          <p:cNvPr id="6" name="Footer Placeholder 5">
            <a:extLst>
              <a:ext uri="{FF2B5EF4-FFF2-40B4-BE49-F238E27FC236}">
                <a16:creationId xmlns:a16="http://schemas.microsoft.com/office/drawing/2014/main" id="{CB75E181-34B4-4C35-9084-0083036816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CBF57B-4DCA-4246-B113-52A733A91903}"/>
              </a:ext>
            </a:extLst>
          </p:cNvPr>
          <p:cNvSpPr>
            <a:spLocks noGrp="1"/>
          </p:cNvSpPr>
          <p:nvPr>
            <p:ph type="sldNum" sz="quarter" idx="12"/>
          </p:nvPr>
        </p:nvSpPr>
        <p:spPr/>
        <p:txBody>
          <a:bodyPr/>
          <a:lstStyle/>
          <a:p>
            <a:fld id="{0945789A-D151-45B3-8010-69C7A8937669}" type="slidenum">
              <a:rPr lang="en-US" smtClean="0"/>
              <a:t>‹#›</a:t>
            </a:fld>
            <a:endParaRPr lang="en-US"/>
          </a:p>
        </p:txBody>
      </p:sp>
    </p:spTree>
    <p:extLst>
      <p:ext uri="{BB962C8B-B14F-4D97-AF65-F5344CB8AC3E}">
        <p14:creationId xmlns:p14="http://schemas.microsoft.com/office/powerpoint/2010/main" val="3929219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E1C59-E647-4512-922E-5877DE737C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2F3714-465E-4432-BD3A-C4396E5D19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EC701-E401-4919-96DE-32AD54D027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CD1D21-70AC-4915-937E-5E69F6704C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25CAD0-4E2D-4F01-95F3-12D3A64138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C2ED3C-D3CB-4E23-A4DC-FCA65A1CE5C8}"/>
              </a:ext>
            </a:extLst>
          </p:cNvPr>
          <p:cNvSpPr>
            <a:spLocks noGrp="1"/>
          </p:cNvSpPr>
          <p:nvPr>
            <p:ph type="dt" sz="half" idx="10"/>
          </p:nvPr>
        </p:nvSpPr>
        <p:spPr/>
        <p:txBody>
          <a:bodyPr/>
          <a:lstStyle/>
          <a:p>
            <a:fld id="{5C72D1A2-FBFD-4BFA-9CB9-7089C31DD1A2}" type="datetimeFigureOut">
              <a:rPr lang="en-US" smtClean="0"/>
              <a:t>12/3/2024</a:t>
            </a:fld>
            <a:endParaRPr lang="en-US"/>
          </a:p>
        </p:txBody>
      </p:sp>
      <p:sp>
        <p:nvSpPr>
          <p:cNvPr id="8" name="Footer Placeholder 7">
            <a:extLst>
              <a:ext uri="{FF2B5EF4-FFF2-40B4-BE49-F238E27FC236}">
                <a16:creationId xmlns:a16="http://schemas.microsoft.com/office/drawing/2014/main" id="{F324B321-BD13-41C4-B786-876910B32E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FE27A68-B533-4BC7-B33B-CD5D56CFD251}"/>
              </a:ext>
            </a:extLst>
          </p:cNvPr>
          <p:cNvSpPr>
            <a:spLocks noGrp="1"/>
          </p:cNvSpPr>
          <p:nvPr>
            <p:ph type="sldNum" sz="quarter" idx="12"/>
          </p:nvPr>
        </p:nvSpPr>
        <p:spPr/>
        <p:txBody>
          <a:bodyPr/>
          <a:lstStyle/>
          <a:p>
            <a:fld id="{0945789A-D151-45B3-8010-69C7A8937669}" type="slidenum">
              <a:rPr lang="en-US" smtClean="0"/>
              <a:t>‹#›</a:t>
            </a:fld>
            <a:endParaRPr lang="en-US"/>
          </a:p>
        </p:txBody>
      </p:sp>
    </p:spTree>
    <p:extLst>
      <p:ext uri="{BB962C8B-B14F-4D97-AF65-F5344CB8AC3E}">
        <p14:creationId xmlns:p14="http://schemas.microsoft.com/office/powerpoint/2010/main" val="3157273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77042-1D88-4C59-A0B3-495A4EC65E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370BA7-1754-497E-95E0-2D4B2401E303}"/>
              </a:ext>
            </a:extLst>
          </p:cNvPr>
          <p:cNvSpPr>
            <a:spLocks noGrp="1"/>
          </p:cNvSpPr>
          <p:nvPr>
            <p:ph type="dt" sz="half" idx="10"/>
          </p:nvPr>
        </p:nvSpPr>
        <p:spPr/>
        <p:txBody>
          <a:bodyPr/>
          <a:lstStyle/>
          <a:p>
            <a:fld id="{5C72D1A2-FBFD-4BFA-9CB9-7089C31DD1A2}" type="datetimeFigureOut">
              <a:rPr lang="en-US" smtClean="0"/>
              <a:t>12/3/2024</a:t>
            </a:fld>
            <a:endParaRPr lang="en-US"/>
          </a:p>
        </p:txBody>
      </p:sp>
      <p:sp>
        <p:nvSpPr>
          <p:cNvPr id="4" name="Footer Placeholder 3">
            <a:extLst>
              <a:ext uri="{FF2B5EF4-FFF2-40B4-BE49-F238E27FC236}">
                <a16:creationId xmlns:a16="http://schemas.microsoft.com/office/drawing/2014/main" id="{9A78A013-B0A2-4B54-B3CF-CFE810EAD4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8E26D7-0654-401D-8A1E-556410362095}"/>
              </a:ext>
            </a:extLst>
          </p:cNvPr>
          <p:cNvSpPr>
            <a:spLocks noGrp="1"/>
          </p:cNvSpPr>
          <p:nvPr>
            <p:ph type="sldNum" sz="quarter" idx="12"/>
          </p:nvPr>
        </p:nvSpPr>
        <p:spPr/>
        <p:txBody>
          <a:bodyPr/>
          <a:lstStyle/>
          <a:p>
            <a:fld id="{0945789A-D151-45B3-8010-69C7A8937669}" type="slidenum">
              <a:rPr lang="en-US" smtClean="0"/>
              <a:t>‹#›</a:t>
            </a:fld>
            <a:endParaRPr lang="en-US"/>
          </a:p>
        </p:txBody>
      </p:sp>
    </p:spTree>
    <p:extLst>
      <p:ext uri="{BB962C8B-B14F-4D97-AF65-F5344CB8AC3E}">
        <p14:creationId xmlns:p14="http://schemas.microsoft.com/office/powerpoint/2010/main" val="106587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6D57B6-FDBC-44AA-B424-2BA6EEF0C639}"/>
              </a:ext>
            </a:extLst>
          </p:cNvPr>
          <p:cNvSpPr>
            <a:spLocks noGrp="1"/>
          </p:cNvSpPr>
          <p:nvPr>
            <p:ph type="dt" sz="half" idx="10"/>
          </p:nvPr>
        </p:nvSpPr>
        <p:spPr/>
        <p:txBody>
          <a:bodyPr/>
          <a:lstStyle/>
          <a:p>
            <a:fld id="{5C72D1A2-FBFD-4BFA-9CB9-7089C31DD1A2}" type="datetimeFigureOut">
              <a:rPr lang="en-US" smtClean="0"/>
              <a:t>12/3/2024</a:t>
            </a:fld>
            <a:endParaRPr lang="en-US"/>
          </a:p>
        </p:txBody>
      </p:sp>
      <p:sp>
        <p:nvSpPr>
          <p:cNvPr id="3" name="Footer Placeholder 2">
            <a:extLst>
              <a:ext uri="{FF2B5EF4-FFF2-40B4-BE49-F238E27FC236}">
                <a16:creationId xmlns:a16="http://schemas.microsoft.com/office/drawing/2014/main" id="{8F2BE313-B7DF-495D-A16A-21BD984F9B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698240-E555-4D6C-BE28-79CE5043E97F}"/>
              </a:ext>
            </a:extLst>
          </p:cNvPr>
          <p:cNvSpPr>
            <a:spLocks noGrp="1"/>
          </p:cNvSpPr>
          <p:nvPr>
            <p:ph type="sldNum" sz="quarter" idx="12"/>
          </p:nvPr>
        </p:nvSpPr>
        <p:spPr/>
        <p:txBody>
          <a:bodyPr/>
          <a:lstStyle/>
          <a:p>
            <a:fld id="{0945789A-D151-45B3-8010-69C7A8937669}" type="slidenum">
              <a:rPr lang="en-US" smtClean="0"/>
              <a:t>‹#›</a:t>
            </a:fld>
            <a:endParaRPr lang="en-US"/>
          </a:p>
        </p:txBody>
      </p:sp>
    </p:spTree>
    <p:extLst>
      <p:ext uri="{BB962C8B-B14F-4D97-AF65-F5344CB8AC3E}">
        <p14:creationId xmlns:p14="http://schemas.microsoft.com/office/powerpoint/2010/main" val="3643648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C3D7D-1458-4280-9772-2FF1B67E32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E96BFF-7ABC-43A8-8B94-882C648BB7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DF0F0A-AD29-4787-B254-45B1E955EC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564C1B-D92D-44EC-8207-AB2EE23DF3AB}"/>
              </a:ext>
            </a:extLst>
          </p:cNvPr>
          <p:cNvSpPr>
            <a:spLocks noGrp="1"/>
          </p:cNvSpPr>
          <p:nvPr>
            <p:ph type="dt" sz="half" idx="10"/>
          </p:nvPr>
        </p:nvSpPr>
        <p:spPr/>
        <p:txBody>
          <a:bodyPr/>
          <a:lstStyle/>
          <a:p>
            <a:fld id="{5C72D1A2-FBFD-4BFA-9CB9-7089C31DD1A2}" type="datetimeFigureOut">
              <a:rPr lang="en-US" smtClean="0"/>
              <a:t>12/3/2024</a:t>
            </a:fld>
            <a:endParaRPr lang="en-US"/>
          </a:p>
        </p:txBody>
      </p:sp>
      <p:sp>
        <p:nvSpPr>
          <p:cNvPr id="6" name="Footer Placeholder 5">
            <a:extLst>
              <a:ext uri="{FF2B5EF4-FFF2-40B4-BE49-F238E27FC236}">
                <a16:creationId xmlns:a16="http://schemas.microsoft.com/office/drawing/2014/main" id="{A72B4D76-BCE1-46C8-8195-7A05A23B8F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66E00E-892D-4C50-8C98-CD6B704C3410}"/>
              </a:ext>
            </a:extLst>
          </p:cNvPr>
          <p:cNvSpPr>
            <a:spLocks noGrp="1"/>
          </p:cNvSpPr>
          <p:nvPr>
            <p:ph type="sldNum" sz="quarter" idx="12"/>
          </p:nvPr>
        </p:nvSpPr>
        <p:spPr/>
        <p:txBody>
          <a:bodyPr/>
          <a:lstStyle/>
          <a:p>
            <a:fld id="{0945789A-D151-45B3-8010-69C7A8937669}" type="slidenum">
              <a:rPr lang="en-US" smtClean="0"/>
              <a:t>‹#›</a:t>
            </a:fld>
            <a:endParaRPr lang="en-US"/>
          </a:p>
        </p:txBody>
      </p:sp>
    </p:spTree>
    <p:extLst>
      <p:ext uri="{BB962C8B-B14F-4D97-AF65-F5344CB8AC3E}">
        <p14:creationId xmlns:p14="http://schemas.microsoft.com/office/powerpoint/2010/main" val="1246208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CAE66-10C8-44DF-99D2-8E7FFD01FA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0A6E25-B617-4CEB-A9AB-945FE98DE2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70857A-FF96-44C2-A6F7-222FC7573E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781194-01C8-4CF0-9DA0-CAEC25754E55}"/>
              </a:ext>
            </a:extLst>
          </p:cNvPr>
          <p:cNvSpPr>
            <a:spLocks noGrp="1"/>
          </p:cNvSpPr>
          <p:nvPr>
            <p:ph type="dt" sz="half" idx="10"/>
          </p:nvPr>
        </p:nvSpPr>
        <p:spPr/>
        <p:txBody>
          <a:bodyPr/>
          <a:lstStyle/>
          <a:p>
            <a:fld id="{5C72D1A2-FBFD-4BFA-9CB9-7089C31DD1A2}" type="datetimeFigureOut">
              <a:rPr lang="en-US" smtClean="0"/>
              <a:t>12/3/2024</a:t>
            </a:fld>
            <a:endParaRPr lang="en-US"/>
          </a:p>
        </p:txBody>
      </p:sp>
      <p:sp>
        <p:nvSpPr>
          <p:cNvPr id="6" name="Footer Placeholder 5">
            <a:extLst>
              <a:ext uri="{FF2B5EF4-FFF2-40B4-BE49-F238E27FC236}">
                <a16:creationId xmlns:a16="http://schemas.microsoft.com/office/drawing/2014/main" id="{0B4DA85E-B8DB-4919-8A7D-C1F3D42B20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27E225-8145-4392-8585-9E5327A6A79B}"/>
              </a:ext>
            </a:extLst>
          </p:cNvPr>
          <p:cNvSpPr>
            <a:spLocks noGrp="1"/>
          </p:cNvSpPr>
          <p:nvPr>
            <p:ph type="sldNum" sz="quarter" idx="12"/>
          </p:nvPr>
        </p:nvSpPr>
        <p:spPr/>
        <p:txBody>
          <a:bodyPr/>
          <a:lstStyle/>
          <a:p>
            <a:fld id="{0945789A-D151-45B3-8010-69C7A8937669}" type="slidenum">
              <a:rPr lang="en-US" smtClean="0"/>
              <a:t>‹#›</a:t>
            </a:fld>
            <a:endParaRPr lang="en-US"/>
          </a:p>
        </p:txBody>
      </p:sp>
    </p:spTree>
    <p:extLst>
      <p:ext uri="{BB962C8B-B14F-4D97-AF65-F5344CB8AC3E}">
        <p14:creationId xmlns:p14="http://schemas.microsoft.com/office/powerpoint/2010/main" val="384633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16001-C400-415C-8514-9984A8A200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89D85C6-B51B-4CC1-9E0E-BF559E55EB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A15412-4614-4159-BCFD-8E80B40A1A6F}"/>
              </a:ext>
            </a:extLst>
          </p:cNvPr>
          <p:cNvSpPr>
            <a:spLocks noGrp="1"/>
          </p:cNvSpPr>
          <p:nvPr>
            <p:ph type="dt" sz="half" idx="10"/>
          </p:nvPr>
        </p:nvSpPr>
        <p:spPr/>
        <p:txBody>
          <a:bodyPr/>
          <a:lstStyle/>
          <a:p>
            <a:fld id="{5C72D1A2-FBFD-4BFA-9CB9-7089C31DD1A2}" type="datetimeFigureOut">
              <a:rPr lang="en-US" smtClean="0"/>
              <a:t>12/3/2024</a:t>
            </a:fld>
            <a:endParaRPr lang="en-US"/>
          </a:p>
        </p:txBody>
      </p:sp>
      <p:sp>
        <p:nvSpPr>
          <p:cNvPr id="5" name="Footer Placeholder 4">
            <a:extLst>
              <a:ext uri="{FF2B5EF4-FFF2-40B4-BE49-F238E27FC236}">
                <a16:creationId xmlns:a16="http://schemas.microsoft.com/office/drawing/2014/main" id="{3C77CD76-54FA-439E-9B8B-D407F1542A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72DD6B-A9D2-48D6-90C5-5280C4E8C7A1}"/>
              </a:ext>
            </a:extLst>
          </p:cNvPr>
          <p:cNvSpPr>
            <a:spLocks noGrp="1"/>
          </p:cNvSpPr>
          <p:nvPr>
            <p:ph type="sldNum" sz="quarter" idx="12"/>
          </p:nvPr>
        </p:nvSpPr>
        <p:spPr/>
        <p:txBody>
          <a:bodyPr/>
          <a:lstStyle/>
          <a:p>
            <a:fld id="{0945789A-D151-45B3-8010-69C7A8937669}" type="slidenum">
              <a:rPr lang="en-US" smtClean="0"/>
              <a:t>‹#›</a:t>
            </a:fld>
            <a:endParaRPr lang="en-US"/>
          </a:p>
        </p:txBody>
      </p:sp>
    </p:spTree>
    <p:extLst>
      <p:ext uri="{BB962C8B-B14F-4D97-AF65-F5344CB8AC3E}">
        <p14:creationId xmlns:p14="http://schemas.microsoft.com/office/powerpoint/2010/main" val="251326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A4602F-16D5-42D7-8088-253D590AAD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A3D04D-4AD3-4A8A-84C0-A01A9C0EDD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CCAACF-01CF-4B58-9AEF-F402FB8D108E}"/>
              </a:ext>
            </a:extLst>
          </p:cNvPr>
          <p:cNvSpPr>
            <a:spLocks noGrp="1"/>
          </p:cNvSpPr>
          <p:nvPr>
            <p:ph type="dt" sz="half" idx="10"/>
          </p:nvPr>
        </p:nvSpPr>
        <p:spPr/>
        <p:txBody>
          <a:bodyPr/>
          <a:lstStyle/>
          <a:p>
            <a:fld id="{5C72D1A2-FBFD-4BFA-9CB9-7089C31DD1A2}" type="datetimeFigureOut">
              <a:rPr lang="en-US" smtClean="0"/>
              <a:t>12/3/2024</a:t>
            </a:fld>
            <a:endParaRPr lang="en-US"/>
          </a:p>
        </p:txBody>
      </p:sp>
      <p:sp>
        <p:nvSpPr>
          <p:cNvPr id="5" name="Footer Placeholder 4">
            <a:extLst>
              <a:ext uri="{FF2B5EF4-FFF2-40B4-BE49-F238E27FC236}">
                <a16:creationId xmlns:a16="http://schemas.microsoft.com/office/drawing/2014/main" id="{C4226D9A-CE4F-4E27-9D59-EBF77FA358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3D6C65-1FFE-4A69-9B12-9502060FD829}"/>
              </a:ext>
            </a:extLst>
          </p:cNvPr>
          <p:cNvSpPr>
            <a:spLocks noGrp="1"/>
          </p:cNvSpPr>
          <p:nvPr>
            <p:ph type="sldNum" sz="quarter" idx="12"/>
          </p:nvPr>
        </p:nvSpPr>
        <p:spPr/>
        <p:txBody>
          <a:bodyPr/>
          <a:lstStyle/>
          <a:p>
            <a:fld id="{0945789A-D151-45B3-8010-69C7A8937669}" type="slidenum">
              <a:rPr lang="en-US" smtClean="0"/>
              <a:t>‹#›</a:t>
            </a:fld>
            <a:endParaRPr lang="en-US"/>
          </a:p>
        </p:txBody>
      </p:sp>
    </p:spTree>
    <p:extLst>
      <p:ext uri="{BB962C8B-B14F-4D97-AF65-F5344CB8AC3E}">
        <p14:creationId xmlns:p14="http://schemas.microsoft.com/office/powerpoint/2010/main" val="531646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DE831-6CE6-4D25-ACEF-C5FBA13201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C1B3C0-A87A-4277-9A07-36F872E255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D06767-1062-4B06-A55F-83EB5129FBBE}"/>
              </a:ext>
            </a:extLst>
          </p:cNvPr>
          <p:cNvSpPr>
            <a:spLocks noGrp="1"/>
          </p:cNvSpPr>
          <p:nvPr>
            <p:ph type="dt" sz="half" idx="10"/>
          </p:nvPr>
        </p:nvSpPr>
        <p:spPr/>
        <p:txBody>
          <a:bodyPr/>
          <a:lstStyle/>
          <a:p>
            <a:fld id="{5DF9E1B9-F027-4BEB-94BB-778623AC457B}" type="datetimeFigureOut">
              <a:rPr lang="en-US" smtClean="0"/>
              <a:t>12/3/2024</a:t>
            </a:fld>
            <a:endParaRPr lang="en-US"/>
          </a:p>
        </p:txBody>
      </p:sp>
      <p:sp>
        <p:nvSpPr>
          <p:cNvPr id="5" name="Footer Placeholder 4">
            <a:extLst>
              <a:ext uri="{FF2B5EF4-FFF2-40B4-BE49-F238E27FC236}">
                <a16:creationId xmlns:a16="http://schemas.microsoft.com/office/drawing/2014/main" id="{B5118868-1542-4D28-A4AE-0D6D5B2F40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9CB37A-0B0B-44D4-B62D-BCA7D36F1639}"/>
              </a:ext>
            </a:extLst>
          </p:cNvPr>
          <p:cNvSpPr>
            <a:spLocks noGrp="1"/>
          </p:cNvSpPr>
          <p:nvPr>
            <p:ph type="sldNum" sz="quarter" idx="12"/>
          </p:nvPr>
        </p:nvSpPr>
        <p:spPr/>
        <p:txBody>
          <a:bodyPr/>
          <a:lstStyle/>
          <a:p>
            <a:fld id="{07DD3B69-A2AE-4C17-8BCE-AF04E0D0A79A}" type="slidenum">
              <a:rPr lang="en-US" smtClean="0"/>
              <a:t>‹#›</a:t>
            </a:fld>
            <a:endParaRPr lang="en-US"/>
          </a:p>
        </p:txBody>
      </p:sp>
    </p:spTree>
    <p:extLst>
      <p:ext uri="{BB962C8B-B14F-4D97-AF65-F5344CB8AC3E}">
        <p14:creationId xmlns:p14="http://schemas.microsoft.com/office/powerpoint/2010/main" val="38772020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DAA34-2B08-45CF-A519-C6631094C2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CAD869-7198-4FF3-AC3E-D6121AD94E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C5AA5-616B-412C-AF82-98CBA8226882}"/>
              </a:ext>
            </a:extLst>
          </p:cNvPr>
          <p:cNvSpPr>
            <a:spLocks noGrp="1"/>
          </p:cNvSpPr>
          <p:nvPr>
            <p:ph type="dt" sz="half" idx="10"/>
          </p:nvPr>
        </p:nvSpPr>
        <p:spPr/>
        <p:txBody>
          <a:bodyPr/>
          <a:lstStyle/>
          <a:p>
            <a:fld id="{5DF9E1B9-F027-4BEB-94BB-778623AC457B}" type="datetimeFigureOut">
              <a:rPr lang="en-US" smtClean="0"/>
              <a:t>12/3/2024</a:t>
            </a:fld>
            <a:endParaRPr lang="en-US"/>
          </a:p>
        </p:txBody>
      </p:sp>
      <p:sp>
        <p:nvSpPr>
          <p:cNvPr id="5" name="Footer Placeholder 4">
            <a:extLst>
              <a:ext uri="{FF2B5EF4-FFF2-40B4-BE49-F238E27FC236}">
                <a16:creationId xmlns:a16="http://schemas.microsoft.com/office/drawing/2014/main" id="{58B5D621-4E9F-42A8-AD73-0A7A3CABAC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001F27-2E07-4CB7-8E02-A778828A8721}"/>
              </a:ext>
            </a:extLst>
          </p:cNvPr>
          <p:cNvSpPr>
            <a:spLocks noGrp="1"/>
          </p:cNvSpPr>
          <p:nvPr>
            <p:ph type="sldNum" sz="quarter" idx="12"/>
          </p:nvPr>
        </p:nvSpPr>
        <p:spPr/>
        <p:txBody>
          <a:bodyPr/>
          <a:lstStyle/>
          <a:p>
            <a:fld id="{07DD3B69-A2AE-4C17-8BCE-AF04E0D0A79A}" type="slidenum">
              <a:rPr lang="en-US" smtClean="0"/>
              <a:t>‹#›</a:t>
            </a:fld>
            <a:endParaRPr lang="en-US"/>
          </a:p>
        </p:txBody>
      </p:sp>
    </p:spTree>
    <p:extLst>
      <p:ext uri="{BB962C8B-B14F-4D97-AF65-F5344CB8AC3E}">
        <p14:creationId xmlns:p14="http://schemas.microsoft.com/office/powerpoint/2010/main" val="2541865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EE0E6-065F-45C8-9285-4E0C201423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1D27B2-7E8C-4D65-91F5-34540D512A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6D95D5-2746-4097-B4AF-7AFE09DABC8E}"/>
              </a:ext>
            </a:extLst>
          </p:cNvPr>
          <p:cNvSpPr>
            <a:spLocks noGrp="1"/>
          </p:cNvSpPr>
          <p:nvPr>
            <p:ph type="dt" sz="half" idx="10"/>
          </p:nvPr>
        </p:nvSpPr>
        <p:spPr/>
        <p:txBody>
          <a:bodyPr/>
          <a:lstStyle/>
          <a:p>
            <a:fld id="{5DF9E1B9-F027-4BEB-94BB-778623AC457B}" type="datetimeFigureOut">
              <a:rPr lang="en-US" smtClean="0"/>
              <a:t>12/3/2024</a:t>
            </a:fld>
            <a:endParaRPr lang="en-US"/>
          </a:p>
        </p:txBody>
      </p:sp>
      <p:sp>
        <p:nvSpPr>
          <p:cNvPr id="5" name="Footer Placeholder 4">
            <a:extLst>
              <a:ext uri="{FF2B5EF4-FFF2-40B4-BE49-F238E27FC236}">
                <a16:creationId xmlns:a16="http://schemas.microsoft.com/office/drawing/2014/main" id="{77324805-3558-4FFE-8CB9-2A122AE648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C3FD1D-5E6E-41B6-B7A3-1EC433CCD2C0}"/>
              </a:ext>
            </a:extLst>
          </p:cNvPr>
          <p:cNvSpPr>
            <a:spLocks noGrp="1"/>
          </p:cNvSpPr>
          <p:nvPr>
            <p:ph type="sldNum" sz="quarter" idx="12"/>
          </p:nvPr>
        </p:nvSpPr>
        <p:spPr/>
        <p:txBody>
          <a:bodyPr/>
          <a:lstStyle/>
          <a:p>
            <a:fld id="{07DD3B69-A2AE-4C17-8BCE-AF04E0D0A79A}" type="slidenum">
              <a:rPr lang="en-US" smtClean="0"/>
              <a:t>‹#›</a:t>
            </a:fld>
            <a:endParaRPr lang="en-US"/>
          </a:p>
        </p:txBody>
      </p:sp>
    </p:spTree>
    <p:extLst>
      <p:ext uri="{BB962C8B-B14F-4D97-AF65-F5344CB8AC3E}">
        <p14:creationId xmlns:p14="http://schemas.microsoft.com/office/powerpoint/2010/main" val="703893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58476-F993-4092-90FF-4E89FC7536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3B7042-6608-4B41-B4CF-51BD590721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319850-F03F-4723-A922-75DDAEF5FC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26F1CF-CE0E-472E-9C95-42DF500D9904}"/>
              </a:ext>
            </a:extLst>
          </p:cNvPr>
          <p:cNvSpPr>
            <a:spLocks noGrp="1"/>
          </p:cNvSpPr>
          <p:nvPr>
            <p:ph type="dt" sz="half" idx="10"/>
          </p:nvPr>
        </p:nvSpPr>
        <p:spPr/>
        <p:txBody>
          <a:bodyPr/>
          <a:lstStyle/>
          <a:p>
            <a:fld id="{5DF9E1B9-F027-4BEB-94BB-778623AC457B}" type="datetimeFigureOut">
              <a:rPr lang="en-US" smtClean="0"/>
              <a:t>12/3/2024</a:t>
            </a:fld>
            <a:endParaRPr lang="en-US"/>
          </a:p>
        </p:txBody>
      </p:sp>
      <p:sp>
        <p:nvSpPr>
          <p:cNvPr id="6" name="Footer Placeholder 5">
            <a:extLst>
              <a:ext uri="{FF2B5EF4-FFF2-40B4-BE49-F238E27FC236}">
                <a16:creationId xmlns:a16="http://schemas.microsoft.com/office/drawing/2014/main" id="{29B9833D-F8B6-4202-9488-1EC372C809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09A0A-28A3-4D1A-A69A-0A41902BAE44}"/>
              </a:ext>
            </a:extLst>
          </p:cNvPr>
          <p:cNvSpPr>
            <a:spLocks noGrp="1"/>
          </p:cNvSpPr>
          <p:nvPr>
            <p:ph type="sldNum" sz="quarter" idx="12"/>
          </p:nvPr>
        </p:nvSpPr>
        <p:spPr/>
        <p:txBody>
          <a:bodyPr/>
          <a:lstStyle/>
          <a:p>
            <a:fld id="{07DD3B69-A2AE-4C17-8BCE-AF04E0D0A79A}" type="slidenum">
              <a:rPr lang="en-US" smtClean="0"/>
              <a:t>‹#›</a:t>
            </a:fld>
            <a:endParaRPr lang="en-US"/>
          </a:p>
        </p:txBody>
      </p:sp>
    </p:spTree>
    <p:extLst>
      <p:ext uri="{BB962C8B-B14F-4D97-AF65-F5344CB8AC3E}">
        <p14:creationId xmlns:p14="http://schemas.microsoft.com/office/powerpoint/2010/main" val="26215005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CA529-215A-4EE9-B159-C37AE4D1B4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D38045-8894-48A9-8B38-0FD7512B1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12F0B-CD53-4DF7-8218-5D9BF4ACD7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07163F-649F-473C-9F34-C784B9F41E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FC085D-A5A9-44A9-AAE7-F9728F36FB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A2B458-CA2F-4CEF-B74B-F9229C417FCC}"/>
              </a:ext>
            </a:extLst>
          </p:cNvPr>
          <p:cNvSpPr>
            <a:spLocks noGrp="1"/>
          </p:cNvSpPr>
          <p:nvPr>
            <p:ph type="dt" sz="half" idx="10"/>
          </p:nvPr>
        </p:nvSpPr>
        <p:spPr/>
        <p:txBody>
          <a:bodyPr/>
          <a:lstStyle/>
          <a:p>
            <a:fld id="{5DF9E1B9-F027-4BEB-94BB-778623AC457B}" type="datetimeFigureOut">
              <a:rPr lang="en-US" smtClean="0"/>
              <a:t>12/3/2024</a:t>
            </a:fld>
            <a:endParaRPr lang="en-US"/>
          </a:p>
        </p:txBody>
      </p:sp>
      <p:sp>
        <p:nvSpPr>
          <p:cNvPr id="8" name="Footer Placeholder 7">
            <a:extLst>
              <a:ext uri="{FF2B5EF4-FFF2-40B4-BE49-F238E27FC236}">
                <a16:creationId xmlns:a16="http://schemas.microsoft.com/office/drawing/2014/main" id="{C90814ED-D45D-4631-B645-2D3A859A04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F711BA-E34E-4D91-AFA3-43134156F3F7}"/>
              </a:ext>
            </a:extLst>
          </p:cNvPr>
          <p:cNvSpPr>
            <a:spLocks noGrp="1"/>
          </p:cNvSpPr>
          <p:nvPr>
            <p:ph type="sldNum" sz="quarter" idx="12"/>
          </p:nvPr>
        </p:nvSpPr>
        <p:spPr/>
        <p:txBody>
          <a:bodyPr/>
          <a:lstStyle/>
          <a:p>
            <a:fld id="{07DD3B69-A2AE-4C17-8BCE-AF04E0D0A79A}" type="slidenum">
              <a:rPr lang="en-US" smtClean="0"/>
              <a:t>‹#›</a:t>
            </a:fld>
            <a:endParaRPr lang="en-US"/>
          </a:p>
        </p:txBody>
      </p:sp>
    </p:spTree>
    <p:extLst>
      <p:ext uri="{BB962C8B-B14F-4D97-AF65-F5344CB8AC3E}">
        <p14:creationId xmlns:p14="http://schemas.microsoft.com/office/powerpoint/2010/main" val="39734802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B9F4-5154-4769-954E-CA13AB2F24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F3579C-A482-40C6-990F-72F671DBFFE3}"/>
              </a:ext>
            </a:extLst>
          </p:cNvPr>
          <p:cNvSpPr>
            <a:spLocks noGrp="1"/>
          </p:cNvSpPr>
          <p:nvPr>
            <p:ph type="dt" sz="half" idx="10"/>
          </p:nvPr>
        </p:nvSpPr>
        <p:spPr/>
        <p:txBody>
          <a:bodyPr/>
          <a:lstStyle/>
          <a:p>
            <a:fld id="{5DF9E1B9-F027-4BEB-94BB-778623AC457B}" type="datetimeFigureOut">
              <a:rPr lang="en-US" smtClean="0"/>
              <a:t>12/3/2024</a:t>
            </a:fld>
            <a:endParaRPr lang="en-US"/>
          </a:p>
        </p:txBody>
      </p:sp>
      <p:sp>
        <p:nvSpPr>
          <p:cNvPr id="4" name="Footer Placeholder 3">
            <a:extLst>
              <a:ext uri="{FF2B5EF4-FFF2-40B4-BE49-F238E27FC236}">
                <a16:creationId xmlns:a16="http://schemas.microsoft.com/office/drawing/2014/main" id="{99E4D916-6A4D-4143-ACBA-EC781D7884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9C6474-FFA5-4295-98E7-20ECDE46919C}"/>
              </a:ext>
            </a:extLst>
          </p:cNvPr>
          <p:cNvSpPr>
            <a:spLocks noGrp="1"/>
          </p:cNvSpPr>
          <p:nvPr>
            <p:ph type="sldNum" sz="quarter" idx="12"/>
          </p:nvPr>
        </p:nvSpPr>
        <p:spPr/>
        <p:txBody>
          <a:bodyPr/>
          <a:lstStyle/>
          <a:p>
            <a:fld id="{07DD3B69-A2AE-4C17-8BCE-AF04E0D0A79A}" type="slidenum">
              <a:rPr lang="en-US" smtClean="0"/>
              <a:t>‹#›</a:t>
            </a:fld>
            <a:endParaRPr lang="en-US"/>
          </a:p>
        </p:txBody>
      </p:sp>
    </p:spTree>
    <p:extLst>
      <p:ext uri="{BB962C8B-B14F-4D97-AF65-F5344CB8AC3E}">
        <p14:creationId xmlns:p14="http://schemas.microsoft.com/office/powerpoint/2010/main" val="34286406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C4F7CC-5044-4D00-A0E7-EFC0EAE545B8}"/>
              </a:ext>
            </a:extLst>
          </p:cNvPr>
          <p:cNvSpPr>
            <a:spLocks noGrp="1"/>
          </p:cNvSpPr>
          <p:nvPr>
            <p:ph type="dt" sz="half" idx="10"/>
          </p:nvPr>
        </p:nvSpPr>
        <p:spPr/>
        <p:txBody>
          <a:bodyPr/>
          <a:lstStyle/>
          <a:p>
            <a:fld id="{5DF9E1B9-F027-4BEB-94BB-778623AC457B}" type="datetimeFigureOut">
              <a:rPr lang="en-US" smtClean="0"/>
              <a:t>12/3/2024</a:t>
            </a:fld>
            <a:endParaRPr lang="en-US"/>
          </a:p>
        </p:txBody>
      </p:sp>
      <p:sp>
        <p:nvSpPr>
          <p:cNvPr id="3" name="Footer Placeholder 2">
            <a:extLst>
              <a:ext uri="{FF2B5EF4-FFF2-40B4-BE49-F238E27FC236}">
                <a16:creationId xmlns:a16="http://schemas.microsoft.com/office/drawing/2014/main" id="{C48ECC8A-9A5A-42FC-BCF8-1B0292D5B5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21D3C0-FC46-42AA-AF7D-37B8B0C44C85}"/>
              </a:ext>
            </a:extLst>
          </p:cNvPr>
          <p:cNvSpPr>
            <a:spLocks noGrp="1"/>
          </p:cNvSpPr>
          <p:nvPr>
            <p:ph type="sldNum" sz="quarter" idx="12"/>
          </p:nvPr>
        </p:nvSpPr>
        <p:spPr/>
        <p:txBody>
          <a:bodyPr/>
          <a:lstStyle/>
          <a:p>
            <a:fld id="{07DD3B69-A2AE-4C17-8BCE-AF04E0D0A79A}" type="slidenum">
              <a:rPr lang="en-US" smtClean="0"/>
              <a:t>‹#›</a:t>
            </a:fld>
            <a:endParaRPr lang="en-US"/>
          </a:p>
        </p:txBody>
      </p:sp>
    </p:spTree>
    <p:extLst>
      <p:ext uri="{BB962C8B-B14F-4D97-AF65-F5344CB8AC3E}">
        <p14:creationId xmlns:p14="http://schemas.microsoft.com/office/powerpoint/2010/main" val="15347326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3786B-D4F9-46E9-B5FE-615D076C71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E2751D-EF11-4059-902D-386E026677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77428B-4C98-4BB2-82DB-0EDEFE8E05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B775E1-0D3D-4221-9C6B-2F309277EC1C}"/>
              </a:ext>
            </a:extLst>
          </p:cNvPr>
          <p:cNvSpPr>
            <a:spLocks noGrp="1"/>
          </p:cNvSpPr>
          <p:nvPr>
            <p:ph type="dt" sz="half" idx="10"/>
          </p:nvPr>
        </p:nvSpPr>
        <p:spPr/>
        <p:txBody>
          <a:bodyPr/>
          <a:lstStyle/>
          <a:p>
            <a:fld id="{5DF9E1B9-F027-4BEB-94BB-778623AC457B}" type="datetimeFigureOut">
              <a:rPr lang="en-US" smtClean="0"/>
              <a:t>12/3/2024</a:t>
            </a:fld>
            <a:endParaRPr lang="en-US"/>
          </a:p>
        </p:txBody>
      </p:sp>
      <p:sp>
        <p:nvSpPr>
          <p:cNvPr id="6" name="Footer Placeholder 5">
            <a:extLst>
              <a:ext uri="{FF2B5EF4-FFF2-40B4-BE49-F238E27FC236}">
                <a16:creationId xmlns:a16="http://schemas.microsoft.com/office/drawing/2014/main" id="{144E8811-5D7B-4275-BB36-4D4F0539AC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E594DC-EB5C-4CF9-9705-74CD6D928CFD}"/>
              </a:ext>
            </a:extLst>
          </p:cNvPr>
          <p:cNvSpPr>
            <a:spLocks noGrp="1"/>
          </p:cNvSpPr>
          <p:nvPr>
            <p:ph type="sldNum" sz="quarter" idx="12"/>
          </p:nvPr>
        </p:nvSpPr>
        <p:spPr/>
        <p:txBody>
          <a:bodyPr/>
          <a:lstStyle/>
          <a:p>
            <a:fld id="{07DD3B69-A2AE-4C17-8BCE-AF04E0D0A79A}" type="slidenum">
              <a:rPr lang="en-US" smtClean="0"/>
              <a:t>‹#›</a:t>
            </a:fld>
            <a:endParaRPr lang="en-US"/>
          </a:p>
        </p:txBody>
      </p:sp>
    </p:spTree>
    <p:extLst>
      <p:ext uri="{BB962C8B-B14F-4D97-AF65-F5344CB8AC3E}">
        <p14:creationId xmlns:p14="http://schemas.microsoft.com/office/powerpoint/2010/main" val="22081857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85D9E-55B0-49BA-BFBB-14B8CCAA25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B84ED0-21E4-49AF-B553-AC3518A028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74EE55-C10B-4CD5-81BC-0BD579F8E9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D3FEA5-4967-4DBE-8EB7-7CA06895E48B}"/>
              </a:ext>
            </a:extLst>
          </p:cNvPr>
          <p:cNvSpPr>
            <a:spLocks noGrp="1"/>
          </p:cNvSpPr>
          <p:nvPr>
            <p:ph type="dt" sz="half" idx="10"/>
          </p:nvPr>
        </p:nvSpPr>
        <p:spPr/>
        <p:txBody>
          <a:bodyPr/>
          <a:lstStyle/>
          <a:p>
            <a:fld id="{5DF9E1B9-F027-4BEB-94BB-778623AC457B}" type="datetimeFigureOut">
              <a:rPr lang="en-US" smtClean="0"/>
              <a:t>12/3/2024</a:t>
            </a:fld>
            <a:endParaRPr lang="en-US"/>
          </a:p>
        </p:txBody>
      </p:sp>
      <p:sp>
        <p:nvSpPr>
          <p:cNvPr id="6" name="Footer Placeholder 5">
            <a:extLst>
              <a:ext uri="{FF2B5EF4-FFF2-40B4-BE49-F238E27FC236}">
                <a16:creationId xmlns:a16="http://schemas.microsoft.com/office/drawing/2014/main" id="{5082FD2D-6CD7-49ED-B05E-1E992B6B4B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511D57-AE5B-4A05-A469-49BA79D091BD}"/>
              </a:ext>
            </a:extLst>
          </p:cNvPr>
          <p:cNvSpPr>
            <a:spLocks noGrp="1"/>
          </p:cNvSpPr>
          <p:nvPr>
            <p:ph type="sldNum" sz="quarter" idx="12"/>
          </p:nvPr>
        </p:nvSpPr>
        <p:spPr/>
        <p:txBody>
          <a:bodyPr/>
          <a:lstStyle/>
          <a:p>
            <a:fld id="{07DD3B69-A2AE-4C17-8BCE-AF04E0D0A79A}" type="slidenum">
              <a:rPr lang="en-US" smtClean="0"/>
              <a:t>‹#›</a:t>
            </a:fld>
            <a:endParaRPr lang="en-US"/>
          </a:p>
        </p:txBody>
      </p:sp>
    </p:spTree>
    <p:extLst>
      <p:ext uri="{BB962C8B-B14F-4D97-AF65-F5344CB8AC3E}">
        <p14:creationId xmlns:p14="http://schemas.microsoft.com/office/powerpoint/2010/main" val="42665874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CB846-B338-49BD-8ADB-8C203F5942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9967A1-FCC2-4136-B3F6-01D32614E1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8B40F5-6D1C-4685-A69F-A810D484FBAC}"/>
              </a:ext>
            </a:extLst>
          </p:cNvPr>
          <p:cNvSpPr>
            <a:spLocks noGrp="1"/>
          </p:cNvSpPr>
          <p:nvPr>
            <p:ph type="dt" sz="half" idx="10"/>
          </p:nvPr>
        </p:nvSpPr>
        <p:spPr/>
        <p:txBody>
          <a:bodyPr/>
          <a:lstStyle/>
          <a:p>
            <a:fld id="{5DF9E1B9-F027-4BEB-94BB-778623AC457B}" type="datetimeFigureOut">
              <a:rPr lang="en-US" smtClean="0"/>
              <a:t>12/3/2024</a:t>
            </a:fld>
            <a:endParaRPr lang="en-US"/>
          </a:p>
        </p:txBody>
      </p:sp>
      <p:sp>
        <p:nvSpPr>
          <p:cNvPr id="5" name="Footer Placeholder 4">
            <a:extLst>
              <a:ext uri="{FF2B5EF4-FFF2-40B4-BE49-F238E27FC236}">
                <a16:creationId xmlns:a16="http://schemas.microsoft.com/office/drawing/2014/main" id="{5DFDE14F-6EC8-4091-A509-30909DD3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58674B-DD61-4AE6-ACB3-FD38B15432B3}"/>
              </a:ext>
            </a:extLst>
          </p:cNvPr>
          <p:cNvSpPr>
            <a:spLocks noGrp="1"/>
          </p:cNvSpPr>
          <p:nvPr>
            <p:ph type="sldNum" sz="quarter" idx="12"/>
          </p:nvPr>
        </p:nvSpPr>
        <p:spPr/>
        <p:txBody>
          <a:bodyPr/>
          <a:lstStyle/>
          <a:p>
            <a:fld id="{07DD3B69-A2AE-4C17-8BCE-AF04E0D0A79A}" type="slidenum">
              <a:rPr lang="en-US" smtClean="0"/>
              <a:t>‹#›</a:t>
            </a:fld>
            <a:endParaRPr lang="en-US"/>
          </a:p>
        </p:txBody>
      </p:sp>
    </p:spTree>
    <p:extLst>
      <p:ext uri="{BB962C8B-B14F-4D97-AF65-F5344CB8AC3E}">
        <p14:creationId xmlns:p14="http://schemas.microsoft.com/office/powerpoint/2010/main" val="2136603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59D96-03B8-4CDB-B1F2-B7073C0480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D80601-11E4-4FCD-A30A-5D36E2C14E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F35B73-0447-4522-B44A-24CBF0304686}"/>
              </a:ext>
            </a:extLst>
          </p:cNvPr>
          <p:cNvSpPr>
            <a:spLocks noGrp="1"/>
          </p:cNvSpPr>
          <p:nvPr>
            <p:ph type="dt" sz="half" idx="10"/>
          </p:nvPr>
        </p:nvSpPr>
        <p:spPr/>
        <p:txBody>
          <a:bodyPr/>
          <a:lstStyle/>
          <a:p>
            <a:fld id="{5DF9E1B9-F027-4BEB-94BB-778623AC457B}" type="datetimeFigureOut">
              <a:rPr lang="en-US" smtClean="0"/>
              <a:t>12/3/2024</a:t>
            </a:fld>
            <a:endParaRPr lang="en-US"/>
          </a:p>
        </p:txBody>
      </p:sp>
      <p:sp>
        <p:nvSpPr>
          <p:cNvPr id="5" name="Footer Placeholder 4">
            <a:extLst>
              <a:ext uri="{FF2B5EF4-FFF2-40B4-BE49-F238E27FC236}">
                <a16:creationId xmlns:a16="http://schemas.microsoft.com/office/drawing/2014/main" id="{2CD420F4-9C8E-49B2-BE9A-0256E82C65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5713A-D47D-4C5A-AC44-87122907866F}"/>
              </a:ext>
            </a:extLst>
          </p:cNvPr>
          <p:cNvSpPr>
            <a:spLocks noGrp="1"/>
          </p:cNvSpPr>
          <p:nvPr>
            <p:ph type="sldNum" sz="quarter" idx="12"/>
          </p:nvPr>
        </p:nvSpPr>
        <p:spPr/>
        <p:txBody>
          <a:bodyPr/>
          <a:lstStyle/>
          <a:p>
            <a:fld id="{07DD3B69-A2AE-4C17-8BCE-AF04E0D0A79A}" type="slidenum">
              <a:rPr lang="en-US" smtClean="0"/>
              <a:t>‹#›</a:t>
            </a:fld>
            <a:endParaRPr lang="en-US"/>
          </a:p>
        </p:txBody>
      </p:sp>
    </p:spTree>
    <p:extLst>
      <p:ext uri="{BB962C8B-B14F-4D97-AF65-F5344CB8AC3E}">
        <p14:creationId xmlns:p14="http://schemas.microsoft.com/office/powerpoint/2010/main" val="1324376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9D4678-24C2-4D03-B85B-8A872E537C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5193D2-DD93-4106-A552-B938460EFB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93548-A563-47A7-9F6A-E79E8D0AE0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72D1A2-FBFD-4BFA-9CB9-7089C31DD1A2}" type="datetimeFigureOut">
              <a:rPr lang="en-US" smtClean="0"/>
              <a:t>12/3/2024</a:t>
            </a:fld>
            <a:endParaRPr lang="en-US"/>
          </a:p>
        </p:txBody>
      </p:sp>
      <p:sp>
        <p:nvSpPr>
          <p:cNvPr id="5" name="Footer Placeholder 4">
            <a:extLst>
              <a:ext uri="{FF2B5EF4-FFF2-40B4-BE49-F238E27FC236}">
                <a16:creationId xmlns:a16="http://schemas.microsoft.com/office/drawing/2014/main" id="{6C400D4F-8456-4BCB-97B1-F78283B777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9EB845-0540-4ECC-B962-6253AF6981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45789A-D151-45B3-8010-69C7A8937669}" type="slidenum">
              <a:rPr lang="en-US" smtClean="0"/>
              <a:t>‹#›</a:t>
            </a:fld>
            <a:endParaRPr lang="en-US"/>
          </a:p>
        </p:txBody>
      </p:sp>
    </p:spTree>
    <p:extLst>
      <p:ext uri="{BB962C8B-B14F-4D97-AF65-F5344CB8AC3E}">
        <p14:creationId xmlns:p14="http://schemas.microsoft.com/office/powerpoint/2010/main" val="37842982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ED93DB-40C8-466B-8EF9-95FFE86E1B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33EF96-13DD-40F5-A12E-64470FB2EA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62B0AB-54EF-4485-9320-9D3821CEC1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F9E1B9-F027-4BEB-94BB-778623AC457B}" type="datetimeFigureOut">
              <a:rPr lang="en-US" smtClean="0"/>
              <a:t>12/3/2024</a:t>
            </a:fld>
            <a:endParaRPr lang="en-US"/>
          </a:p>
        </p:txBody>
      </p:sp>
      <p:sp>
        <p:nvSpPr>
          <p:cNvPr id="5" name="Footer Placeholder 4">
            <a:extLst>
              <a:ext uri="{FF2B5EF4-FFF2-40B4-BE49-F238E27FC236}">
                <a16:creationId xmlns:a16="http://schemas.microsoft.com/office/drawing/2014/main" id="{FDE12DB8-BAC4-4368-80A6-8F39F50310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1B53413-F03F-4F89-8C1C-C014FEC33E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D3B69-A2AE-4C17-8BCE-AF04E0D0A79A}" type="slidenum">
              <a:rPr lang="en-US" smtClean="0"/>
              <a:t>‹#›</a:t>
            </a:fld>
            <a:endParaRPr lang="en-US"/>
          </a:p>
        </p:txBody>
      </p:sp>
    </p:spTree>
    <p:extLst>
      <p:ext uri="{BB962C8B-B14F-4D97-AF65-F5344CB8AC3E}">
        <p14:creationId xmlns:p14="http://schemas.microsoft.com/office/powerpoint/2010/main" val="3551614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CF5E676-CA04-4CED-9F1E-5026ED66E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2833068" cy="2997599"/>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2" name="Freeform: Shape 11">
            <a:extLst>
              <a:ext uri="{FF2B5EF4-FFF2-40B4-BE49-F238E27FC236}">
                <a16:creationId xmlns:a16="http://schemas.microsoft.com/office/drawing/2014/main" id="{AFD1189F-9598-4281-8056-2845388D4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3068" cy="2997599"/>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4" name="Freeform: Shape 13">
            <a:extLst>
              <a:ext uri="{FF2B5EF4-FFF2-40B4-BE49-F238E27FC236}">
                <a16:creationId xmlns:a16="http://schemas.microsoft.com/office/drawing/2014/main" id="{583E04E1-D74F-4ED6-972C-035F4FEC4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Rectangle 17">
            <a:extLst>
              <a:ext uri="{FF2B5EF4-FFF2-40B4-BE49-F238E27FC236}">
                <a16:creationId xmlns:a16="http://schemas.microsoft.com/office/drawing/2014/main" id="{E51A97D9-C694-4307-818B-0C5BBF413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21053" y="819446"/>
            <a:ext cx="6964685" cy="5402463"/>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C1D3151-5F97-4860-B56C-C98BD62CC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21053" y="819446"/>
            <a:ext cx="6964685" cy="5402463"/>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DE96824-E506-4448-8704-5EC7BF7BC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13658" y="727769"/>
            <a:ext cx="6964685" cy="5402463"/>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BA448C9-6AB4-425E-83C8-BBE268CC6AA3}"/>
              </a:ext>
            </a:extLst>
          </p:cNvPr>
          <p:cNvSpPr>
            <a:spLocks noGrp="1"/>
          </p:cNvSpPr>
          <p:nvPr>
            <p:ph type="ctrTitle"/>
          </p:nvPr>
        </p:nvSpPr>
        <p:spPr>
          <a:xfrm>
            <a:off x="2886765" y="1495956"/>
            <a:ext cx="6418471" cy="2692050"/>
          </a:xfrm>
        </p:spPr>
        <p:txBody>
          <a:bodyPr>
            <a:normAutofit/>
          </a:bodyPr>
          <a:lstStyle/>
          <a:p>
            <a:r>
              <a:rPr lang="el-GR" sz="5400">
                <a:solidFill>
                  <a:schemeClr val="bg1"/>
                </a:solidFill>
                <a:latin typeface="Times New Roman" panose="02020603050405020304" pitchFamily="18" charset="0"/>
                <a:cs typeface="Times New Roman" panose="02020603050405020304" pitchFamily="18" charset="0"/>
              </a:rPr>
              <a:t>Κυκλώματα και τοπολογίες πυλών </a:t>
            </a:r>
            <a:endParaRPr lang="en-US" sz="5400" dirty="0">
              <a:solidFill>
                <a:schemeClr val="bg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1AB0BD5-34B2-47E5-AD5C-71684EA8A8D0}"/>
              </a:ext>
            </a:extLst>
          </p:cNvPr>
          <p:cNvSpPr>
            <a:spLocks noGrp="1"/>
          </p:cNvSpPr>
          <p:nvPr>
            <p:ph type="subTitle" idx="1"/>
          </p:nvPr>
        </p:nvSpPr>
        <p:spPr>
          <a:xfrm>
            <a:off x="2833068" y="4849282"/>
            <a:ext cx="6472168" cy="1017915"/>
          </a:xfrm>
        </p:spPr>
        <p:txBody>
          <a:bodyPr>
            <a:normAutofit/>
          </a:bodyPr>
          <a:lstStyle/>
          <a:p>
            <a:r>
              <a:rPr lang="el-GR" sz="3200">
                <a:solidFill>
                  <a:schemeClr val="bg1"/>
                </a:solidFill>
                <a:latin typeface="Times New Roman" panose="02020603050405020304" pitchFamily="18" charset="0"/>
                <a:cs typeface="Times New Roman" panose="02020603050405020304" pitchFamily="18" charset="0"/>
              </a:rPr>
              <a:t>Εργαστηριακή Άσκηση</a:t>
            </a:r>
          </a:p>
          <a:p>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24" name="Freeform: Shape 23">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776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dirty="0"/>
          </a:p>
        </p:txBody>
      </p:sp>
      <p:sp>
        <p:nvSpPr>
          <p:cNvPr id="26" name="Graphic 212">
            <a:extLst>
              <a:ext uri="{FF2B5EF4-FFF2-40B4-BE49-F238E27FC236}">
                <a16:creationId xmlns:a16="http://schemas.microsoft.com/office/drawing/2014/main" id="{4FB204DF-284E-45F6-A017-79A4DF57B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75326" y="343675"/>
            <a:ext cx="768186" cy="76818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8" name="Graphic 212">
            <a:extLst>
              <a:ext uri="{FF2B5EF4-FFF2-40B4-BE49-F238E27FC236}">
                <a16:creationId xmlns:a16="http://schemas.microsoft.com/office/drawing/2014/main" id="{5EC6B544-8C84-47A6-885D-A4F09EF5C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75326" y="343675"/>
            <a:ext cx="768186" cy="76818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0" name="Freeform: Shape 29">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6750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dirty="0"/>
          </a:p>
        </p:txBody>
      </p:sp>
      <p:sp>
        <p:nvSpPr>
          <p:cNvPr id="32" name="Oval 31">
            <a:extLst>
              <a:ext uri="{FF2B5EF4-FFF2-40B4-BE49-F238E27FC236}">
                <a16:creationId xmlns:a16="http://schemas.microsoft.com/office/drawing/2014/main" id="{32C95C5C-6FBD-47FF-9CA6-066193539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7140" y="5100276"/>
            <a:ext cx="515928" cy="515928"/>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4" name="Oval 33">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7140" y="5100276"/>
            <a:ext cx="515928" cy="51592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6"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37" name="Freeform: Shape 36">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
        <p:nvSpPr>
          <p:cNvPr id="4" name="TextBox 3">
            <a:extLst>
              <a:ext uri="{FF2B5EF4-FFF2-40B4-BE49-F238E27FC236}">
                <a16:creationId xmlns:a16="http://schemas.microsoft.com/office/drawing/2014/main" id="{11E7ABB0-69B1-40E8-8C18-79A96A25C298}"/>
              </a:ext>
            </a:extLst>
          </p:cNvPr>
          <p:cNvSpPr txBox="1"/>
          <p:nvPr/>
        </p:nvSpPr>
        <p:spPr>
          <a:xfrm>
            <a:off x="9756230" y="4786734"/>
            <a:ext cx="2743201" cy="1200329"/>
          </a:xfrm>
          <a:prstGeom prst="rect">
            <a:avLst/>
          </a:prstGeom>
          <a:noFill/>
        </p:spPr>
        <p:txBody>
          <a:bodyPr wrap="square" rtlCol="0">
            <a:spAutoFit/>
          </a:bodyPr>
          <a:lstStyle/>
          <a:p>
            <a:r>
              <a:rPr lang="el-GR" i="1" dirty="0">
                <a:latin typeface="Times New Roman" panose="02020603050405020304" pitchFamily="18" charset="0"/>
                <a:cs typeface="Times New Roman" panose="02020603050405020304" pitchFamily="18" charset="0"/>
              </a:rPr>
              <a:t>Αλί </a:t>
            </a:r>
            <a:r>
              <a:rPr lang="el-GR" i="1" dirty="0" err="1">
                <a:latin typeface="Times New Roman" panose="02020603050405020304" pitchFamily="18" charset="0"/>
                <a:cs typeface="Times New Roman" panose="02020603050405020304" pitchFamily="18" charset="0"/>
              </a:rPr>
              <a:t>Αλζαρά</a:t>
            </a:r>
            <a:endParaRPr lang="el-GR" i="1" dirty="0">
              <a:latin typeface="Times New Roman" panose="02020603050405020304" pitchFamily="18" charset="0"/>
              <a:cs typeface="Times New Roman" panose="02020603050405020304" pitchFamily="18" charset="0"/>
            </a:endParaRPr>
          </a:p>
          <a:p>
            <a:r>
              <a:rPr lang="el-GR" i="1" dirty="0">
                <a:latin typeface="Times New Roman" panose="02020603050405020304" pitchFamily="18" charset="0"/>
                <a:cs typeface="Times New Roman" panose="02020603050405020304" pitchFamily="18" charset="0"/>
              </a:rPr>
              <a:t>Σωτήρης </a:t>
            </a:r>
            <a:r>
              <a:rPr lang="el-GR" i="1" dirty="0" err="1">
                <a:latin typeface="Times New Roman" panose="02020603050405020304" pitchFamily="18" charset="0"/>
                <a:cs typeface="Times New Roman" panose="02020603050405020304" pitchFamily="18" charset="0"/>
              </a:rPr>
              <a:t>Γυψιώτης</a:t>
            </a:r>
            <a:endParaRPr lang="el-GR" i="1" dirty="0">
              <a:latin typeface="Times New Roman" panose="02020603050405020304" pitchFamily="18" charset="0"/>
              <a:cs typeface="Times New Roman" panose="02020603050405020304" pitchFamily="18" charset="0"/>
            </a:endParaRPr>
          </a:p>
          <a:p>
            <a:r>
              <a:rPr lang="el-GR" i="1" dirty="0">
                <a:latin typeface="Times New Roman" panose="02020603050405020304" pitchFamily="18" charset="0"/>
                <a:cs typeface="Times New Roman" panose="02020603050405020304" pitchFamily="18" charset="0"/>
              </a:rPr>
              <a:t>Λεωνίδας Κοτίδης</a:t>
            </a:r>
          </a:p>
          <a:p>
            <a:r>
              <a:rPr lang="el-GR" i="1" dirty="0">
                <a:latin typeface="Times New Roman" panose="02020603050405020304" pitchFamily="18" charset="0"/>
                <a:cs typeface="Times New Roman" panose="02020603050405020304" pitchFamily="18" charset="0"/>
              </a:rPr>
              <a:t>Αλκίνοος Χριστοδουλίδης</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0847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1033B-C2E1-403B-A5B5-3DCD6FDFA668}"/>
              </a:ext>
            </a:extLst>
          </p:cNvPr>
          <p:cNvSpPr>
            <a:spLocks noGrp="1"/>
          </p:cNvSpPr>
          <p:nvPr>
            <p:ph type="title"/>
          </p:nvPr>
        </p:nvSpPr>
        <p:spPr/>
        <p:txBody>
          <a:bodyPr/>
          <a:lstStyle/>
          <a:p>
            <a:pPr algn="ctr"/>
            <a:r>
              <a:rPr lang="en-US" b="1" i="1" u="sng" dirty="0">
                <a:latin typeface="Times New Roman" panose="02020603050405020304" pitchFamily="18" charset="0"/>
                <a:cs typeface="Times New Roman" panose="02020603050405020304" pitchFamily="18" charset="0"/>
              </a:rPr>
              <a:t>Bipolar Junction Transistor (BJT) </a:t>
            </a:r>
          </a:p>
        </p:txBody>
      </p:sp>
      <p:pic>
        <p:nvPicPr>
          <p:cNvPr id="4" name="Content Placeholder 3">
            <a:extLst>
              <a:ext uri="{FF2B5EF4-FFF2-40B4-BE49-F238E27FC236}">
                <a16:creationId xmlns:a16="http://schemas.microsoft.com/office/drawing/2014/main" id="{C58F3DA0-7F10-4BC8-97DE-E16D82464C7D}"/>
              </a:ext>
            </a:extLst>
          </p:cNvPr>
          <p:cNvPicPr>
            <a:picLocks noGrp="1" noChangeAspect="1"/>
          </p:cNvPicPr>
          <p:nvPr>
            <p:ph idx="1"/>
          </p:nvPr>
        </p:nvPicPr>
        <p:blipFill>
          <a:blip r:embed="rId2"/>
          <a:stretch>
            <a:fillRect/>
          </a:stretch>
        </p:blipFill>
        <p:spPr>
          <a:xfrm>
            <a:off x="1500753" y="1825625"/>
            <a:ext cx="9190494" cy="4351338"/>
          </a:xfrm>
          <a:prstGeom prst="rect">
            <a:avLst/>
          </a:prstGeom>
        </p:spPr>
      </p:pic>
    </p:spTree>
    <p:extLst>
      <p:ext uri="{BB962C8B-B14F-4D97-AF65-F5344CB8AC3E}">
        <p14:creationId xmlns:p14="http://schemas.microsoft.com/office/powerpoint/2010/main" val="105290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28B7EC-775E-4C93-A112-F8B50E8D6CD5}"/>
              </a:ext>
            </a:extLst>
          </p:cNvPr>
          <p:cNvSpPr>
            <a:spLocks noGrp="1"/>
          </p:cNvSpPr>
          <p:nvPr>
            <p:ph type="title"/>
          </p:nvPr>
        </p:nvSpPr>
        <p:spPr>
          <a:xfrm>
            <a:off x="643467" y="321734"/>
            <a:ext cx="10905066" cy="1135737"/>
          </a:xfrm>
        </p:spPr>
        <p:txBody>
          <a:bodyPr>
            <a:normAutofit/>
          </a:bodyPr>
          <a:lstStyle/>
          <a:p>
            <a:r>
              <a:rPr lang="el-GR" sz="3600" b="1" i="1" dirty="0">
                <a:latin typeface="Times New Roman" panose="02020603050405020304" pitchFamily="18" charset="0"/>
                <a:cs typeface="Times New Roman" panose="02020603050405020304" pitchFamily="18" charset="0"/>
              </a:rPr>
              <a:t>Οι τυπικές τάσεις εκπομπών βάσης (VBE) και για τα τρανζίστορ </a:t>
            </a:r>
            <a:r>
              <a:rPr lang="el-GR" sz="3600" b="1" i="1" dirty="0" err="1">
                <a:latin typeface="Times New Roman" panose="02020603050405020304" pitchFamily="18" charset="0"/>
                <a:cs typeface="Times New Roman" panose="02020603050405020304" pitchFamily="18" charset="0"/>
              </a:rPr>
              <a:t>npn</a:t>
            </a:r>
            <a:r>
              <a:rPr lang="el-GR" sz="3600" b="1" i="1" dirty="0">
                <a:latin typeface="Times New Roman" panose="02020603050405020304" pitchFamily="18" charset="0"/>
                <a:cs typeface="Times New Roman" panose="02020603050405020304" pitchFamily="18" charset="0"/>
              </a:rPr>
              <a:t> και </a:t>
            </a:r>
            <a:r>
              <a:rPr lang="el-GR" sz="3600" b="1" i="1" dirty="0" err="1">
                <a:latin typeface="Times New Roman" panose="02020603050405020304" pitchFamily="18" charset="0"/>
                <a:cs typeface="Times New Roman" panose="02020603050405020304" pitchFamily="18" charset="0"/>
              </a:rPr>
              <a:t>pnp</a:t>
            </a:r>
            <a:r>
              <a:rPr lang="el-GR" sz="3600" b="1" i="1" dirty="0">
                <a:latin typeface="Times New Roman" panose="02020603050405020304" pitchFamily="18" charset="0"/>
                <a:cs typeface="Times New Roman" panose="02020603050405020304" pitchFamily="18" charset="0"/>
              </a:rPr>
              <a:t> είναι οι εξής:</a:t>
            </a:r>
            <a:endParaRPr lang="en-US" sz="3600" b="1" i="1"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F1909E9E-A96C-45FD-B8D9-B11BE291A69E}"/>
              </a:ext>
            </a:extLst>
          </p:cNvPr>
          <p:cNvSpPr>
            <a:spLocks noGrp="1"/>
          </p:cNvSpPr>
          <p:nvPr>
            <p:ph idx="1"/>
          </p:nvPr>
        </p:nvSpPr>
        <p:spPr>
          <a:xfrm>
            <a:off x="643469" y="1782981"/>
            <a:ext cx="4008384" cy="4393982"/>
          </a:xfrm>
        </p:spPr>
        <p:txBody>
          <a:bodyPr>
            <a:normAutofit/>
          </a:bodyPr>
          <a:lstStyle/>
          <a:p>
            <a:r>
              <a:rPr lang="el-GR" sz="2000" i="1" dirty="0">
                <a:latin typeface="Times New Roman" panose="02020603050405020304" pitchFamily="18" charset="0"/>
                <a:cs typeface="Times New Roman" panose="02020603050405020304" pitchFamily="18" charset="0"/>
              </a:rPr>
              <a:t>Εάν το τρανζίστορ αποτελείται από υλικό πυριτίου, η τάση </a:t>
            </a:r>
            <a:r>
              <a:rPr lang="el-GR" sz="2000" i="1" dirty="0" err="1">
                <a:latin typeface="Times New Roman" panose="02020603050405020304" pitchFamily="18" charset="0"/>
                <a:cs typeface="Times New Roman" panose="02020603050405020304" pitchFamily="18" charset="0"/>
              </a:rPr>
              <a:t>εκπομπού</a:t>
            </a:r>
            <a:r>
              <a:rPr lang="el-GR" sz="2000" i="1" dirty="0">
                <a:latin typeface="Times New Roman" panose="02020603050405020304" pitchFamily="18" charset="0"/>
                <a:cs typeface="Times New Roman" panose="02020603050405020304" pitchFamily="18" charset="0"/>
              </a:rPr>
              <a:t> βάσης (VBE) θα είναι 0,7 V. </a:t>
            </a:r>
          </a:p>
          <a:p>
            <a:r>
              <a:rPr lang="el-GR" sz="2000" i="1" dirty="0">
                <a:latin typeface="Times New Roman" panose="02020603050405020304" pitchFamily="18" charset="0"/>
                <a:cs typeface="Times New Roman" panose="02020603050405020304" pitchFamily="18" charset="0"/>
              </a:rPr>
              <a:t>Εάν το τρανζίστορ αποτελείται από ένα υλικό γερμανίου, η τάση βάσης-</a:t>
            </a:r>
            <a:r>
              <a:rPr lang="el-GR" sz="2000" i="1" dirty="0" err="1">
                <a:latin typeface="Times New Roman" panose="02020603050405020304" pitchFamily="18" charset="0"/>
                <a:cs typeface="Times New Roman" panose="02020603050405020304" pitchFamily="18" charset="0"/>
              </a:rPr>
              <a:t>εκπομπού</a:t>
            </a:r>
            <a:r>
              <a:rPr lang="el-GR" sz="2000" i="1" dirty="0">
                <a:latin typeface="Times New Roman" panose="02020603050405020304" pitchFamily="18" charset="0"/>
                <a:cs typeface="Times New Roman" panose="02020603050405020304" pitchFamily="18" charset="0"/>
              </a:rPr>
              <a:t> (VBE) θα είναι 0,3 V.</a:t>
            </a:r>
            <a:endParaRPr lang="en-US" sz="2000" i="1" dirty="0">
              <a:latin typeface="Times New Roman" panose="02020603050405020304" pitchFamily="18" charset="0"/>
              <a:cs typeface="Times New Roman" panose="02020603050405020304" pitchFamily="18" charset="0"/>
            </a:endParaRPr>
          </a:p>
        </p:txBody>
      </p:sp>
      <p:grpSp>
        <p:nvGrpSpPr>
          <p:cNvPr id="22" name="Group 14">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6" name="Isosceles Triangle 15">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CB01E1DB-FC25-4408-9D94-4B0392890572}"/>
              </a:ext>
            </a:extLst>
          </p:cNvPr>
          <p:cNvPicPr>
            <a:picLocks noChangeAspect="1"/>
          </p:cNvPicPr>
          <p:nvPr/>
        </p:nvPicPr>
        <p:blipFill>
          <a:blip r:embed="rId2"/>
          <a:stretch>
            <a:fillRect/>
          </a:stretch>
        </p:blipFill>
        <p:spPr>
          <a:xfrm>
            <a:off x="5474701" y="1782981"/>
            <a:ext cx="5894449" cy="4361892"/>
          </a:xfrm>
          <a:prstGeom prst="rect">
            <a:avLst/>
          </a:prstGeom>
        </p:spPr>
      </p:pic>
      <p:grpSp>
        <p:nvGrpSpPr>
          <p:cNvPr id="19" name="Group 18">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0" name="Rectangle 19">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515857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88521" y="381403"/>
            <a:ext cx="2200313" cy="3342508"/>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47F48F9-4E85-44EA-A6CA-B190E75BBCBD}"/>
              </a:ext>
            </a:extLst>
          </p:cNvPr>
          <p:cNvSpPr>
            <a:spLocks noGrp="1"/>
          </p:cNvSpPr>
          <p:nvPr>
            <p:ph type="title"/>
          </p:nvPr>
        </p:nvSpPr>
        <p:spPr>
          <a:xfrm>
            <a:off x="966952" y="1204108"/>
            <a:ext cx="2965856" cy="1781175"/>
          </a:xfrm>
        </p:spPr>
        <p:txBody>
          <a:bodyPr>
            <a:normAutofit fontScale="90000"/>
          </a:bodyPr>
          <a:lstStyle/>
          <a:p>
            <a:r>
              <a:rPr lang="el-GR" sz="2200" b="1" i="1" dirty="0">
                <a:solidFill>
                  <a:srgbClr val="FFFFFF"/>
                </a:solidFill>
              </a:rPr>
              <a:t>Τα τρανζίστορ αποτελούνται από τρία μέρη:</a:t>
            </a:r>
            <a:br>
              <a:rPr lang="en-US" sz="2200" b="1" i="1" dirty="0">
                <a:solidFill>
                  <a:srgbClr val="FFFFFF"/>
                </a:solidFill>
              </a:rPr>
            </a:br>
            <a:r>
              <a:rPr lang="el-GR" sz="2200" b="1" i="1" dirty="0">
                <a:solidFill>
                  <a:srgbClr val="FFFFFF"/>
                </a:solidFill>
              </a:rPr>
              <a:t> μια βάση, έναν συλλέκτη και έναν πομπό. </a:t>
            </a:r>
            <a:br>
              <a:rPr lang="el-GR" sz="1800" b="1" dirty="0">
                <a:solidFill>
                  <a:srgbClr val="FFFFFF"/>
                </a:solidFill>
              </a:rPr>
            </a:br>
            <a:endParaRPr lang="en-US" sz="1800" b="1" dirty="0">
              <a:solidFill>
                <a:srgbClr val="FFFFFF"/>
              </a:solidFill>
            </a:endParaRPr>
          </a:p>
        </p:txBody>
      </p:sp>
      <p:sp>
        <p:nvSpPr>
          <p:cNvPr id="3" name="Content Placeholder 2">
            <a:extLst>
              <a:ext uri="{FF2B5EF4-FFF2-40B4-BE49-F238E27FC236}">
                <a16:creationId xmlns:a16="http://schemas.microsoft.com/office/drawing/2014/main" id="{B82CF653-03C9-4630-872D-E8C19A9C0549}"/>
              </a:ext>
            </a:extLst>
          </p:cNvPr>
          <p:cNvSpPr>
            <a:spLocks noGrp="1"/>
          </p:cNvSpPr>
          <p:nvPr>
            <p:ph idx="1"/>
          </p:nvPr>
        </p:nvSpPr>
        <p:spPr>
          <a:xfrm>
            <a:off x="966951" y="3355130"/>
            <a:ext cx="3427496" cy="2427333"/>
          </a:xfrm>
        </p:spPr>
        <p:txBody>
          <a:bodyPr>
            <a:normAutofit/>
          </a:bodyPr>
          <a:lstStyle/>
          <a:p>
            <a:r>
              <a:rPr lang="el-GR" sz="1800" dirty="0">
                <a:latin typeface="Times New Roman" panose="02020603050405020304" pitchFamily="18" charset="0"/>
                <a:cs typeface="Times New Roman" panose="02020603050405020304" pitchFamily="18" charset="0"/>
              </a:rPr>
              <a:t>Η βάση είναι η συσκευή ελέγχου πύλης για τη μεγαλύτερη ηλεκτρική παροχή.</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l-GR" sz="1800" dirty="0">
                <a:latin typeface="Times New Roman" panose="02020603050405020304" pitchFamily="18" charset="0"/>
                <a:cs typeface="Times New Roman" panose="02020603050405020304" pitchFamily="18" charset="0"/>
              </a:rPr>
              <a:t> Ο συλλέκτης είναι η μεγαλύτερη παροχή ηλεκτρικού ρεύματος και ο πομπός είναι η έξοδος για αυτήν την παροχή.</a:t>
            </a:r>
            <a:endParaRPr lang="en-US"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78C505E-0BF4-4439-9B28-DC06BD4F21AD}"/>
              </a:ext>
            </a:extLst>
          </p:cNvPr>
          <p:cNvPicPr>
            <a:picLocks noChangeAspect="1"/>
          </p:cNvPicPr>
          <p:nvPr/>
        </p:nvPicPr>
        <p:blipFill>
          <a:blip r:embed="rId2"/>
          <a:stretch>
            <a:fillRect/>
          </a:stretch>
        </p:blipFill>
        <p:spPr>
          <a:xfrm>
            <a:off x="4662102" y="2064403"/>
            <a:ext cx="6903723" cy="2606156"/>
          </a:xfrm>
          <a:prstGeom prst="rect">
            <a:avLst/>
          </a:prstGeom>
        </p:spPr>
      </p:pic>
    </p:spTree>
    <p:extLst>
      <p:ext uri="{BB962C8B-B14F-4D97-AF65-F5344CB8AC3E}">
        <p14:creationId xmlns:p14="http://schemas.microsoft.com/office/powerpoint/2010/main" val="4255814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26F60-EDF8-43FC-A104-F1A323F4D039}"/>
              </a:ext>
            </a:extLst>
          </p:cNvPr>
          <p:cNvSpPr>
            <a:spLocks noGrp="1"/>
          </p:cNvSpPr>
          <p:nvPr>
            <p:ph type="title"/>
          </p:nvPr>
        </p:nvSpPr>
        <p:spPr>
          <a:xfrm>
            <a:off x="838200" y="365126"/>
            <a:ext cx="5340605" cy="1146176"/>
          </a:xfrm>
        </p:spPr>
        <p:txBody>
          <a:bodyPr>
            <a:normAutofit/>
          </a:bodyPr>
          <a:lstStyle/>
          <a:p>
            <a:r>
              <a:rPr lang="en-US" b="1" i="1" u="sng" dirty="0">
                <a:latin typeface="Times New Roman" panose="02020603050405020304" pitchFamily="18" charset="0"/>
                <a:cs typeface="Times New Roman" panose="02020603050405020304" pitchFamily="18" charset="0"/>
              </a:rPr>
              <a:t>Diode</a:t>
            </a:r>
          </a:p>
        </p:txBody>
      </p:sp>
      <p:sp>
        <p:nvSpPr>
          <p:cNvPr id="10" name="Freeform: Shape 9">
            <a:extLst>
              <a:ext uri="{FF2B5EF4-FFF2-40B4-BE49-F238E27FC236}">
                <a16:creationId xmlns:a16="http://schemas.microsoft.com/office/drawing/2014/main" id="{05C7EBC3-4672-4DAB-81C2-58661FAFA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8805" y="-2"/>
            <a:ext cx="6013194" cy="1511304"/>
          </a:xfrm>
          <a:custGeom>
            <a:avLst/>
            <a:gdLst>
              <a:gd name="connsiteX0" fmla="*/ 4545473 w 6013194"/>
              <a:gd name="connsiteY0" fmla="*/ 0 h 1511304"/>
              <a:gd name="connsiteX1" fmla="*/ 6013194 w 6013194"/>
              <a:gd name="connsiteY1" fmla="*/ 0 h 1511304"/>
              <a:gd name="connsiteX2" fmla="*/ 6013194 w 6013194"/>
              <a:gd name="connsiteY2" fmla="*/ 1508760 h 1511304"/>
              <a:gd name="connsiteX3" fmla="*/ 4545474 w 6013194"/>
              <a:gd name="connsiteY3" fmla="*/ 1508760 h 1511304"/>
              <a:gd name="connsiteX4" fmla="*/ 4545474 w 6013194"/>
              <a:gd name="connsiteY4" fmla="*/ 1511304 h 1511304"/>
              <a:gd name="connsiteX5" fmla="*/ 0 w 6013194"/>
              <a:gd name="connsiteY5" fmla="*/ 1511304 h 1511304"/>
              <a:gd name="connsiteX6" fmla="*/ 697617 w 6013194"/>
              <a:gd name="connsiteY6" fmla="*/ 3 h 1511304"/>
              <a:gd name="connsiteX7" fmla="*/ 4545473 w 6013194"/>
              <a:gd name="connsiteY7"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3194" h="1511304">
                <a:moveTo>
                  <a:pt x="4545473" y="0"/>
                </a:moveTo>
                <a:lnTo>
                  <a:pt x="6013194" y="0"/>
                </a:lnTo>
                <a:lnTo>
                  <a:pt x="6013194" y="1508760"/>
                </a:lnTo>
                <a:lnTo>
                  <a:pt x="4545474" y="1508760"/>
                </a:lnTo>
                <a:lnTo>
                  <a:pt x="4545474" y="1511304"/>
                </a:lnTo>
                <a:lnTo>
                  <a:pt x="0" y="1511304"/>
                </a:lnTo>
                <a:lnTo>
                  <a:pt x="697617" y="3"/>
                </a:lnTo>
                <a:lnTo>
                  <a:pt x="4545473" y="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0BF962F-4C6F-461E-86F2-C43F56CC9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797" y="1690688"/>
            <a:ext cx="8711202" cy="5167312"/>
          </a:xfrm>
          <a:custGeom>
            <a:avLst/>
            <a:gdLst>
              <a:gd name="connsiteX0" fmla="*/ 0 w 8711202"/>
              <a:gd name="connsiteY0" fmla="*/ 0 h 5167312"/>
              <a:gd name="connsiteX1" fmla="*/ 7243482 w 8711202"/>
              <a:gd name="connsiteY1" fmla="*/ 0 h 5167312"/>
              <a:gd name="connsiteX2" fmla="*/ 8711202 w 8711202"/>
              <a:gd name="connsiteY2" fmla="*/ 0 h 5167312"/>
              <a:gd name="connsiteX3" fmla="*/ 8711202 w 8711202"/>
              <a:gd name="connsiteY3" fmla="*/ 5167312 h 5167312"/>
              <a:gd name="connsiteX4" fmla="*/ 7243482 w 8711202"/>
              <a:gd name="connsiteY4" fmla="*/ 5167312 h 5167312"/>
              <a:gd name="connsiteX5" fmla="*/ 221324 w 8711202"/>
              <a:gd name="connsiteY5" fmla="*/ 5167312 h 5167312"/>
              <a:gd name="connsiteX6" fmla="*/ 2615203 w 8711202"/>
              <a:gd name="connsiteY6" fmla="*/ 952 h 5167312"/>
              <a:gd name="connsiteX7" fmla="*/ 0 w 8711202"/>
              <a:gd name="connsiteY7"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1202" h="5167312">
                <a:moveTo>
                  <a:pt x="0" y="0"/>
                </a:moveTo>
                <a:lnTo>
                  <a:pt x="7243482" y="0"/>
                </a:lnTo>
                <a:lnTo>
                  <a:pt x="8711202" y="0"/>
                </a:lnTo>
                <a:lnTo>
                  <a:pt x="8711202" y="5167312"/>
                </a:lnTo>
                <a:lnTo>
                  <a:pt x="7243482" y="5167312"/>
                </a:lnTo>
                <a:lnTo>
                  <a:pt x="221324" y="5167312"/>
                </a:lnTo>
                <a:lnTo>
                  <a:pt x="2615203" y="952"/>
                </a:lnTo>
                <a:lnTo>
                  <a:pt x="0" y="952"/>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E94A4F7-38E4-45EA-8E2E-CE1B5766B4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5931454" cy="5166360"/>
          </a:xfrm>
          <a:custGeom>
            <a:avLst/>
            <a:gdLst>
              <a:gd name="connsiteX0" fmla="*/ 0 w 5931454"/>
              <a:gd name="connsiteY0" fmla="*/ 0 h 5166360"/>
              <a:gd name="connsiteX1" fmla="*/ 5931454 w 5931454"/>
              <a:gd name="connsiteY1" fmla="*/ 0 h 5166360"/>
              <a:gd name="connsiteX2" fmla="*/ 3537575 w 5931454"/>
              <a:gd name="connsiteY2" fmla="*/ 5166360 h 5166360"/>
              <a:gd name="connsiteX3" fmla="*/ 0 w 5931454"/>
              <a:gd name="connsiteY3" fmla="*/ 5166360 h 5166360"/>
            </a:gdLst>
            <a:ahLst/>
            <a:cxnLst>
              <a:cxn ang="0">
                <a:pos x="connsiteX0" y="connsiteY0"/>
              </a:cxn>
              <a:cxn ang="0">
                <a:pos x="connsiteX1" y="connsiteY1"/>
              </a:cxn>
              <a:cxn ang="0">
                <a:pos x="connsiteX2" y="connsiteY2"/>
              </a:cxn>
              <a:cxn ang="0">
                <a:pos x="connsiteX3" y="connsiteY3"/>
              </a:cxn>
            </a:cxnLst>
            <a:rect l="l" t="t" r="r" b="b"/>
            <a:pathLst>
              <a:path w="5931454" h="5166360">
                <a:moveTo>
                  <a:pt x="0" y="0"/>
                </a:moveTo>
                <a:lnTo>
                  <a:pt x="5931454" y="0"/>
                </a:lnTo>
                <a:lnTo>
                  <a:pt x="3537575" y="5166360"/>
                </a:lnTo>
                <a:lnTo>
                  <a:pt x="0" y="5166360"/>
                </a:lnTo>
                <a:close/>
              </a:path>
            </a:pathLst>
          </a:cu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79FA09A8-140D-4A65-9932-E77FCF91B58F}"/>
              </a:ext>
            </a:extLst>
          </p:cNvPr>
          <p:cNvSpPr>
            <a:spLocks noGrp="1"/>
          </p:cNvSpPr>
          <p:nvPr>
            <p:ph idx="1"/>
          </p:nvPr>
        </p:nvSpPr>
        <p:spPr>
          <a:xfrm>
            <a:off x="838200" y="2173288"/>
            <a:ext cx="3603171" cy="3639684"/>
          </a:xfrm>
        </p:spPr>
        <p:txBody>
          <a:bodyPr anchor="ctr">
            <a:normAutofit/>
          </a:bodyPr>
          <a:lstStyle/>
          <a:p>
            <a:r>
              <a:rPr lang="el-GR" sz="2000" i="1" dirty="0">
                <a:solidFill>
                  <a:srgbClr val="FFFFFF"/>
                </a:solidFill>
                <a:latin typeface="Times New Roman" panose="02020603050405020304" pitchFamily="18" charset="0"/>
                <a:cs typeface="Times New Roman" panose="02020603050405020304" pitchFamily="18" charset="0"/>
              </a:rPr>
              <a:t>Η Δίοδος είναι ένα στοιχείο που περιορίζει τη κατέθυνση της ροής ένος φόρεα αγωγιμότητας. Διλαδή περιορίζει το ρεύμα να πέρναει άπο μεσά της μονό άπο μια μερία.</a:t>
            </a:r>
            <a:endParaRPr lang="en-US" sz="2000" i="1" dirty="0">
              <a:solidFill>
                <a:srgbClr val="FFFFFF"/>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A042EAC-04DA-4745-ABE6-AA1120452265}"/>
              </a:ext>
            </a:extLst>
          </p:cNvPr>
          <p:cNvPicPr>
            <a:picLocks noChangeAspect="1"/>
          </p:cNvPicPr>
          <p:nvPr/>
        </p:nvPicPr>
        <p:blipFill>
          <a:blip r:embed="rId2"/>
          <a:stretch>
            <a:fillRect/>
          </a:stretch>
        </p:blipFill>
        <p:spPr>
          <a:xfrm>
            <a:off x="6183088" y="2976460"/>
            <a:ext cx="5170711" cy="2397329"/>
          </a:xfrm>
          <a:custGeom>
            <a:avLst/>
            <a:gdLst/>
            <a:ahLst/>
            <a:cxnLst/>
            <a:rect l="l" t="t" r="r" b="b"/>
            <a:pathLst>
              <a:path w="4636009" h="5032375">
                <a:moveTo>
                  <a:pt x="0" y="0"/>
                </a:moveTo>
                <a:lnTo>
                  <a:pt x="4636009" y="0"/>
                </a:lnTo>
                <a:lnTo>
                  <a:pt x="4636009" y="5032375"/>
                </a:lnTo>
                <a:lnTo>
                  <a:pt x="0" y="5032375"/>
                </a:lnTo>
                <a:close/>
              </a:path>
            </a:pathLst>
          </a:custGeom>
        </p:spPr>
      </p:pic>
    </p:spTree>
    <p:extLst>
      <p:ext uri="{BB962C8B-B14F-4D97-AF65-F5344CB8AC3E}">
        <p14:creationId xmlns:p14="http://schemas.microsoft.com/office/powerpoint/2010/main" val="328248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5F9CFCE6-877F-4858-B8BD-2C52CA8AFB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978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213F8A0-12AE-4514-8372-0DD766EC2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80060"/>
            <a:ext cx="545812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3938E9F5-65D1-4992-9E1D-2F56EB0E72C8}"/>
              </a:ext>
            </a:extLst>
          </p:cNvPr>
          <p:cNvPicPr>
            <a:picLocks noGrp="1" noChangeAspect="1"/>
          </p:cNvPicPr>
          <p:nvPr>
            <p:ph idx="1"/>
          </p:nvPr>
        </p:nvPicPr>
        <p:blipFill>
          <a:blip r:embed="rId2"/>
          <a:stretch>
            <a:fillRect/>
          </a:stretch>
        </p:blipFill>
        <p:spPr>
          <a:xfrm>
            <a:off x="6421035" y="889058"/>
            <a:ext cx="5129784" cy="5079883"/>
          </a:xfrm>
          <a:prstGeom prst="rect">
            <a:avLst/>
          </a:prstGeom>
        </p:spPr>
      </p:pic>
      <p:sp>
        <p:nvSpPr>
          <p:cNvPr id="30" name="Rectangle 29">
            <a:extLst>
              <a:ext uri="{FF2B5EF4-FFF2-40B4-BE49-F238E27FC236}">
                <a16:creationId xmlns:a16="http://schemas.microsoft.com/office/drawing/2014/main" id="{9EFF17D4-9A8C-4CE5-B096-D8CCD4400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458121"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A66E650-888F-41C9-B3DA-E9F9164D862C}"/>
              </a:ext>
            </a:extLst>
          </p:cNvPr>
          <p:cNvPicPr>
            <a:picLocks noChangeAspect="1"/>
          </p:cNvPicPr>
          <p:nvPr/>
        </p:nvPicPr>
        <p:blipFill>
          <a:blip r:embed="rId3"/>
          <a:stretch>
            <a:fillRect/>
          </a:stretch>
        </p:blipFill>
        <p:spPr>
          <a:xfrm>
            <a:off x="641180" y="1260256"/>
            <a:ext cx="5129784" cy="4337487"/>
          </a:xfrm>
          <a:prstGeom prst="rect">
            <a:avLst/>
          </a:prstGeom>
        </p:spPr>
      </p:pic>
    </p:spTree>
    <p:extLst>
      <p:ext uri="{BB962C8B-B14F-4D97-AF65-F5344CB8AC3E}">
        <p14:creationId xmlns:p14="http://schemas.microsoft.com/office/powerpoint/2010/main" val="1993777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B3881F4B-D63B-423D-A4A9-57E7AB456741}"/>
              </a:ext>
            </a:extLst>
          </p:cNvPr>
          <p:cNvSpPr>
            <a:spLocks noGrp="1"/>
          </p:cNvSpPr>
          <p:nvPr>
            <p:ph type="title"/>
          </p:nvPr>
        </p:nvSpPr>
        <p:spPr>
          <a:xfrm>
            <a:off x="288889" y="416961"/>
            <a:ext cx="6315170" cy="3072015"/>
          </a:xfrm>
        </p:spPr>
        <p:txBody>
          <a:bodyPr vert="horz" lIns="91440" tIns="45720" rIns="91440" bIns="45720" rtlCol="0" anchor="b">
            <a:normAutofit/>
          </a:bodyPr>
          <a:lstStyle/>
          <a:p>
            <a:pPr algn="ctr"/>
            <a:r>
              <a:rPr lang="en-US" sz="4200" b="1" i="1" kern="1200" dirty="0" err="1">
                <a:solidFill>
                  <a:schemeClr val="tx1"/>
                </a:solidFill>
                <a:effectLst/>
                <a:latin typeface="Times New Roman" panose="02020603050405020304" pitchFamily="18" charset="0"/>
                <a:cs typeface="Times New Roman" panose="02020603050405020304" pitchFamily="18" charset="0"/>
              </a:rPr>
              <a:t>Εφ</a:t>
            </a:r>
            <a:r>
              <a:rPr lang="en-US" sz="4200" b="1" i="1" kern="1200" dirty="0">
                <a:solidFill>
                  <a:schemeClr val="tx1"/>
                </a:solidFill>
                <a:effectLst/>
                <a:latin typeface="Times New Roman" panose="02020603050405020304" pitchFamily="18" charset="0"/>
                <a:cs typeface="Times New Roman" panose="02020603050405020304" pitchFamily="18" charset="0"/>
              </a:rPr>
              <a:t>αρμογές Διπολικού Τρανζίστορ Διασταύρωσης ή BJT | Ιστορία του BJT</a:t>
            </a:r>
            <a:endParaRPr lang="en-US" sz="4200" i="1" kern="12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75803E-7324-4363-B38F-A5D8336B6251}"/>
              </a:ext>
            </a:extLst>
          </p:cNvPr>
          <p:cNvSpPr>
            <a:spLocks noGrp="1"/>
          </p:cNvSpPr>
          <p:nvPr>
            <p:ph idx="1"/>
          </p:nvPr>
        </p:nvSpPr>
        <p:spPr>
          <a:xfrm>
            <a:off x="870148" y="3962792"/>
            <a:ext cx="5221185" cy="2102108"/>
          </a:xfrm>
        </p:spPr>
        <p:txBody>
          <a:bodyPr vert="horz" lIns="91440" tIns="45720" rIns="91440" bIns="45720" rtlCol="0" anchor="t">
            <a:normAutofit/>
          </a:bodyPr>
          <a:lstStyle/>
          <a:p>
            <a:pPr marL="0" indent="0" algn="ctr">
              <a:buNone/>
            </a:pPr>
            <a:r>
              <a:rPr lang="en-US" sz="2400" i="1" kern="1200" dirty="0">
                <a:solidFill>
                  <a:schemeClr val="tx1"/>
                </a:solidFill>
                <a:latin typeface="Times New Roman" panose="02020603050405020304" pitchFamily="18" charset="0"/>
                <a:cs typeface="Times New Roman" panose="02020603050405020304" pitchFamily="18" charset="0"/>
              </a:rPr>
              <a:t>Υπ</a:t>
            </a:r>
            <a:r>
              <a:rPr lang="en-US" sz="2400" i="1" kern="1200" dirty="0" err="1">
                <a:solidFill>
                  <a:schemeClr val="tx1"/>
                </a:solidFill>
                <a:latin typeface="Times New Roman" panose="02020603050405020304" pitchFamily="18" charset="0"/>
                <a:cs typeface="Times New Roman" panose="02020603050405020304" pitchFamily="18" charset="0"/>
              </a:rPr>
              <a:t>άρχουν</a:t>
            </a:r>
            <a:r>
              <a:rPr lang="en-US" sz="2400" i="1" kern="1200" dirty="0">
                <a:solidFill>
                  <a:schemeClr val="tx1"/>
                </a:solidFill>
                <a:latin typeface="Times New Roman" panose="02020603050405020304" pitchFamily="18" charset="0"/>
                <a:cs typeface="Times New Roman" panose="02020603050405020304" pitchFamily="18" charset="0"/>
              </a:rPr>
              <a:t> </a:t>
            </a:r>
            <a:r>
              <a:rPr lang="en-US" sz="2400" i="1" kern="1200" dirty="0" err="1">
                <a:solidFill>
                  <a:schemeClr val="tx1"/>
                </a:solidFill>
                <a:latin typeface="Times New Roman" panose="02020603050405020304" pitchFamily="18" charset="0"/>
                <a:cs typeface="Times New Roman" panose="02020603050405020304" pitchFamily="18" charset="0"/>
              </a:rPr>
              <a:t>δύο</a:t>
            </a:r>
            <a:r>
              <a:rPr lang="en-US" sz="2400" i="1" kern="1200" dirty="0">
                <a:solidFill>
                  <a:schemeClr val="tx1"/>
                </a:solidFill>
                <a:latin typeface="Times New Roman" panose="02020603050405020304" pitchFamily="18" charset="0"/>
                <a:cs typeface="Times New Roman" panose="02020603050405020304" pitchFamily="18" charset="0"/>
              </a:rPr>
              <a:t> </a:t>
            </a:r>
            <a:r>
              <a:rPr lang="en-US" sz="2400" i="1" kern="1200" dirty="0" err="1">
                <a:solidFill>
                  <a:schemeClr val="tx1"/>
                </a:solidFill>
                <a:latin typeface="Times New Roman" panose="02020603050405020304" pitchFamily="18" charset="0"/>
                <a:cs typeface="Times New Roman" panose="02020603050405020304" pitchFamily="18" charset="0"/>
              </a:rPr>
              <a:t>τύ</a:t>
            </a:r>
            <a:r>
              <a:rPr lang="en-US" sz="2400" i="1" kern="1200" dirty="0">
                <a:solidFill>
                  <a:schemeClr val="tx1"/>
                </a:solidFill>
                <a:latin typeface="Times New Roman" panose="02020603050405020304" pitchFamily="18" charset="0"/>
                <a:cs typeface="Times New Roman" panose="02020603050405020304" pitchFamily="18" charset="0"/>
              </a:rPr>
              <a:t>ποι εφαρμογών του τρανζίστορ διπολικής σύνδεσης, η μεταγωγή και η ενίσχυση.</a:t>
            </a:r>
          </a:p>
        </p:txBody>
      </p:sp>
      <p:sp>
        <p:nvSpPr>
          <p:cNvPr id="73" name="Freeform: Shape 72">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Transistor As Amplifier &amp;amp; Switch - YouTube">
            <a:extLst>
              <a:ext uri="{FF2B5EF4-FFF2-40B4-BE49-F238E27FC236}">
                <a16:creationId xmlns:a16="http://schemas.microsoft.com/office/drawing/2014/main" id="{2254F3C1-B108-473B-8447-98E4F34150E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51243" y="1848291"/>
            <a:ext cx="4939504" cy="2778471"/>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a:noFill/>
          <a:extLst>
            <a:ext uri="{909E8E84-426E-40DD-AFC4-6F175D3DCCD1}">
              <a14:hiddenFill xmlns:a14="http://schemas.microsoft.com/office/drawing/2010/main">
                <a:solidFill>
                  <a:srgbClr val="FFFFFF"/>
                </a:solidFill>
              </a14:hiddenFill>
            </a:ext>
          </a:extLst>
        </p:spPr>
      </p:pic>
      <p:sp>
        <p:nvSpPr>
          <p:cNvPr id="77" name="Freeform: Shape 76">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Shape 78">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966790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55AD3-1EC8-47FA-B67B-60015C0BEFD9}"/>
              </a:ext>
            </a:extLst>
          </p:cNvPr>
          <p:cNvSpPr>
            <a:spLocks noGrp="1"/>
          </p:cNvSpPr>
          <p:nvPr>
            <p:ph type="title"/>
          </p:nvPr>
        </p:nvSpPr>
        <p:spPr>
          <a:xfrm>
            <a:off x="648929" y="629266"/>
            <a:ext cx="3505495" cy="1622321"/>
          </a:xfrm>
        </p:spPr>
        <p:txBody>
          <a:bodyPr>
            <a:normAutofit/>
          </a:bodyPr>
          <a:lstStyle/>
          <a:p>
            <a:r>
              <a:rPr lang="el-GR" b="1" i="1" u="sng" dirty="0">
                <a:latin typeface="Times New Roman" panose="02020603050405020304" pitchFamily="18" charset="0"/>
                <a:cs typeface="Times New Roman" panose="02020603050405020304" pitchFamily="18" charset="0"/>
              </a:rPr>
              <a:t>Τρανζίστορ ως διακόπτης</a:t>
            </a:r>
            <a:endParaRPr lang="en-US" b="1" i="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1C8C71C-5330-4733-B411-76844C8F68D2}"/>
              </a:ext>
            </a:extLst>
          </p:cNvPr>
          <p:cNvSpPr>
            <a:spLocks noGrp="1"/>
          </p:cNvSpPr>
          <p:nvPr>
            <p:ph idx="1"/>
          </p:nvPr>
        </p:nvSpPr>
        <p:spPr>
          <a:xfrm>
            <a:off x="648931" y="2438400"/>
            <a:ext cx="3505494" cy="3785419"/>
          </a:xfrm>
        </p:spPr>
        <p:txBody>
          <a:bodyPr>
            <a:normAutofit/>
          </a:bodyPr>
          <a:lstStyle/>
          <a:p>
            <a:pPr marL="0" indent="0">
              <a:buNone/>
            </a:pPr>
            <a:r>
              <a:rPr lang="el-GR" sz="2000" i="1" dirty="0">
                <a:latin typeface="Times New Roman" panose="02020603050405020304" pitchFamily="18" charset="0"/>
                <a:cs typeface="Times New Roman" panose="02020603050405020304" pitchFamily="18" charset="0"/>
              </a:rPr>
              <a:t>Για εφαρμογές μεταγωγής, το τρανζίστορ είναι πολωμένο για να λειτουργεί στην περιοχή κορεσμού ή αποκοπής. Το τρανζίστορ στην περιοχή αποκοπής θα λειτουργεί ως ανοιχτός διακόπτης ενώ στον κορεσμό θα λειτουργεί ως κλειστός διακόπτης.</a:t>
            </a:r>
            <a:endParaRPr lang="en-US" sz="2000" i="1"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FBCD3A9-8AD0-4D13-ABD1-B8BA1A662FAE}"/>
              </a:ext>
            </a:extLst>
          </p:cNvPr>
          <p:cNvPicPr>
            <a:picLocks noChangeAspect="1"/>
          </p:cNvPicPr>
          <p:nvPr/>
        </p:nvPicPr>
        <p:blipFill>
          <a:blip r:embed="rId2"/>
          <a:stretch>
            <a:fillRect/>
          </a:stretch>
        </p:blipFill>
        <p:spPr>
          <a:xfrm>
            <a:off x="5405862" y="1052868"/>
            <a:ext cx="6019331" cy="4749017"/>
          </a:xfrm>
          <a:prstGeom prst="rect">
            <a:avLst/>
          </a:prstGeom>
          <a:effectLst/>
        </p:spPr>
      </p:pic>
      <p:sp>
        <p:nvSpPr>
          <p:cNvPr id="4" name="AutoShape 2" descr="bjt application">
            <a:extLst>
              <a:ext uri="{FF2B5EF4-FFF2-40B4-BE49-F238E27FC236}">
                <a16:creationId xmlns:a16="http://schemas.microsoft.com/office/drawing/2014/main" id="{69376243-B5B0-4C08-A0F9-E68E6A8E3EC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Y"/>
          </a:p>
        </p:txBody>
      </p:sp>
      <p:sp>
        <p:nvSpPr>
          <p:cNvPr id="5" name="AutoShape 4" descr="bjt application">
            <a:extLst>
              <a:ext uri="{FF2B5EF4-FFF2-40B4-BE49-F238E27FC236}">
                <a16:creationId xmlns:a16="http://schemas.microsoft.com/office/drawing/2014/main" id="{D1E6F324-322C-4677-97CF-9CE6177E6AC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Y"/>
          </a:p>
        </p:txBody>
      </p:sp>
      <p:sp>
        <p:nvSpPr>
          <p:cNvPr id="6" name="AutoShape 6" descr="bjt application">
            <a:extLst>
              <a:ext uri="{FF2B5EF4-FFF2-40B4-BE49-F238E27FC236}">
                <a16:creationId xmlns:a16="http://schemas.microsoft.com/office/drawing/2014/main" id="{0F2C4BE7-CD1E-4B55-8A9D-618450D1D885}"/>
              </a:ext>
            </a:extLst>
          </p:cNvPr>
          <p:cNvSpPr>
            <a:spLocks noChangeAspect="1" noChangeArrowheads="1"/>
          </p:cNvSpPr>
          <p:nvPr/>
        </p:nvSpPr>
        <p:spPr bwMode="auto">
          <a:xfrm>
            <a:off x="6248400" y="3581400"/>
            <a:ext cx="3982278" cy="398227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Y"/>
          </a:p>
        </p:txBody>
      </p:sp>
      <p:sp>
        <p:nvSpPr>
          <p:cNvPr id="7" name="AutoShape 8" descr="bjt application">
            <a:extLst>
              <a:ext uri="{FF2B5EF4-FFF2-40B4-BE49-F238E27FC236}">
                <a16:creationId xmlns:a16="http://schemas.microsoft.com/office/drawing/2014/main" id="{310C33EB-E49B-4A6B-8F33-DA48835691C5}"/>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Y"/>
          </a:p>
        </p:txBody>
      </p:sp>
      <p:sp>
        <p:nvSpPr>
          <p:cNvPr id="8" name="AutoShape 10" descr="bjt application">
            <a:extLst>
              <a:ext uri="{FF2B5EF4-FFF2-40B4-BE49-F238E27FC236}">
                <a16:creationId xmlns:a16="http://schemas.microsoft.com/office/drawing/2014/main" id="{360191AE-E391-45F7-802B-B850B2B20D78}"/>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Y"/>
          </a:p>
        </p:txBody>
      </p:sp>
    </p:spTree>
    <p:extLst>
      <p:ext uri="{BB962C8B-B14F-4D97-AF65-F5344CB8AC3E}">
        <p14:creationId xmlns:p14="http://schemas.microsoft.com/office/powerpoint/2010/main" val="485598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3" name="Arc 7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FD91DB-54ED-40CD-A9E2-8B1CD66C380C}"/>
              </a:ext>
            </a:extLst>
          </p:cNvPr>
          <p:cNvSpPr>
            <a:spLocks noGrp="1"/>
          </p:cNvSpPr>
          <p:nvPr>
            <p:ph type="title"/>
          </p:nvPr>
        </p:nvSpPr>
        <p:spPr>
          <a:xfrm>
            <a:off x="5894962" y="479493"/>
            <a:ext cx="5458838" cy="1325563"/>
          </a:xfrm>
        </p:spPr>
        <p:txBody>
          <a:bodyPr>
            <a:normAutofit fontScale="90000"/>
          </a:bodyPr>
          <a:lstStyle/>
          <a:p>
            <a:r>
              <a:rPr lang="en-US" sz="4000" b="1" i="1" u="sng" dirty="0">
                <a:effectLst/>
                <a:latin typeface="Times New Roman" panose="02020603050405020304" pitchFamily="18" charset="0"/>
                <a:cs typeface="Times New Roman" panose="02020603050405020304" pitchFamily="18" charset="0"/>
              </a:rPr>
              <a:t>Open Switch</a:t>
            </a:r>
            <a:br>
              <a:rPr lang="en-US" sz="2800" b="1" i="0" dirty="0">
                <a:effectLst/>
                <a:latin typeface="palatino linotype" panose="02040502050505030304" pitchFamily="18" charset="0"/>
              </a:rPr>
            </a:br>
            <a:br>
              <a:rPr lang="en-US" sz="2800" dirty="0"/>
            </a:br>
            <a:endParaRPr lang="en-CY" sz="2800" b="1" u="sng" dirty="0"/>
          </a:p>
        </p:txBody>
      </p:sp>
      <p:sp>
        <p:nvSpPr>
          <p:cNvPr id="75" name="Freeform: Shape 7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098" name="Picture 2" descr="bjt application">
            <a:extLst>
              <a:ext uri="{FF2B5EF4-FFF2-40B4-BE49-F238E27FC236}">
                <a16:creationId xmlns:a16="http://schemas.microsoft.com/office/drawing/2014/main" id="{6B58C0EF-8DC4-41D7-B3A4-69D0D81E942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1060" y="511293"/>
            <a:ext cx="4581624"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C91653E-F793-4FF4-9C2B-252DC7AC1F0D}"/>
              </a:ext>
            </a:extLst>
          </p:cNvPr>
          <p:cNvSpPr>
            <a:spLocks noGrp="1"/>
          </p:cNvSpPr>
          <p:nvPr>
            <p:ph idx="1"/>
          </p:nvPr>
        </p:nvSpPr>
        <p:spPr>
          <a:xfrm>
            <a:off x="5894962" y="1984443"/>
            <a:ext cx="5458838" cy="4192520"/>
          </a:xfrm>
        </p:spPr>
        <p:txBody>
          <a:bodyPr>
            <a:normAutofit/>
          </a:bodyPr>
          <a:lstStyle/>
          <a:p>
            <a:pPr marL="0" indent="0">
              <a:buNone/>
            </a:pPr>
            <a:r>
              <a:rPr lang="el-GR" sz="2400" i="1" dirty="0">
                <a:latin typeface="Times New Roman" panose="02020603050405020304" pitchFamily="18" charset="0"/>
                <a:cs typeface="Times New Roman" panose="02020603050405020304" pitchFamily="18" charset="0"/>
              </a:rPr>
              <a:t>Στην περιοχή αποκοπής (και οι δύο διασταυρώσεις έχουν αντίστροφη πόλωση) η τάση στον κόμβο CE είναι πολύ υψηλή. Η τάση εισόδου είναι μηδενική, επομένως τόσο τα ρεύματα βάσης όσο και τα ρεύματα συλλέκτη είναι μηδενικά, επομένως η αντίσταση που προσφέρει το BJT είναι πολύ υψηλή (ιδανικά άπειρη).</a:t>
            </a:r>
            <a:endParaRPr lang="en-CY"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6328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C2F35E-5D61-43A5-98CE-8D7AA1EF8969}"/>
              </a:ext>
            </a:extLst>
          </p:cNvPr>
          <p:cNvSpPr>
            <a:spLocks noGrp="1"/>
          </p:cNvSpPr>
          <p:nvPr>
            <p:ph type="title"/>
          </p:nvPr>
        </p:nvSpPr>
        <p:spPr>
          <a:xfrm>
            <a:off x="630936" y="639520"/>
            <a:ext cx="3429000" cy="1719072"/>
          </a:xfrm>
        </p:spPr>
        <p:txBody>
          <a:bodyPr anchor="b">
            <a:normAutofit/>
          </a:bodyPr>
          <a:lstStyle/>
          <a:p>
            <a:r>
              <a:rPr lang="en-US" sz="3800" b="1" i="1" u="sng" dirty="0">
                <a:effectLst/>
                <a:latin typeface="Times New Roman" panose="02020603050405020304" pitchFamily="18" charset="0"/>
                <a:cs typeface="Times New Roman" panose="02020603050405020304" pitchFamily="18" charset="0"/>
              </a:rPr>
              <a:t>Closed Switch</a:t>
            </a:r>
            <a:br>
              <a:rPr lang="en-US" sz="3800" b="1" i="0" dirty="0">
                <a:effectLst/>
                <a:latin typeface="palatino linotype" panose="02040502050505030304" pitchFamily="18" charset="0"/>
              </a:rPr>
            </a:br>
            <a:br>
              <a:rPr lang="en-US" sz="3800" dirty="0"/>
            </a:br>
            <a:endParaRPr lang="en-CY" sz="3800" dirty="0"/>
          </a:p>
        </p:txBody>
      </p:sp>
      <p:sp>
        <p:nvSpPr>
          <p:cNvPr id="7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E52E42-BE91-4A92-AA23-81CA80101930}"/>
              </a:ext>
            </a:extLst>
          </p:cNvPr>
          <p:cNvSpPr>
            <a:spLocks noGrp="1"/>
          </p:cNvSpPr>
          <p:nvPr>
            <p:ph idx="1"/>
          </p:nvPr>
        </p:nvSpPr>
        <p:spPr>
          <a:xfrm>
            <a:off x="630936" y="2807208"/>
            <a:ext cx="3429000" cy="3410712"/>
          </a:xfrm>
        </p:spPr>
        <p:txBody>
          <a:bodyPr anchor="t">
            <a:normAutofit fontScale="92500" lnSpcReduction="20000"/>
          </a:bodyPr>
          <a:lstStyle/>
          <a:p>
            <a:pPr marL="0" indent="0" algn="just">
              <a:buNone/>
            </a:pPr>
            <a:r>
              <a:rPr lang="el-GR" sz="2000" i="1" dirty="0">
                <a:latin typeface="Times New Roman" panose="02020603050405020304" pitchFamily="18" charset="0"/>
                <a:cs typeface="Times New Roman" panose="02020603050405020304" pitchFamily="18" charset="0"/>
              </a:rPr>
              <a:t>Στον κορεσμό (και οι δύο διασταυρώσεις έχουν πόλωση προς τα εμπρός) εφαρμόζεται υψηλή τάση εισόδου στη βάση. Η τιμή της αντίστασης βάσης ρυθμίζεται έτσι ώστε να ρέει μεγάλο ρεύμα βάσης. Υπάρχει μια μικρή πτώση τάσης στη διασταύρωση του </a:t>
            </a:r>
            <a:r>
              <a:rPr lang="el-GR" sz="2000" i="1" dirty="0" err="1">
                <a:latin typeface="Times New Roman" panose="02020603050405020304" pitchFamily="18" charset="0"/>
                <a:cs typeface="Times New Roman" panose="02020603050405020304" pitchFamily="18" charset="0"/>
              </a:rPr>
              <a:t>εκπομπού</a:t>
            </a:r>
            <a:r>
              <a:rPr lang="el-GR" sz="2000" i="1" dirty="0">
                <a:latin typeface="Times New Roman" panose="02020603050405020304" pitchFamily="18" charset="0"/>
                <a:cs typeface="Times New Roman" panose="02020603050405020304" pitchFamily="18" charset="0"/>
              </a:rPr>
              <a:t> συλλέκτη της τάξης των 0,05 έως 0,2 V και το ρεύμα του συλλέκτη είναι πολύ μεγάλο. Μια πολύ μικρή πτώση τάσης λαμβάνει χώρα στο BJT και μπορεί να ειπωθεί ότι ισοδυναμεί με έναν κλειστό διακόπτη.</a:t>
            </a:r>
            <a:endParaRPr lang="en-CY" sz="2000" i="1" dirty="0">
              <a:latin typeface="Times New Roman" panose="02020603050405020304" pitchFamily="18" charset="0"/>
              <a:cs typeface="Times New Roman" panose="02020603050405020304" pitchFamily="18" charset="0"/>
            </a:endParaRPr>
          </a:p>
        </p:txBody>
      </p:sp>
      <p:pic>
        <p:nvPicPr>
          <p:cNvPr id="5122" name="Picture 2" descr="bjt application">
            <a:extLst>
              <a:ext uri="{FF2B5EF4-FFF2-40B4-BE49-F238E27FC236}">
                <a16:creationId xmlns:a16="http://schemas.microsoft.com/office/drawing/2014/main" id="{CA17BD74-A7E5-402B-9A98-282EC7CD745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980997"/>
            <a:ext cx="6903720" cy="4896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365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0F3CC1-A006-4935-878E-56EFA5282428}"/>
              </a:ext>
            </a:extLst>
          </p:cNvPr>
          <p:cNvSpPr>
            <a:spLocks noGrp="1"/>
          </p:cNvSpPr>
          <p:nvPr>
            <p:ph type="title"/>
          </p:nvPr>
        </p:nvSpPr>
        <p:spPr>
          <a:xfrm>
            <a:off x="630936" y="639520"/>
            <a:ext cx="3429000" cy="1719072"/>
          </a:xfrm>
        </p:spPr>
        <p:txBody>
          <a:bodyPr anchor="b">
            <a:normAutofit/>
          </a:bodyPr>
          <a:lstStyle/>
          <a:p>
            <a:r>
              <a:rPr lang="el-GR" sz="2800" b="1" i="1" u="sng" dirty="0">
                <a:latin typeface="Times New Roman" panose="02020603050405020304" pitchFamily="18" charset="0"/>
                <a:cs typeface="Times New Roman" panose="02020603050405020304" pitchFamily="18" charset="0"/>
              </a:rPr>
              <a:t>Διπολικό τρανζίστορ διασταύρωσης ως ενισχυτής</a:t>
            </a:r>
            <a:endParaRPr lang="en-CY" sz="2800" b="1" i="1" u="sng" dirty="0">
              <a:latin typeface="Times New Roman" panose="02020603050405020304" pitchFamily="18" charset="0"/>
              <a:cs typeface="Times New Roman" panose="02020603050405020304" pitchFamily="18" charset="0"/>
            </a:endParaRPr>
          </a:p>
        </p:txBody>
      </p:sp>
      <p:sp>
        <p:nvSpPr>
          <p:cNvPr id="7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C135177-9CA0-4E2B-9CFA-62D4F46CC15C}"/>
              </a:ext>
            </a:extLst>
          </p:cNvPr>
          <p:cNvSpPr>
            <a:spLocks noGrp="1"/>
          </p:cNvSpPr>
          <p:nvPr>
            <p:ph idx="1"/>
          </p:nvPr>
        </p:nvSpPr>
        <p:spPr>
          <a:xfrm>
            <a:off x="630936" y="2807208"/>
            <a:ext cx="3429000" cy="3410712"/>
          </a:xfrm>
        </p:spPr>
        <p:txBody>
          <a:bodyPr anchor="t">
            <a:normAutofit fontScale="92500" lnSpcReduction="20000"/>
          </a:bodyPr>
          <a:lstStyle/>
          <a:p>
            <a:pPr marL="0" indent="0" algn="just">
              <a:buNone/>
            </a:pPr>
            <a:r>
              <a:rPr lang="el-GR" sz="2000" i="1" dirty="0">
                <a:latin typeface="Times New Roman" panose="02020603050405020304" pitchFamily="18" charset="0"/>
                <a:cs typeface="Times New Roman" panose="02020603050405020304" pitchFamily="18" charset="0"/>
              </a:rPr>
              <a:t>Το σχήμα δείχνει έναν ενισχυτή CE μονής βαθμίδας. Οι C1 και C3 είναι πυκνωτές σύζευξης, χρησιμοποιούνται για το μπλοκάρισμα του στοιχείου DC και για τη διέλευση μόνο εναλλασσόμενου ρεύματος, διασφαλίζουν επίσης ότι οι συνθήκες βάσης DC του BJT παραμένουν αμετάβλητες ακόμη και μετά την εφαρμογή της εισόδου. Το C2 είναι ο πυκνωτής παράκαμψης που αυξάνει το κέρδος τάσης και παρακάμπτει την αντίσταση R4 για σήματα AC.</a:t>
            </a:r>
            <a:endParaRPr lang="en-CY" sz="2000" i="1" dirty="0">
              <a:latin typeface="Times New Roman" panose="02020603050405020304" pitchFamily="18" charset="0"/>
              <a:cs typeface="Times New Roman" panose="02020603050405020304" pitchFamily="18" charset="0"/>
            </a:endParaRPr>
          </a:p>
        </p:txBody>
      </p:sp>
      <p:pic>
        <p:nvPicPr>
          <p:cNvPr id="6146" name="Picture 2" descr="bjt application amplifier">
            <a:extLst>
              <a:ext uri="{FF2B5EF4-FFF2-40B4-BE49-F238E27FC236}">
                <a16:creationId xmlns:a16="http://schemas.microsoft.com/office/drawing/2014/main" id="{BBFAC979-19CF-490C-94B6-72DB2D80103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698332"/>
            <a:ext cx="6903720" cy="5461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1346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1B96F71-0AD0-4981-9C86-4C80803AAF2D}"/>
              </a:ext>
            </a:extLst>
          </p:cNvPr>
          <p:cNvSpPr>
            <a:spLocks noGrp="1"/>
          </p:cNvSpPr>
          <p:nvPr>
            <p:ph idx="1"/>
          </p:nvPr>
        </p:nvSpPr>
        <p:spPr>
          <a:xfrm>
            <a:off x="221551" y="2031101"/>
            <a:ext cx="5300359" cy="3511943"/>
          </a:xfrm>
        </p:spPr>
        <p:txBody>
          <a:bodyPr anchor="ctr">
            <a:normAutofit fontScale="92500" lnSpcReduction="20000"/>
          </a:bodyPr>
          <a:lstStyle/>
          <a:p>
            <a:pPr marL="0" indent="0" algn="just">
              <a:buNone/>
            </a:pPr>
            <a:r>
              <a:rPr lang="el-GR" sz="1800" i="1" dirty="0">
                <a:latin typeface="Times New Roman" panose="02020603050405020304" pitchFamily="18" charset="0"/>
                <a:cs typeface="Times New Roman" panose="02020603050405020304" pitchFamily="18" charset="0"/>
              </a:rPr>
              <a:t>Το BJT πολώνεται στην ενεργό περιοχή χρησιμοποιώντας τα απαραίτητα στοιχεία πόλωσης. Το σημείο Q γίνεται σταθερό στην ενεργή περιοχή του τρανζίστορ. Όταν εφαρμόζεται η είσοδος όπως φαίνεται παρακάτω, το ρεύμα βάσης αρχίζει να μεταβάλλεται πάνω-κάτω, επομένως το ρεύμα συλλέκτη ποικίλλει επίσης ως IC = β × IB. Επομένως, η τάση στο R3 ποικίλλει καθώς το ρεύμα του συλλέκτη διέρχεται από αυτό. Η τάση στο R3 είναι η ενισχυμένη και απέχει 180o από το σήμα εισόδου. Έτσι, η τάση στο R3 συνδέεται με το φορτίο και έχει λάβει χώρα η ενίσχυση. Εάν το σημείο Q διατηρείται στο κέντρο του φορτίου, θα υπάρξει πολύ λιγότερη ή καθόλου παραμόρφωση </a:t>
            </a:r>
            <a:r>
              <a:rPr lang="el-GR" sz="1800" i="1" dirty="0" err="1">
                <a:latin typeface="Times New Roman" panose="02020603050405020304" pitchFamily="18" charset="0"/>
                <a:cs typeface="Times New Roman" panose="02020603050405020304" pitchFamily="18" charset="0"/>
              </a:rPr>
              <a:t>κυματομορφής</a:t>
            </a:r>
            <a:r>
              <a:rPr lang="el-GR" sz="1800" i="1" dirty="0">
                <a:latin typeface="Times New Roman" panose="02020603050405020304" pitchFamily="18" charset="0"/>
                <a:cs typeface="Times New Roman" panose="02020603050405020304" pitchFamily="18" charset="0"/>
              </a:rPr>
              <a:t>. Το κέρδος τάσης καθώς και ρεύματος του ενισχυτή CE είναι υψηλό (το κέρδος είναι ο παράγοντας με τον οποίο αυξάνεται η τάση του ρεύματος από την είσοδο στην έξοδο). Χρησιμοποιείται συνήθως σε ραδιόφωνα και ως ενισχυτής τάσης χαμηλής συχνότητας.</a:t>
            </a:r>
            <a:endParaRPr lang="en-CY" sz="1800" i="1" dirty="0">
              <a:latin typeface="Times New Roman" panose="02020603050405020304" pitchFamily="18" charset="0"/>
              <a:cs typeface="Times New Roman" panose="02020603050405020304" pitchFamily="18" charset="0"/>
            </a:endParaRPr>
          </a:p>
        </p:txBody>
      </p:sp>
      <p:sp>
        <p:nvSpPr>
          <p:cNvPr id="77" name="Rectangle 7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bjt application amplifier">
            <a:extLst>
              <a:ext uri="{FF2B5EF4-FFF2-40B4-BE49-F238E27FC236}">
                <a16:creationId xmlns:a16="http://schemas.microsoft.com/office/drawing/2014/main" id="{FAC96DB8-3FEF-48D7-BD63-1FFCB87FD9C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87738" y="1086483"/>
            <a:ext cx="5628018" cy="4452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051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FA929EA-E4FE-4671-8953-6F3D49A013AE}"/>
              </a:ext>
            </a:extLst>
          </p:cNvPr>
          <p:cNvSpPr>
            <a:spLocks noGrp="1"/>
          </p:cNvSpPr>
          <p:nvPr>
            <p:ph idx="1"/>
          </p:nvPr>
        </p:nvSpPr>
        <p:spPr>
          <a:xfrm>
            <a:off x="643468" y="1782981"/>
            <a:ext cx="4567723" cy="4393982"/>
          </a:xfrm>
        </p:spPr>
        <p:txBody>
          <a:bodyPr>
            <a:normAutofit/>
          </a:bodyPr>
          <a:lstStyle/>
          <a:p>
            <a:pPr marL="0" indent="0" algn="just">
              <a:buNone/>
            </a:pPr>
            <a:r>
              <a:rPr lang="el-GR" sz="2400" i="1" dirty="0">
                <a:latin typeface="Times New Roman" panose="02020603050405020304" pitchFamily="18" charset="0"/>
                <a:cs typeface="Times New Roman" panose="02020603050405020304" pitchFamily="18" charset="0"/>
              </a:rPr>
              <a:t>Για περαιτέρω αύξηση της απολαβής χρησιμοποιούνται ενισχυτές πολλαπλών σταδίων. Συνδέονται μέσω πυκνωτή, ηλεκτρικού μετασχηματιστή, R-L ή απευθείας ζεύξης ανάλογα με την εφαρμογή. Το συνολικό κέρδος είναι το προϊόν των κερδών των επιμέρους σταδίων. Το παρακάτω σχήμα δείχνει έναν ενισχυτή CE δύο σταδίων.</a:t>
            </a:r>
            <a:endParaRPr lang="en-CY" sz="2400" i="1" dirty="0">
              <a:latin typeface="Times New Roman" panose="02020603050405020304" pitchFamily="18" charset="0"/>
              <a:cs typeface="Times New Roman" panose="02020603050405020304" pitchFamily="18" charset="0"/>
            </a:endParaRPr>
          </a:p>
        </p:txBody>
      </p:sp>
      <p:grpSp>
        <p:nvGrpSpPr>
          <p:cNvPr id="137" name="Group 136">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8" name="Isosceles Triangle 13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194" name="Picture 2" descr="bjt amplifier">
            <a:extLst>
              <a:ext uri="{FF2B5EF4-FFF2-40B4-BE49-F238E27FC236}">
                <a16:creationId xmlns:a16="http://schemas.microsoft.com/office/drawing/2014/main" id="{97B47B60-908E-4BE2-B7AF-732B11F839D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95320" y="2138455"/>
            <a:ext cx="6253212" cy="3650943"/>
          </a:xfrm>
          <a:prstGeom prst="rect">
            <a:avLst/>
          </a:prstGeom>
          <a:noFill/>
          <a:extLst>
            <a:ext uri="{909E8E84-426E-40DD-AFC4-6F175D3DCCD1}">
              <a14:hiddenFill xmlns:a14="http://schemas.microsoft.com/office/drawing/2010/main">
                <a:solidFill>
                  <a:srgbClr val="FFFFFF"/>
                </a:solidFill>
              </a14:hiddenFill>
            </a:ext>
          </a:extLst>
        </p:spPr>
      </p:pic>
      <p:grpSp>
        <p:nvGrpSpPr>
          <p:cNvPr id="141" name="Group 140">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42" name="Rectangle 141">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Isosceles Triangle 142">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673568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372C0A-53E7-4858-96F7-07B3F6E7F314}"/>
              </a:ext>
            </a:extLst>
          </p:cNvPr>
          <p:cNvSpPr>
            <a:spLocks noGrp="1"/>
          </p:cNvSpPr>
          <p:nvPr>
            <p:ph type="title"/>
          </p:nvPr>
        </p:nvSpPr>
        <p:spPr>
          <a:xfrm>
            <a:off x="811537" y="1967265"/>
            <a:ext cx="3023616" cy="2547257"/>
          </a:xfrm>
          <a:noFill/>
        </p:spPr>
        <p:txBody>
          <a:bodyPr vert="horz" lIns="91440" tIns="45720" rIns="91440" bIns="45720" rtlCol="0" anchor="ctr">
            <a:normAutofit/>
          </a:bodyPr>
          <a:lstStyle/>
          <a:p>
            <a:pPr algn="ctr"/>
            <a:r>
              <a:rPr lang="en-US" sz="3600" i="1" u="sng" kern="1200" dirty="0">
                <a:solidFill>
                  <a:srgbClr val="FFFFFF"/>
                </a:solidFill>
                <a:latin typeface="Times New Roman" panose="02020603050405020304" pitchFamily="18" charset="0"/>
                <a:cs typeface="Times New Roman" panose="02020603050405020304" pitchFamily="18" charset="0"/>
              </a:rPr>
              <a:t>BJT amplifier circuit</a:t>
            </a:r>
          </a:p>
        </p:txBody>
      </p:sp>
      <p:pic>
        <p:nvPicPr>
          <p:cNvPr id="10" name="Content Placeholder 9">
            <a:extLst>
              <a:ext uri="{FF2B5EF4-FFF2-40B4-BE49-F238E27FC236}">
                <a16:creationId xmlns:a16="http://schemas.microsoft.com/office/drawing/2014/main" id="{F55252FB-7ECB-4944-8975-EC84367C40D0}"/>
              </a:ext>
            </a:extLst>
          </p:cNvPr>
          <p:cNvPicPr>
            <a:picLocks noGrp="1" noChangeAspect="1"/>
          </p:cNvPicPr>
          <p:nvPr>
            <p:ph idx="1"/>
          </p:nvPr>
        </p:nvPicPr>
        <p:blipFill>
          <a:blip r:embed="rId2"/>
          <a:stretch>
            <a:fillRect/>
          </a:stretch>
        </p:blipFill>
        <p:spPr>
          <a:xfrm>
            <a:off x="4777316" y="1537716"/>
            <a:ext cx="6780700" cy="3780239"/>
          </a:xfrm>
          <a:prstGeom prst="rect">
            <a:avLst/>
          </a:prstGeom>
        </p:spPr>
      </p:pic>
    </p:spTree>
    <p:extLst>
      <p:ext uri="{BB962C8B-B14F-4D97-AF65-F5344CB8AC3E}">
        <p14:creationId xmlns:p14="http://schemas.microsoft.com/office/powerpoint/2010/main" val="3472804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F9B822F-893E-44C8-963C-64F50ACECB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39" y="347471"/>
            <a:ext cx="11100816" cy="180136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DA1D8-774C-451D-9ADB-99D018613E6E}"/>
              </a:ext>
            </a:extLst>
          </p:cNvPr>
          <p:cNvSpPr>
            <a:spLocks noGrp="1"/>
          </p:cNvSpPr>
          <p:nvPr>
            <p:ph type="title"/>
          </p:nvPr>
        </p:nvSpPr>
        <p:spPr>
          <a:xfrm>
            <a:off x="838200" y="585216"/>
            <a:ext cx="10515600" cy="1325563"/>
          </a:xfrm>
        </p:spPr>
        <p:txBody>
          <a:bodyPr>
            <a:normAutofit/>
          </a:bodyPr>
          <a:lstStyle/>
          <a:p>
            <a:r>
              <a:rPr lang="el-GR" sz="4000" b="1" i="1" u="sng" dirty="0">
                <a:solidFill>
                  <a:schemeClr val="bg1"/>
                </a:solidFill>
                <a:latin typeface="Times New Roman" panose="02020603050405020304" pitchFamily="18" charset="0"/>
                <a:cs typeface="Times New Roman" panose="02020603050405020304" pitchFamily="18" charset="0"/>
              </a:rPr>
              <a:t>Ποια είναι η διαφορά μεταξύ </a:t>
            </a:r>
            <a:r>
              <a:rPr lang="el-GR" sz="4000" b="1" i="1" u="sng" dirty="0" err="1">
                <a:solidFill>
                  <a:schemeClr val="bg1"/>
                </a:solidFill>
                <a:latin typeface="Times New Roman" panose="02020603050405020304" pitchFamily="18" charset="0"/>
                <a:cs typeface="Times New Roman" panose="02020603050405020304" pitchFamily="18" charset="0"/>
              </a:rPr>
              <a:t>mosfet</a:t>
            </a:r>
            <a:r>
              <a:rPr lang="el-GR" sz="4000" b="1" i="1" u="sng" dirty="0">
                <a:solidFill>
                  <a:schemeClr val="bg1"/>
                </a:solidFill>
                <a:latin typeface="Times New Roman" panose="02020603050405020304" pitchFamily="18" charset="0"/>
                <a:cs typeface="Times New Roman" panose="02020603050405020304" pitchFamily="18" charset="0"/>
              </a:rPr>
              <a:t> και </a:t>
            </a:r>
            <a:r>
              <a:rPr lang="en-US" sz="4000" b="1" i="1" u="sng" dirty="0">
                <a:solidFill>
                  <a:schemeClr val="bg1"/>
                </a:solidFill>
                <a:latin typeface="Times New Roman" panose="02020603050405020304" pitchFamily="18" charset="0"/>
                <a:cs typeface="Times New Roman" panose="02020603050405020304" pitchFamily="18" charset="0"/>
              </a:rPr>
              <a:t>BJT:</a:t>
            </a:r>
          </a:p>
        </p:txBody>
      </p:sp>
      <p:pic>
        <p:nvPicPr>
          <p:cNvPr id="5" name="Picture 4">
            <a:extLst>
              <a:ext uri="{FF2B5EF4-FFF2-40B4-BE49-F238E27FC236}">
                <a16:creationId xmlns:a16="http://schemas.microsoft.com/office/drawing/2014/main" id="{D952CA8C-1875-4839-8132-3AFE0FDEBC44}"/>
              </a:ext>
            </a:extLst>
          </p:cNvPr>
          <p:cNvPicPr>
            <a:picLocks noChangeAspect="1"/>
          </p:cNvPicPr>
          <p:nvPr/>
        </p:nvPicPr>
        <p:blipFill rotWithShape="1">
          <a:blip r:embed="rId2"/>
          <a:srcRect l="2884" r="-3" b="-3"/>
          <a:stretch/>
        </p:blipFill>
        <p:spPr>
          <a:xfrm>
            <a:off x="841248" y="2516777"/>
            <a:ext cx="6236208" cy="3660185"/>
          </a:xfrm>
          <a:prstGeom prst="rect">
            <a:avLst/>
          </a:prstGeom>
        </p:spPr>
      </p:pic>
      <p:sp>
        <p:nvSpPr>
          <p:cNvPr id="3" name="Content Placeholder 2">
            <a:extLst>
              <a:ext uri="{FF2B5EF4-FFF2-40B4-BE49-F238E27FC236}">
                <a16:creationId xmlns:a16="http://schemas.microsoft.com/office/drawing/2014/main" id="{A7B772F2-B365-4D2D-8093-ED9291F87D5F}"/>
              </a:ext>
            </a:extLst>
          </p:cNvPr>
          <p:cNvSpPr>
            <a:spLocks noGrp="1"/>
          </p:cNvSpPr>
          <p:nvPr>
            <p:ph idx="1"/>
          </p:nvPr>
        </p:nvSpPr>
        <p:spPr>
          <a:xfrm>
            <a:off x="7546848" y="2516777"/>
            <a:ext cx="3803904" cy="3660185"/>
          </a:xfrm>
        </p:spPr>
        <p:txBody>
          <a:bodyPr anchor="ctr">
            <a:normAutofit/>
          </a:bodyPr>
          <a:lstStyle/>
          <a:p>
            <a:r>
              <a:rPr lang="el-GR" sz="2000" i="1" dirty="0">
                <a:latin typeface="Times New Roman" panose="02020603050405020304" pitchFamily="18" charset="0"/>
                <a:cs typeface="Times New Roman" panose="02020603050405020304" pitchFamily="18" charset="0"/>
              </a:rPr>
              <a:t>Το</a:t>
            </a:r>
            <a:r>
              <a:rPr lang="en-US" sz="2000" i="1" dirty="0">
                <a:latin typeface="Times New Roman" panose="02020603050405020304" pitchFamily="18" charset="0"/>
                <a:cs typeface="Times New Roman" panose="02020603050405020304" pitchFamily="18" charset="0"/>
              </a:rPr>
              <a:t> </a:t>
            </a:r>
            <a:r>
              <a:rPr lang="el-GR" sz="2000" i="1" dirty="0">
                <a:latin typeface="Times New Roman" panose="02020603050405020304" pitchFamily="18" charset="0"/>
                <a:cs typeface="Times New Roman" panose="02020603050405020304" pitchFamily="18" charset="0"/>
              </a:rPr>
              <a:t>BJT είναι μια συσκευή η οποία ενεργοποιείτε με ρεύμα.</a:t>
            </a:r>
            <a:endParaRPr lang="en-US" sz="2000" i="1" dirty="0">
              <a:latin typeface="Times New Roman" panose="02020603050405020304" pitchFamily="18" charset="0"/>
              <a:cs typeface="Times New Roman" panose="02020603050405020304" pitchFamily="18" charset="0"/>
            </a:endParaRPr>
          </a:p>
          <a:p>
            <a:r>
              <a:rPr lang="el-GR" sz="2000" i="1" dirty="0">
                <a:latin typeface="Times New Roman" panose="02020603050405020304" pitchFamily="18" charset="0"/>
                <a:cs typeface="Times New Roman" panose="02020603050405020304" pitchFamily="18" charset="0"/>
              </a:rPr>
              <a:t>MOSFET είναι μια συσκευή η οποία ενεργοποιείτε με τάση που χρησιμοποιείται ως ενισχυτής, ταλαντωτής ή διακόπτης</a:t>
            </a:r>
            <a:r>
              <a:rPr lang="en-US" sz="2000" i="1" dirty="0">
                <a:latin typeface="Times New Roman" panose="02020603050405020304" pitchFamily="18" charset="0"/>
                <a:cs typeface="Times New Roman" panose="02020603050405020304" pitchFamily="18" charset="0"/>
              </a:rPr>
              <a:t>.</a:t>
            </a:r>
          </a:p>
          <a:p>
            <a:r>
              <a:rPr lang="el-GR" sz="2000" i="1" dirty="0">
                <a:latin typeface="Times New Roman" panose="02020603050405020304" pitchFamily="18" charset="0"/>
                <a:cs typeface="Times New Roman" panose="02020603050405020304" pitchFamily="18" charset="0"/>
              </a:rPr>
              <a:t>Τα BJT προτιμώνται για εφαρμογές χαμηλού ρεύματος</a:t>
            </a:r>
            <a:r>
              <a:rPr lang="en-US" sz="2000" i="1" dirty="0">
                <a:latin typeface="Times New Roman" panose="02020603050405020304" pitchFamily="18" charset="0"/>
                <a:cs typeface="Times New Roman" panose="02020603050405020304" pitchFamily="18" charset="0"/>
              </a:rPr>
              <a:t>.</a:t>
            </a:r>
          </a:p>
          <a:p>
            <a:r>
              <a:rPr lang="el-GR" sz="2000" i="1" dirty="0">
                <a:latin typeface="Times New Roman" panose="02020603050405020304" pitchFamily="18" charset="0"/>
                <a:cs typeface="Times New Roman" panose="02020603050405020304" pitchFamily="18" charset="0"/>
              </a:rPr>
              <a:t>Τα MOSFET για λειτουργίες υψηλής ισχύος.</a:t>
            </a:r>
            <a:endParaRPr lang="en-US" sz="20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861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FD67EA9-1E24-4162-9160-D479DA551A62}"/>
              </a:ext>
            </a:extLst>
          </p:cNvPr>
          <p:cNvPicPr>
            <a:picLocks noGrp="1" noChangeAspect="1"/>
          </p:cNvPicPr>
          <p:nvPr>
            <p:ph idx="1"/>
          </p:nvPr>
        </p:nvPicPr>
        <p:blipFill>
          <a:blip r:embed="rId2"/>
          <a:stretch>
            <a:fillRect/>
          </a:stretch>
        </p:blipFill>
        <p:spPr>
          <a:xfrm>
            <a:off x="1000113" y="2254403"/>
            <a:ext cx="4742993" cy="2349194"/>
          </a:xfrm>
          <a:prstGeom prst="rect">
            <a:avLst/>
          </a:prstGeom>
        </p:spPr>
      </p:pic>
      <p:cxnSp>
        <p:nvCxnSpPr>
          <p:cNvPr id="10" name="Straight Connector 9">
            <a:extLst>
              <a:ext uri="{FF2B5EF4-FFF2-40B4-BE49-F238E27FC236}">
                <a16:creationId xmlns:a16="http://schemas.microsoft.com/office/drawing/2014/main" id="{4D56677B-C0B7-4DAC-ACAD-8054FF1B59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573887"/>
            <a:ext cx="0" cy="3710227"/>
          </a:xfrm>
          <a:prstGeom prst="line">
            <a:avLst/>
          </a:prstGeom>
          <a:ln w="19050">
            <a:solidFill>
              <a:srgbClr val="FF9700"/>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CCEC7E3-F7F5-4DB2-B6AC-B485CAB88AAE}"/>
              </a:ext>
            </a:extLst>
          </p:cNvPr>
          <p:cNvPicPr>
            <a:picLocks noChangeAspect="1"/>
          </p:cNvPicPr>
          <p:nvPr/>
        </p:nvPicPr>
        <p:blipFill>
          <a:blip r:embed="rId3"/>
          <a:stretch>
            <a:fillRect/>
          </a:stretch>
        </p:blipFill>
        <p:spPr>
          <a:xfrm>
            <a:off x="6217924" y="256992"/>
            <a:ext cx="5597660" cy="6344016"/>
          </a:xfrm>
          <a:prstGeom prst="rect">
            <a:avLst/>
          </a:prstGeom>
        </p:spPr>
      </p:pic>
    </p:spTree>
    <p:extLst>
      <p:ext uri="{BB962C8B-B14F-4D97-AF65-F5344CB8AC3E}">
        <p14:creationId xmlns:p14="http://schemas.microsoft.com/office/powerpoint/2010/main" val="3633007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E01DFA-6E36-43A0-9914-A2597F9C3FA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i="1" u="sng" kern="1200" dirty="0">
                <a:solidFill>
                  <a:schemeClr val="bg1"/>
                </a:solidFill>
                <a:latin typeface="Times New Roman" panose="02020603050405020304" pitchFamily="18" charset="0"/>
                <a:cs typeface="Times New Roman" panose="02020603050405020304" pitchFamily="18" charset="0"/>
              </a:rPr>
              <a:t>CMOS </a:t>
            </a:r>
            <a:r>
              <a:rPr lang="en-US" sz="3200" b="1" i="1" u="sng" kern="1200" dirty="0" err="1">
                <a:solidFill>
                  <a:schemeClr val="bg1"/>
                </a:solidFill>
                <a:latin typeface="Times New Roman" panose="02020603050405020304" pitchFamily="18" charset="0"/>
                <a:cs typeface="Times New Roman" panose="02020603050405020304" pitchFamily="18" charset="0"/>
              </a:rPr>
              <a:t>είν</a:t>
            </a:r>
            <a:r>
              <a:rPr lang="en-US" sz="3200" b="1" i="1" u="sng" kern="1200" dirty="0">
                <a:solidFill>
                  <a:schemeClr val="bg1"/>
                </a:solidFill>
                <a:latin typeface="Times New Roman" panose="02020603050405020304" pitchFamily="18" charset="0"/>
                <a:cs typeface="Times New Roman" panose="02020603050405020304" pitchFamily="18" charset="0"/>
              </a:rPr>
              <a:t>αι συνδυασμός NMOS &amp; PMOS</a:t>
            </a:r>
          </a:p>
        </p:txBody>
      </p:sp>
      <p:pic>
        <p:nvPicPr>
          <p:cNvPr id="4" name="Content Placeholder 3">
            <a:extLst>
              <a:ext uri="{FF2B5EF4-FFF2-40B4-BE49-F238E27FC236}">
                <a16:creationId xmlns:a16="http://schemas.microsoft.com/office/drawing/2014/main" id="{E4E5FAC0-A7C4-42B7-81BF-180096CB6E6E}"/>
              </a:ext>
            </a:extLst>
          </p:cNvPr>
          <p:cNvPicPr>
            <a:picLocks noGrp="1" noChangeAspect="1"/>
          </p:cNvPicPr>
          <p:nvPr>
            <p:ph idx="1"/>
          </p:nvPr>
        </p:nvPicPr>
        <p:blipFill>
          <a:blip r:embed="rId2"/>
          <a:stretch>
            <a:fillRect/>
          </a:stretch>
        </p:blipFill>
        <p:spPr>
          <a:xfrm>
            <a:off x="643467" y="1841258"/>
            <a:ext cx="10905066" cy="4062136"/>
          </a:xfrm>
          <a:prstGeom prst="rect">
            <a:avLst/>
          </a:prstGeom>
        </p:spPr>
      </p:pic>
    </p:spTree>
    <p:extLst>
      <p:ext uri="{BB962C8B-B14F-4D97-AF65-F5344CB8AC3E}">
        <p14:creationId xmlns:p14="http://schemas.microsoft.com/office/powerpoint/2010/main" val="1023098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462EE7E-14DF-497D-AE08-F6623DB88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FBF0AC7-1F73-4A5E-882F-8C2A41F1A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83D0B35-AA68-49D3-A346-EB97C7B98369}"/>
              </a:ext>
            </a:extLst>
          </p:cNvPr>
          <p:cNvPicPr>
            <a:picLocks noChangeAspect="1"/>
          </p:cNvPicPr>
          <p:nvPr/>
        </p:nvPicPr>
        <p:blipFill>
          <a:blip r:embed="rId2"/>
          <a:stretch>
            <a:fillRect/>
          </a:stretch>
        </p:blipFill>
        <p:spPr>
          <a:xfrm>
            <a:off x="1044110" y="1196770"/>
            <a:ext cx="2966332" cy="4460649"/>
          </a:xfrm>
          <a:prstGeom prst="rect">
            <a:avLst/>
          </a:prstGeom>
          <a:effectLst>
            <a:outerShdw blurRad="406400" dist="317500" dir="5400000" sx="89000" sy="89000" rotWithShape="0">
              <a:prstClr val="black">
                <a:alpha val="15000"/>
              </a:prstClr>
            </a:outerShdw>
          </a:effectLst>
        </p:spPr>
      </p:pic>
      <p:pic>
        <p:nvPicPr>
          <p:cNvPr id="6" name="Picture 5">
            <a:extLst>
              <a:ext uri="{FF2B5EF4-FFF2-40B4-BE49-F238E27FC236}">
                <a16:creationId xmlns:a16="http://schemas.microsoft.com/office/drawing/2014/main" id="{EA9B7BF9-D933-405B-B83C-060EC8D7E20B}"/>
              </a:ext>
            </a:extLst>
          </p:cNvPr>
          <p:cNvPicPr>
            <a:picLocks noChangeAspect="1"/>
          </p:cNvPicPr>
          <p:nvPr/>
        </p:nvPicPr>
        <p:blipFill>
          <a:blip r:embed="rId3"/>
          <a:stretch>
            <a:fillRect/>
          </a:stretch>
        </p:blipFill>
        <p:spPr>
          <a:xfrm>
            <a:off x="4333164" y="1649756"/>
            <a:ext cx="2959508" cy="858257"/>
          </a:xfrm>
          <a:prstGeom prst="rect">
            <a:avLst/>
          </a:prstGeom>
          <a:effectLst>
            <a:outerShdw blurRad="406400" dist="317500" dir="5400000" sx="89000" sy="89000" rotWithShape="0">
              <a:prstClr val="black">
                <a:alpha val="15000"/>
              </a:prstClr>
            </a:outerShdw>
          </a:effectLst>
        </p:spPr>
      </p:pic>
      <p:pic>
        <p:nvPicPr>
          <p:cNvPr id="4" name="Content Placeholder 3">
            <a:extLst>
              <a:ext uri="{FF2B5EF4-FFF2-40B4-BE49-F238E27FC236}">
                <a16:creationId xmlns:a16="http://schemas.microsoft.com/office/drawing/2014/main" id="{D0250F17-7E71-4F24-AF48-BF1C6A93F6F8}"/>
              </a:ext>
            </a:extLst>
          </p:cNvPr>
          <p:cNvPicPr>
            <a:picLocks noGrp="1" noChangeAspect="1"/>
          </p:cNvPicPr>
          <p:nvPr>
            <p:ph idx="1"/>
          </p:nvPr>
        </p:nvPicPr>
        <p:blipFill>
          <a:blip r:embed="rId4"/>
          <a:stretch>
            <a:fillRect/>
          </a:stretch>
        </p:blipFill>
        <p:spPr>
          <a:xfrm>
            <a:off x="4332176" y="4341766"/>
            <a:ext cx="2989932" cy="867080"/>
          </a:xfrm>
          <a:prstGeom prst="rect">
            <a:avLst/>
          </a:prstGeom>
          <a:effectLst>
            <a:outerShdw blurRad="406400" dist="317500" dir="5400000" sx="89000" sy="89000" rotWithShape="0">
              <a:prstClr val="black">
                <a:alpha val="15000"/>
              </a:prstClr>
            </a:outerShdw>
          </a:effectLst>
        </p:spPr>
      </p:pic>
      <p:sp>
        <p:nvSpPr>
          <p:cNvPr id="7" name="Content Placeholder 2">
            <a:extLst>
              <a:ext uri="{FF2B5EF4-FFF2-40B4-BE49-F238E27FC236}">
                <a16:creationId xmlns:a16="http://schemas.microsoft.com/office/drawing/2014/main" id="{AA5D31A7-2477-409A-8435-E1DB95AF1D7A}"/>
              </a:ext>
            </a:extLst>
          </p:cNvPr>
          <p:cNvSpPr txBox="1">
            <a:spLocks/>
          </p:cNvSpPr>
          <p:nvPr/>
        </p:nvSpPr>
        <p:spPr>
          <a:xfrm>
            <a:off x="7988475" y="1196770"/>
            <a:ext cx="3507415" cy="44606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i="1" dirty="0" err="1">
                <a:latin typeface="Times New Roman" panose="02020603050405020304" pitchFamily="18" charset="0"/>
                <a:cs typeface="Times New Roman" panose="02020603050405020304" pitchFamily="18" charset="0"/>
              </a:rPr>
              <a:t>Έν</a:t>
            </a:r>
            <a:r>
              <a:rPr lang="en-US" sz="2000" i="1" dirty="0">
                <a:latin typeface="Times New Roman" panose="02020603050405020304" pitchFamily="18" charset="0"/>
                <a:cs typeface="Times New Roman" panose="02020603050405020304" pitchFamily="18" charset="0"/>
              </a:rPr>
              <a:t>ας ημιαγωγός οξειδίου μετάλλου N-καναλιού (NMOS) είναι ένα μικροηλεκτρονικό κύκλωμα που χρησιμοποιείται για λογικά chip και μνήμη και σε σχεδιασμό συμπληρωματικών ημιαγωγών οξειδίου μετάλλου (CMOS). Τα </a:t>
            </a:r>
            <a:r>
              <a:rPr lang="en-US" sz="2000" i="1" dirty="0" err="1">
                <a:latin typeface="Times New Roman" panose="02020603050405020304" pitchFamily="18" charset="0"/>
                <a:cs typeface="Times New Roman" panose="02020603050405020304" pitchFamily="18" charset="0"/>
              </a:rPr>
              <a:t>τρ</a:t>
            </a:r>
            <a:r>
              <a:rPr lang="en-US" sz="2000" i="1" dirty="0">
                <a:latin typeface="Times New Roman" panose="02020603050405020304" pitchFamily="18" charset="0"/>
                <a:cs typeface="Times New Roman" panose="02020603050405020304" pitchFamily="18" charset="0"/>
              </a:rPr>
              <a:t>ανζίστορ NMOS είναι ταχύτερα από τα αντίστοιχα ημιαγωγών οξειδίου μετάλλου με κανάλι P (PMOS) και περισσότερα από αυτά μπορούν να τοποθετηθούν σε ένα μόνο τσιπ.</a:t>
            </a:r>
          </a:p>
        </p:txBody>
      </p:sp>
      <p:sp>
        <p:nvSpPr>
          <p:cNvPr id="2" name="TextBox 1">
            <a:extLst>
              <a:ext uri="{FF2B5EF4-FFF2-40B4-BE49-F238E27FC236}">
                <a16:creationId xmlns:a16="http://schemas.microsoft.com/office/drawing/2014/main" id="{806EEB5C-C3AB-E682-2308-87DC50AC9524}"/>
              </a:ext>
            </a:extLst>
          </p:cNvPr>
          <p:cNvSpPr txBox="1"/>
          <p:nvPr/>
        </p:nvSpPr>
        <p:spPr>
          <a:xfrm>
            <a:off x="5812918" y="301658"/>
            <a:ext cx="3826934" cy="523220"/>
          </a:xfrm>
          <a:prstGeom prst="rect">
            <a:avLst/>
          </a:prstGeom>
          <a:noFill/>
        </p:spPr>
        <p:txBody>
          <a:bodyPr wrap="square" rtlCol="0">
            <a:spAutoFit/>
          </a:bodyPr>
          <a:lstStyle/>
          <a:p>
            <a:r>
              <a:rPr lang="en-US" sz="2800" b="1" u="sng" dirty="0"/>
              <a:t>C-MOS</a:t>
            </a:r>
            <a:endParaRPr lang="en-CY" sz="2800" b="1" u="sng" dirty="0"/>
          </a:p>
        </p:txBody>
      </p:sp>
    </p:spTree>
    <p:extLst>
      <p:ext uri="{BB962C8B-B14F-4D97-AF65-F5344CB8AC3E}">
        <p14:creationId xmlns:p14="http://schemas.microsoft.com/office/powerpoint/2010/main" val="2479691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2">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860BB9-419E-4C19-B3A0-46B1FD578FC2}"/>
              </a:ext>
            </a:extLst>
          </p:cNvPr>
          <p:cNvSpPr>
            <a:spLocks noGrp="1"/>
          </p:cNvSpPr>
          <p:nvPr>
            <p:ph type="title"/>
          </p:nvPr>
        </p:nvSpPr>
        <p:spPr>
          <a:xfrm>
            <a:off x="838201" y="345810"/>
            <a:ext cx="5120561" cy="1325563"/>
          </a:xfrm>
        </p:spPr>
        <p:txBody>
          <a:bodyPr>
            <a:normAutofit fontScale="90000"/>
          </a:bodyPr>
          <a:lstStyle/>
          <a:p>
            <a:r>
              <a:rPr lang="en-US" sz="3400" b="1" i="1" u="sng" dirty="0">
                <a:latin typeface="Times New Roman" panose="02020603050405020304" pitchFamily="18" charset="0"/>
                <a:cs typeface="Times New Roman" panose="02020603050405020304" pitchFamily="18" charset="0"/>
              </a:rPr>
              <a:t>Applications of MOSFET in electronics &amp; in daily life</a:t>
            </a:r>
          </a:p>
        </p:txBody>
      </p:sp>
      <p:sp>
        <p:nvSpPr>
          <p:cNvPr id="3" name="Content Placeholder 2">
            <a:extLst>
              <a:ext uri="{FF2B5EF4-FFF2-40B4-BE49-F238E27FC236}">
                <a16:creationId xmlns:a16="http://schemas.microsoft.com/office/drawing/2014/main" id="{BF5E3ABC-8FFD-4CFE-A66F-CF7320B89E38}"/>
              </a:ext>
            </a:extLst>
          </p:cNvPr>
          <p:cNvSpPr>
            <a:spLocks noGrp="1"/>
          </p:cNvSpPr>
          <p:nvPr>
            <p:ph idx="1"/>
          </p:nvPr>
        </p:nvSpPr>
        <p:spPr>
          <a:xfrm>
            <a:off x="838201" y="1825625"/>
            <a:ext cx="5092194" cy="4351338"/>
          </a:xfrm>
        </p:spPr>
        <p:txBody>
          <a:bodyPr>
            <a:normAutofit/>
          </a:bodyPr>
          <a:lstStyle/>
          <a:p>
            <a:pPr>
              <a:spcBef>
                <a:spcPts val="1800"/>
              </a:spcBef>
            </a:pPr>
            <a:r>
              <a:rPr lang="el-GR" sz="2200" i="1" dirty="0">
                <a:latin typeface="Times New Roman" panose="02020603050405020304" pitchFamily="18" charset="0"/>
                <a:cs typeface="Times New Roman" panose="02020603050405020304" pitchFamily="18" charset="0"/>
              </a:rPr>
              <a:t>Ως </a:t>
            </a:r>
            <a:r>
              <a:rPr lang="el-GR" sz="2200" i="1" dirty="0" err="1">
                <a:latin typeface="Times New Roman" panose="02020603050405020304" pitchFamily="18" charset="0"/>
                <a:cs typeface="Times New Roman" panose="02020603050405020304" pitchFamily="18" charset="0"/>
              </a:rPr>
              <a:t>ενισησχητής</a:t>
            </a:r>
            <a:r>
              <a:rPr lang="el-GR" sz="2200" i="1" dirty="0">
                <a:latin typeface="Times New Roman" panose="02020603050405020304" pitchFamily="18" charset="0"/>
                <a:cs typeface="Times New Roman" panose="02020603050405020304" pitchFamily="18" charset="0"/>
              </a:rPr>
              <a:t> υψηλής συχνότητας.</a:t>
            </a:r>
          </a:p>
          <a:p>
            <a:pPr>
              <a:spcBef>
                <a:spcPts val="1800"/>
              </a:spcBef>
            </a:pPr>
            <a:r>
              <a:rPr lang="el-GR" sz="2200" b="0" i="1" dirty="0">
                <a:effectLst/>
                <a:latin typeface="Times New Roman" panose="02020603050405020304" pitchFamily="18" charset="0"/>
                <a:cs typeface="Times New Roman" panose="02020603050405020304" pitchFamily="18" charset="0"/>
              </a:rPr>
              <a:t>Μπορεί να χρησιμοποιηθεί στα κυκλώματα ρυθμιστών τάσης</a:t>
            </a:r>
          </a:p>
          <a:p>
            <a:pPr>
              <a:spcBef>
                <a:spcPts val="1800"/>
              </a:spcBef>
            </a:pPr>
            <a:r>
              <a:rPr lang="el-GR" sz="2200" i="1" dirty="0">
                <a:latin typeface="Times New Roman" panose="02020603050405020304" pitchFamily="18" charset="0"/>
                <a:cs typeface="Times New Roman" panose="02020603050405020304" pitchFamily="18" charset="0"/>
              </a:rPr>
              <a:t>Χρησιμοποιείται σε </a:t>
            </a:r>
            <a:r>
              <a:rPr lang="el-GR" sz="2200" i="1" dirty="0" err="1">
                <a:latin typeface="Times New Roman" panose="02020603050405020304" pitchFamily="18" charset="0"/>
                <a:cs typeface="Times New Roman" panose="02020603050405020304" pitchFamily="18" charset="0"/>
              </a:rPr>
              <a:t>συστημά</a:t>
            </a:r>
            <a:r>
              <a:rPr lang="el-GR" sz="2200" i="1" dirty="0">
                <a:latin typeface="Times New Roman" panose="02020603050405020304" pitchFamily="18" charset="0"/>
                <a:cs typeface="Times New Roman" panose="02020603050405020304" pitchFamily="18" charset="0"/>
              </a:rPr>
              <a:t> με </a:t>
            </a:r>
            <a:r>
              <a:rPr lang="el-GR" sz="2200" i="1" dirty="0" err="1">
                <a:latin typeface="Times New Roman" panose="02020603050405020304" pitchFamily="18" charset="0"/>
                <a:cs typeface="Times New Roman" panose="02020603050405020304" pitchFamily="18" charset="0"/>
              </a:rPr>
              <a:t>συνεχός</a:t>
            </a:r>
            <a:r>
              <a:rPr lang="el-GR" sz="2200" i="1" dirty="0">
                <a:latin typeface="Times New Roman" panose="02020603050405020304" pitchFamily="18" charset="0"/>
                <a:cs typeface="Times New Roman" panose="02020603050405020304" pitchFamily="18" charset="0"/>
              </a:rPr>
              <a:t> ρεύμα ως ένας ηλεκτρονόμος.</a:t>
            </a:r>
          </a:p>
          <a:p>
            <a:pPr>
              <a:spcBef>
                <a:spcPts val="1800"/>
              </a:spcBef>
            </a:pPr>
            <a:r>
              <a:rPr lang="el-GR" sz="2200" i="1" dirty="0">
                <a:latin typeface="Times New Roman" panose="02020603050405020304" pitchFamily="18" charset="0"/>
                <a:cs typeface="Times New Roman" panose="02020603050405020304" pitchFamily="18" charset="0"/>
              </a:rPr>
              <a:t>Σε ψηφιακά κυκλώματα</a:t>
            </a:r>
          </a:p>
          <a:p>
            <a:pPr>
              <a:spcBef>
                <a:spcPts val="1800"/>
              </a:spcBef>
            </a:pPr>
            <a:r>
              <a:rPr lang="el-GR" sz="2200" i="1" dirty="0">
                <a:latin typeface="Times New Roman" panose="02020603050405020304" pitchFamily="18" charset="0"/>
                <a:cs typeface="Times New Roman" panose="02020603050405020304" pitchFamily="18" charset="0"/>
              </a:rPr>
              <a:t> Χρησιμοποιείται σε μερικά ενισχυμένα κυκλώματα.</a:t>
            </a:r>
          </a:p>
        </p:txBody>
      </p:sp>
      <p:sp>
        <p:nvSpPr>
          <p:cNvPr id="24" name="Oval 14">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 name="Picture 5" descr="A picture containing text, indoor, measuring stick&#10;&#10;Description automatically generated">
            <a:extLst>
              <a:ext uri="{FF2B5EF4-FFF2-40B4-BE49-F238E27FC236}">
                <a16:creationId xmlns:a16="http://schemas.microsoft.com/office/drawing/2014/main" id="{E1B592F9-8741-4486-B007-9D97692F8A3D}"/>
              </a:ext>
            </a:extLst>
          </p:cNvPr>
          <p:cNvPicPr>
            <a:picLocks noChangeAspect="1"/>
          </p:cNvPicPr>
          <p:nvPr/>
        </p:nvPicPr>
        <p:blipFill rotWithShape="1">
          <a:blip r:embed="rId2">
            <a:extLst>
              <a:ext uri="{28A0092B-C50C-407E-A947-70E740481C1C}">
                <a14:useLocalDpi xmlns:a14="http://schemas.microsoft.com/office/drawing/2010/main" val="0"/>
              </a:ext>
            </a:extLst>
          </a:blip>
          <a:srcRect t="2827" r="1" b="914"/>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25" name="Arc 16">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8" name="Picture 7">
            <a:extLst>
              <a:ext uri="{FF2B5EF4-FFF2-40B4-BE49-F238E27FC236}">
                <a16:creationId xmlns:a16="http://schemas.microsoft.com/office/drawing/2014/main" id="{6B2A26D6-B8A3-45CC-AABD-D01D0F6A5DC3}"/>
              </a:ext>
            </a:extLst>
          </p:cNvPr>
          <p:cNvPicPr>
            <a:picLocks noChangeAspect="1"/>
          </p:cNvPicPr>
          <p:nvPr/>
        </p:nvPicPr>
        <p:blipFill rotWithShape="1">
          <a:blip r:embed="rId3">
            <a:extLst>
              <a:ext uri="{28A0092B-C50C-407E-A947-70E740481C1C}">
                <a14:useLocalDpi xmlns:a14="http://schemas.microsoft.com/office/drawing/2010/main" val="0"/>
              </a:ext>
            </a:extLst>
          </a:blip>
          <a:srcRect t="5485" r="-3" b="9043"/>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extLst>
      <p:ext uri="{BB962C8B-B14F-4D97-AF65-F5344CB8AC3E}">
        <p14:creationId xmlns:p14="http://schemas.microsoft.com/office/powerpoint/2010/main" val="1968365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2D05657-94EE-4B2D-BC1B-A1D065063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c 13">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7" name="Picture 6">
            <a:extLst>
              <a:ext uri="{FF2B5EF4-FFF2-40B4-BE49-F238E27FC236}">
                <a16:creationId xmlns:a16="http://schemas.microsoft.com/office/drawing/2014/main" id="{FDB5F53D-DBFA-4890-BCF6-E0621DE7978F}"/>
              </a:ext>
            </a:extLst>
          </p:cNvPr>
          <p:cNvPicPr>
            <a:picLocks noChangeAspect="1"/>
          </p:cNvPicPr>
          <p:nvPr/>
        </p:nvPicPr>
        <p:blipFill rotWithShape="1">
          <a:blip r:embed="rId2">
            <a:extLst>
              <a:ext uri="{28A0092B-C50C-407E-A947-70E740481C1C}">
                <a14:useLocalDpi xmlns:a14="http://schemas.microsoft.com/office/drawing/2010/main" val="0"/>
              </a:ext>
            </a:extLst>
          </a:blip>
          <a:srcRect l="15479" r="29976" b="1"/>
          <a:stretch/>
        </p:blipFill>
        <p:spPr>
          <a:xfrm>
            <a:off x="581526" y="258142"/>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5" name="Picture 4" descr="Diagram, whiteboard&#10;&#10;Description automatically generated">
            <a:extLst>
              <a:ext uri="{FF2B5EF4-FFF2-40B4-BE49-F238E27FC236}">
                <a16:creationId xmlns:a16="http://schemas.microsoft.com/office/drawing/2014/main" id="{B0E495EA-F9F3-4521-917B-49E705517793}"/>
              </a:ext>
            </a:extLst>
          </p:cNvPr>
          <p:cNvPicPr>
            <a:picLocks noChangeAspect="1"/>
          </p:cNvPicPr>
          <p:nvPr/>
        </p:nvPicPr>
        <p:blipFill rotWithShape="1">
          <a:blip r:embed="rId3">
            <a:extLst>
              <a:ext uri="{28A0092B-C50C-407E-A947-70E740481C1C}">
                <a14:useLocalDpi xmlns:a14="http://schemas.microsoft.com/office/drawing/2010/main" val="0"/>
              </a:ext>
            </a:extLst>
          </a:blip>
          <a:srcRect l="15786" r="12965" b="1"/>
          <a:stretch/>
        </p:blipFill>
        <p:spPr>
          <a:xfrm>
            <a:off x="581526" y="3486449"/>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sp>
        <p:nvSpPr>
          <p:cNvPr id="3" name="Content Placeholder 2">
            <a:extLst>
              <a:ext uri="{FF2B5EF4-FFF2-40B4-BE49-F238E27FC236}">
                <a16:creationId xmlns:a16="http://schemas.microsoft.com/office/drawing/2014/main" id="{65E58EA6-3D23-4903-9FD2-E2E2AA79F6F8}"/>
              </a:ext>
            </a:extLst>
          </p:cNvPr>
          <p:cNvSpPr>
            <a:spLocks noGrp="1"/>
          </p:cNvSpPr>
          <p:nvPr>
            <p:ph idx="1"/>
          </p:nvPr>
        </p:nvSpPr>
        <p:spPr>
          <a:xfrm>
            <a:off x="4184542" y="1946684"/>
            <a:ext cx="7363990" cy="4351338"/>
          </a:xfrm>
        </p:spPr>
        <p:txBody>
          <a:bodyPr>
            <a:normAutofit/>
          </a:bodyPr>
          <a:lstStyle/>
          <a:p>
            <a:r>
              <a:rPr lang="el-GR" i="1" dirty="0">
                <a:latin typeface="Times New Roman" panose="02020603050405020304" pitchFamily="18" charset="0"/>
                <a:cs typeface="Times New Roman" panose="02020603050405020304" pitchFamily="18" charset="0"/>
              </a:rPr>
              <a:t>Μπορεί να χρησιμοποιηθεί ως ενα παθητηκό στηχείο όπως ένας αντιστάτης, επαγωγέας σε ένα κυκλώμα.</a:t>
            </a:r>
          </a:p>
          <a:p>
            <a:r>
              <a:rPr lang="el-GR" i="1" dirty="0">
                <a:latin typeface="Times New Roman" panose="02020603050405020304" pitchFamily="18" charset="0"/>
                <a:cs typeface="Times New Roman" panose="02020603050405020304" pitchFamily="18" charset="0"/>
              </a:rPr>
              <a:t>Χρησιμοποιείται ωσ ενασ αναστροφέας σε μερικά ηλεκτρονικά κυκλώματα. </a:t>
            </a:r>
            <a:endParaRPr lang="en-US" i="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20988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091B7F4F-2086-47FC-9DF2-59FA5920E600}"/>
              </a:ext>
            </a:extLst>
          </p:cNvPr>
          <p:cNvSpPr/>
          <p:nvPr/>
        </p:nvSpPr>
        <p:spPr>
          <a:xfrm>
            <a:off x="6981687" y="164419"/>
            <a:ext cx="4372854" cy="89743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FB3651FA-7C76-46E6-86C9-324C8536B2F6}"/>
              </a:ext>
            </a:extLst>
          </p:cNvPr>
          <p:cNvSpPr/>
          <p:nvPr/>
        </p:nvSpPr>
        <p:spPr>
          <a:xfrm>
            <a:off x="418970" y="168145"/>
            <a:ext cx="4614663" cy="89743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E0902B22-C046-40C0-BB07-BA698114A325}"/>
              </a:ext>
            </a:extLst>
          </p:cNvPr>
          <p:cNvSpPr/>
          <p:nvPr/>
        </p:nvSpPr>
        <p:spPr>
          <a:xfrm>
            <a:off x="624606" y="168145"/>
            <a:ext cx="4173130" cy="707886"/>
          </a:xfrm>
          <a:prstGeom prst="rect">
            <a:avLst/>
          </a:prstGeom>
          <a:noFill/>
        </p:spPr>
        <p:txBody>
          <a:bodyPr wrap="none" lIns="91440" tIns="45720" rIns="91440" bIns="45720">
            <a:spAutoFit/>
          </a:bodyPr>
          <a:lstStyle/>
          <a:p>
            <a:pPr algn="ctr"/>
            <a:r>
              <a:rPr lang="el-GR" sz="4000" b="1" i="1" u="sng" dirty="0">
                <a:ln w="0"/>
                <a:latin typeface="Times New Roman" panose="02020603050405020304" pitchFamily="18" charset="0"/>
                <a:cs typeface="Times New Roman" panose="02020603050405020304" pitchFamily="18" charset="0"/>
              </a:rPr>
              <a:t>Λογική Πύλη </a:t>
            </a:r>
            <a:r>
              <a:rPr lang="en-US" sz="4000" b="1" i="1" u="sng" dirty="0">
                <a:ln w="0"/>
                <a:latin typeface="Times New Roman" panose="02020603050405020304" pitchFamily="18" charset="0"/>
                <a:cs typeface="Times New Roman" panose="02020603050405020304" pitchFamily="18" charset="0"/>
              </a:rPr>
              <a:t>AND</a:t>
            </a:r>
            <a:endParaRPr lang="en-US" sz="4000" b="1" i="1" u="sng" cap="none" spc="0" dirty="0">
              <a:ln w="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9522E93-026D-466E-9754-2136CA73CA16}"/>
              </a:ext>
            </a:extLst>
          </p:cNvPr>
          <p:cNvSpPr txBox="1"/>
          <p:nvPr/>
        </p:nvSpPr>
        <p:spPr>
          <a:xfrm>
            <a:off x="418970" y="1203638"/>
            <a:ext cx="5225143" cy="1015663"/>
          </a:xfrm>
          <a:prstGeom prst="rect">
            <a:avLst/>
          </a:prstGeom>
          <a:noFill/>
        </p:spPr>
        <p:txBody>
          <a:bodyPr wrap="square" rtlCol="0">
            <a:spAutoFit/>
          </a:bodyPr>
          <a:lstStyle/>
          <a:p>
            <a:pPr algn="just"/>
            <a:r>
              <a:rPr lang="el-GR" sz="2000" i="1" dirty="0">
                <a:latin typeface="Times New Roman" panose="02020603050405020304" pitchFamily="18" charset="0"/>
                <a:cs typeface="Times New Roman" panose="02020603050405020304" pitchFamily="18" charset="0"/>
              </a:rPr>
              <a:t>Η λογική πύλη ΑΝ</a:t>
            </a:r>
            <a:r>
              <a:rPr lang="en-US" sz="2000" i="1" dirty="0">
                <a:latin typeface="Times New Roman" panose="02020603050405020304" pitchFamily="18" charset="0"/>
                <a:cs typeface="Times New Roman" panose="02020603050405020304" pitchFamily="18" charset="0"/>
              </a:rPr>
              <a:t>D</a:t>
            </a:r>
            <a:r>
              <a:rPr lang="el-GR" sz="2000" i="1" dirty="0">
                <a:latin typeface="Times New Roman" panose="02020603050405020304" pitchFamily="18" charset="0"/>
                <a:cs typeface="Times New Roman" panose="02020603050405020304" pitchFamily="18" charset="0"/>
              </a:rPr>
              <a:t> είναι ένα ηλεκτρικό κύκλωμα που δίνει έξοδο 1</a:t>
            </a:r>
            <a:r>
              <a:rPr lang="en-US" sz="2000" i="1" dirty="0">
                <a:latin typeface="Times New Roman" panose="02020603050405020304" pitchFamily="18" charset="0"/>
                <a:cs typeface="Times New Roman" panose="02020603050405020304" pitchFamily="18" charset="0"/>
              </a:rPr>
              <a:t> </a:t>
            </a:r>
            <a:r>
              <a:rPr lang="el-GR" sz="2000" i="1" dirty="0">
                <a:latin typeface="Times New Roman" panose="02020603050405020304" pitchFamily="18" charset="0"/>
                <a:cs typeface="Times New Roman" panose="02020603050405020304" pitchFamily="18" charset="0"/>
              </a:rPr>
              <a:t>(</a:t>
            </a:r>
            <a:r>
              <a:rPr lang="en-US" sz="2000" i="1" dirty="0">
                <a:latin typeface="Times New Roman" panose="02020603050405020304" pitchFamily="18" charset="0"/>
                <a:cs typeface="Times New Roman" panose="02020603050405020304" pitchFamily="18" charset="0"/>
              </a:rPr>
              <a:t>high</a:t>
            </a:r>
            <a:r>
              <a:rPr lang="el-GR" sz="2000" i="1" dirty="0">
                <a:latin typeface="Times New Roman" panose="02020603050405020304" pitchFamily="18" charset="0"/>
                <a:cs typeface="Times New Roman" panose="02020603050405020304" pitchFamily="18" charset="0"/>
              </a:rPr>
              <a:t>)</a:t>
            </a:r>
            <a:r>
              <a:rPr lang="en-US" sz="2000" i="1" dirty="0">
                <a:latin typeface="Times New Roman" panose="02020603050405020304" pitchFamily="18" charset="0"/>
                <a:cs typeface="Times New Roman" panose="02020603050405020304" pitchFamily="18" charset="0"/>
              </a:rPr>
              <a:t> </a:t>
            </a:r>
            <a:r>
              <a:rPr lang="el-GR" sz="2000" i="1" dirty="0">
                <a:latin typeface="Times New Roman" panose="02020603050405020304" pitchFamily="18" charset="0"/>
                <a:cs typeface="Times New Roman" panose="02020603050405020304" pitchFamily="18" charset="0"/>
              </a:rPr>
              <a:t>μόνο αν όλες οι είσοδοι της είναι </a:t>
            </a:r>
            <a:r>
              <a:rPr lang="en-US" sz="2000" i="1" dirty="0">
                <a:latin typeface="Times New Roman" panose="02020603050405020304" pitchFamily="18" charset="0"/>
                <a:cs typeface="Times New Roman" panose="02020603050405020304" pitchFamily="18" charset="0"/>
              </a:rPr>
              <a:t>high</a:t>
            </a:r>
            <a:r>
              <a:rPr lang="el-GR" sz="2000" i="1" dirty="0">
                <a:latin typeface="Times New Roman" panose="02020603050405020304" pitchFamily="18" charset="0"/>
                <a:cs typeface="Times New Roman" panose="02020603050405020304" pitchFamily="18" charset="0"/>
              </a:rPr>
              <a:t> στον πίνακα αληθείας.</a:t>
            </a:r>
            <a:endParaRPr lang="en-US" sz="2000" i="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EE55D063-CDCB-409A-94EC-45BF8B789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3182" y="2416678"/>
            <a:ext cx="3087176" cy="11110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6F4FA2EF-58F0-4C1D-B69C-FAA8BFD4698E}"/>
              </a:ext>
            </a:extLst>
          </p:cNvPr>
          <p:cNvGraphicFramePr>
            <a:graphicFrameLocks noGrp="1"/>
          </p:cNvGraphicFramePr>
          <p:nvPr/>
        </p:nvGraphicFramePr>
        <p:xfrm>
          <a:off x="1279700" y="3987352"/>
          <a:ext cx="2862942" cy="2194560"/>
        </p:xfrm>
        <a:graphic>
          <a:graphicData uri="http://schemas.openxmlformats.org/drawingml/2006/table">
            <a:tbl>
              <a:tblPr/>
              <a:tblGrid>
                <a:gridCol w="954314">
                  <a:extLst>
                    <a:ext uri="{9D8B030D-6E8A-4147-A177-3AD203B41FA5}">
                      <a16:colId xmlns:a16="http://schemas.microsoft.com/office/drawing/2014/main" val="516394352"/>
                    </a:ext>
                  </a:extLst>
                </a:gridCol>
                <a:gridCol w="954314">
                  <a:extLst>
                    <a:ext uri="{9D8B030D-6E8A-4147-A177-3AD203B41FA5}">
                      <a16:colId xmlns:a16="http://schemas.microsoft.com/office/drawing/2014/main" val="989588352"/>
                    </a:ext>
                  </a:extLst>
                </a:gridCol>
                <a:gridCol w="954314">
                  <a:extLst>
                    <a:ext uri="{9D8B030D-6E8A-4147-A177-3AD203B41FA5}">
                      <a16:colId xmlns:a16="http://schemas.microsoft.com/office/drawing/2014/main" val="332899049"/>
                    </a:ext>
                  </a:extLst>
                </a:gridCol>
              </a:tblGrid>
              <a:tr h="0">
                <a:tc gridSpan="2">
                  <a:txBody>
                    <a:bodyPr/>
                    <a:lstStyle/>
                    <a:p>
                      <a:pPr algn="ctr"/>
                      <a:r>
                        <a:rPr lang="el-GR" b="1" dirty="0">
                          <a:effectLst/>
                        </a:rPr>
                        <a:t>Είσοδοι</a:t>
                      </a:r>
                      <a:endParaRPr lang="el-GR" dirty="0">
                        <a:effectLst/>
                      </a:endParaRP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EEFF"/>
                    </a:solidFill>
                  </a:tcPr>
                </a:tc>
                <a:tc hMerge="1">
                  <a:txBody>
                    <a:bodyPr/>
                    <a:lstStyle/>
                    <a:p>
                      <a:endParaRPr lang="en-US"/>
                    </a:p>
                  </a:txBody>
                  <a:tcPr/>
                </a:tc>
                <a:tc>
                  <a:txBody>
                    <a:bodyPr/>
                    <a:lstStyle/>
                    <a:p>
                      <a:pPr algn="l"/>
                      <a:r>
                        <a:rPr lang="el-GR" b="1">
                          <a:effectLst/>
                        </a:rPr>
                        <a:t>Έξοδος</a:t>
                      </a:r>
                      <a:endParaRPr lang="el-GR">
                        <a:effectLst/>
                      </a:endParaRP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EEFF"/>
                    </a:solidFill>
                  </a:tcPr>
                </a:tc>
                <a:extLst>
                  <a:ext uri="{0D108BD9-81ED-4DB2-BD59-A6C34878D82A}">
                    <a16:rowId xmlns:a16="http://schemas.microsoft.com/office/drawing/2014/main" val="718761924"/>
                  </a:ext>
                </a:extLst>
              </a:tr>
              <a:tr h="0">
                <a:tc>
                  <a:txBody>
                    <a:bodyPr/>
                    <a:lstStyle/>
                    <a:p>
                      <a:pPr algn="ctr"/>
                      <a:r>
                        <a:rPr lang="en-US">
                          <a:effectLst/>
                        </a:rPr>
                        <a:t>A</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EEFF"/>
                    </a:solidFill>
                  </a:tcPr>
                </a:tc>
                <a:tc>
                  <a:txBody>
                    <a:bodyPr/>
                    <a:lstStyle/>
                    <a:p>
                      <a:pPr algn="ctr"/>
                      <a:r>
                        <a:rPr lang="en-US">
                          <a:effectLst/>
                        </a:rPr>
                        <a:t>B</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EEFF"/>
                    </a:solidFill>
                  </a:tcPr>
                </a:tc>
                <a:tc>
                  <a:txBody>
                    <a:bodyPr/>
                    <a:lstStyle/>
                    <a:p>
                      <a:pPr algn="ctr"/>
                      <a:r>
                        <a:rPr lang="en-US">
                          <a:effectLst/>
                        </a:rPr>
                        <a:t>A </a:t>
                      </a:r>
                      <a:r>
                        <a:rPr lang="el-GR">
                          <a:effectLst/>
                        </a:rPr>
                        <a:t>ΚΑΙ </a:t>
                      </a:r>
                      <a:r>
                        <a:rPr lang="en-US">
                          <a:effectLst/>
                        </a:rPr>
                        <a:t>B</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EEFF"/>
                    </a:solidFill>
                  </a:tcPr>
                </a:tc>
                <a:extLst>
                  <a:ext uri="{0D108BD9-81ED-4DB2-BD59-A6C34878D82A}">
                    <a16:rowId xmlns:a16="http://schemas.microsoft.com/office/drawing/2014/main" val="1499417620"/>
                  </a:ext>
                </a:extLst>
              </a:tr>
              <a:tr h="0">
                <a:tc>
                  <a:txBody>
                    <a:bodyPr/>
                    <a:lstStyle/>
                    <a:p>
                      <a:pPr algn="ctr"/>
                      <a:r>
                        <a:rPr lang="en-US" dirty="0">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extLst>
                  <a:ext uri="{0D108BD9-81ED-4DB2-BD59-A6C34878D82A}">
                    <a16:rowId xmlns:a16="http://schemas.microsoft.com/office/drawing/2014/main" val="2238946038"/>
                  </a:ext>
                </a:extLst>
              </a:tr>
              <a:tr h="0">
                <a:tc>
                  <a:txBody>
                    <a:bodyPr/>
                    <a:lstStyle/>
                    <a:p>
                      <a:pPr algn="ctr"/>
                      <a:r>
                        <a:rPr lang="en-US">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dirty="0">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extLst>
                  <a:ext uri="{0D108BD9-81ED-4DB2-BD59-A6C34878D82A}">
                    <a16:rowId xmlns:a16="http://schemas.microsoft.com/office/drawing/2014/main" val="2342140971"/>
                  </a:ext>
                </a:extLst>
              </a:tr>
              <a:tr h="0">
                <a:tc>
                  <a:txBody>
                    <a:bodyPr/>
                    <a:lstStyle/>
                    <a:p>
                      <a:pPr algn="ctr"/>
                      <a:r>
                        <a:rPr lang="en-US">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extLst>
                  <a:ext uri="{0D108BD9-81ED-4DB2-BD59-A6C34878D82A}">
                    <a16:rowId xmlns:a16="http://schemas.microsoft.com/office/drawing/2014/main" val="47810368"/>
                  </a:ext>
                </a:extLst>
              </a:tr>
              <a:tr h="0">
                <a:tc>
                  <a:txBody>
                    <a:bodyPr/>
                    <a:lstStyle/>
                    <a:p>
                      <a:pPr algn="ctr"/>
                      <a:r>
                        <a:rPr lang="en-US">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dirty="0">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extLst>
                  <a:ext uri="{0D108BD9-81ED-4DB2-BD59-A6C34878D82A}">
                    <a16:rowId xmlns:a16="http://schemas.microsoft.com/office/drawing/2014/main" val="339915469"/>
                  </a:ext>
                </a:extLst>
              </a:tr>
            </a:tbl>
          </a:graphicData>
        </a:graphic>
      </p:graphicFrame>
      <p:sp>
        <p:nvSpPr>
          <p:cNvPr id="11" name="TextBox 10">
            <a:extLst>
              <a:ext uri="{FF2B5EF4-FFF2-40B4-BE49-F238E27FC236}">
                <a16:creationId xmlns:a16="http://schemas.microsoft.com/office/drawing/2014/main" id="{66A1E6C5-3CEB-4F43-86CA-F40BB9BE9AB9}"/>
              </a:ext>
            </a:extLst>
          </p:cNvPr>
          <p:cNvSpPr txBox="1"/>
          <p:nvPr/>
        </p:nvSpPr>
        <p:spPr>
          <a:xfrm>
            <a:off x="6094446" y="168145"/>
            <a:ext cx="6097554"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4000" b="1" i="1" u="sng" strike="noStrike" kern="1200" cap="none" spc="0" normalizeH="0" baseline="0" noProof="0" dirty="0">
                <a:ln w="0"/>
                <a:solidFill>
                  <a:prstClr val="black"/>
                </a:solidFill>
                <a:effectLst/>
                <a:uLnTx/>
                <a:uFillTx/>
                <a:latin typeface="Times New Roman" panose="02020603050405020304" pitchFamily="18" charset="0"/>
                <a:ea typeface="+mn-ea"/>
                <a:cs typeface="Times New Roman" panose="02020603050405020304" pitchFamily="18" charset="0"/>
              </a:rPr>
              <a:t>Λογική Πύλη </a:t>
            </a:r>
            <a:r>
              <a:rPr kumimoji="0" lang="en-US" sz="4000" b="1" i="1" u="sng" strike="noStrike" kern="1200" cap="none" spc="0" normalizeH="0" baseline="0" noProof="0" dirty="0">
                <a:ln w="0"/>
                <a:solidFill>
                  <a:prstClr val="black"/>
                </a:solidFill>
                <a:effectLst/>
                <a:uLnTx/>
                <a:uFillTx/>
                <a:latin typeface="Times New Roman" panose="02020603050405020304" pitchFamily="18" charset="0"/>
                <a:ea typeface="+mn-ea"/>
                <a:cs typeface="Times New Roman" panose="02020603050405020304" pitchFamily="18" charset="0"/>
              </a:rPr>
              <a:t>OR</a:t>
            </a:r>
          </a:p>
        </p:txBody>
      </p:sp>
      <p:cxnSp>
        <p:nvCxnSpPr>
          <p:cNvPr id="12" name="Straight Connector 11">
            <a:extLst>
              <a:ext uri="{FF2B5EF4-FFF2-40B4-BE49-F238E27FC236}">
                <a16:creationId xmlns:a16="http://schemas.microsoft.com/office/drawing/2014/main" id="{931B1B53-1CD2-4D3A-802F-5A769C3D262F}"/>
              </a:ext>
            </a:extLst>
          </p:cNvPr>
          <p:cNvCxnSpPr>
            <a:cxnSpLocks/>
          </p:cNvCxnSpPr>
          <p:nvPr/>
        </p:nvCxnSpPr>
        <p:spPr>
          <a:xfrm>
            <a:off x="6096000" y="437349"/>
            <a:ext cx="0" cy="5608888"/>
          </a:xfrm>
          <a:prstGeom prst="line">
            <a:avLst/>
          </a:prstGeom>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9F523507-1E6D-4712-85BA-96A8E3124A76}"/>
              </a:ext>
            </a:extLst>
          </p:cNvPr>
          <p:cNvSpPr txBox="1"/>
          <p:nvPr/>
        </p:nvSpPr>
        <p:spPr>
          <a:xfrm>
            <a:off x="6530651" y="1203637"/>
            <a:ext cx="5225143" cy="1015663"/>
          </a:xfrm>
          <a:prstGeom prst="rect">
            <a:avLst/>
          </a:prstGeom>
          <a:noFill/>
        </p:spPr>
        <p:txBody>
          <a:bodyPr wrap="square" rtlCol="0">
            <a:spAutoFit/>
          </a:bodyPr>
          <a:lstStyle/>
          <a:p>
            <a:pPr algn="just"/>
            <a:r>
              <a:rPr lang="el-GR" sz="2000" i="1" dirty="0">
                <a:latin typeface="Times New Roman" panose="02020603050405020304" pitchFamily="18" charset="0"/>
                <a:cs typeface="Times New Roman" panose="02020603050405020304" pitchFamily="18" charset="0"/>
              </a:rPr>
              <a:t>Η λογική πύλη </a:t>
            </a:r>
            <a:r>
              <a:rPr lang="en-US" sz="2000" i="1" dirty="0">
                <a:latin typeface="Times New Roman" panose="02020603050405020304" pitchFamily="18" charset="0"/>
                <a:cs typeface="Times New Roman" panose="02020603050405020304" pitchFamily="18" charset="0"/>
              </a:rPr>
              <a:t>OR</a:t>
            </a:r>
            <a:r>
              <a:rPr lang="el-GR" sz="2000" i="1" dirty="0">
                <a:latin typeface="Times New Roman" panose="02020603050405020304" pitchFamily="18" charset="0"/>
                <a:cs typeface="Times New Roman" panose="02020603050405020304" pitchFamily="18" charset="0"/>
              </a:rPr>
              <a:t> είναι ένα ηλεκτρικό κύκλωμα που δίνει έξοδο 1</a:t>
            </a:r>
            <a:r>
              <a:rPr lang="en-US" sz="2000" i="1" dirty="0">
                <a:latin typeface="Times New Roman" panose="02020603050405020304" pitchFamily="18" charset="0"/>
                <a:cs typeface="Times New Roman" panose="02020603050405020304" pitchFamily="18" charset="0"/>
              </a:rPr>
              <a:t> </a:t>
            </a:r>
            <a:r>
              <a:rPr lang="el-GR" sz="2000" i="1" dirty="0">
                <a:latin typeface="Times New Roman" panose="02020603050405020304" pitchFamily="18" charset="0"/>
                <a:cs typeface="Times New Roman" panose="02020603050405020304" pitchFamily="18" charset="0"/>
              </a:rPr>
              <a:t>(</a:t>
            </a:r>
            <a:r>
              <a:rPr lang="en-US" sz="2000" i="1" dirty="0">
                <a:latin typeface="Times New Roman" panose="02020603050405020304" pitchFamily="18" charset="0"/>
                <a:cs typeface="Times New Roman" panose="02020603050405020304" pitchFamily="18" charset="0"/>
              </a:rPr>
              <a:t>high</a:t>
            </a:r>
            <a:r>
              <a:rPr lang="el-GR" sz="2000" i="1" dirty="0">
                <a:latin typeface="Times New Roman" panose="02020603050405020304" pitchFamily="18" charset="0"/>
                <a:cs typeface="Times New Roman" panose="02020603050405020304" pitchFamily="18" charset="0"/>
              </a:rPr>
              <a:t>) αν μία ή περισσότερες είσοδοι είναι </a:t>
            </a:r>
            <a:r>
              <a:rPr lang="en-US" sz="2000" i="1" dirty="0">
                <a:latin typeface="Times New Roman" panose="02020603050405020304" pitchFamily="18" charset="0"/>
                <a:cs typeface="Times New Roman" panose="02020603050405020304" pitchFamily="18" charset="0"/>
              </a:rPr>
              <a:t>high</a:t>
            </a:r>
            <a:r>
              <a:rPr lang="el-GR" sz="2000" i="1" dirty="0">
                <a:latin typeface="Times New Roman" panose="02020603050405020304" pitchFamily="18" charset="0"/>
                <a:cs typeface="Times New Roman" panose="02020603050405020304" pitchFamily="18" charset="0"/>
              </a:rPr>
              <a:t>. </a:t>
            </a:r>
            <a:endParaRPr lang="en-US" sz="2000" i="1" dirty="0">
              <a:latin typeface="Times New Roman" panose="02020603050405020304" pitchFamily="18" charset="0"/>
              <a:cs typeface="Times New Roman" panose="02020603050405020304" pitchFamily="18" charset="0"/>
            </a:endParaRPr>
          </a:p>
        </p:txBody>
      </p:sp>
      <p:graphicFrame>
        <p:nvGraphicFramePr>
          <p:cNvPr id="16" name="Table 15">
            <a:extLst>
              <a:ext uri="{FF2B5EF4-FFF2-40B4-BE49-F238E27FC236}">
                <a16:creationId xmlns:a16="http://schemas.microsoft.com/office/drawing/2014/main" id="{4AEE96AD-2418-4BBA-85F2-A3432830B2C5}"/>
              </a:ext>
            </a:extLst>
          </p:cNvPr>
          <p:cNvGraphicFramePr>
            <a:graphicFrameLocks noGrp="1"/>
          </p:cNvGraphicFramePr>
          <p:nvPr/>
        </p:nvGraphicFramePr>
        <p:xfrm>
          <a:off x="7712529" y="3986713"/>
          <a:ext cx="2862942" cy="2194560"/>
        </p:xfrm>
        <a:graphic>
          <a:graphicData uri="http://schemas.openxmlformats.org/drawingml/2006/table">
            <a:tbl>
              <a:tblPr/>
              <a:tblGrid>
                <a:gridCol w="954314">
                  <a:extLst>
                    <a:ext uri="{9D8B030D-6E8A-4147-A177-3AD203B41FA5}">
                      <a16:colId xmlns:a16="http://schemas.microsoft.com/office/drawing/2014/main" val="4055715277"/>
                    </a:ext>
                  </a:extLst>
                </a:gridCol>
                <a:gridCol w="954314">
                  <a:extLst>
                    <a:ext uri="{9D8B030D-6E8A-4147-A177-3AD203B41FA5}">
                      <a16:colId xmlns:a16="http://schemas.microsoft.com/office/drawing/2014/main" val="3090848403"/>
                    </a:ext>
                  </a:extLst>
                </a:gridCol>
                <a:gridCol w="954314">
                  <a:extLst>
                    <a:ext uri="{9D8B030D-6E8A-4147-A177-3AD203B41FA5}">
                      <a16:colId xmlns:a16="http://schemas.microsoft.com/office/drawing/2014/main" val="1799025928"/>
                    </a:ext>
                  </a:extLst>
                </a:gridCol>
              </a:tblGrid>
              <a:tr h="0">
                <a:tc gridSpan="2">
                  <a:txBody>
                    <a:bodyPr/>
                    <a:lstStyle/>
                    <a:p>
                      <a:pPr algn="ctr"/>
                      <a:r>
                        <a:rPr lang="el-GR" b="1">
                          <a:effectLst/>
                        </a:rPr>
                        <a:t>Είσοδοι</a:t>
                      </a:r>
                      <a:endParaRPr lang="el-GR">
                        <a:effectLst/>
                      </a:endParaRP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EEFF"/>
                    </a:solidFill>
                  </a:tcPr>
                </a:tc>
                <a:tc hMerge="1">
                  <a:txBody>
                    <a:bodyPr/>
                    <a:lstStyle/>
                    <a:p>
                      <a:endParaRPr lang="en-US"/>
                    </a:p>
                  </a:txBody>
                  <a:tcPr/>
                </a:tc>
                <a:tc>
                  <a:txBody>
                    <a:bodyPr/>
                    <a:lstStyle/>
                    <a:p>
                      <a:pPr algn="ctr"/>
                      <a:r>
                        <a:rPr lang="el-GR" b="1">
                          <a:effectLst/>
                        </a:rPr>
                        <a:t>Έξοδος</a:t>
                      </a:r>
                      <a:endParaRPr lang="el-GR">
                        <a:effectLst/>
                      </a:endParaRP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EEFF"/>
                    </a:solidFill>
                  </a:tcPr>
                </a:tc>
                <a:extLst>
                  <a:ext uri="{0D108BD9-81ED-4DB2-BD59-A6C34878D82A}">
                    <a16:rowId xmlns:a16="http://schemas.microsoft.com/office/drawing/2014/main" val="2036904073"/>
                  </a:ext>
                </a:extLst>
              </a:tr>
              <a:tr h="0">
                <a:tc>
                  <a:txBody>
                    <a:bodyPr/>
                    <a:lstStyle/>
                    <a:p>
                      <a:pPr algn="ctr"/>
                      <a:r>
                        <a:rPr lang="en-US">
                          <a:effectLst/>
                        </a:rPr>
                        <a:t>A</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EEFF"/>
                    </a:solidFill>
                  </a:tcPr>
                </a:tc>
                <a:tc>
                  <a:txBody>
                    <a:bodyPr/>
                    <a:lstStyle/>
                    <a:p>
                      <a:pPr algn="ctr"/>
                      <a:r>
                        <a:rPr lang="en-US">
                          <a:effectLst/>
                        </a:rPr>
                        <a:t>B</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EEFF"/>
                    </a:solidFill>
                  </a:tcPr>
                </a:tc>
                <a:tc>
                  <a:txBody>
                    <a:bodyPr/>
                    <a:lstStyle/>
                    <a:p>
                      <a:pPr algn="ctr"/>
                      <a:r>
                        <a:rPr lang="en-US">
                          <a:effectLst/>
                        </a:rPr>
                        <a:t>A </a:t>
                      </a:r>
                      <a:r>
                        <a:rPr lang="el-GR">
                          <a:effectLst/>
                        </a:rPr>
                        <a:t>Η' </a:t>
                      </a:r>
                      <a:r>
                        <a:rPr lang="en-US">
                          <a:effectLst/>
                        </a:rPr>
                        <a:t>B</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EEFF"/>
                    </a:solidFill>
                  </a:tcPr>
                </a:tc>
                <a:extLst>
                  <a:ext uri="{0D108BD9-81ED-4DB2-BD59-A6C34878D82A}">
                    <a16:rowId xmlns:a16="http://schemas.microsoft.com/office/drawing/2014/main" val="2283070621"/>
                  </a:ext>
                </a:extLst>
              </a:tr>
              <a:tr h="0">
                <a:tc>
                  <a:txBody>
                    <a:bodyPr/>
                    <a:lstStyle/>
                    <a:p>
                      <a:pPr algn="ctr"/>
                      <a:r>
                        <a:rPr lang="en-US">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extLst>
                  <a:ext uri="{0D108BD9-81ED-4DB2-BD59-A6C34878D82A}">
                    <a16:rowId xmlns:a16="http://schemas.microsoft.com/office/drawing/2014/main" val="3024076333"/>
                  </a:ext>
                </a:extLst>
              </a:tr>
              <a:tr h="0">
                <a:tc>
                  <a:txBody>
                    <a:bodyPr/>
                    <a:lstStyle/>
                    <a:p>
                      <a:pPr algn="ctr"/>
                      <a:r>
                        <a:rPr lang="en-US">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extLst>
                  <a:ext uri="{0D108BD9-81ED-4DB2-BD59-A6C34878D82A}">
                    <a16:rowId xmlns:a16="http://schemas.microsoft.com/office/drawing/2014/main" val="4122273989"/>
                  </a:ext>
                </a:extLst>
              </a:tr>
              <a:tr h="0">
                <a:tc>
                  <a:txBody>
                    <a:bodyPr/>
                    <a:lstStyle/>
                    <a:p>
                      <a:pPr algn="ctr"/>
                      <a:r>
                        <a:rPr lang="en-US">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0</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extLst>
                  <a:ext uri="{0D108BD9-81ED-4DB2-BD59-A6C34878D82A}">
                    <a16:rowId xmlns:a16="http://schemas.microsoft.com/office/drawing/2014/main" val="1178703161"/>
                  </a:ext>
                </a:extLst>
              </a:tr>
              <a:tr h="0">
                <a:tc>
                  <a:txBody>
                    <a:bodyPr/>
                    <a:lstStyle/>
                    <a:p>
                      <a:pPr algn="ctr"/>
                      <a:r>
                        <a:rPr lang="en-US">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tc>
                  <a:txBody>
                    <a:bodyPr/>
                    <a:lstStyle/>
                    <a:p>
                      <a:pPr algn="ctr"/>
                      <a:r>
                        <a:rPr lang="en-US" dirty="0">
                          <a:effectLst/>
                        </a:rPr>
                        <a:t>1</a:t>
                      </a:r>
                    </a:p>
                  </a:txBody>
                  <a:tcPr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DDFFDD"/>
                    </a:solidFill>
                  </a:tcPr>
                </a:tc>
                <a:extLst>
                  <a:ext uri="{0D108BD9-81ED-4DB2-BD59-A6C34878D82A}">
                    <a16:rowId xmlns:a16="http://schemas.microsoft.com/office/drawing/2014/main" val="3410697395"/>
                  </a:ext>
                </a:extLst>
              </a:tr>
            </a:tbl>
          </a:graphicData>
        </a:graphic>
      </p:graphicFrame>
      <p:pic>
        <p:nvPicPr>
          <p:cNvPr id="1028" name="Picture 4">
            <a:extLst>
              <a:ext uri="{FF2B5EF4-FFF2-40B4-BE49-F238E27FC236}">
                <a16:creationId xmlns:a16="http://schemas.microsoft.com/office/drawing/2014/main" id="{A7F982EC-FC2C-4E65-93BB-FC4D29B242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2529" y="2403402"/>
            <a:ext cx="3160954" cy="1137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1194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0E74F5-2C93-41E6-8D49-905A411FADE7}"/>
              </a:ext>
            </a:extLst>
          </p:cNvPr>
          <p:cNvSpPr/>
          <p:nvPr/>
        </p:nvSpPr>
        <p:spPr>
          <a:xfrm>
            <a:off x="641180" y="279944"/>
            <a:ext cx="3958583" cy="160832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b="1" i="1" u="sng" dirty="0">
                <a:ln w="0"/>
                <a:latin typeface="Times New Roman" panose="02020603050405020304" pitchFamily="18" charset="0"/>
                <a:ea typeface="+mj-ea"/>
                <a:cs typeface="Times New Roman" panose="02020603050405020304" pitchFamily="18" charset="0"/>
              </a:rPr>
              <a:t>Λογική Πύλη NOT</a:t>
            </a:r>
            <a:endParaRPr lang="en-US" sz="3600" b="1" i="1" u="sng" cap="none" spc="0" dirty="0">
              <a:ln w="0"/>
              <a:latin typeface="Times New Roman" panose="02020603050405020304" pitchFamily="18" charset="0"/>
              <a:ea typeface="+mj-ea"/>
              <a:cs typeface="Times New Roman" panose="02020603050405020304" pitchFamily="18" charset="0"/>
            </a:endParaRPr>
          </a:p>
        </p:txBody>
      </p:sp>
      <p:sp>
        <p:nvSpPr>
          <p:cNvPr id="3" name="TextBox 2">
            <a:extLst>
              <a:ext uri="{FF2B5EF4-FFF2-40B4-BE49-F238E27FC236}">
                <a16:creationId xmlns:a16="http://schemas.microsoft.com/office/drawing/2014/main" id="{20FC85F4-1DD8-4CA4-911B-640125ED8C89}"/>
              </a:ext>
            </a:extLst>
          </p:cNvPr>
          <p:cNvSpPr txBox="1"/>
          <p:nvPr/>
        </p:nvSpPr>
        <p:spPr>
          <a:xfrm>
            <a:off x="4864100" y="338328"/>
            <a:ext cx="6675627" cy="1605083"/>
          </a:xfrm>
          <a:prstGeom prst="rect">
            <a:avLst/>
          </a:prstGeom>
        </p:spPr>
        <p:txBody>
          <a:bodyPr vert="horz" lIns="91440" tIns="45720" rIns="91440" bIns="45720" rtlCol="0" anchor="ctr">
            <a:normAutofit/>
          </a:bodyPr>
          <a:lstStyle/>
          <a:p>
            <a:pPr algn="just">
              <a:lnSpc>
                <a:spcPct val="90000"/>
              </a:lnSpc>
              <a:spcAft>
                <a:spcPts val="600"/>
              </a:spcAft>
            </a:pPr>
            <a:r>
              <a:rPr lang="en-US" sz="2000" i="1" dirty="0">
                <a:latin typeface="Times New Roman" panose="02020603050405020304" pitchFamily="18" charset="0"/>
                <a:cs typeface="Times New Roman" panose="02020603050405020304" pitchFamily="18" charset="0"/>
              </a:rPr>
              <a:t>Η </a:t>
            </a:r>
            <a:r>
              <a:rPr lang="en-US" sz="2000" i="1" dirty="0" err="1">
                <a:latin typeface="Times New Roman" panose="02020603050405020304" pitchFamily="18" charset="0"/>
                <a:cs typeface="Times New Roman" panose="02020603050405020304" pitchFamily="18" charset="0"/>
              </a:rPr>
              <a:t>λογική</a:t>
            </a:r>
            <a:r>
              <a:rPr lang="en-US" sz="2000" i="1" dirty="0">
                <a:latin typeface="Times New Roman" panose="02020603050405020304" pitchFamily="18" charset="0"/>
                <a:cs typeface="Times New Roman" panose="02020603050405020304" pitchFamily="18" charset="0"/>
              </a:rPr>
              <a:t> π</a:t>
            </a:r>
            <a:r>
              <a:rPr lang="en-US" sz="2000" i="1" dirty="0" err="1">
                <a:latin typeface="Times New Roman" panose="02020603050405020304" pitchFamily="18" charset="0"/>
                <a:cs typeface="Times New Roman" panose="02020603050405020304" pitchFamily="18" charset="0"/>
              </a:rPr>
              <a:t>ύλη</a:t>
            </a:r>
            <a:r>
              <a:rPr lang="en-US" sz="2000" i="1" dirty="0">
                <a:latin typeface="Times New Roman" panose="02020603050405020304" pitchFamily="18" charset="0"/>
                <a:cs typeface="Times New Roman" panose="02020603050405020304" pitchFamily="18" charset="0"/>
              </a:rPr>
              <a:t> NOT </a:t>
            </a:r>
            <a:r>
              <a:rPr lang="en-US" sz="2000" i="1" dirty="0" err="1">
                <a:latin typeface="Times New Roman" panose="02020603050405020304" pitchFamily="18" charset="0"/>
                <a:cs typeface="Times New Roman" panose="02020603050405020304" pitchFamily="18" charset="0"/>
              </a:rPr>
              <a:t>είν</a:t>
            </a:r>
            <a:r>
              <a:rPr lang="en-US" sz="2000" i="1" dirty="0">
                <a:latin typeface="Times New Roman" panose="02020603050405020304" pitchFamily="18" charset="0"/>
                <a:cs typeface="Times New Roman" panose="02020603050405020304" pitchFamily="18" charset="0"/>
              </a:rPr>
              <a:t>αι ένα ηλεκτρικό κύκλωμα η οποία παράγει μια ανεστραμμένη εκδοχή της εισόδου στην έξοδό της. </a:t>
            </a:r>
            <a:r>
              <a:rPr lang="en-US" sz="2000" i="1" dirty="0" err="1">
                <a:latin typeface="Times New Roman" panose="02020603050405020304" pitchFamily="18" charset="0"/>
                <a:cs typeface="Times New Roman" panose="02020603050405020304" pitchFamily="18" charset="0"/>
              </a:rPr>
              <a:t>Είν</a:t>
            </a:r>
            <a:r>
              <a:rPr lang="en-US" sz="2000" i="1" dirty="0">
                <a:latin typeface="Times New Roman" panose="02020603050405020304" pitchFamily="18" charset="0"/>
                <a:cs typeface="Times New Roman" panose="02020603050405020304" pitchFamily="18" charset="0"/>
              </a:rPr>
              <a:t>αι επίσης γνωστή ως μετατροπέας της εισόδου Α η οποία δίνει έξοδο NOT A. </a:t>
            </a:r>
            <a:r>
              <a:rPr lang="el-GR" sz="2000" i="1" dirty="0">
                <a:latin typeface="Times New Roman" panose="02020603050405020304" pitchFamily="18" charset="0"/>
                <a:cs typeface="Times New Roman" panose="02020603050405020304" pitchFamily="18" charset="0"/>
              </a:rPr>
              <a:t>Επίσης η ΝΟΤ μπορεί να παραχθεί χρησιμοποιώντας την λογική πύλη </a:t>
            </a:r>
            <a:r>
              <a:rPr lang="en-US" sz="2000" i="1" dirty="0">
                <a:latin typeface="Times New Roman" panose="02020603050405020304" pitchFamily="18" charset="0"/>
                <a:cs typeface="Times New Roman" panose="02020603050405020304" pitchFamily="18" charset="0"/>
              </a:rPr>
              <a:t>NAND </a:t>
            </a:r>
            <a:r>
              <a:rPr lang="el-GR" sz="2000" i="1" dirty="0">
                <a:latin typeface="Times New Roman" panose="02020603050405020304" pitchFamily="18" charset="0"/>
                <a:cs typeface="Times New Roman" panose="02020603050405020304" pitchFamily="18" charset="0"/>
              </a:rPr>
              <a:t>και </a:t>
            </a:r>
            <a:r>
              <a:rPr lang="en-US" sz="2000" i="1" dirty="0">
                <a:latin typeface="Times New Roman" panose="02020603050405020304" pitchFamily="18" charset="0"/>
                <a:cs typeface="Times New Roman" panose="02020603050405020304" pitchFamily="18" charset="0"/>
              </a:rPr>
              <a:t>NOR</a:t>
            </a:r>
            <a:r>
              <a:rPr lang="el-GR" sz="2000" i="1" dirty="0">
                <a:latin typeface="Times New Roman" panose="02020603050405020304" pitchFamily="18" charset="0"/>
                <a:cs typeface="Times New Roman" panose="02020603050405020304" pitchFamily="18" charset="0"/>
              </a:rPr>
              <a:t> αντίστοιχα.</a:t>
            </a:r>
            <a:endParaRPr lang="en-US" sz="2000" i="1" dirty="0">
              <a:latin typeface="Times New Roman" panose="02020603050405020304" pitchFamily="18" charset="0"/>
              <a:cs typeface="Times New Roman" panose="02020603050405020304" pitchFamily="18" charset="0"/>
            </a:endParaRPr>
          </a:p>
        </p:txBody>
      </p:sp>
      <p:sp>
        <p:nvSpPr>
          <p:cNvPr id="138" name="Rectangle 137">
            <a:extLst>
              <a:ext uri="{FF2B5EF4-FFF2-40B4-BE49-F238E27FC236}">
                <a16:creationId xmlns:a16="http://schemas.microsoft.com/office/drawing/2014/main" id="{5AAE9118-0436-4488-AC4A-C14DF6A7B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2211010"/>
            <a:ext cx="12192002" cy="464699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Rounded Rectangle 26">
            <a:extLst>
              <a:ext uri="{FF2B5EF4-FFF2-40B4-BE49-F238E27FC236}">
                <a16:creationId xmlns:a16="http://schemas.microsoft.com/office/drawing/2014/main" id="{1B10F861-B8F1-49C7-BD58-EAB20CEE7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con&#10;&#10;Description automatically generated">
            <a:extLst>
              <a:ext uri="{FF2B5EF4-FFF2-40B4-BE49-F238E27FC236}">
                <a16:creationId xmlns:a16="http://schemas.microsoft.com/office/drawing/2014/main" id="{078061CF-7A32-4826-96D4-13B23C0D82C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1180" y="3492937"/>
            <a:ext cx="4974336" cy="1790760"/>
          </a:xfrm>
          <a:prstGeom prst="rect">
            <a:avLst/>
          </a:prstGeom>
          <a:noFill/>
          <a:extLst>
            <a:ext uri="{909E8E84-426E-40DD-AFC4-6F175D3DCCD1}">
              <a14:hiddenFill xmlns:a14="http://schemas.microsoft.com/office/drawing/2010/main">
                <a:solidFill>
                  <a:srgbClr val="FFFFFF"/>
                </a:solidFill>
              </a14:hiddenFill>
            </a:ext>
          </a:extLst>
        </p:spPr>
      </p:pic>
      <p:sp>
        <p:nvSpPr>
          <p:cNvPr id="142" name="Rounded Rectangle 16">
            <a:extLst>
              <a:ext uri="{FF2B5EF4-FFF2-40B4-BE49-F238E27FC236}">
                <a16:creationId xmlns:a16="http://schemas.microsoft.com/office/drawing/2014/main" id="{61F6E425-22AB-4DA2-8FAC-58ADB58E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3A4E48D3-425E-4181-AB00-5DEF12BA928D}"/>
              </a:ext>
            </a:extLst>
          </p:cNvPr>
          <p:cNvGraphicFramePr>
            <a:graphicFrameLocks noGrp="1"/>
          </p:cNvGraphicFramePr>
          <p:nvPr/>
        </p:nvGraphicFramePr>
        <p:xfrm>
          <a:off x="6888407" y="2913085"/>
          <a:ext cx="4350492" cy="2950464"/>
        </p:xfrm>
        <a:graphic>
          <a:graphicData uri="http://schemas.openxmlformats.org/drawingml/2006/table">
            <a:tbl>
              <a:tblPr>
                <a:tableStyleId>{21E4AEA4-8DFA-4A89-87EB-49C32662AFE0}</a:tableStyleId>
              </a:tblPr>
              <a:tblGrid>
                <a:gridCol w="2245097">
                  <a:extLst>
                    <a:ext uri="{9D8B030D-6E8A-4147-A177-3AD203B41FA5}">
                      <a16:colId xmlns:a16="http://schemas.microsoft.com/office/drawing/2014/main" val="1151276388"/>
                    </a:ext>
                  </a:extLst>
                </a:gridCol>
                <a:gridCol w="2105395">
                  <a:extLst>
                    <a:ext uri="{9D8B030D-6E8A-4147-A177-3AD203B41FA5}">
                      <a16:colId xmlns:a16="http://schemas.microsoft.com/office/drawing/2014/main" val="1857602182"/>
                    </a:ext>
                  </a:extLst>
                </a:gridCol>
              </a:tblGrid>
              <a:tr h="737616">
                <a:tc>
                  <a:txBody>
                    <a:bodyPr/>
                    <a:lstStyle/>
                    <a:p>
                      <a:pPr algn="ctr"/>
                      <a:r>
                        <a:rPr lang="el-GR" sz="3300" b="1">
                          <a:effectLst/>
                        </a:rPr>
                        <a:t>Είσοδος</a:t>
                      </a:r>
                      <a:endParaRPr lang="el-GR" sz="3300">
                        <a:effectLst/>
                      </a:endParaRPr>
                    </a:p>
                  </a:txBody>
                  <a:tcPr marL="167640" marR="167640" marT="83820" marB="83820" anchor="ctr"/>
                </a:tc>
                <a:tc>
                  <a:txBody>
                    <a:bodyPr/>
                    <a:lstStyle/>
                    <a:p>
                      <a:pPr algn="ctr"/>
                      <a:r>
                        <a:rPr lang="el-GR" sz="3300" b="1">
                          <a:effectLst/>
                        </a:rPr>
                        <a:t>Έξοδος</a:t>
                      </a:r>
                      <a:endParaRPr lang="el-GR" sz="3300">
                        <a:effectLst/>
                      </a:endParaRPr>
                    </a:p>
                  </a:txBody>
                  <a:tcPr marL="167640" marR="167640" marT="83820" marB="83820" anchor="ctr"/>
                </a:tc>
                <a:extLst>
                  <a:ext uri="{0D108BD9-81ED-4DB2-BD59-A6C34878D82A}">
                    <a16:rowId xmlns:a16="http://schemas.microsoft.com/office/drawing/2014/main" val="1710058476"/>
                  </a:ext>
                </a:extLst>
              </a:tr>
              <a:tr h="737616">
                <a:tc>
                  <a:txBody>
                    <a:bodyPr/>
                    <a:lstStyle/>
                    <a:p>
                      <a:pPr algn="ctr"/>
                      <a:r>
                        <a:rPr lang="en-US" sz="3300">
                          <a:effectLst/>
                        </a:rPr>
                        <a:t>A</a:t>
                      </a:r>
                    </a:p>
                  </a:txBody>
                  <a:tcPr marL="167640" marR="167640" marT="83820" marB="83820" anchor="ctr"/>
                </a:tc>
                <a:tc>
                  <a:txBody>
                    <a:bodyPr/>
                    <a:lstStyle/>
                    <a:p>
                      <a:pPr algn="ctr"/>
                      <a:r>
                        <a:rPr lang="el-GR" sz="3300">
                          <a:effectLst/>
                        </a:rPr>
                        <a:t>ΟΧΙ </a:t>
                      </a:r>
                      <a:r>
                        <a:rPr lang="en-US" sz="3300">
                          <a:effectLst/>
                        </a:rPr>
                        <a:t>A</a:t>
                      </a:r>
                    </a:p>
                  </a:txBody>
                  <a:tcPr marL="167640" marR="167640" marT="83820" marB="83820" anchor="ctr"/>
                </a:tc>
                <a:extLst>
                  <a:ext uri="{0D108BD9-81ED-4DB2-BD59-A6C34878D82A}">
                    <a16:rowId xmlns:a16="http://schemas.microsoft.com/office/drawing/2014/main" val="1973873795"/>
                  </a:ext>
                </a:extLst>
              </a:tr>
              <a:tr h="737616">
                <a:tc>
                  <a:txBody>
                    <a:bodyPr/>
                    <a:lstStyle/>
                    <a:p>
                      <a:pPr algn="ctr"/>
                      <a:r>
                        <a:rPr lang="en-US" sz="3300">
                          <a:effectLst/>
                        </a:rPr>
                        <a:t>0</a:t>
                      </a:r>
                    </a:p>
                  </a:txBody>
                  <a:tcPr marL="167640" marR="167640" marT="83820" marB="83820" anchor="ctr"/>
                </a:tc>
                <a:tc>
                  <a:txBody>
                    <a:bodyPr/>
                    <a:lstStyle/>
                    <a:p>
                      <a:pPr algn="ctr"/>
                      <a:r>
                        <a:rPr lang="en-US" sz="3300">
                          <a:effectLst/>
                        </a:rPr>
                        <a:t>1</a:t>
                      </a:r>
                    </a:p>
                  </a:txBody>
                  <a:tcPr marL="167640" marR="167640" marT="83820" marB="83820" anchor="ctr"/>
                </a:tc>
                <a:extLst>
                  <a:ext uri="{0D108BD9-81ED-4DB2-BD59-A6C34878D82A}">
                    <a16:rowId xmlns:a16="http://schemas.microsoft.com/office/drawing/2014/main" val="2246060442"/>
                  </a:ext>
                </a:extLst>
              </a:tr>
              <a:tr h="737616">
                <a:tc>
                  <a:txBody>
                    <a:bodyPr/>
                    <a:lstStyle/>
                    <a:p>
                      <a:pPr algn="ctr"/>
                      <a:r>
                        <a:rPr lang="en-US" sz="3300">
                          <a:effectLst/>
                        </a:rPr>
                        <a:t>1</a:t>
                      </a:r>
                    </a:p>
                  </a:txBody>
                  <a:tcPr marL="167640" marR="167640" marT="83820" marB="83820" anchor="ctr"/>
                </a:tc>
                <a:tc>
                  <a:txBody>
                    <a:bodyPr/>
                    <a:lstStyle/>
                    <a:p>
                      <a:pPr algn="ctr"/>
                      <a:r>
                        <a:rPr lang="en-US" sz="3300" dirty="0">
                          <a:effectLst/>
                        </a:rPr>
                        <a:t>0</a:t>
                      </a:r>
                    </a:p>
                  </a:txBody>
                  <a:tcPr marL="167640" marR="167640" marT="83820" marB="83820" anchor="ctr"/>
                </a:tc>
                <a:extLst>
                  <a:ext uri="{0D108BD9-81ED-4DB2-BD59-A6C34878D82A}">
                    <a16:rowId xmlns:a16="http://schemas.microsoft.com/office/drawing/2014/main" val="3695158480"/>
                  </a:ext>
                </a:extLst>
              </a:tr>
            </a:tbl>
          </a:graphicData>
        </a:graphic>
      </p:graphicFrame>
    </p:spTree>
    <p:extLst>
      <p:ext uri="{BB962C8B-B14F-4D97-AF65-F5344CB8AC3E}">
        <p14:creationId xmlns:p14="http://schemas.microsoft.com/office/powerpoint/2010/main" val="325463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746E2A38-ACC8-44E6-85E2-A79CBAF15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39" y="252532"/>
            <a:ext cx="11100816" cy="22586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37485DC-602A-4DC6-93EF-3137612DD353}"/>
              </a:ext>
            </a:extLst>
          </p:cNvPr>
          <p:cNvSpPr/>
          <p:nvPr/>
        </p:nvSpPr>
        <p:spPr>
          <a:xfrm>
            <a:off x="838200" y="376791"/>
            <a:ext cx="3760434" cy="188155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i="1" u="sng" dirty="0">
                <a:ln w="0"/>
                <a:solidFill>
                  <a:schemeClr val="bg1"/>
                </a:solidFill>
                <a:latin typeface="Times New Roman" panose="02020603050405020304" pitchFamily="18" charset="0"/>
                <a:ea typeface="+mj-ea"/>
                <a:cs typeface="Times New Roman" panose="02020603050405020304" pitchFamily="18" charset="0"/>
              </a:rPr>
              <a:t>Λογική Πύλη ΝAND</a:t>
            </a:r>
            <a:endParaRPr lang="en-US" sz="3200" b="1" i="1" u="sng" cap="none" spc="0" dirty="0">
              <a:ln w="0"/>
              <a:solidFill>
                <a:schemeClr val="bg1"/>
              </a:solidFill>
              <a:latin typeface="Times New Roman" panose="02020603050405020304" pitchFamily="18" charset="0"/>
              <a:ea typeface="+mj-ea"/>
              <a:cs typeface="Times New Roman" panose="02020603050405020304" pitchFamily="18" charset="0"/>
            </a:endParaRPr>
          </a:p>
        </p:txBody>
      </p:sp>
      <p:sp>
        <p:nvSpPr>
          <p:cNvPr id="5" name="TextBox 4">
            <a:extLst>
              <a:ext uri="{FF2B5EF4-FFF2-40B4-BE49-F238E27FC236}">
                <a16:creationId xmlns:a16="http://schemas.microsoft.com/office/drawing/2014/main" id="{7DCD6A71-A222-4D1E-9A5F-8D8F46E1B8B2}"/>
              </a:ext>
            </a:extLst>
          </p:cNvPr>
          <p:cNvSpPr txBox="1"/>
          <p:nvPr/>
        </p:nvSpPr>
        <p:spPr>
          <a:xfrm>
            <a:off x="4708477" y="438559"/>
            <a:ext cx="6645323" cy="1881559"/>
          </a:xfrm>
          <a:prstGeom prst="rect">
            <a:avLst/>
          </a:prstGeom>
        </p:spPr>
        <p:txBody>
          <a:bodyPr vert="horz" lIns="91440" tIns="45720" rIns="91440" bIns="45720" rtlCol="0" anchor="ctr">
            <a:normAutofit/>
          </a:bodyPr>
          <a:lstStyle/>
          <a:p>
            <a:pPr algn="just">
              <a:lnSpc>
                <a:spcPct val="90000"/>
              </a:lnSpc>
              <a:spcBef>
                <a:spcPct val="0"/>
              </a:spcBef>
              <a:spcAft>
                <a:spcPts val="600"/>
              </a:spcAft>
            </a:pPr>
            <a:r>
              <a:rPr lang="en-US" sz="2000" i="1" dirty="0">
                <a:solidFill>
                  <a:schemeClr val="bg1"/>
                </a:solidFill>
                <a:latin typeface="Times New Roman" panose="02020603050405020304" pitchFamily="18" charset="0"/>
                <a:cs typeface="Times New Roman" panose="02020603050405020304" pitchFamily="18" charset="0"/>
              </a:rPr>
              <a:t>Η </a:t>
            </a:r>
            <a:r>
              <a:rPr lang="en-US" sz="2000" i="1" dirty="0" err="1">
                <a:solidFill>
                  <a:schemeClr val="bg1"/>
                </a:solidFill>
                <a:latin typeface="Times New Roman" panose="02020603050405020304" pitchFamily="18" charset="0"/>
                <a:cs typeface="Times New Roman" panose="02020603050405020304" pitchFamily="18" charset="0"/>
              </a:rPr>
              <a:t>λογική</a:t>
            </a:r>
            <a:r>
              <a:rPr lang="en-US" sz="2000" i="1" dirty="0">
                <a:solidFill>
                  <a:schemeClr val="bg1"/>
                </a:solidFill>
                <a:latin typeface="Times New Roman" panose="02020603050405020304" pitchFamily="18" charset="0"/>
                <a:cs typeface="Times New Roman" panose="02020603050405020304" pitchFamily="18" charset="0"/>
              </a:rPr>
              <a:t> π</a:t>
            </a:r>
            <a:r>
              <a:rPr lang="en-US" sz="2000" i="1" dirty="0" err="1">
                <a:solidFill>
                  <a:schemeClr val="bg1"/>
                </a:solidFill>
                <a:latin typeface="Times New Roman" panose="02020603050405020304" pitchFamily="18" charset="0"/>
                <a:cs typeface="Times New Roman" panose="02020603050405020304" pitchFamily="18" charset="0"/>
              </a:rPr>
              <a:t>ύλη</a:t>
            </a:r>
            <a:r>
              <a:rPr lang="en-US" sz="2000" i="1" dirty="0">
                <a:solidFill>
                  <a:schemeClr val="bg1"/>
                </a:solidFill>
                <a:latin typeface="Times New Roman" panose="02020603050405020304" pitchFamily="18" charset="0"/>
                <a:cs typeface="Times New Roman" panose="02020603050405020304" pitchFamily="18" charset="0"/>
              </a:rPr>
              <a:t> NAND απ</a:t>
            </a:r>
            <a:r>
              <a:rPr lang="en-US" sz="2000" i="1" dirty="0" err="1">
                <a:solidFill>
                  <a:schemeClr val="bg1"/>
                </a:solidFill>
                <a:latin typeface="Times New Roman" panose="02020603050405020304" pitchFamily="18" charset="0"/>
                <a:cs typeface="Times New Roman" panose="02020603050405020304" pitchFamily="18" charset="0"/>
              </a:rPr>
              <a:t>οτελείτ</a:t>
            </a:r>
            <a:r>
              <a:rPr lang="en-US" sz="2000" i="1" dirty="0">
                <a:solidFill>
                  <a:schemeClr val="bg1"/>
                </a:solidFill>
                <a:latin typeface="Times New Roman" panose="02020603050405020304" pitchFamily="18" charset="0"/>
                <a:cs typeface="Times New Roman" panose="02020603050405020304" pitchFamily="18" charset="0"/>
              </a:rPr>
              <a:t>αι από μία πύλη AND ακολουθούμενη από μια πύλη NOT. </a:t>
            </a:r>
            <a:r>
              <a:rPr lang="en-US" sz="2000" i="1" dirty="0" err="1">
                <a:solidFill>
                  <a:schemeClr val="bg1"/>
                </a:solidFill>
                <a:latin typeface="Times New Roman" panose="02020603050405020304" pitchFamily="18" charset="0"/>
                <a:cs typeface="Times New Roman" panose="02020603050405020304" pitchFamily="18" charset="0"/>
              </a:rPr>
              <a:t>Οι</a:t>
            </a:r>
            <a:r>
              <a:rPr lang="en-US" sz="2000" i="1" dirty="0">
                <a:solidFill>
                  <a:schemeClr val="bg1"/>
                </a:solidFill>
                <a:latin typeface="Times New Roman" panose="02020603050405020304" pitchFamily="18" charset="0"/>
                <a:cs typeface="Times New Roman" panose="02020603050405020304" pitchFamily="18" charset="0"/>
              </a:rPr>
              <a:t> </a:t>
            </a:r>
            <a:r>
              <a:rPr lang="en-US" sz="2000" i="1" dirty="0" err="1">
                <a:solidFill>
                  <a:schemeClr val="bg1"/>
                </a:solidFill>
                <a:latin typeface="Times New Roman" panose="02020603050405020304" pitchFamily="18" charset="0"/>
                <a:cs typeface="Times New Roman" panose="02020603050405020304" pitchFamily="18" charset="0"/>
              </a:rPr>
              <a:t>έξοδοί</a:t>
            </a:r>
            <a:r>
              <a:rPr lang="en-US" sz="2000" i="1" dirty="0">
                <a:solidFill>
                  <a:schemeClr val="bg1"/>
                </a:solidFill>
                <a:latin typeface="Times New Roman" panose="02020603050405020304" pitchFamily="18" charset="0"/>
                <a:cs typeface="Times New Roman" panose="02020603050405020304" pitchFamily="18" charset="0"/>
              </a:rPr>
              <a:t> </a:t>
            </a:r>
            <a:r>
              <a:rPr lang="en-US" sz="2000" i="1" dirty="0" err="1">
                <a:solidFill>
                  <a:schemeClr val="bg1"/>
                </a:solidFill>
                <a:latin typeface="Times New Roman" panose="02020603050405020304" pitchFamily="18" charset="0"/>
                <a:cs typeface="Times New Roman" panose="02020603050405020304" pitchFamily="18" charset="0"/>
              </a:rPr>
              <a:t>της</a:t>
            </a:r>
            <a:r>
              <a:rPr lang="en-US" sz="2000" i="1" dirty="0">
                <a:solidFill>
                  <a:schemeClr val="bg1"/>
                </a:solidFill>
                <a:latin typeface="Times New Roman" panose="02020603050405020304" pitchFamily="18" charset="0"/>
                <a:cs typeface="Times New Roman" panose="02020603050405020304" pitchFamily="18" charset="0"/>
              </a:rPr>
              <a:t> </a:t>
            </a:r>
            <a:r>
              <a:rPr lang="en-US" sz="2000" i="1" dirty="0" err="1">
                <a:solidFill>
                  <a:schemeClr val="bg1"/>
                </a:solidFill>
                <a:latin typeface="Times New Roman" panose="02020603050405020304" pitchFamily="18" charset="0"/>
                <a:cs typeface="Times New Roman" panose="02020603050405020304" pitchFamily="18" charset="0"/>
              </a:rPr>
              <a:t>είν</a:t>
            </a:r>
            <a:r>
              <a:rPr lang="en-US" sz="2000" i="1" dirty="0">
                <a:solidFill>
                  <a:schemeClr val="bg1"/>
                </a:solidFill>
                <a:latin typeface="Times New Roman" panose="02020603050405020304" pitchFamily="18" charset="0"/>
                <a:cs typeface="Times New Roman" panose="02020603050405020304" pitchFamily="18" charset="0"/>
              </a:rPr>
              <a:t>αι 1 (high) εάν κάποια απ’ τις εισόδους της είναι 0 (low). Ο </a:t>
            </a:r>
            <a:r>
              <a:rPr lang="en-US" sz="2000" i="1" dirty="0" err="1">
                <a:solidFill>
                  <a:schemeClr val="bg1"/>
                </a:solidFill>
                <a:latin typeface="Times New Roman" panose="02020603050405020304" pitchFamily="18" charset="0"/>
                <a:cs typeface="Times New Roman" panose="02020603050405020304" pitchFamily="18" charset="0"/>
              </a:rPr>
              <a:t>μικρός</a:t>
            </a:r>
            <a:r>
              <a:rPr lang="en-US" sz="2000" i="1" dirty="0">
                <a:solidFill>
                  <a:schemeClr val="bg1"/>
                </a:solidFill>
                <a:latin typeface="Times New Roman" panose="02020603050405020304" pitchFamily="18" charset="0"/>
                <a:cs typeface="Times New Roman" panose="02020603050405020304" pitchFamily="18" charset="0"/>
              </a:rPr>
              <a:t> </a:t>
            </a:r>
            <a:r>
              <a:rPr lang="en-US" sz="2000" i="1" dirty="0" err="1">
                <a:solidFill>
                  <a:schemeClr val="bg1"/>
                </a:solidFill>
                <a:latin typeface="Times New Roman" panose="02020603050405020304" pitchFamily="18" charset="0"/>
                <a:cs typeface="Times New Roman" panose="02020603050405020304" pitchFamily="18" charset="0"/>
              </a:rPr>
              <a:t>κύκλος</a:t>
            </a:r>
            <a:r>
              <a:rPr lang="en-US" sz="2000" i="1" dirty="0">
                <a:solidFill>
                  <a:schemeClr val="bg1"/>
                </a:solidFill>
                <a:latin typeface="Times New Roman" panose="02020603050405020304" pitchFamily="18" charset="0"/>
                <a:cs typeface="Times New Roman" panose="02020603050405020304" pitchFamily="18" charset="0"/>
              </a:rPr>
              <a:t> </a:t>
            </a:r>
            <a:r>
              <a:rPr lang="en-US" sz="2000" i="1" dirty="0" err="1">
                <a:solidFill>
                  <a:schemeClr val="bg1"/>
                </a:solidFill>
                <a:latin typeface="Times New Roman" panose="02020603050405020304" pitchFamily="18" charset="0"/>
                <a:cs typeface="Times New Roman" panose="02020603050405020304" pitchFamily="18" charset="0"/>
              </a:rPr>
              <a:t>στην</a:t>
            </a:r>
            <a:r>
              <a:rPr lang="en-US" sz="2000" i="1" dirty="0">
                <a:solidFill>
                  <a:schemeClr val="bg1"/>
                </a:solidFill>
                <a:latin typeface="Times New Roman" panose="02020603050405020304" pitchFamily="18" charset="0"/>
                <a:cs typeface="Times New Roman" panose="02020603050405020304" pitchFamily="18" charset="0"/>
              </a:rPr>
              <a:t> </a:t>
            </a:r>
            <a:r>
              <a:rPr lang="en-US" sz="2000" i="1" dirty="0" err="1">
                <a:solidFill>
                  <a:schemeClr val="bg1"/>
                </a:solidFill>
                <a:latin typeface="Times New Roman" panose="02020603050405020304" pitchFamily="18" charset="0"/>
                <a:cs typeface="Times New Roman" panose="02020603050405020304" pitchFamily="18" charset="0"/>
              </a:rPr>
              <a:t>έξοδό</a:t>
            </a:r>
            <a:r>
              <a:rPr lang="en-US" sz="2000" i="1" dirty="0">
                <a:solidFill>
                  <a:schemeClr val="bg1"/>
                </a:solidFill>
                <a:latin typeface="Times New Roman" panose="02020603050405020304" pitchFamily="18" charset="0"/>
                <a:cs typeface="Times New Roman" panose="02020603050405020304" pitchFamily="18" charset="0"/>
              </a:rPr>
              <a:t> </a:t>
            </a:r>
            <a:r>
              <a:rPr lang="en-US" sz="2000" i="1" dirty="0" err="1">
                <a:solidFill>
                  <a:schemeClr val="bg1"/>
                </a:solidFill>
                <a:latin typeface="Times New Roman" panose="02020603050405020304" pitchFamily="18" charset="0"/>
                <a:cs typeface="Times New Roman" panose="02020603050405020304" pitchFamily="18" charset="0"/>
              </a:rPr>
              <a:t>της</a:t>
            </a:r>
            <a:r>
              <a:rPr lang="en-US" sz="2000" i="1" dirty="0">
                <a:solidFill>
                  <a:schemeClr val="bg1"/>
                </a:solidFill>
                <a:latin typeface="Times New Roman" panose="02020603050405020304" pitchFamily="18" charset="0"/>
                <a:cs typeface="Times New Roman" panose="02020603050405020304" pitchFamily="18" charset="0"/>
              </a:rPr>
              <a:t> α</a:t>
            </a:r>
            <a:r>
              <a:rPr lang="en-US" sz="2000" i="1" dirty="0" err="1">
                <a:solidFill>
                  <a:schemeClr val="bg1"/>
                </a:solidFill>
                <a:latin typeface="Times New Roman" panose="02020603050405020304" pitchFamily="18" charset="0"/>
                <a:cs typeface="Times New Roman" panose="02020603050405020304" pitchFamily="18" charset="0"/>
              </a:rPr>
              <a:t>ντικ</a:t>
            </a:r>
            <a:r>
              <a:rPr lang="en-US" sz="2000" i="1" dirty="0">
                <a:solidFill>
                  <a:schemeClr val="bg1"/>
                </a:solidFill>
                <a:latin typeface="Times New Roman" panose="02020603050405020304" pitchFamily="18" charset="0"/>
                <a:cs typeface="Times New Roman" panose="02020603050405020304" pitchFamily="18" charset="0"/>
              </a:rPr>
              <a:t>ατοπτρίζει την αντίστροφη έξοδο.</a:t>
            </a:r>
          </a:p>
        </p:txBody>
      </p:sp>
      <p:pic>
        <p:nvPicPr>
          <p:cNvPr id="2050" name="Picture 2" descr="A moon in the sky&#10;&#10;Description automatically generated with low confidence">
            <a:extLst>
              <a:ext uri="{FF2B5EF4-FFF2-40B4-BE49-F238E27FC236}">
                <a16:creationId xmlns:a16="http://schemas.microsoft.com/office/drawing/2014/main" id="{7093332D-C76C-4FC6-8D16-B1912B5580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8639" y="3588369"/>
            <a:ext cx="5422392" cy="195206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A916A739-3AE6-4DC0-86E3-C1E782E86771}"/>
              </a:ext>
            </a:extLst>
          </p:cNvPr>
          <p:cNvGraphicFramePr>
            <a:graphicFrameLocks noGrp="1"/>
          </p:cNvGraphicFramePr>
          <p:nvPr/>
        </p:nvGraphicFramePr>
        <p:xfrm>
          <a:off x="6220967" y="3061464"/>
          <a:ext cx="5422393" cy="3005874"/>
        </p:xfrm>
        <a:graphic>
          <a:graphicData uri="http://schemas.openxmlformats.org/drawingml/2006/table">
            <a:tbl>
              <a:tblPr>
                <a:tableStyleId>{5C22544A-7EE6-4342-B048-85BDC9FD1C3A}</a:tableStyleId>
              </a:tblPr>
              <a:tblGrid>
                <a:gridCol w="1603551">
                  <a:extLst>
                    <a:ext uri="{9D8B030D-6E8A-4147-A177-3AD203B41FA5}">
                      <a16:colId xmlns:a16="http://schemas.microsoft.com/office/drawing/2014/main" val="1211631481"/>
                    </a:ext>
                  </a:extLst>
                </a:gridCol>
                <a:gridCol w="1582621">
                  <a:extLst>
                    <a:ext uri="{9D8B030D-6E8A-4147-A177-3AD203B41FA5}">
                      <a16:colId xmlns:a16="http://schemas.microsoft.com/office/drawing/2014/main" val="3160692837"/>
                    </a:ext>
                  </a:extLst>
                </a:gridCol>
                <a:gridCol w="2236221">
                  <a:extLst>
                    <a:ext uri="{9D8B030D-6E8A-4147-A177-3AD203B41FA5}">
                      <a16:colId xmlns:a16="http://schemas.microsoft.com/office/drawing/2014/main" val="2024969595"/>
                    </a:ext>
                  </a:extLst>
                </a:gridCol>
              </a:tblGrid>
              <a:tr h="500979">
                <a:tc gridSpan="2">
                  <a:txBody>
                    <a:bodyPr/>
                    <a:lstStyle/>
                    <a:p>
                      <a:pPr algn="ctr"/>
                      <a:r>
                        <a:rPr lang="el-GR" sz="2200" b="1">
                          <a:effectLst/>
                        </a:rPr>
                        <a:t>Είσοδοι</a:t>
                      </a:r>
                      <a:endParaRPr lang="el-GR" sz="2200">
                        <a:effectLst/>
                      </a:endParaRPr>
                    </a:p>
                  </a:txBody>
                  <a:tcPr marL="113859" marR="113859" marT="56929" marB="56929" anchor="ctr"/>
                </a:tc>
                <a:tc hMerge="1">
                  <a:txBody>
                    <a:bodyPr/>
                    <a:lstStyle/>
                    <a:p>
                      <a:endParaRPr lang="en-US"/>
                    </a:p>
                  </a:txBody>
                  <a:tcPr/>
                </a:tc>
                <a:tc>
                  <a:txBody>
                    <a:bodyPr/>
                    <a:lstStyle/>
                    <a:p>
                      <a:pPr algn="ctr"/>
                      <a:r>
                        <a:rPr lang="el-GR" sz="2200" b="1">
                          <a:effectLst/>
                        </a:rPr>
                        <a:t>Έξοδος</a:t>
                      </a:r>
                      <a:endParaRPr lang="el-GR" sz="2200">
                        <a:effectLst/>
                      </a:endParaRPr>
                    </a:p>
                  </a:txBody>
                  <a:tcPr marL="113859" marR="113859" marT="56929" marB="56929" anchor="ctr"/>
                </a:tc>
                <a:extLst>
                  <a:ext uri="{0D108BD9-81ED-4DB2-BD59-A6C34878D82A}">
                    <a16:rowId xmlns:a16="http://schemas.microsoft.com/office/drawing/2014/main" val="3774696661"/>
                  </a:ext>
                </a:extLst>
              </a:tr>
              <a:tr h="500979">
                <a:tc>
                  <a:txBody>
                    <a:bodyPr/>
                    <a:lstStyle/>
                    <a:p>
                      <a:pPr algn="ctr"/>
                      <a:r>
                        <a:rPr lang="en-US" sz="2200">
                          <a:effectLst/>
                        </a:rPr>
                        <a:t>A</a:t>
                      </a:r>
                    </a:p>
                  </a:txBody>
                  <a:tcPr marL="113859" marR="113859" marT="56929" marB="56929" anchor="ctr"/>
                </a:tc>
                <a:tc>
                  <a:txBody>
                    <a:bodyPr/>
                    <a:lstStyle/>
                    <a:p>
                      <a:pPr algn="ctr"/>
                      <a:r>
                        <a:rPr lang="en-US" sz="2200" dirty="0">
                          <a:effectLst/>
                        </a:rPr>
                        <a:t>B</a:t>
                      </a:r>
                    </a:p>
                  </a:txBody>
                  <a:tcPr marL="113859" marR="113859" marT="56929" marB="56929" anchor="ctr"/>
                </a:tc>
                <a:tc>
                  <a:txBody>
                    <a:bodyPr/>
                    <a:lstStyle/>
                    <a:p>
                      <a:pPr algn="ctr"/>
                      <a:r>
                        <a:rPr lang="en-US" sz="2200">
                          <a:effectLst/>
                        </a:rPr>
                        <a:t>A NAND B</a:t>
                      </a:r>
                    </a:p>
                  </a:txBody>
                  <a:tcPr marL="113859" marR="113859" marT="56929" marB="56929" anchor="ctr"/>
                </a:tc>
                <a:extLst>
                  <a:ext uri="{0D108BD9-81ED-4DB2-BD59-A6C34878D82A}">
                    <a16:rowId xmlns:a16="http://schemas.microsoft.com/office/drawing/2014/main" val="4109662721"/>
                  </a:ext>
                </a:extLst>
              </a:tr>
              <a:tr h="500979">
                <a:tc>
                  <a:txBody>
                    <a:bodyPr/>
                    <a:lstStyle/>
                    <a:p>
                      <a:pPr algn="ctr"/>
                      <a:r>
                        <a:rPr lang="en-US" sz="2200">
                          <a:effectLst/>
                        </a:rPr>
                        <a:t>0</a:t>
                      </a:r>
                    </a:p>
                  </a:txBody>
                  <a:tcPr marL="113859" marR="113859" marT="56929" marB="56929" anchor="ctr"/>
                </a:tc>
                <a:tc>
                  <a:txBody>
                    <a:bodyPr/>
                    <a:lstStyle/>
                    <a:p>
                      <a:pPr algn="ctr"/>
                      <a:r>
                        <a:rPr lang="en-US" sz="2200">
                          <a:effectLst/>
                        </a:rPr>
                        <a:t>0</a:t>
                      </a:r>
                    </a:p>
                  </a:txBody>
                  <a:tcPr marL="113859" marR="113859" marT="56929" marB="56929" anchor="ctr"/>
                </a:tc>
                <a:tc>
                  <a:txBody>
                    <a:bodyPr/>
                    <a:lstStyle/>
                    <a:p>
                      <a:pPr algn="ctr"/>
                      <a:r>
                        <a:rPr lang="en-US" sz="2200">
                          <a:effectLst/>
                        </a:rPr>
                        <a:t>1</a:t>
                      </a:r>
                    </a:p>
                  </a:txBody>
                  <a:tcPr marL="113859" marR="113859" marT="56929" marB="56929" anchor="ctr"/>
                </a:tc>
                <a:extLst>
                  <a:ext uri="{0D108BD9-81ED-4DB2-BD59-A6C34878D82A}">
                    <a16:rowId xmlns:a16="http://schemas.microsoft.com/office/drawing/2014/main" val="2963293767"/>
                  </a:ext>
                </a:extLst>
              </a:tr>
              <a:tr h="500979">
                <a:tc>
                  <a:txBody>
                    <a:bodyPr/>
                    <a:lstStyle/>
                    <a:p>
                      <a:pPr algn="ctr"/>
                      <a:r>
                        <a:rPr lang="en-US" sz="2200">
                          <a:effectLst/>
                        </a:rPr>
                        <a:t>0</a:t>
                      </a:r>
                    </a:p>
                  </a:txBody>
                  <a:tcPr marL="113859" marR="113859" marT="56929" marB="56929" anchor="ctr"/>
                </a:tc>
                <a:tc>
                  <a:txBody>
                    <a:bodyPr/>
                    <a:lstStyle/>
                    <a:p>
                      <a:pPr algn="ctr"/>
                      <a:r>
                        <a:rPr lang="en-US" sz="2200">
                          <a:effectLst/>
                        </a:rPr>
                        <a:t>1</a:t>
                      </a:r>
                    </a:p>
                  </a:txBody>
                  <a:tcPr marL="113859" marR="113859" marT="56929" marB="56929" anchor="ctr"/>
                </a:tc>
                <a:tc>
                  <a:txBody>
                    <a:bodyPr/>
                    <a:lstStyle/>
                    <a:p>
                      <a:pPr algn="ctr"/>
                      <a:r>
                        <a:rPr lang="en-US" sz="2200">
                          <a:effectLst/>
                        </a:rPr>
                        <a:t>1</a:t>
                      </a:r>
                    </a:p>
                  </a:txBody>
                  <a:tcPr marL="113859" marR="113859" marT="56929" marB="56929" anchor="ctr"/>
                </a:tc>
                <a:extLst>
                  <a:ext uri="{0D108BD9-81ED-4DB2-BD59-A6C34878D82A}">
                    <a16:rowId xmlns:a16="http://schemas.microsoft.com/office/drawing/2014/main" val="1301442784"/>
                  </a:ext>
                </a:extLst>
              </a:tr>
              <a:tr h="500979">
                <a:tc>
                  <a:txBody>
                    <a:bodyPr/>
                    <a:lstStyle/>
                    <a:p>
                      <a:pPr algn="ctr"/>
                      <a:r>
                        <a:rPr lang="en-US" sz="2200">
                          <a:effectLst/>
                        </a:rPr>
                        <a:t>1</a:t>
                      </a:r>
                    </a:p>
                  </a:txBody>
                  <a:tcPr marL="113859" marR="113859" marT="56929" marB="56929" anchor="ctr"/>
                </a:tc>
                <a:tc>
                  <a:txBody>
                    <a:bodyPr/>
                    <a:lstStyle/>
                    <a:p>
                      <a:pPr algn="ctr"/>
                      <a:r>
                        <a:rPr lang="en-US" sz="2200">
                          <a:effectLst/>
                        </a:rPr>
                        <a:t>0</a:t>
                      </a:r>
                    </a:p>
                  </a:txBody>
                  <a:tcPr marL="113859" marR="113859" marT="56929" marB="56929" anchor="ctr"/>
                </a:tc>
                <a:tc>
                  <a:txBody>
                    <a:bodyPr/>
                    <a:lstStyle/>
                    <a:p>
                      <a:pPr algn="ctr"/>
                      <a:r>
                        <a:rPr lang="en-US" sz="2200">
                          <a:effectLst/>
                        </a:rPr>
                        <a:t>1</a:t>
                      </a:r>
                    </a:p>
                  </a:txBody>
                  <a:tcPr marL="113859" marR="113859" marT="56929" marB="56929" anchor="ctr"/>
                </a:tc>
                <a:extLst>
                  <a:ext uri="{0D108BD9-81ED-4DB2-BD59-A6C34878D82A}">
                    <a16:rowId xmlns:a16="http://schemas.microsoft.com/office/drawing/2014/main" val="1341035622"/>
                  </a:ext>
                </a:extLst>
              </a:tr>
              <a:tr h="500979">
                <a:tc>
                  <a:txBody>
                    <a:bodyPr/>
                    <a:lstStyle/>
                    <a:p>
                      <a:pPr algn="ctr"/>
                      <a:r>
                        <a:rPr lang="en-US" sz="2200">
                          <a:effectLst/>
                        </a:rPr>
                        <a:t>1</a:t>
                      </a:r>
                    </a:p>
                  </a:txBody>
                  <a:tcPr marL="113859" marR="113859" marT="56929" marB="56929" anchor="ctr"/>
                </a:tc>
                <a:tc>
                  <a:txBody>
                    <a:bodyPr/>
                    <a:lstStyle/>
                    <a:p>
                      <a:pPr algn="ctr"/>
                      <a:r>
                        <a:rPr lang="en-US" sz="2200">
                          <a:effectLst/>
                        </a:rPr>
                        <a:t>1</a:t>
                      </a:r>
                    </a:p>
                  </a:txBody>
                  <a:tcPr marL="113859" marR="113859" marT="56929" marB="56929" anchor="ctr"/>
                </a:tc>
                <a:tc>
                  <a:txBody>
                    <a:bodyPr/>
                    <a:lstStyle/>
                    <a:p>
                      <a:pPr algn="ctr"/>
                      <a:r>
                        <a:rPr lang="en-US" sz="2200" dirty="0">
                          <a:effectLst/>
                        </a:rPr>
                        <a:t>0</a:t>
                      </a:r>
                    </a:p>
                  </a:txBody>
                  <a:tcPr marL="113859" marR="113859" marT="56929" marB="56929" anchor="ctr"/>
                </a:tc>
                <a:extLst>
                  <a:ext uri="{0D108BD9-81ED-4DB2-BD59-A6C34878D82A}">
                    <a16:rowId xmlns:a16="http://schemas.microsoft.com/office/drawing/2014/main" val="1152848514"/>
                  </a:ext>
                </a:extLst>
              </a:tr>
            </a:tbl>
          </a:graphicData>
        </a:graphic>
      </p:graphicFrame>
    </p:spTree>
    <p:extLst>
      <p:ext uri="{BB962C8B-B14F-4D97-AF65-F5344CB8AC3E}">
        <p14:creationId xmlns:p14="http://schemas.microsoft.com/office/powerpoint/2010/main" val="1433623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70">
            <a:extLst>
              <a:ext uri="{FF2B5EF4-FFF2-40B4-BE49-F238E27FC236}">
                <a16:creationId xmlns:a16="http://schemas.microsoft.com/office/drawing/2014/main" id="{C83F9D7D-8B7D-49DF-AA94-0A9A8D6710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9" name="Rectangle 72">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38596" y="1327668"/>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30" name="Freeform: Shape 74">
            <a:extLst>
              <a:ext uri="{FF2B5EF4-FFF2-40B4-BE49-F238E27FC236}">
                <a16:creationId xmlns:a16="http://schemas.microsoft.com/office/drawing/2014/main" id="{49F1A7E4-819D-4D21-8E8B-32671A9F9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274246" y="753376"/>
            <a:ext cx="5353835" cy="5353835"/>
          </a:xfrm>
          <a:custGeom>
            <a:avLst/>
            <a:gdLst>
              <a:gd name="connsiteX0" fmla="*/ 690507 w 5353835"/>
              <a:gd name="connsiteY0" fmla="*/ 5273742 h 5353835"/>
              <a:gd name="connsiteX1" fmla="*/ 4938299 w 5353835"/>
              <a:gd name="connsiteY1" fmla="*/ 5273742 h 5353835"/>
              <a:gd name="connsiteX2" fmla="*/ 4858206 w 5353835"/>
              <a:gd name="connsiteY2" fmla="*/ 5353835 h 5353835"/>
              <a:gd name="connsiteX3" fmla="*/ 770600 w 5353835"/>
              <a:gd name="connsiteY3" fmla="*/ 5353835 h 5353835"/>
              <a:gd name="connsiteX4" fmla="*/ 433255 w 5353835"/>
              <a:gd name="connsiteY4" fmla="*/ 80093 h 5353835"/>
              <a:gd name="connsiteX5" fmla="*/ 513348 w 5353835"/>
              <a:gd name="connsiteY5" fmla="*/ 0 h 5353835"/>
              <a:gd name="connsiteX6" fmla="*/ 5353835 w 5353835"/>
              <a:gd name="connsiteY6" fmla="*/ 0 h 5353835"/>
              <a:gd name="connsiteX7" fmla="*/ 5353835 w 5353835"/>
              <a:gd name="connsiteY7" fmla="*/ 4858206 h 5353835"/>
              <a:gd name="connsiteX8" fmla="*/ 5273742 w 5353835"/>
              <a:gd name="connsiteY8" fmla="*/ 4938299 h 5353835"/>
              <a:gd name="connsiteX9" fmla="*/ 5273742 w 5353835"/>
              <a:gd name="connsiteY9" fmla="*/ 80093 h 5353835"/>
              <a:gd name="connsiteX10" fmla="*/ 0 w 5353835"/>
              <a:gd name="connsiteY10" fmla="*/ 513348 h 5353835"/>
              <a:gd name="connsiteX11" fmla="*/ 80093 w 5353835"/>
              <a:gd name="connsiteY11" fmla="*/ 433255 h 5353835"/>
              <a:gd name="connsiteX12" fmla="*/ 80093 w 5353835"/>
              <a:gd name="connsiteY12" fmla="*/ 4663328 h 5353835"/>
              <a:gd name="connsiteX13" fmla="*/ 0 w 5353835"/>
              <a:gd name="connsiteY13" fmla="*/ 4583235 h 535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5">
                <a:moveTo>
                  <a:pt x="690507" y="5273742"/>
                </a:moveTo>
                <a:lnTo>
                  <a:pt x="4938299" y="5273742"/>
                </a:lnTo>
                <a:lnTo>
                  <a:pt x="4858206" y="5353835"/>
                </a:lnTo>
                <a:lnTo>
                  <a:pt x="770600" y="5353835"/>
                </a:lnTo>
                <a:close/>
                <a:moveTo>
                  <a:pt x="433255" y="80093"/>
                </a:moveTo>
                <a:lnTo>
                  <a:pt x="513348" y="0"/>
                </a:lnTo>
                <a:lnTo>
                  <a:pt x="5353835" y="0"/>
                </a:lnTo>
                <a:lnTo>
                  <a:pt x="5353835" y="4858206"/>
                </a:lnTo>
                <a:lnTo>
                  <a:pt x="5273742" y="4938299"/>
                </a:lnTo>
                <a:lnTo>
                  <a:pt x="5273742" y="80093"/>
                </a:lnTo>
                <a:close/>
                <a:moveTo>
                  <a:pt x="0" y="513348"/>
                </a:moveTo>
                <a:lnTo>
                  <a:pt x="80093" y="433255"/>
                </a:lnTo>
                <a:lnTo>
                  <a:pt x="80093" y="4663328"/>
                </a:lnTo>
                <a:lnTo>
                  <a:pt x="0" y="45832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031" name="Freeform: Shape 76">
            <a:extLst>
              <a:ext uri="{FF2B5EF4-FFF2-40B4-BE49-F238E27FC236}">
                <a16:creationId xmlns:a16="http://schemas.microsoft.com/office/drawing/2014/main" id="{6D6E3EFD-925A-40CD-8E14-FDD4E6DDC6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7170340" cy="5062213"/>
          </a:xfrm>
          <a:custGeom>
            <a:avLst/>
            <a:gdLst>
              <a:gd name="connsiteX0" fmla="*/ 7170340 w 7170340"/>
              <a:gd name="connsiteY0" fmla="*/ 0 h 5062213"/>
              <a:gd name="connsiteX1" fmla="*/ 7170340 w 7170340"/>
              <a:gd name="connsiteY1" fmla="*/ 2954084 h 5062213"/>
              <a:gd name="connsiteX2" fmla="*/ 5062211 w 7170340"/>
              <a:gd name="connsiteY2" fmla="*/ 5062213 h 5062213"/>
              <a:gd name="connsiteX3" fmla="*/ 0 w 7170340"/>
              <a:gd name="connsiteY3" fmla="*/ 2 h 5062213"/>
            </a:gdLst>
            <a:ahLst/>
            <a:cxnLst>
              <a:cxn ang="0">
                <a:pos x="connsiteX0" y="connsiteY0"/>
              </a:cxn>
              <a:cxn ang="0">
                <a:pos x="connsiteX1" y="connsiteY1"/>
              </a:cxn>
              <a:cxn ang="0">
                <a:pos x="connsiteX2" y="connsiteY2"/>
              </a:cxn>
              <a:cxn ang="0">
                <a:pos x="connsiteX3" y="connsiteY3"/>
              </a:cxn>
            </a:cxnLst>
            <a:rect l="l" t="t" r="r" b="b"/>
            <a:pathLst>
              <a:path w="7170340" h="5062213">
                <a:moveTo>
                  <a:pt x="7170340" y="0"/>
                </a:moveTo>
                <a:lnTo>
                  <a:pt x="7170340" y="2954084"/>
                </a:lnTo>
                <a:lnTo>
                  <a:pt x="5062211" y="5062213"/>
                </a:lnTo>
                <a:lnTo>
                  <a:pt x="0" y="2"/>
                </a:lnTo>
                <a:close/>
              </a:path>
            </a:pathLst>
          </a:cu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a:extLst>
              <a:ext uri="{FF2B5EF4-FFF2-40B4-BE49-F238E27FC236}">
                <a16:creationId xmlns:a16="http://schemas.microsoft.com/office/drawing/2014/main" id="{EF09A490-4262-49BA-8024-15E40091D02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5192" y="1560643"/>
            <a:ext cx="3887408" cy="1399466"/>
          </a:xfrm>
          <a:prstGeom prst="rect">
            <a:avLst/>
          </a:prstGeom>
          <a:noFill/>
          <a:extLst>
            <a:ext uri="{909E8E84-426E-40DD-AFC4-6F175D3DCCD1}">
              <a14:hiddenFill xmlns:a14="http://schemas.microsoft.com/office/drawing/2010/main">
                <a:solidFill>
                  <a:srgbClr val="FFFFFF"/>
                </a:solidFill>
              </a14:hiddenFill>
            </a:ext>
          </a:extLst>
        </p:spPr>
      </p:pic>
      <p:sp>
        <p:nvSpPr>
          <p:cNvPr id="1032" name="Rectangle 78">
            <a:extLst>
              <a:ext uri="{FF2B5EF4-FFF2-40B4-BE49-F238E27FC236}">
                <a16:creationId xmlns:a16="http://schemas.microsoft.com/office/drawing/2014/main" id="{3A91C067-F707-44D1-A9C2-9913E6ADC6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11832" y="4010957"/>
            <a:ext cx="870888" cy="87088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80">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61203" y="5394406"/>
            <a:ext cx="856138" cy="85613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82">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314455" y="5398229"/>
            <a:ext cx="381459" cy="381459"/>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DC580C66-5435-4F00-873E-679D3D5049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75779" y="5848285"/>
            <a:ext cx="714978" cy="71497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Isosceles Triangle 86">
            <a:extLst>
              <a:ext uri="{FF2B5EF4-FFF2-40B4-BE49-F238E27FC236}">
                <a16:creationId xmlns:a16="http://schemas.microsoft.com/office/drawing/2014/main" id="{B4AFD177-1A38-4FAE-87D4-840AE22C8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2600" y="5474491"/>
            <a:ext cx="2767017" cy="1383509"/>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6CA638F-E450-418E-B75E-F7EEC0189146}"/>
              </a:ext>
            </a:extLst>
          </p:cNvPr>
          <p:cNvSpPr/>
          <p:nvPr/>
        </p:nvSpPr>
        <p:spPr>
          <a:xfrm>
            <a:off x="249687" y="235276"/>
            <a:ext cx="4248318" cy="862950"/>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600" b="1" i="1" u="sng" kern="1200" dirty="0">
                <a:ln w="0"/>
                <a:solidFill>
                  <a:srgbClr val="080808"/>
                </a:solidFill>
                <a:latin typeface="Times New Roman" panose="02020603050405020304" pitchFamily="18" charset="0"/>
                <a:ea typeface="+mj-ea"/>
                <a:cs typeface="Times New Roman" panose="02020603050405020304" pitchFamily="18" charset="0"/>
              </a:rPr>
              <a:t>Λογική Πύλη NOR</a:t>
            </a:r>
            <a:endParaRPr lang="en-US" sz="3600" b="1" i="1" u="sng" kern="1200" cap="none" spc="0" dirty="0">
              <a:ln w="0"/>
              <a:solidFill>
                <a:srgbClr val="080808"/>
              </a:solidFill>
              <a:latin typeface="Times New Roman" panose="02020603050405020304" pitchFamily="18" charset="0"/>
              <a:ea typeface="+mj-ea"/>
              <a:cs typeface="Times New Roman" panose="02020603050405020304" pitchFamily="18" charset="0"/>
            </a:endParaRPr>
          </a:p>
        </p:txBody>
      </p:sp>
      <p:sp>
        <p:nvSpPr>
          <p:cNvPr id="2" name="TextBox 1">
            <a:extLst>
              <a:ext uri="{FF2B5EF4-FFF2-40B4-BE49-F238E27FC236}">
                <a16:creationId xmlns:a16="http://schemas.microsoft.com/office/drawing/2014/main" id="{A93BF0EF-D235-4DFC-A18A-162E5994C636}"/>
              </a:ext>
            </a:extLst>
          </p:cNvPr>
          <p:cNvSpPr txBox="1"/>
          <p:nvPr/>
        </p:nvSpPr>
        <p:spPr>
          <a:xfrm>
            <a:off x="505235" y="4041719"/>
            <a:ext cx="5184827" cy="1780756"/>
          </a:xfrm>
          <a:prstGeom prst="rect">
            <a:avLst/>
          </a:prstGeom>
          <a:solidFill>
            <a:schemeClr val="bg2"/>
          </a:solidFill>
        </p:spPr>
        <p:txBody>
          <a:bodyPr vert="horz" lIns="91440" tIns="45720" rIns="91440" bIns="45720" rtlCol="0">
            <a:normAutofit/>
          </a:bodyPr>
          <a:lstStyle/>
          <a:p>
            <a:pPr algn="just">
              <a:lnSpc>
                <a:spcPct val="90000"/>
              </a:lnSpc>
              <a:spcBef>
                <a:spcPts val="1000"/>
              </a:spcBef>
            </a:pPr>
            <a:r>
              <a:rPr lang="en-US" sz="2000" i="1" kern="1200" dirty="0">
                <a:solidFill>
                  <a:srgbClr val="080808"/>
                </a:solidFill>
                <a:latin typeface="Times New Roman" panose="02020603050405020304" pitchFamily="18" charset="0"/>
                <a:cs typeface="Times New Roman" panose="02020603050405020304" pitchFamily="18" charset="0"/>
              </a:rPr>
              <a:t>Η </a:t>
            </a:r>
            <a:r>
              <a:rPr lang="el-GR" sz="2000" i="1" dirty="0">
                <a:solidFill>
                  <a:srgbClr val="080808"/>
                </a:solidFill>
                <a:latin typeface="Times New Roman" panose="02020603050405020304" pitchFamily="18" charset="0"/>
                <a:cs typeface="Times New Roman" panose="02020603050405020304" pitchFamily="18" charset="0"/>
              </a:rPr>
              <a:t>λογική</a:t>
            </a:r>
            <a:r>
              <a:rPr lang="en-US" sz="2000" i="1" kern="1200" dirty="0">
                <a:solidFill>
                  <a:srgbClr val="080808"/>
                </a:solidFill>
                <a:latin typeface="Times New Roman" panose="02020603050405020304" pitchFamily="18" charset="0"/>
                <a:cs typeface="Times New Roman" panose="02020603050405020304" pitchFamily="18" charset="0"/>
              </a:rPr>
              <a:t> </a:t>
            </a:r>
            <a:r>
              <a:rPr lang="el-GR" sz="2000" i="1" kern="1200" dirty="0">
                <a:solidFill>
                  <a:srgbClr val="080808"/>
                </a:solidFill>
                <a:latin typeface="Times New Roman" panose="02020603050405020304" pitchFamily="18" charset="0"/>
                <a:cs typeface="Times New Roman" panose="02020603050405020304" pitchFamily="18" charset="0"/>
              </a:rPr>
              <a:t>πύλη</a:t>
            </a:r>
            <a:r>
              <a:rPr lang="en-US" sz="2000" i="1" kern="1200" dirty="0">
                <a:solidFill>
                  <a:srgbClr val="080808"/>
                </a:solidFill>
                <a:latin typeface="Times New Roman" panose="02020603050405020304" pitchFamily="18" charset="0"/>
                <a:cs typeface="Times New Roman" panose="02020603050405020304" pitchFamily="18" charset="0"/>
              </a:rPr>
              <a:t> NOR </a:t>
            </a:r>
            <a:r>
              <a:rPr lang="el-GR" sz="2000" i="1" dirty="0">
                <a:solidFill>
                  <a:srgbClr val="080808"/>
                </a:solidFill>
                <a:latin typeface="Times New Roman" panose="02020603050405020304" pitchFamily="18" charset="0"/>
                <a:cs typeface="Times New Roman" panose="02020603050405020304" pitchFamily="18" charset="0"/>
              </a:rPr>
              <a:t>που ισούται με μια πύλη </a:t>
            </a:r>
            <a:r>
              <a:rPr lang="en-US" sz="2000" i="1" dirty="0">
                <a:solidFill>
                  <a:srgbClr val="080808"/>
                </a:solidFill>
                <a:latin typeface="Times New Roman" panose="02020603050405020304" pitchFamily="18" charset="0"/>
                <a:cs typeface="Times New Roman" panose="02020603050405020304" pitchFamily="18" charset="0"/>
              </a:rPr>
              <a:t>OR </a:t>
            </a:r>
            <a:r>
              <a:rPr lang="el-GR" sz="2000" i="1" dirty="0">
                <a:solidFill>
                  <a:srgbClr val="080808"/>
                </a:solidFill>
                <a:latin typeface="Times New Roman" panose="02020603050405020304" pitchFamily="18" charset="0"/>
                <a:cs typeface="Times New Roman" panose="02020603050405020304" pitchFamily="18" charset="0"/>
              </a:rPr>
              <a:t>ακολουθούμενη από μια πύλη </a:t>
            </a:r>
            <a:r>
              <a:rPr lang="en-US" sz="2000" i="1" dirty="0">
                <a:solidFill>
                  <a:srgbClr val="080808"/>
                </a:solidFill>
                <a:latin typeface="Times New Roman" panose="02020603050405020304" pitchFamily="18" charset="0"/>
                <a:cs typeface="Times New Roman" panose="02020603050405020304" pitchFamily="18" charset="0"/>
              </a:rPr>
              <a:t>NOT</a:t>
            </a:r>
            <a:r>
              <a:rPr lang="el-GR" sz="2000" i="1" dirty="0">
                <a:solidFill>
                  <a:srgbClr val="080808"/>
                </a:solidFill>
                <a:latin typeface="Times New Roman" panose="02020603050405020304" pitchFamily="18" charset="0"/>
                <a:cs typeface="Times New Roman" panose="02020603050405020304" pitchFamily="18" charset="0"/>
              </a:rPr>
              <a:t>. Οι έξοδοι των πυλών </a:t>
            </a:r>
            <a:r>
              <a:rPr lang="en-US" sz="2000" i="1" dirty="0">
                <a:solidFill>
                  <a:srgbClr val="080808"/>
                </a:solidFill>
                <a:latin typeface="Times New Roman" panose="02020603050405020304" pitchFamily="18" charset="0"/>
                <a:cs typeface="Times New Roman" panose="02020603050405020304" pitchFamily="18" charset="0"/>
              </a:rPr>
              <a:t>NOR </a:t>
            </a:r>
            <a:r>
              <a:rPr lang="el-GR" sz="2000" i="1" dirty="0">
                <a:solidFill>
                  <a:srgbClr val="080808"/>
                </a:solidFill>
                <a:latin typeface="Times New Roman" panose="02020603050405020304" pitchFamily="18" charset="0"/>
                <a:cs typeface="Times New Roman" panose="02020603050405020304" pitchFamily="18" charset="0"/>
              </a:rPr>
              <a:t>επιστρέφουν 0 (</a:t>
            </a:r>
            <a:r>
              <a:rPr lang="en-US" sz="2000" i="1" dirty="0">
                <a:solidFill>
                  <a:srgbClr val="080808"/>
                </a:solidFill>
                <a:latin typeface="Times New Roman" panose="02020603050405020304" pitchFamily="18" charset="0"/>
                <a:cs typeface="Times New Roman" panose="02020603050405020304" pitchFamily="18" charset="0"/>
              </a:rPr>
              <a:t>low)</a:t>
            </a:r>
            <a:r>
              <a:rPr lang="el-GR" sz="2000" i="1" dirty="0">
                <a:solidFill>
                  <a:srgbClr val="080808"/>
                </a:solidFill>
                <a:latin typeface="Times New Roman" panose="02020603050405020304" pitchFamily="18" charset="0"/>
                <a:cs typeface="Times New Roman" panose="02020603050405020304" pitchFamily="18" charset="0"/>
              </a:rPr>
              <a:t> εάν κάποια απ’ τις εξόδους της είναι 1 (</a:t>
            </a:r>
            <a:r>
              <a:rPr lang="en-US" sz="2000" i="1" dirty="0">
                <a:solidFill>
                  <a:srgbClr val="080808"/>
                </a:solidFill>
                <a:latin typeface="Times New Roman" panose="02020603050405020304" pitchFamily="18" charset="0"/>
                <a:cs typeface="Times New Roman" panose="02020603050405020304" pitchFamily="18" charset="0"/>
              </a:rPr>
              <a:t>high)</a:t>
            </a:r>
            <a:r>
              <a:rPr lang="el-GR" sz="2000" i="1" dirty="0">
                <a:solidFill>
                  <a:srgbClr val="080808"/>
                </a:solidFill>
                <a:latin typeface="Times New Roman" panose="02020603050405020304" pitchFamily="18" charset="0"/>
                <a:cs typeface="Times New Roman" panose="02020603050405020304" pitchFamily="18" charset="0"/>
              </a:rPr>
              <a:t>. Ο μικρός κύκλος στην έξοδό της αντικατοπτρίζει την αντίστροφη έξοδο.</a:t>
            </a:r>
            <a:endParaRPr lang="en-US" sz="2000" i="1" kern="1200" dirty="0">
              <a:solidFill>
                <a:srgbClr val="080808"/>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02A1C9D1-5C02-4BC0-BA82-BFC52B195EE8}"/>
              </a:ext>
            </a:extLst>
          </p:cNvPr>
          <p:cNvGraphicFramePr>
            <a:graphicFrameLocks noGrp="1"/>
          </p:cNvGraphicFramePr>
          <p:nvPr/>
        </p:nvGraphicFramePr>
        <p:xfrm>
          <a:off x="7258491" y="2331720"/>
          <a:ext cx="3385344" cy="2194560"/>
        </p:xfrm>
        <a:graphic>
          <a:graphicData uri="http://schemas.openxmlformats.org/drawingml/2006/table">
            <a:tbl>
              <a:tblPr>
                <a:tableStyleId>{93296810-A885-4BE3-A3E7-6D5BEEA58F35}</a:tableStyleId>
              </a:tblPr>
              <a:tblGrid>
                <a:gridCol w="1128448">
                  <a:extLst>
                    <a:ext uri="{9D8B030D-6E8A-4147-A177-3AD203B41FA5}">
                      <a16:colId xmlns:a16="http://schemas.microsoft.com/office/drawing/2014/main" val="2238874054"/>
                    </a:ext>
                  </a:extLst>
                </a:gridCol>
                <a:gridCol w="1128448">
                  <a:extLst>
                    <a:ext uri="{9D8B030D-6E8A-4147-A177-3AD203B41FA5}">
                      <a16:colId xmlns:a16="http://schemas.microsoft.com/office/drawing/2014/main" val="2498627899"/>
                    </a:ext>
                  </a:extLst>
                </a:gridCol>
                <a:gridCol w="1128448">
                  <a:extLst>
                    <a:ext uri="{9D8B030D-6E8A-4147-A177-3AD203B41FA5}">
                      <a16:colId xmlns:a16="http://schemas.microsoft.com/office/drawing/2014/main" val="549392690"/>
                    </a:ext>
                  </a:extLst>
                </a:gridCol>
              </a:tblGrid>
              <a:tr h="0">
                <a:tc gridSpan="2">
                  <a:txBody>
                    <a:bodyPr/>
                    <a:lstStyle/>
                    <a:p>
                      <a:pPr algn="ctr"/>
                      <a:r>
                        <a:rPr lang="el-GR" b="1" dirty="0">
                          <a:effectLst/>
                        </a:rPr>
                        <a:t>Είσοδοι</a:t>
                      </a:r>
                      <a:endParaRPr lang="el-GR" dirty="0">
                        <a:effectLst/>
                      </a:endParaRPr>
                    </a:p>
                  </a:txBody>
                  <a:tcPr anchor="ctr"/>
                </a:tc>
                <a:tc hMerge="1">
                  <a:txBody>
                    <a:bodyPr/>
                    <a:lstStyle/>
                    <a:p>
                      <a:endParaRPr lang="en-US"/>
                    </a:p>
                  </a:txBody>
                  <a:tcPr/>
                </a:tc>
                <a:tc>
                  <a:txBody>
                    <a:bodyPr/>
                    <a:lstStyle/>
                    <a:p>
                      <a:pPr algn="ctr"/>
                      <a:r>
                        <a:rPr lang="el-GR" b="1">
                          <a:effectLst/>
                        </a:rPr>
                        <a:t>Έξοδος</a:t>
                      </a:r>
                      <a:endParaRPr lang="el-GR">
                        <a:effectLst/>
                      </a:endParaRPr>
                    </a:p>
                  </a:txBody>
                  <a:tcPr anchor="ctr"/>
                </a:tc>
                <a:extLst>
                  <a:ext uri="{0D108BD9-81ED-4DB2-BD59-A6C34878D82A}">
                    <a16:rowId xmlns:a16="http://schemas.microsoft.com/office/drawing/2014/main" val="3522775441"/>
                  </a:ext>
                </a:extLst>
              </a:tr>
              <a:tr h="0">
                <a:tc>
                  <a:txBody>
                    <a:bodyPr/>
                    <a:lstStyle/>
                    <a:p>
                      <a:pPr algn="ctr"/>
                      <a:r>
                        <a:rPr lang="en-US">
                          <a:effectLst/>
                        </a:rPr>
                        <a:t>A</a:t>
                      </a:r>
                    </a:p>
                  </a:txBody>
                  <a:tcPr anchor="ctr"/>
                </a:tc>
                <a:tc>
                  <a:txBody>
                    <a:bodyPr/>
                    <a:lstStyle/>
                    <a:p>
                      <a:pPr algn="ctr"/>
                      <a:r>
                        <a:rPr lang="en-US">
                          <a:effectLst/>
                        </a:rPr>
                        <a:t>B</a:t>
                      </a:r>
                    </a:p>
                  </a:txBody>
                  <a:tcPr anchor="ctr"/>
                </a:tc>
                <a:tc>
                  <a:txBody>
                    <a:bodyPr/>
                    <a:lstStyle/>
                    <a:p>
                      <a:pPr algn="ctr"/>
                      <a:r>
                        <a:rPr lang="en-US">
                          <a:effectLst/>
                        </a:rPr>
                        <a:t>A NOR B</a:t>
                      </a:r>
                    </a:p>
                  </a:txBody>
                  <a:tcPr anchor="ctr"/>
                </a:tc>
                <a:extLst>
                  <a:ext uri="{0D108BD9-81ED-4DB2-BD59-A6C34878D82A}">
                    <a16:rowId xmlns:a16="http://schemas.microsoft.com/office/drawing/2014/main" val="3378615016"/>
                  </a:ext>
                </a:extLst>
              </a:tr>
              <a:tr h="0">
                <a:tc>
                  <a:txBody>
                    <a:bodyPr/>
                    <a:lstStyle/>
                    <a:p>
                      <a:pPr algn="ctr"/>
                      <a:r>
                        <a:rPr lang="en-US">
                          <a:effectLst/>
                        </a:rPr>
                        <a:t>0</a:t>
                      </a:r>
                    </a:p>
                  </a:txBody>
                  <a:tcPr anchor="ctr"/>
                </a:tc>
                <a:tc>
                  <a:txBody>
                    <a:bodyPr/>
                    <a:lstStyle/>
                    <a:p>
                      <a:pPr algn="ctr"/>
                      <a:r>
                        <a:rPr lang="en-US">
                          <a:effectLst/>
                        </a:rPr>
                        <a:t>0</a:t>
                      </a:r>
                    </a:p>
                  </a:txBody>
                  <a:tcPr anchor="ctr"/>
                </a:tc>
                <a:tc>
                  <a:txBody>
                    <a:bodyPr/>
                    <a:lstStyle/>
                    <a:p>
                      <a:pPr algn="ctr"/>
                      <a:r>
                        <a:rPr lang="en-US">
                          <a:effectLst/>
                        </a:rPr>
                        <a:t>1</a:t>
                      </a:r>
                    </a:p>
                  </a:txBody>
                  <a:tcPr anchor="ctr"/>
                </a:tc>
                <a:extLst>
                  <a:ext uri="{0D108BD9-81ED-4DB2-BD59-A6C34878D82A}">
                    <a16:rowId xmlns:a16="http://schemas.microsoft.com/office/drawing/2014/main" val="3910001828"/>
                  </a:ext>
                </a:extLst>
              </a:tr>
              <a:tr h="0">
                <a:tc>
                  <a:txBody>
                    <a:bodyPr/>
                    <a:lstStyle/>
                    <a:p>
                      <a:pPr algn="ctr"/>
                      <a:r>
                        <a:rPr lang="en-US" dirty="0">
                          <a:effectLst/>
                        </a:rPr>
                        <a:t>0</a:t>
                      </a:r>
                    </a:p>
                  </a:txBody>
                  <a:tcPr anchor="ctr"/>
                </a:tc>
                <a:tc>
                  <a:txBody>
                    <a:bodyPr/>
                    <a:lstStyle/>
                    <a:p>
                      <a:pPr algn="ctr"/>
                      <a:r>
                        <a:rPr lang="en-US">
                          <a:effectLst/>
                        </a:rPr>
                        <a:t>1</a:t>
                      </a:r>
                    </a:p>
                  </a:txBody>
                  <a:tcPr anchor="ctr"/>
                </a:tc>
                <a:tc>
                  <a:txBody>
                    <a:bodyPr/>
                    <a:lstStyle/>
                    <a:p>
                      <a:pPr algn="ctr"/>
                      <a:r>
                        <a:rPr lang="en-US">
                          <a:effectLst/>
                        </a:rPr>
                        <a:t>0</a:t>
                      </a:r>
                    </a:p>
                  </a:txBody>
                  <a:tcPr anchor="ctr"/>
                </a:tc>
                <a:extLst>
                  <a:ext uri="{0D108BD9-81ED-4DB2-BD59-A6C34878D82A}">
                    <a16:rowId xmlns:a16="http://schemas.microsoft.com/office/drawing/2014/main" val="451161269"/>
                  </a:ext>
                </a:extLst>
              </a:tr>
              <a:tr h="0">
                <a:tc>
                  <a:txBody>
                    <a:bodyPr/>
                    <a:lstStyle/>
                    <a:p>
                      <a:pPr algn="ctr"/>
                      <a:r>
                        <a:rPr lang="en-US">
                          <a:effectLst/>
                        </a:rPr>
                        <a:t>1</a:t>
                      </a:r>
                    </a:p>
                  </a:txBody>
                  <a:tcPr anchor="ctr"/>
                </a:tc>
                <a:tc>
                  <a:txBody>
                    <a:bodyPr/>
                    <a:lstStyle/>
                    <a:p>
                      <a:pPr algn="ctr"/>
                      <a:r>
                        <a:rPr lang="en-US">
                          <a:effectLst/>
                        </a:rPr>
                        <a:t>0</a:t>
                      </a:r>
                    </a:p>
                  </a:txBody>
                  <a:tcPr anchor="ctr"/>
                </a:tc>
                <a:tc>
                  <a:txBody>
                    <a:bodyPr/>
                    <a:lstStyle/>
                    <a:p>
                      <a:pPr algn="ctr"/>
                      <a:r>
                        <a:rPr lang="en-US">
                          <a:effectLst/>
                        </a:rPr>
                        <a:t>0</a:t>
                      </a:r>
                    </a:p>
                  </a:txBody>
                  <a:tcPr anchor="ctr"/>
                </a:tc>
                <a:extLst>
                  <a:ext uri="{0D108BD9-81ED-4DB2-BD59-A6C34878D82A}">
                    <a16:rowId xmlns:a16="http://schemas.microsoft.com/office/drawing/2014/main" val="4111938995"/>
                  </a:ext>
                </a:extLst>
              </a:tr>
              <a:tr h="0">
                <a:tc>
                  <a:txBody>
                    <a:bodyPr/>
                    <a:lstStyle/>
                    <a:p>
                      <a:pPr algn="ctr"/>
                      <a:r>
                        <a:rPr lang="en-US">
                          <a:effectLst/>
                        </a:rPr>
                        <a:t>1</a:t>
                      </a:r>
                    </a:p>
                  </a:txBody>
                  <a:tcPr anchor="ctr"/>
                </a:tc>
                <a:tc>
                  <a:txBody>
                    <a:bodyPr/>
                    <a:lstStyle/>
                    <a:p>
                      <a:pPr algn="ctr"/>
                      <a:r>
                        <a:rPr lang="en-US">
                          <a:effectLst/>
                        </a:rPr>
                        <a:t>1</a:t>
                      </a:r>
                    </a:p>
                  </a:txBody>
                  <a:tcPr anchor="ctr"/>
                </a:tc>
                <a:tc>
                  <a:txBody>
                    <a:bodyPr/>
                    <a:lstStyle/>
                    <a:p>
                      <a:pPr algn="ctr"/>
                      <a:r>
                        <a:rPr lang="en-US" dirty="0">
                          <a:effectLst/>
                        </a:rPr>
                        <a:t>0</a:t>
                      </a:r>
                    </a:p>
                  </a:txBody>
                  <a:tcPr anchor="ctr"/>
                </a:tc>
                <a:extLst>
                  <a:ext uri="{0D108BD9-81ED-4DB2-BD59-A6C34878D82A}">
                    <a16:rowId xmlns:a16="http://schemas.microsoft.com/office/drawing/2014/main" val="2186495391"/>
                  </a:ext>
                </a:extLst>
              </a:tr>
            </a:tbl>
          </a:graphicData>
        </a:graphic>
      </p:graphicFrame>
      <p:sp>
        <p:nvSpPr>
          <p:cNvPr id="5" name="TextBox 4">
            <a:extLst>
              <a:ext uri="{FF2B5EF4-FFF2-40B4-BE49-F238E27FC236}">
                <a16:creationId xmlns:a16="http://schemas.microsoft.com/office/drawing/2014/main" id="{0C316419-F6C1-4A76-B727-B86DCCA3CD1A}"/>
              </a:ext>
            </a:extLst>
          </p:cNvPr>
          <p:cNvSpPr txBox="1"/>
          <p:nvPr/>
        </p:nvSpPr>
        <p:spPr>
          <a:xfrm>
            <a:off x="6706584" y="4972683"/>
            <a:ext cx="4657725" cy="1323439"/>
          </a:xfrm>
          <a:prstGeom prst="rect">
            <a:avLst/>
          </a:prstGeom>
          <a:solidFill>
            <a:schemeClr val="bg2"/>
          </a:solidFill>
        </p:spPr>
        <p:txBody>
          <a:bodyPr wrap="square" rtlCol="0">
            <a:spAutoFit/>
          </a:bodyPr>
          <a:lstStyle/>
          <a:p>
            <a:pPr algn="just"/>
            <a:r>
              <a:rPr lang="el-GR" sz="2000" i="1" dirty="0">
                <a:latin typeface="Times New Roman" panose="02020603050405020304" pitchFamily="18" charset="0"/>
                <a:cs typeface="Times New Roman" panose="02020603050405020304" pitchFamily="18" charset="0"/>
              </a:rPr>
              <a:t>Γενικότερα οι λογικές πύλες </a:t>
            </a:r>
            <a:r>
              <a:rPr lang="en-US" sz="2000" i="1" dirty="0">
                <a:latin typeface="Times New Roman" panose="02020603050405020304" pitchFamily="18" charset="0"/>
                <a:cs typeface="Times New Roman" panose="02020603050405020304" pitchFamily="18" charset="0"/>
              </a:rPr>
              <a:t>NAND</a:t>
            </a:r>
            <a:r>
              <a:rPr lang="el-GR" sz="2000" i="1" dirty="0">
                <a:latin typeface="Times New Roman" panose="02020603050405020304" pitchFamily="18" charset="0"/>
                <a:cs typeface="Times New Roman" panose="02020603050405020304" pitchFamily="18" charset="0"/>
              </a:rPr>
              <a:t> και</a:t>
            </a:r>
            <a:r>
              <a:rPr lang="en-US" sz="2000" i="1" dirty="0">
                <a:latin typeface="Times New Roman" panose="02020603050405020304" pitchFamily="18" charset="0"/>
                <a:cs typeface="Times New Roman" panose="02020603050405020304" pitchFamily="18" charset="0"/>
              </a:rPr>
              <a:t> NOR</a:t>
            </a:r>
            <a:r>
              <a:rPr lang="el-GR" sz="2000" i="1" dirty="0">
                <a:latin typeface="Times New Roman" panose="02020603050405020304" pitchFamily="18" charset="0"/>
                <a:cs typeface="Times New Roman" panose="02020603050405020304" pitchFamily="18" charset="0"/>
              </a:rPr>
              <a:t> ονομάζονται καθολικές συναρτήσεις αφού και οι δύο μπορούν να δημιουργηθούν απ’ τις </a:t>
            </a:r>
            <a:r>
              <a:rPr lang="en-US" sz="2000" i="1" dirty="0">
                <a:latin typeface="Times New Roman" panose="02020603050405020304" pitchFamily="18" charset="0"/>
                <a:cs typeface="Times New Roman" panose="02020603050405020304" pitchFamily="18" charset="0"/>
              </a:rPr>
              <a:t>AND/OR </a:t>
            </a:r>
            <a:r>
              <a:rPr lang="el-GR" sz="2000" i="1" dirty="0">
                <a:latin typeface="Times New Roman" panose="02020603050405020304" pitchFamily="18" charset="0"/>
                <a:cs typeface="Times New Roman" panose="02020603050405020304" pitchFamily="18" charset="0"/>
              </a:rPr>
              <a:t>και</a:t>
            </a:r>
            <a:r>
              <a:rPr lang="en-US" sz="2000" i="1" dirty="0">
                <a:latin typeface="Times New Roman" panose="02020603050405020304" pitchFamily="18" charset="0"/>
                <a:cs typeface="Times New Roman" panose="02020603050405020304" pitchFamily="18" charset="0"/>
              </a:rPr>
              <a:t> NOT.</a:t>
            </a:r>
          </a:p>
        </p:txBody>
      </p:sp>
    </p:spTree>
    <p:extLst>
      <p:ext uri="{BB962C8B-B14F-4D97-AF65-F5344CB8AC3E}">
        <p14:creationId xmlns:p14="http://schemas.microsoft.com/office/powerpoint/2010/main" val="1668879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Freeform: Shape 134">
            <a:extLst>
              <a:ext uri="{FF2B5EF4-FFF2-40B4-BE49-F238E27FC236}">
                <a16:creationId xmlns:a16="http://schemas.microsoft.com/office/drawing/2014/main" id="{F6EF57EF-D042-41D3-83E8-41A1FE6C1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32876" cy="1290953"/>
          </a:xfrm>
          <a:custGeom>
            <a:avLst/>
            <a:gdLst>
              <a:gd name="connsiteX0" fmla="*/ 0 w 5532876"/>
              <a:gd name="connsiteY0" fmla="*/ 0 h 1290953"/>
              <a:gd name="connsiteX1" fmla="*/ 5532876 w 5532876"/>
              <a:gd name="connsiteY1" fmla="*/ 0 h 1290953"/>
              <a:gd name="connsiteX2" fmla="*/ 4936972 w 5532876"/>
              <a:gd name="connsiteY2" fmla="*/ 1290953 h 1290953"/>
              <a:gd name="connsiteX3" fmla="*/ 0 w 5532876"/>
              <a:gd name="connsiteY3" fmla="*/ 1290953 h 1290953"/>
            </a:gdLst>
            <a:ahLst/>
            <a:cxnLst>
              <a:cxn ang="0">
                <a:pos x="connsiteX0" y="connsiteY0"/>
              </a:cxn>
              <a:cxn ang="0">
                <a:pos x="connsiteX1" y="connsiteY1"/>
              </a:cxn>
              <a:cxn ang="0">
                <a:pos x="connsiteX2" y="connsiteY2"/>
              </a:cxn>
              <a:cxn ang="0">
                <a:pos x="connsiteX3" y="connsiteY3"/>
              </a:cxn>
            </a:cxnLst>
            <a:rect l="l" t="t" r="r" b="b"/>
            <a:pathLst>
              <a:path w="5532876" h="1290953">
                <a:moveTo>
                  <a:pt x="0" y="0"/>
                </a:moveTo>
                <a:lnTo>
                  <a:pt x="5532876" y="0"/>
                </a:lnTo>
                <a:lnTo>
                  <a:pt x="4936972" y="1290953"/>
                </a:lnTo>
                <a:lnTo>
                  <a:pt x="0" y="1290953"/>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 name="Freeform: Shape 136">
            <a:extLst>
              <a:ext uri="{FF2B5EF4-FFF2-40B4-BE49-F238E27FC236}">
                <a16:creationId xmlns:a16="http://schemas.microsoft.com/office/drawing/2014/main" id="{D00A59BB-A268-4F3E-9D41-CA265AF16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7841" y="1"/>
            <a:ext cx="7094159" cy="1290953"/>
          </a:xfrm>
          <a:custGeom>
            <a:avLst/>
            <a:gdLst>
              <a:gd name="connsiteX0" fmla="*/ 595904 w 7094159"/>
              <a:gd name="connsiteY0" fmla="*/ 0 h 1290953"/>
              <a:gd name="connsiteX1" fmla="*/ 7094159 w 7094159"/>
              <a:gd name="connsiteY1" fmla="*/ 0 h 1290953"/>
              <a:gd name="connsiteX2" fmla="*/ 7094159 w 7094159"/>
              <a:gd name="connsiteY2" fmla="*/ 1290553 h 1290953"/>
              <a:gd name="connsiteX3" fmla="*/ 5920618 w 7094159"/>
              <a:gd name="connsiteY3" fmla="*/ 1290553 h 1290953"/>
              <a:gd name="connsiteX4" fmla="*/ 5920618 w 7094159"/>
              <a:gd name="connsiteY4" fmla="*/ 1290953 h 1290953"/>
              <a:gd name="connsiteX5" fmla="*/ 2729248 w 7094159"/>
              <a:gd name="connsiteY5" fmla="*/ 1290953 h 1290953"/>
              <a:gd name="connsiteX6" fmla="*/ 2574303 w 7094159"/>
              <a:gd name="connsiteY6" fmla="*/ 1290953 h 1290953"/>
              <a:gd name="connsiteX7" fmla="*/ 0 w 7094159"/>
              <a:gd name="connsiteY7" fmla="*/ 1290953 h 1290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4159" h="1290953">
                <a:moveTo>
                  <a:pt x="595904" y="0"/>
                </a:moveTo>
                <a:lnTo>
                  <a:pt x="7094159" y="0"/>
                </a:lnTo>
                <a:lnTo>
                  <a:pt x="7094159" y="1290553"/>
                </a:lnTo>
                <a:lnTo>
                  <a:pt x="5920618" y="1290553"/>
                </a:lnTo>
                <a:lnTo>
                  <a:pt x="5920618" y="1290953"/>
                </a:lnTo>
                <a:lnTo>
                  <a:pt x="2729248" y="1290953"/>
                </a:lnTo>
                <a:lnTo>
                  <a:pt x="2574303" y="1290953"/>
                </a:lnTo>
                <a:lnTo>
                  <a:pt x="0" y="1290953"/>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0" name="Picture 2">
            <a:extLst>
              <a:ext uri="{FF2B5EF4-FFF2-40B4-BE49-F238E27FC236}">
                <a16:creationId xmlns:a16="http://schemas.microsoft.com/office/drawing/2014/main" id="{ADE99339-0487-404F-9B44-5C5891A067F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31172" y="3195617"/>
            <a:ext cx="5079371" cy="1828572"/>
          </a:xfrm>
          <a:prstGeom prst="rect">
            <a:avLst/>
          </a:prstGeom>
          <a:noFill/>
          <a:extLst>
            <a:ext uri="{909E8E84-426E-40DD-AFC4-6F175D3DCCD1}">
              <a14:hiddenFill xmlns:a14="http://schemas.microsoft.com/office/drawing/2010/main">
                <a:solidFill>
                  <a:srgbClr val="FFFFFF"/>
                </a:solidFill>
              </a14:hiddenFill>
            </a:ext>
          </a:extLst>
        </p:spPr>
      </p:pic>
      <p:sp>
        <p:nvSpPr>
          <p:cNvPr id="139" name="Freeform: Shape 138">
            <a:extLst>
              <a:ext uri="{FF2B5EF4-FFF2-40B4-BE49-F238E27FC236}">
                <a16:creationId xmlns:a16="http://schemas.microsoft.com/office/drawing/2014/main" id="{63794DCE-9D34-40DF-AB3F-06DA8ACCD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2116" y="5450103"/>
            <a:ext cx="5569884" cy="1407897"/>
          </a:xfrm>
          <a:custGeom>
            <a:avLst/>
            <a:gdLst>
              <a:gd name="connsiteX0" fmla="*/ 652041 w 5569884"/>
              <a:gd name="connsiteY0" fmla="*/ 0 h 1407897"/>
              <a:gd name="connsiteX1" fmla="*/ 5569884 w 5569884"/>
              <a:gd name="connsiteY1" fmla="*/ 0 h 1407897"/>
              <a:gd name="connsiteX2" fmla="*/ 5569884 w 5569884"/>
              <a:gd name="connsiteY2" fmla="*/ 1407897 h 1407897"/>
              <a:gd name="connsiteX3" fmla="*/ 0 w 5569884"/>
              <a:gd name="connsiteY3" fmla="*/ 1407897 h 1407897"/>
            </a:gdLst>
            <a:ahLst/>
            <a:cxnLst>
              <a:cxn ang="0">
                <a:pos x="connsiteX0" y="connsiteY0"/>
              </a:cxn>
              <a:cxn ang="0">
                <a:pos x="connsiteX1" y="connsiteY1"/>
              </a:cxn>
              <a:cxn ang="0">
                <a:pos x="connsiteX2" y="connsiteY2"/>
              </a:cxn>
              <a:cxn ang="0">
                <a:pos x="connsiteX3" y="connsiteY3"/>
              </a:cxn>
            </a:cxnLst>
            <a:rect l="l" t="t" r="r" b="b"/>
            <a:pathLst>
              <a:path w="5569884" h="1407897">
                <a:moveTo>
                  <a:pt x="652041" y="0"/>
                </a:moveTo>
                <a:lnTo>
                  <a:pt x="5569884" y="0"/>
                </a:lnTo>
                <a:lnTo>
                  <a:pt x="5569884" y="1407897"/>
                </a:lnTo>
                <a:lnTo>
                  <a:pt x="0" y="140789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 name="Freeform: Shape 140">
            <a:extLst>
              <a:ext uri="{FF2B5EF4-FFF2-40B4-BE49-F238E27FC236}">
                <a16:creationId xmlns:a16="http://schemas.microsoft.com/office/drawing/2014/main" id="{45006452-918C-4282-A72C-C9692B669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50103"/>
            <a:ext cx="7114535" cy="1407897"/>
          </a:xfrm>
          <a:custGeom>
            <a:avLst/>
            <a:gdLst>
              <a:gd name="connsiteX0" fmla="*/ 0 w 7114535"/>
              <a:gd name="connsiteY0" fmla="*/ 0 h 1407897"/>
              <a:gd name="connsiteX1" fmla="*/ 1189345 w 7114535"/>
              <a:gd name="connsiteY1" fmla="*/ 0 h 1407897"/>
              <a:gd name="connsiteX2" fmla="*/ 7114535 w 7114535"/>
              <a:gd name="connsiteY2" fmla="*/ 0 h 1407897"/>
              <a:gd name="connsiteX3" fmla="*/ 6462495 w 7114535"/>
              <a:gd name="connsiteY3" fmla="*/ 1407897 h 1407897"/>
              <a:gd name="connsiteX4" fmla="*/ 0 w 7114535"/>
              <a:gd name="connsiteY4" fmla="*/ 1407897 h 1407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535" h="1407897">
                <a:moveTo>
                  <a:pt x="0" y="0"/>
                </a:moveTo>
                <a:lnTo>
                  <a:pt x="1189345" y="0"/>
                </a:lnTo>
                <a:lnTo>
                  <a:pt x="7114535" y="0"/>
                </a:lnTo>
                <a:lnTo>
                  <a:pt x="6462495" y="1407897"/>
                </a:lnTo>
                <a:lnTo>
                  <a:pt x="0" y="1407897"/>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1ACAFA41-DE9D-4D21-8D08-F5D872AEACD8}"/>
              </a:ext>
            </a:extLst>
          </p:cNvPr>
          <p:cNvSpPr/>
          <p:nvPr/>
        </p:nvSpPr>
        <p:spPr>
          <a:xfrm>
            <a:off x="69723" y="44201"/>
            <a:ext cx="5664328" cy="94110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b="1" i="1" u="sng" kern="1200" dirty="0">
                <a:ln w="0"/>
                <a:solidFill>
                  <a:schemeClr val="bg1"/>
                </a:solidFill>
                <a:latin typeface="Times New Roman" panose="02020603050405020304" pitchFamily="18" charset="0"/>
                <a:ea typeface="+mj-ea"/>
                <a:cs typeface="Times New Roman" panose="02020603050405020304" pitchFamily="18" charset="0"/>
              </a:rPr>
              <a:t>Λογική Πύλη XOR</a:t>
            </a:r>
            <a:endParaRPr lang="en-US" sz="4800" b="1" i="1" u="sng" kern="1200" cap="none" spc="0" dirty="0">
              <a:ln w="0"/>
              <a:solidFill>
                <a:schemeClr val="bg1"/>
              </a:solidFill>
              <a:latin typeface="Times New Roman" panose="02020603050405020304" pitchFamily="18" charset="0"/>
              <a:ea typeface="+mj-ea"/>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A7F5A47-4B9E-4801-97F7-48AB1E601E3F}"/>
              </a:ext>
            </a:extLst>
          </p:cNvPr>
          <p:cNvGraphicFramePr>
            <a:graphicFrameLocks noGrp="1"/>
          </p:cNvGraphicFramePr>
          <p:nvPr/>
        </p:nvGraphicFramePr>
        <p:xfrm>
          <a:off x="8227670" y="2273247"/>
          <a:ext cx="3097566" cy="2194560"/>
        </p:xfrm>
        <a:graphic>
          <a:graphicData uri="http://schemas.openxmlformats.org/drawingml/2006/table">
            <a:tbl>
              <a:tblPr>
                <a:tableStyleId>{7DF18680-E054-41AD-8BC1-D1AEF772440D}</a:tableStyleId>
              </a:tblPr>
              <a:tblGrid>
                <a:gridCol w="1032522">
                  <a:extLst>
                    <a:ext uri="{9D8B030D-6E8A-4147-A177-3AD203B41FA5}">
                      <a16:colId xmlns:a16="http://schemas.microsoft.com/office/drawing/2014/main" val="825553577"/>
                    </a:ext>
                  </a:extLst>
                </a:gridCol>
                <a:gridCol w="1032522">
                  <a:extLst>
                    <a:ext uri="{9D8B030D-6E8A-4147-A177-3AD203B41FA5}">
                      <a16:colId xmlns:a16="http://schemas.microsoft.com/office/drawing/2014/main" val="2242717"/>
                    </a:ext>
                  </a:extLst>
                </a:gridCol>
                <a:gridCol w="1032522">
                  <a:extLst>
                    <a:ext uri="{9D8B030D-6E8A-4147-A177-3AD203B41FA5}">
                      <a16:colId xmlns:a16="http://schemas.microsoft.com/office/drawing/2014/main" val="4268809593"/>
                    </a:ext>
                  </a:extLst>
                </a:gridCol>
              </a:tblGrid>
              <a:tr h="0">
                <a:tc gridSpan="2">
                  <a:txBody>
                    <a:bodyPr/>
                    <a:lstStyle/>
                    <a:p>
                      <a:pPr algn="ctr"/>
                      <a:r>
                        <a:rPr lang="el-GR" b="1">
                          <a:effectLst/>
                        </a:rPr>
                        <a:t>Είσοδοι</a:t>
                      </a:r>
                      <a:endParaRPr lang="el-GR">
                        <a:effectLst/>
                      </a:endParaRPr>
                    </a:p>
                  </a:txBody>
                  <a:tcPr anchor="ctr"/>
                </a:tc>
                <a:tc hMerge="1">
                  <a:txBody>
                    <a:bodyPr/>
                    <a:lstStyle/>
                    <a:p>
                      <a:endParaRPr lang="en-US"/>
                    </a:p>
                  </a:txBody>
                  <a:tcPr/>
                </a:tc>
                <a:tc>
                  <a:txBody>
                    <a:bodyPr/>
                    <a:lstStyle/>
                    <a:p>
                      <a:pPr algn="ctr"/>
                      <a:r>
                        <a:rPr lang="el-GR" b="1">
                          <a:effectLst/>
                        </a:rPr>
                        <a:t>Έξοδος</a:t>
                      </a:r>
                      <a:endParaRPr lang="el-GR">
                        <a:effectLst/>
                      </a:endParaRPr>
                    </a:p>
                  </a:txBody>
                  <a:tcPr anchor="ctr"/>
                </a:tc>
                <a:extLst>
                  <a:ext uri="{0D108BD9-81ED-4DB2-BD59-A6C34878D82A}">
                    <a16:rowId xmlns:a16="http://schemas.microsoft.com/office/drawing/2014/main" val="1047229466"/>
                  </a:ext>
                </a:extLst>
              </a:tr>
              <a:tr h="0">
                <a:tc>
                  <a:txBody>
                    <a:bodyPr/>
                    <a:lstStyle/>
                    <a:p>
                      <a:pPr algn="ctr"/>
                      <a:r>
                        <a:rPr lang="en-US" dirty="0">
                          <a:effectLst/>
                        </a:rPr>
                        <a:t>A</a:t>
                      </a:r>
                    </a:p>
                  </a:txBody>
                  <a:tcPr anchor="ctr"/>
                </a:tc>
                <a:tc>
                  <a:txBody>
                    <a:bodyPr/>
                    <a:lstStyle/>
                    <a:p>
                      <a:pPr algn="ctr"/>
                      <a:r>
                        <a:rPr lang="en-US">
                          <a:effectLst/>
                        </a:rPr>
                        <a:t>B</a:t>
                      </a:r>
                    </a:p>
                  </a:txBody>
                  <a:tcPr anchor="ctr"/>
                </a:tc>
                <a:tc>
                  <a:txBody>
                    <a:bodyPr/>
                    <a:lstStyle/>
                    <a:p>
                      <a:pPr algn="ctr"/>
                      <a:r>
                        <a:rPr lang="en-US">
                          <a:effectLst/>
                        </a:rPr>
                        <a:t>A XOR B</a:t>
                      </a:r>
                    </a:p>
                  </a:txBody>
                  <a:tcPr anchor="ctr"/>
                </a:tc>
                <a:extLst>
                  <a:ext uri="{0D108BD9-81ED-4DB2-BD59-A6C34878D82A}">
                    <a16:rowId xmlns:a16="http://schemas.microsoft.com/office/drawing/2014/main" val="3903969982"/>
                  </a:ext>
                </a:extLst>
              </a:tr>
              <a:tr h="0">
                <a:tc>
                  <a:txBody>
                    <a:bodyPr/>
                    <a:lstStyle/>
                    <a:p>
                      <a:pPr algn="ctr"/>
                      <a:r>
                        <a:rPr lang="en-US">
                          <a:effectLst/>
                        </a:rPr>
                        <a:t>0</a:t>
                      </a:r>
                    </a:p>
                  </a:txBody>
                  <a:tcPr anchor="ctr"/>
                </a:tc>
                <a:tc>
                  <a:txBody>
                    <a:bodyPr/>
                    <a:lstStyle/>
                    <a:p>
                      <a:pPr algn="ctr"/>
                      <a:r>
                        <a:rPr lang="en-US">
                          <a:effectLst/>
                        </a:rPr>
                        <a:t>0</a:t>
                      </a:r>
                    </a:p>
                  </a:txBody>
                  <a:tcPr anchor="ctr"/>
                </a:tc>
                <a:tc>
                  <a:txBody>
                    <a:bodyPr/>
                    <a:lstStyle/>
                    <a:p>
                      <a:pPr algn="ctr"/>
                      <a:r>
                        <a:rPr lang="en-US">
                          <a:effectLst/>
                        </a:rPr>
                        <a:t>0</a:t>
                      </a:r>
                    </a:p>
                  </a:txBody>
                  <a:tcPr anchor="ctr"/>
                </a:tc>
                <a:extLst>
                  <a:ext uri="{0D108BD9-81ED-4DB2-BD59-A6C34878D82A}">
                    <a16:rowId xmlns:a16="http://schemas.microsoft.com/office/drawing/2014/main" val="749175920"/>
                  </a:ext>
                </a:extLst>
              </a:tr>
              <a:tr h="0">
                <a:tc>
                  <a:txBody>
                    <a:bodyPr/>
                    <a:lstStyle/>
                    <a:p>
                      <a:pPr algn="ctr"/>
                      <a:r>
                        <a:rPr lang="en-US">
                          <a:effectLst/>
                        </a:rPr>
                        <a:t>0</a:t>
                      </a:r>
                    </a:p>
                  </a:txBody>
                  <a:tcPr anchor="ctr"/>
                </a:tc>
                <a:tc>
                  <a:txBody>
                    <a:bodyPr/>
                    <a:lstStyle/>
                    <a:p>
                      <a:pPr algn="ctr"/>
                      <a:r>
                        <a:rPr lang="en-US">
                          <a:effectLst/>
                        </a:rPr>
                        <a:t>1</a:t>
                      </a:r>
                    </a:p>
                  </a:txBody>
                  <a:tcPr anchor="ctr"/>
                </a:tc>
                <a:tc>
                  <a:txBody>
                    <a:bodyPr/>
                    <a:lstStyle/>
                    <a:p>
                      <a:pPr algn="ctr"/>
                      <a:r>
                        <a:rPr lang="en-US">
                          <a:effectLst/>
                        </a:rPr>
                        <a:t>1</a:t>
                      </a:r>
                    </a:p>
                  </a:txBody>
                  <a:tcPr anchor="ctr"/>
                </a:tc>
                <a:extLst>
                  <a:ext uri="{0D108BD9-81ED-4DB2-BD59-A6C34878D82A}">
                    <a16:rowId xmlns:a16="http://schemas.microsoft.com/office/drawing/2014/main" val="3121788824"/>
                  </a:ext>
                </a:extLst>
              </a:tr>
              <a:tr h="0">
                <a:tc>
                  <a:txBody>
                    <a:bodyPr/>
                    <a:lstStyle/>
                    <a:p>
                      <a:pPr algn="ctr"/>
                      <a:r>
                        <a:rPr lang="en-US">
                          <a:effectLst/>
                        </a:rPr>
                        <a:t>1</a:t>
                      </a:r>
                    </a:p>
                  </a:txBody>
                  <a:tcPr anchor="ctr"/>
                </a:tc>
                <a:tc>
                  <a:txBody>
                    <a:bodyPr/>
                    <a:lstStyle/>
                    <a:p>
                      <a:pPr algn="ctr"/>
                      <a:r>
                        <a:rPr lang="en-US">
                          <a:effectLst/>
                        </a:rPr>
                        <a:t>0</a:t>
                      </a:r>
                    </a:p>
                  </a:txBody>
                  <a:tcPr anchor="ctr"/>
                </a:tc>
                <a:tc>
                  <a:txBody>
                    <a:bodyPr/>
                    <a:lstStyle/>
                    <a:p>
                      <a:pPr algn="ctr"/>
                      <a:r>
                        <a:rPr lang="en-US">
                          <a:effectLst/>
                        </a:rPr>
                        <a:t>1</a:t>
                      </a:r>
                    </a:p>
                  </a:txBody>
                  <a:tcPr anchor="ctr"/>
                </a:tc>
                <a:extLst>
                  <a:ext uri="{0D108BD9-81ED-4DB2-BD59-A6C34878D82A}">
                    <a16:rowId xmlns:a16="http://schemas.microsoft.com/office/drawing/2014/main" val="764443310"/>
                  </a:ext>
                </a:extLst>
              </a:tr>
              <a:tr h="0">
                <a:tc>
                  <a:txBody>
                    <a:bodyPr/>
                    <a:lstStyle/>
                    <a:p>
                      <a:pPr algn="ctr"/>
                      <a:r>
                        <a:rPr lang="en-US">
                          <a:effectLst/>
                        </a:rPr>
                        <a:t>1</a:t>
                      </a:r>
                    </a:p>
                  </a:txBody>
                  <a:tcPr anchor="ctr"/>
                </a:tc>
                <a:tc>
                  <a:txBody>
                    <a:bodyPr/>
                    <a:lstStyle/>
                    <a:p>
                      <a:pPr algn="ctr"/>
                      <a:r>
                        <a:rPr lang="en-US">
                          <a:effectLst/>
                        </a:rPr>
                        <a:t>1</a:t>
                      </a:r>
                    </a:p>
                  </a:txBody>
                  <a:tcPr anchor="ctr"/>
                </a:tc>
                <a:tc>
                  <a:txBody>
                    <a:bodyPr/>
                    <a:lstStyle/>
                    <a:p>
                      <a:pPr algn="ctr"/>
                      <a:r>
                        <a:rPr lang="en-US" dirty="0">
                          <a:effectLst/>
                        </a:rPr>
                        <a:t>0</a:t>
                      </a:r>
                    </a:p>
                  </a:txBody>
                  <a:tcPr anchor="ctr"/>
                </a:tc>
                <a:extLst>
                  <a:ext uri="{0D108BD9-81ED-4DB2-BD59-A6C34878D82A}">
                    <a16:rowId xmlns:a16="http://schemas.microsoft.com/office/drawing/2014/main" val="48290163"/>
                  </a:ext>
                </a:extLst>
              </a:tr>
            </a:tbl>
          </a:graphicData>
        </a:graphic>
      </p:graphicFrame>
      <p:sp>
        <p:nvSpPr>
          <p:cNvPr id="5" name="TextBox 4">
            <a:extLst>
              <a:ext uri="{FF2B5EF4-FFF2-40B4-BE49-F238E27FC236}">
                <a16:creationId xmlns:a16="http://schemas.microsoft.com/office/drawing/2014/main" id="{7A2FCCE6-1CF7-4296-B1F4-492CB33EC2E2}"/>
              </a:ext>
            </a:extLst>
          </p:cNvPr>
          <p:cNvSpPr txBox="1"/>
          <p:nvPr/>
        </p:nvSpPr>
        <p:spPr>
          <a:xfrm flipH="1">
            <a:off x="449514" y="1611528"/>
            <a:ext cx="6642688" cy="1323439"/>
          </a:xfrm>
          <a:prstGeom prst="rect">
            <a:avLst/>
          </a:prstGeom>
          <a:noFill/>
        </p:spPr>
        <p:txBody>
          <a:bodyPr wrap="square" rtlCol="0">
            <a:spAutoFit/>
          </a:bodyPr>
          <a:lstStyle/>
          <a:p>
            <a:pPr algn="just"/>
            <a:r>
              <a:rPr lang="el-GR" sz="2000" i="1" dirty="0">
                <a:latin typeface="Times New Roman" panose="02020603050405020304" pitchFamily="18" charset="0"/>
                <a:cs typeface="Times New Roman" panose="02020603050405020304" pitchFamily="18" charset="0"/>
              </a:rPr>
              <a:t>Η λογική πύλη </a:t>
            </a:r>
            <a:r>
              <a:rPr lang="en-US" sz="2000" i="1" dirty="0">
                <a:latin typeface="Times New Roman" panose="02020603050405020304" pitchFamily="18" charset="0"/>
                <a:cs typeface="Times New Roman" panose="02020603050405020304" pitchFamily="18" charset="0"/>
              </a:rPr>
              <a:t>‘‘Exclusive OR’’</a:t>
            </a:r>
            <a:r>
              <a:rPr lang="el-GR" sz="2000" i="1" dirty="0">
                <a:latin typeface="Times New Roman" panose="02020603050405020304" pitchFamily="18" charset="0"/>
                <a:cs typeface="Times New Roman" panose="02020603050405020304" pitchFamily="18" charset="0"/>
              </a:rPr>
              <a:t> είναι ένα κύκλωμα που θα δώσει </a:t>
            </a:r>
            <a:r>
              <a:rPr lang="en-US" sz="2000" i="1" dirty="0">
                <a:latin typeface="Times New Roman" panose="02020603050405020304" pitchFamily="18" charset="0"/>
                <a:cs typeface="Times New Roman" panose="02020603050405020304" pitchFamily="18" charset="0"/>
              </a:rPr>
              <a:t>high</a:t>
            </a:r>
            <a:r>
              <a:rPr lang="el-GR" sz="2000" i="1" dirty="0">
                <a:latin typeface="Times New Roman" panose="02020603050405020304" pitchFamily="18" charset="0"/>
                <a:cs typeface="Times New Roman" panose="02020603050405020304" pitchFamily="18" charset="0"/>
              </a:rPr>
              <a:t> (1) έξοδο αν και μόνο αν μία απ’ τις δύο εισόδους της είναι (1). Το περικυκλωμένο σύμβολο ‘ )’ χρησιμοποιείται για να δείξει την λειτουργεία της πύλης.</a:t>
            </a:r>
            <a:endParaRPr lang="en-US" sz="20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1364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6D24BC9E-AC6A-42EE-AFD8-B290720B84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7" name="Rectangle 136">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107624"/>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ectangle 1">
            <a:extLst>
              <a:ext uri="{FF2B5EF4-FFF2-40B4-BE49-F238E27FC236}">
                <a16:creationId xmlns:a16="http://schemas.microsoft.com/office/drawing/2014/main" id="{F4629C54-122E-4FF7-82C6-04057AFFB9A1}"/>
              </a:ext>
            </a:extLst>
          </p:cNvPr>
          <p:cNvSpPr/>
          <p:nvPr/>
        </p:nvSpPr>
        <p:spPr>
          <a:xfrm>
            <a:off x="1042416" y="4252654"/>
            <a:ext cx="3657600" cy="164592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i="1" u="sng" dirty="0">
                <a:ln w="0"/>
                <a:latin typeface="Times New Roman" panose="02020603050405020304" pitchFamily="18" charset="0"/>
                <a:ea typeface="+mj-ea"/>
                <a:cs typeface="Times New Roman" panose="02020603050405020304" pitchFamily="18" charset="0"/>
              </a:rPr>
              <a:t>Λογική Πύλη XNOR</a:t>
            </a:r>
            <a:endParaRPr lang="en-US" sz="3200" b="1" i="1" u="sng" cap="none" spc="0" dirty="0">
              <a:ln w="0"/>
              <a:latin typeface="Times New Roman" panose="02020603050405020304" pitchFamily="18" charset="0"/>
              <a:ea typeface="+mj-ea"/>
              <a:cs typeface="Times New Roman" panose="02020603050405020304" pitchFamily="18" charset="0"/>
            </a:endParaRPr>
          </a:p>
        </p:txBody>
      </p:sp>
      <p:pic>
        <p:nvPicPr>
          <p:cNvPr id="3074" name="Picture 2" descr="Logo, icon&#10;&#10;Description automatically generated with medium confidence">
            <a:extLst>
              <a:ext uri="{FF2B5EF4-FFF2-40B4-BE49-F238E27FC236}">
                <a16:creationId xmlns:a16="http://schemas.microsoft.com/office/drawing/2014/main" id="{7B0B15D2-D922-4687-89ED-F5E91EED279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7783" y="1116290"/>
            <a:ext cx="5486400" cy="1975103"/>
          </a:xfrm>
          <a:prstGeom prst="rect">
            <a:avLst/>
          </a:prstGeom>
          <a:noFill/>
          <a:extLst>
            <a:ext uri="{909E8E84-426E-40DD-AFC4-6F175D3DCCD1}">
              <a14:hiddenFill xmlns:a14="http://schemas.microsoft.com/office/drawing/2010/main">
                <a:solidFill>
                  <a:srgbClr val="FFFFFF"/>
                </a:solidFill>
              </a14:hiddenFill>
            </a:ext>
          </a:extLst>
        </p:spPr>
      </p:pic>
      <p:sp>
        <p:nvSpPr>
          <p:cNvPr id="139" name="Rectangle 138">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80023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41" name="Rectangle 140">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5143137"/>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68B0779B-D3C7-4039-B629-BB0AA3CC0993}"/>
              </a:ext>
            </a:extLst>
          </p:cNvPr>
          <p:cNvSpPr txBox="1"/>
          <p:nvPr/>
        </p:nvSpPr>
        <p:spPr>
          <a:xfrm>
            <a:off x="5250106" y="4329321"/>
            <a:ext cx="6106742" cy="1645920"/>
          </a:xfrm>
          <a:prstGeom prst="rect">
            <a:avLst/>
          </a:prstGeom>
        </p:spPr>
        <p:txBody>
          <a:bodyPr vert="horz" lIns="91440" tIns="45720" rIns="91440" bIns="45720" rtlCol="0" anchor="ctr">
            <a:normAutofit/>
          </a:bodyPr>
          <a:lstStyle/>
          <a:p>
            <a:pPr algn="just">
              <a:lnSpc>
                <a:spcPct val="90000"/>
              </a:lnSpc>
              <a:spcAft>
                <a:spcPts val="600"/>
              </a:spcAft>
            </a:pPr>
            <a:r>
              <a:rPr lang="en-US" sz="2000" i="1" dirty="0" err="1">
                <a:latin typeface="Times New Roman" panose="02020603050405020304" pitchFamily="18" charset="0"/>
                <a:cs typeface="Times New Roman" panose="02020603050405020304" pitchFamily="18" charset="0"/>
              </a:rPr>
              <a:t>Τέλος</a:t>
            </a:r>
            <a:r>
              <a:rPr lang="en-US" sz="2000" i="1" dirty="0">
                <a:latin typeface="Times New Roman" panose="02020603050405020304" pitchFamily="18" charset="0"/>
                <a:cs typeface="Times New Roman" panose="02020603050405020304" pitchFamily="18" charset="0"/>
              </a:rPr>
              <a:t>, η </a:t>
            </a:r>
            <a:r>
              <a:rPr lang="en-US" sz="2000" i="1" dirty="0" err="1">
                <a:latin typeface="Times New Roman" panose="02020603050405020304" pitchFamily="18" charset="0"/>
                <a:cs typeface="Times New Roman" panose="02020603050405020304" pitchFamily="18" charset="0"/>
              </a:rPr>
              <a:t>λογική</a:t>
            </a:r>
            <a:r>
              <a:rPr lang="en-US" sz="2000" i="1" dirty="0">
                <a:latin typeface="Times New Roman" panose="02020603050405020304" pitchFamily="18" charset="0"/>
                <a:cs typeface="Times New Roman" panose="02020603050405020304" pitchFamily="18" charset="0"/>
              </a:rPr>
              <a:t> π</a:t>
            </a:r>
            <a:r>
              <a:rPr lang="en-US" sz="2000" i="1" dirty="0" err="1">
                <a:latin typeface="Times New Roman" panose="02020603050405020304" pitchFamily="18" charset="0"/>
                <a:cs typeface="Times New Roman" panose="02020603050405020304" pitchFamily="18" charset="0"/>
              </a:rPr>
              <a:t>ύλη</a:t>
            </a:r>
            <a:r>
              <a:rPr lang="en-US" sz="2000" i="1" dirty="0">
                <a:latin typeface="Times New Roman" panose="02020603050405020304" pitchFamily="18" charset="0"/>
                <a:cs typeface="Times New Roman" panose="02020603050405020304" pitchFamily="18" charset="0"/>
              </a:rPr>
              <a:t> ‘‘Exclusive NOR’’  </a:t>
            </a:r>
            <a:r>
              <a:rPr lang="en-US" sz="2000" i="1" dirty="0" err="1">
                <a:latin typeface="Times New Roman" panose="02020603050405020304" pitchFamily="18" charset="0"/>
                <a:cs typeface="Times New Roman" panose="02020603050405020304" pitchFamily="18" charset="0"/>
              </a:rPr>
              <a:t>κάνει</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το</a:t>
            </a:r>
            <a:r>
              <a:rPr lang="en-US" sz="2000" i="1" dirty="0">
                <a:latin typeface="Times New Roman" panose="02020603050405020304" pitchFamily="18" charset="0"/>
                <a:cs typeface="Times New Roman" panose="02020603050405020304" pitchFamily="18" charset="0"/>
              </a:rPr>
              <a:t> α</a:t>
            </a:r>
            <a:r>
              <a:rPr lang="en-US" sz="2000" i="1" dirty="0" err="1">
                <a:latin typeface="Times New Roman" panose="02020603050405020304" pitchFamily="18" charset="0"/>
                <a:cs typeface="Times New Roman" panose="02020603050405020304" pitchFamily="18" charset="0"/>
              </a:rPr>
              <a:t>ντίθετο</a:t>
            </a:r>
            <a:r>
              <a:rPr lang="en-US" sz="2000" i="1" dirty="0">
                <a:latin typeface="Times New Roman" panose="02020603050405020304" pitchFamily="18" charset="0"/>
                <a:cs typeface="Times New Roman" panose="02020603050405020304" pitchFamily="18" charset="0"/>
              </a:rPr>
              <a:t> απ’ </a:t>
            </a:r>
            <a:r>
              <a:rPr lang="en-US" sz="2000" i="1" dirty="0" err="1">
                <a:latin typeface="Times New Roman" panose="02020603050405020304" pitchFamily="18" charset="0"/>
                <a:cs typeface="Times New Roman" panose="02020603050405020304" pitchFamily="18" charset="0"/>
              </a:rPr>
              <a:t>την</a:t>
            </a:r>
            <a:r>
              <a:rPr lang="en-US" sz="2000" i="1" dirty="0">
                <a:latin typeface="Times New Roman" panose="02020603050405020304" pitchFamily="18" charset="0"/>
                <a:cs typeface="Times New Roman" panose="02020603050405020304" pitchFamily="18" charset="0"/>
              </a:rPr>
              <a:t> π</a:t>
            </a:r>
            <a:r>
              <a:rPr lang="en-US" sz="2000" i="1" dirty="0" err="1">
                <a:latin typeface="Times New Roman" panose="02020603050405020304" pitchFamily="18" charset="0"/>
                <a:cs typeface="Times New Roman" panose="02020603050405020304" pitchFamily="18" charset="0"/>
              </a:rPr>
              <a:t>ύλη</a:t>
            </a:r>
            <a:r>
              <a:rPr lang="en-US" sz="2000" i="1" dirty="0">
                <a:latin typeface="Times New Roman" panose="02020603050405020304" pitchFamily="18" charset="0"/>
                <a:cs typeface="Times New Roman" panose="02020603050405020304" pitchFamily="18" charset="0"/>
              </a:rPr>
              <a:t> XOR. Θα </a:t>
            </a:r>
            <a:r>
              <a:rPr lang="en-US" sz="2000" i="1" dirty="0" err="1">
                <a:latin typeface="Times New Roman" panose="02020603050405020304" pitchFamily="18" charset="0"/>
                <a:cs typeface="Times New Roman" panose="02020603050405020304" pitchFamily="18" charset="0"/>
              </a:rPr>
              <a:t>δώσει</a:t>
            </a:r>
            <a:r>
              <a:rPr lang="en-US" sz="2000" i="1" dirty="0">
                <a:latin typeface="Times New Roman" panose="02020603050405020304" pitchFamily="18" charset="0"/>
                <a:cs typeface="Times New Roman" panose="02020603050405020304" pitchFamily="18" charset="0"/>
              </a:rPr>
              <a:t> 0 (low) </a:t>
            </a:r>
            <a:r>
              <a:rPr lang="en-US" sz="2000" i="1" dirty="0" err="1">
                <a:latin typeface="Times New Roman" panose="02020603050405020304" pitchFamily="18" charset="0"/>
                <a:cs typeface="Times New Roman" panose="02020603050405020304" pitchFamily="18" charset="0"/>
              </a:rPr>
              <a:t>έξοδο</a:t>
            </a:r>
            <a:r>
              <a:rPr lang="en-US" sz="2000" i="1" dirty="0">
                <a:latin typeface="Times New Roman" panose="02020603050405020304" pitchFamily="18" charset="0"/>
                <a:cs typeface="Times New Roman" panose="02020603050405020304" pitchFamily="18" charset="0"/>
              </a:rPr>
              <a:t> αν και </a:t>
            </a:r>
            <a:r>
              <a:rPr lang="en-US" sz="2000" i="1" dirty="0" err="1">
                <a:latin typeface="Times New Roman" panose="02020603050405020304" pitchFamily="18" charset="0"/>
                <a:cs typeface="Times New Roman" panose="02020603050405020304" pitchFamily="18" charset="0"/>
              </a:rPr>
              <a:t>μόνο</a:t>
            </a:r>
            <a:r>
              <a:rPr lang="en-US" sz="2000" i="1" dirty="0">
                <a:latin typeface="Times New Roman" panose="02020603050405020304" pitchFamily="18" charset="0"/>
                <a:cs typeface="Times New Roman" panose="02020603050405020304" pitchFamily="18" charset="0"/>
              </a:rPr>
              <a:t> αν </a:t>
            </a:r>
            <a:r>
              <a:rPr lang="en-US" sz="2000" i="1" dirty="0" err="1">
                <a:latin typeface="Times New Roman" panose="02020603050405020304" pitchFamily="18" charset="0"/>
                <a:cs typeface="Times New Roman" panose="02020603050405020304" pitchFamily="18" charset="0"/>
              </a:rPr>
              <a:t>μί</a:t>
            </a:r>
            <a:r>
              <a:rPr lang="en-US" sz="2000" i="1" dirty="0">
                <a:latin typeface="Times New Roman" panose="02020603050405020304" pitchFamily="18" charset="0"/>
                <a:cs typeface="Times New Roman" panose="02020603050405020304" pitchFamily="18" charset="0"/>
              </a:rPr>
              <a:t>α απ’ τις δύο εισόδους της είναι (1). Ο </a:t>
            </a:r>
            <a:r>
              <a:rPr lang="en-US" sz="2000" i="1" dirty="0" err="1">
                <a:latin typeface="Times New Roman" panose="02020603050405020304" pitchFamily="18" charset="0"/>
                <a:cs typeface="Times New Roman" panose="02020603050405020304" pitchFamily="18" charset="0"/>
              </a:rPr>
              <a:t>μικρός</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κύκλος</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στην</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έξοδο</a:t>
            </a:r>
            <a:r>
              <a:rPr lang="en-US" sz="2000" i="1" dirty="0">
                <a:latin typeface="Times New Roman" panose="02020603050405020304" pitchFamily="18" charset="0"/>
                <a:cs typeface="Times New Roman" panose="02020603050405020304" pitchFamily="18" charset="0"/>
              </a:rPr>
              <a:t> α</a:t>
            </a:r>
            <a:r>
              <a:rPr lang="en-US" sz="2000" i="1" dirty="0" err="1">
                <a:latin typeface="Times New Roman" panose="02020603050405020304" pitchFamily="18" charset="0"/>
                <a:cs typeface="Times New Roman" panose="02020603050405020304" pitchFamily="18" charset="0"/>
              </a:rPr>
              <a:t>ντι</a:t>
            </a:r>
            <a:r>
              <a:rPr lang="en-US" sz="2000" i="1" dirty="0">
                <a:latin typeface="Times New Roman" panose="02020603050405020304" pitchFamily="18" charset="0"/>
                <a:cs typeface="Times New Roman" panose="02020603050405020304" pitchFamily="18" charset="0"/>
              </a:rPr>
              <a:t>προσωπεύει την αντίστροφη έξοδο που θα δώσει.</a:t>
            </a:r>
          </a:p>
        </p:txBody>
      </p:sp>
      <p:graphicFrame>
        <p:nvGraphicFramePr>
          <p:cNvPr id="4" name="Table 3">
            <a:extLst>
              <a:ext uri="{FF2B5EF4-FFF2-40B4-BE49-F238E27FC236}">
                <a16:creationId xmlns:a16="http://schemas.microsoft.com/office/drawing/2014/main" id="{051701FB-7F58-49A7-AB4D-33BE970FD1CB}"/>
              </a:ext>
            </a:extLst>
          </p:cNvPr>
          <p:cNvGraphicFramePr>
            <a:graphicFrameLocks noGrp="1"/>
          </p:cNvGraphicFramePr>
          <p:nvPr/>
        </p:nvGraphicFramePr>
        <p:xfrm>
          <a:off x="6343659" y="357251"/>
          <a:ext cx="5233433" cy="3483864"/>
        </p:xfrm>
        <a:graphic>
          <a:graphicData uri="http://schemas.openxmlformats.org/drawingml/2006/table">
            <a:tbl>
              <a:tblPr>
                <a:tableStyleId>{93296810-A885-4BE3-A3E7-6D5BEEA58F35}</a:tableStyleId>
              </a:tblPr>
              <a:tblGrid>
                <a:gridCol w="1218466">
                  <a:extLst>
                    <a:ext uri="{9D8B030D-6E8A-4147-A177-3AD203B41FA5}">
                      <a16:colId xmlns:a16="http://schemas.microsoft.com/office/drawing/2014/main" val="3618665617"/>
                    </a:ext>
                  </a:extLst>
                </a:gridCol>
                <a:gridCol w="1199930">
                  <a:extLst>
                    <a:ext uri="{9D8B030D-6E8A-4147-A177-3AD203B41FA5}">
                      <a16:colId xmlns:a16="http://schemas.microsoft.com/office/drawing/2014/main" val="511441990"/>
                    </a:ext>
                  </a:extLst>
                </a:gridCol>
                <a:gridCol w="2815037">
                  <a:extLst>
                    <a:ext uri="{9D8B030D-6E8A-4147-A177-3AD203B41FA5}">
                      <a16:colId xmlns:a16="http://schemas.microsoft.com/office/drawing/2014/main" val="3060030770"/>
                    </a:ext>
                  </a:extLst>
                </a:gridCol>
              </a:tblGrid>
              <a:tr h="580644">
                <a:tc gridSpan="2">
                  <a:txBody>
                    <a:bodyPr/>
                    <a:lstStyle/>
                    <a:p>
                      <a:pPr algn="ctr"/>
                      <a:r>
                        <a:rPr lang="el-GR" sz="2600" b="1">
                          <a:effectLst/>
                        </a:rPr>
                        <a:t>Είσοδοι</a:t>
                      </a:r>
                      <a:endParaRPr lang="el-GR" sz="2600">
                        <a:effectLst/>
                      </a:endParaRPr>
                    </a:p>
                  </a:txBody>
                  <a:tcPr marL="131965" marR="131965" marT="65982" marB="65982" anchor="ctr"/>
                </a:tc>
                <a:tc hMerge="1">
                  <a:txBody>
                    <a:bodyPr/>
                    <a:lstStyle/>
                    <a:p>
                      <a:endParaRPr lang="en-US"/>
                    </a:p>
                  </a:txBody>
                  <a:tcPr/>
                </a:tc>
                <a:tc>
                  <a:txBody>
                    <a:bodyPr/>
                    <a:lstStyle/>
                    <a:p>
                      <a:pPr algn="ctr"/>
                      <a:r>
                        <a:rPr lang="el-GR" sz="2600" b="1">
                          <a:effectLst/>
                        </a:rPr>
                        <a:t>Έξοδος</a:t>
                      </a:r>
                      <a:endParaRPr lang="el-GR" sz="2600">
                        <a:effectLst/>
                      </a:endParaRPr>
                    </a:p>
                  </a:txBody>
                  <a:tcPr marL="131965" marR="131965" marT="65982" marB="65982" anchor="ctr"/>
                </a:tc>
                <a:extLst>
                  <a:ext uri="{0D108BD9-81ED-4DB2-BD59-A6C34878D82A}">
                    <a16:rowId xmlns:a16="http://schemas.microsoft.com/office/drawing/2014/main" val="1920624411"/>
                  </a:ext>
                </a:extLst>
              </a:tr>
              <a:tr h="580644">
                <a:tc>
                  <a:txBody>
                    <a:bodyPr/>
                    <a:lstStyle/>
                    <a:p>
                      <a:pPr algn="ctr"/>
                      <a:r>
                        <a:rPr lang="en-US" sz="2600">
                          <a:effectLst/>
                        </a:rPr>
                        <a:t>A</a:t>
                      </a:r>
                    </a:p>
                  </a:txBody>
                  <a:tcPr marL="131965" marR="131965" marT="65982" marB="65982" anchor="ctr"/>
                </a:tc>
                <a:tc>
                  <a:txBody>
                    <a:bodyPr/>
                    <a:lstStyle/>
                    <a:p>
                      <a:pPr algn="ctr"/>
                      <a:r>
                        <a:rPr lang="en-US" sz="2600">
                          <a:effectLst/>
                        </a:rPr>
                        <a:t>B</a:t>
                      </a:r>
                    </a:p>
                  </a:txBody>
                  <a:tcPr marL="131965" marR="131965" marT="65982" marB="65982" anchor="ctr"/>
                </a:tc>
                <a:tc>
                  <a:txBody>
                    <a:bodyPr/>
                    <a:lstStyle/>
                    <a:p>
                      <a:pPr algn="ctr"/>
                      <a:r>
                        <a:rPr lang="en-US" sz="2600">
                          <a:effectLst/>
                        </a:rPr>
                        <a:t>A XNOR B</a:t>
                      </a:r>
                    </a:p>
                  </a:txBody>
                  <a:tcPr marL="131965" marR="131965" marT="65982" marB="65982" anchor="ctr"/>
                </a:tc>
                <a:extLst>
                  <a:ext uri="{0D108BD9-81ED-4DB2-BD59-A6C34878D82A}">
                    <a16:rowId xmlns:a16="http://schemas.microsoft.com/office/drawing/2014/main" val="1814900319"/>
                  </a:ext>
                </a:extLst>
              </a:tr>
              <a:tr h="580644">
                <a:tc>
                  <a:txBody>
                    <a:bodyPr/>
                    <a:lstStyle/>
                    <a:p>
                      <a:pPr algn="ctr"/>
                      <a:r>
                        <a:rPr lang="en-US" sz="2600">
                          <a:effectLst/>
                        </a:rPr>
                        <a:t>0</a:t>
                      </a:r>
                    </a:p>
                  </a:txBody>
                  <a:tcPr marL="131965" marR="131965" marT="65982" marB="65982" anchor="ctr"/>
                </a:tc>
                <a:tc>
                  <a:txBody>
                    <a:bodyPr/>
                    <a:lstStyle/>
                    <a:p>
                      <a:pPr algn="ctr"/>
                      <a:r>
                        <a:rPr lang="en-US" sz="2600">
                          <a:effectLst/>
                        </a:rPr>
                        <a:t>0</a:t>
                      </a:r>
                    </a:p>
                  </a:txBody>
                  <a:tcPr marL="131965" marR="131965" marT="65982" marB="65982" anchor="ctr"/>
                </a:tc>
                <a:tc>
                  <a:txBody>
                    <a:bodyPr/>
                    <a:lstStyle/>
                    <a:p>
                      <a:pPr algn="ctr"/>
                      <a:r>
                        <a:rPr lang="en-US" sz="2600">
                          <a:effectLst/>
                        </a:rPr>
                        <a:t>1</a:t>
                      </a:r>
                    </a:p>
                  </a:txBody>
                  <a:tcPr marL="131965" marR="131965" marT="65982" marB="65982" anchor="ctr"/>
                </a:tc>
                <a:extLst>
                  <a:ext uri="{0D108BD9-81ED-4DB2-BD59-A6C34878D82A}">
                    <a16:rowId xmlns:a16="http://schemas.microsoft.com/office/drawing/2014/main" val="3042744970"/>
                  </a:ext>
                </a:extLst>
              </a:tr>
              <a:tr h="580644">
                <a:tc>
                  <a:txBody>
                    <a:bodyPr/>
                    <a:lstStyle/>
                    <a:p>
                      <a:pPr algn="ctr"/>
                      <a:r>
                        <a:rPr lang="en-US" sz="2600">
                          <a:effectLst/>
                        </a:rPr>
                        <a:t>0</a:t>
                      </a:r>
                    </a:p>
                  </a:txBody>
                  <a:tcPr marL="131965" marR="131965" marT="65982" marB="65982" anchor="ctr"/>
                </a:tc>
                <a:tc>
                  <a:txBody>
                    <a:bodyPr/>
                    <a:lstStyle/>
                    <a:p>
                      <a:pPr algn="ctr"/>
                      <a:r>
                        <a:rPr lang="en-US" sz="2600">
                          <a:effectLst/>
                        </a:rPr>
                        <a:t>1</a:t>
                      </a:r>
                    </a:p>
                  </a:txBody>
                  <a:tcPr marL="131965" marR="131965" marT="65982" marB="65982" anchor="ctr"/>
                </a:tc>
                <a:tc>
                  <a:txBody>
                    <a:bodyPr/>
                    <a:lstStyle/>
                    <a:p>
                      <a:pPr algn="ctr"/>
                      <a:r>
                        <a:rPr lang="en-US" sz="2600">
                          <a:effectLst/>
                        </a:rPr>
                        <a:t>0</a:t>
                      </a:r>
                    </a:p>
                  </a:txBody>
                  <a:tcPr marL="131965" marR="131965" marT="65982" marB="65982" anchor="ctr"/>
                </a:tc>
                <a:extLst>
                  <a:ext uri="{0D108BD9-81ED-4DB2-BD59-A6C34878D82A}">
                    <a16:rowId xmlns:a16="http://schemas.microsoft.com/office/drawing/2014/main" val="1011452507"/>
                  </a:ext>
                </a:extLst>
              </a:tr>
              <a:tr h="580644">
                <a:tc>
                  <a:txBody>
                    <a:bodyPr/>
                    <a:lstStyle/>
                    <a:p>
                      <a:pPr algn="ctr"/>
                      <a:r>
                        <a:rPr lang="en-US" sz="2600">
                          <a:effectLst/>
                        </a:rPr>
                        <a:t>1</a:t>
                      </a:r>
                    </a:p>
                  </a:txBody>
                  <a:tcPr marL="131965" marR="131965" marT="65982" marB="65982" anchor="ctr"/>
                </a:tc>
                <a:tc>
                  <a:txBody>
                    <a:bodyPr/>
                    <a:lstStyle/>
                    <a:p>
                      <a:pPr algn="ctr"/>
                      <a:r>
                        <a:rPr lang="en-US" sz="2600">
                          <a:effectLst/>
                        </a:rPr>
                        <a:t>0</a:t>
                      </a:r>
                    </a:p>
                  </a:txBody>
                  <a:tcPr marL="131965" marR="131965" marT="65982" marB="65982" anchor="ctr"/>
                </a:tc>
                <a:tc>
                  <a:txBody>
                    <a:bodyPr/>
                    <a:lstStyle/>
                    <a:p>
                      <a:pPr algn="ctr"/>
                      <a:r>
                        <a:rPr lang="en-US" sz="2600">
                          <a:effectLst/>
                        </a:rPr>
                        <a:t>0</a:t>
                      </a:r>
                    </a:p>
                  </a:txBody>
                  <a:tcPr marL="131965" marR="131965" marT="65982" marB="65982" anchor="ctr"/>
                </a:tc>
                <a:extLst>
                  <a:ext uri="{0D108BD9-81ED-4DB2-BD59-A6C34878D82A}">
                    <a16:rowId xmlns:a16="http://schemas.microsoft.com/office/drawing/2014/main" val="972792372"/>
                  </a:ext>
                </a:extLst>
              </a:tr>
              <a:tr h="580644">
                <a:tc>
                  <a:txBody>
                    <a:bodyPr/>
                    <a:lstStyle/>
                    <a:p>
                      <a:pPr algn="ctr"/>
                      <a:r>
                        <a:rPr lang="en-US" sz="2600">
                          <a:effectLst/>
                        </a:rPr>
                        <a:t>1</a:t>
                      </a:r>
                    </a:p>
                  </a:txBody>
                  <a:tcPr marL="131965" marR="131965" marT="65982" marB="65982" anchor="ctr"/>
                </a:tc>
                <a:tc>
                  <a:txBody>
                    <a:bodyPr/>
                    <a:lstStyle/>
                    <a:p>
                      <a:pPr algn="ctr"/>
                      <a:r>
                        <a:rPr lang="en-US" sz="2600">
                          <a:effectLst/>
                        </a:rPr>
                        <a:t>1</a:t>
                      </a:r>
                    </a:p>
                  </a:txBody>
                  <a:tcPr marL="131965" marR="131965" marT="65982" marB="65982" anchor="ctr"/>
                </a:tc>
                <a:tc>
                  <a:txBody>
                    <a:bodyPr/>
                    <a:lstStyle/>
                    <a:p>
                      <a:pPr algn="ctr"/>
                      <a:r>
                        <a:rPr lang="en-US" sz="2600" dirty="0">
                          <a:effectLst/>
                        </a:rPr>
                        <a:t>1</a:t>
                      </a:r>
                    </a:p>
                  </a:txBody>
                  <a:tcPr marL="131965" marR="131965" marT="65982" marB="65982" anchor="ctr"/>
                </a:tc>
                <a:extLst>
                  <a:ext uri="{0D108BD9-81ED-4DB2-BD59-A6C34878D82A}">
                    <a16:rowId xmlns:a16="http://schemas.microsoft.com/office/drawing/2014/main" val="368094880"/>
                  </a:ext>
                </a:extLst>
              </a:tr>
            </a:tbl>
          </a:graphicData>
        </a:graphic>
      </p:graphicFrame>
    </p:spTree>
    <p:extLst>
      <p:ext uri="{BB962C8B-B14F-4D97-AF65-F5344CB8AC3E}">
        <p14:creationId xmlns:p14="http://schemas.microsoft.com/office/powerpoint/2010/main" val="8273466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Rectangle 32">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Rectangle 36">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39" name="Freeform: Shape 38">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Content Placeholder 2">
            <a:extLst>
              <a:ext uri="{FF2B5EF4-FFF2-40B4-BE49-F238E27FC236}">
                <a16:creationId xmlns:a16="http://schemas.microsoft.com/office/drawing/2014/main" id="{CCC08A1E-05A3-4408-8F02-50720AAEF1B8}"/>
              </a:ext>
            </a:extLst>
          </p:cNvPr>
          <p:cNvSpPr txBox="1">
            <a:spLocks/>
          </p:cNvSpPr>
          <p:nvPr/>
        </p:nvSpPr>
        <p:spPr>
          <a:xfrm>
            <a:off x="2973773" y="2469543"/>
            <a:ext cx="6096812" cy="2150719"/>
          </a:xfrm>
          <a:prstGeom prst="rect">
            <a:avLst/>
          </a:prstGeom>
          <a:noFill/>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ts val="600"/>
              </a:spcAft>
              <a:buNone/>
            </a:pPr>
            <a:r>
              <a:rPr lang="el-GR" sz="3600" b="1" i="1" kern="1200" dirty="0">
                <a:solidFill>
                  <a:srgbClr val="080808"/>
                </a:solidFill>
                <a:latin typeface="Times New Roman" panose="02020603050405020304" pitchFamily="18" charset="0"/>
                <a:ea typeface="+mj-ea"/>
                <a:cs typeface="Times New Roman" panose="02020603050405020304" pitchFamily="18" charset="0"/>
              </a:rPr>
              <a:t>ΣΑΣ ΕΥΧΑΡΙΣΤΟΥΜΕ ΓΙΑ ΤΗΝ ΑΜΕΡΙΣΤΗ ΠΡΟΣΟΧΗ ΣΑΣ!</a:t>
            </a:r>
            <a:endParaRPr lang="en-US" sz="3600" b="1" i="1" kern="1200" dirty="0">
              <a:solidFill>
                <a:srgbClr val="080808"/>
              </a:solidFill>
              <a:latin typeface="Times New Roman" panose="02020603050405020304" pitchFamily="18" charset="0"/>
              <a:ea typeface="+mj-ea"/>
              <a:cs typeface="Times New Roman" panose="02020603050405020304" pitchFamily="18" charset="0"/>
            </a:endParaRPr>
          </a:p>
        </p:txBody>
      </p:sp>
      <p:sp>
        <p:nvSpPr>
          <p:cNvPr id="41" name="Freeform: Shape 40">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3" name="Freeform: Shape 42">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Rectangle 44">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54119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1978</TotalTime>
  <Words>1315</Words>
  <Application>Microsoft Office PowerPoint</Application>
  <PresentationFormat>Widescreen</PresentationFormat>
  <Paragraphs>171</Paragraphs>
  <Slides>27</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27</vt:i4>
      </vt:variant>
    </vt:vector>
  </HeadingPairs>
  <TitlesOfParts>
    <vt:vector size="34" baseType="lpstr">
      <vt:lpstr>Arial</vt:lpstr>
      <vt:lpstr>Calibri</vt:lpstr>
      <vt:lpstr>Calibri Light</vt:lpstr>
      <vt:lpstr>palatino linotype</vt:lpstr>
      <vt:lpstr>Times New Roman</vt:lpstr>
      <vt:lpstr>Office Theme</vt:lpstr>
      <vt:lpstr>Office Theme</vt:lpstr>
      <vt:lpstr>Κυκλώματα και τοπολογίες πυλών </vt:lpstr>
      <vt:lpstr>Bipolar Junction Transistor (BJT) </vt:lpstr>
      <vt:lpstr>Οι τυπικές τάσεις εκπομπών βάσης (VBE) και για τα τρανζίστορ npn και pnp είναι οι εξής:</vt:lpstr>
      <vt:lpstr>Τα τρανζίστορ αποτελούνται από τρία μέρη:  μια βάση, έναν συλλέκτη και έναν πομπό.  </vt:lpstr>
      <vt:lpstr>Diode</vt:lpstr>
      <vt:lpstr>PowerPoint Presentation</vt:lpstr>
      <vt:lpstr>Εφαρμογές Διπολικού Τρανζίστορ Διασταύρωσης ή BJT | Ιστορία του BJT</vt:lpstr>
      <vt:lpstr>Τρανζίστορ ως διακόπτης</vt:lpstr>
      <vt:lpstr>Open Switch  </vt:lpstr>
      <vt:lpstr>Closed Switch  </vt:lpstr>
      <vt:lpstr>Διπολικό τρανζίστορ διασταύρωσης ως ενισχυτής</vt:lpstr>
      <vt:lpstr>PowerPoint Presentation</vt:lpstr>
      <vt:lpstr>PowerPoint Presentation</vt:lpstr>
      <vt:lpstr>BJT amplifier circuit</vt:lpstr>
      <vt:lpstr>Ποια είναι η διαφορά μεταξύ mosfet και BJT:</vt:lpstr>
      <vt:lpstr>PowerPoint Presentation</vt:lpstr>
      <vt:lpstr>CMOS είναι συνδυασμός NMOS &amp; PMOS</vt:lpstr>
      <vt:lpstr>PowerPoint Presentation</vt:lpstr>
      <vt:lpstr>Applications of MOSFET in electronics &amp; in daily life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A. Alzaraa</dc:creator>
  <cp:lastModifiedBy>Georgios A. Karyos</cp:lastModifiedBy>
  <cp:revision>9</cp:revision>
  <dcterms:created xsi:type="dcterms:W3CDTF">2021-11-09T18:29:46Z</dcterms:created>
  <dcterms:modified xsi:type="dcterms:W3CDTF">2024-12-03T17:14:28Z</dcterms:modified>
</cp:coreProperties>
</file>