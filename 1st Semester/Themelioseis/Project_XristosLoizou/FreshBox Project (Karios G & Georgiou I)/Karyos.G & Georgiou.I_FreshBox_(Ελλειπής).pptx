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Poppins Bold" charset="1" panose="00000800000000000000"/>
      <p:regular r:id="rId30"/>
    </p:embeddedFont>
    <p:embeddedFont>
      <p:font typeface="Poppins" charset="1" panose="00000500000000000000"/>
      <p:regular r:id="rId31"/>
    </p:embeddedFont>
    <p:embeddedFont>
      <p:font typeface="Poppins Light" charset="1" panose="00000400000000000000"/>
      <p:regular r:id="rId32"/>
    </p:embeddedFont>
    <p:embeddedFont>
      <p:font typeface="Poppins Italics" charset="1" panose="00000500000000000000"/>
      <p:regular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notesMasters/notesMaster1.xml" Type="http://schemas.openxmlformats.org/officeDocument/2006/relationships/notesMaster"/><Relationship Id="rId34" Target="theme/theme2.xml" Type="http://schemas.openxmlformats.org/officeDocument/2006/relationships/theme"/><Relationship Id="rId35" Target="notesSlides/notesSlide1.xml" Type="http://schemas.openxmlformats.org/officeDocument/2006/relationships/notesSlide"/><Relationship Id="rId36" Target="notesSlides/notesSlide2.xml" Type="http://schemas.openxmlformats.org/officeDocument/2006/relationships/notesSlide"/><Relationship Id="rId37" Target="notesSlides/notesSlide3.xml" Type="http://schemas.openxmlformats.org/officeDocument/2006/relationships/notesSlide"/><Relationship Id="rId38" Target="notesSlides/notesSlide4.xml" Type="http://schemas.openxmlformats.org/officeDocument/2006/relationships/notesSlide"/><Relationship Id="rId39" Target="notesSlides/notesSlide5.xml" Type="http://schemas.openxmlformats.org/officeDocument/2006/relationships/notesSlide"/><Relationship Id="rId4" Target="theme/theme1.xml" Type="http://schemas.openxmlformats.org/officeDocument/2006/relationships/theme"/><Relationship Id="rId40" Target="notesSlides/notesSlide6.xml" Type="http://schemas.openxmlformats.org/officeDocument/2006/relationships/notesSlide"/><Relationship Id="rId41" Target="notesSlides/notesSlide7.xml" Type="http://schemas.openxmlformats.org/officeDocument/2006/relationships/notesSlide"/><Relationship Id="rId42" Target="notesSlides/notesSlide8.xml" Type="http://schemas.openxmlformats.org/officeDocument/2006/relationships/notesSlide"/><Relationship Id="rId43" Target="notesSlides/notesSlide9.xml" Type="http://schemas.openxmlformats.org/officeDocument/2006/relationships/notesSlide"/><Relationship Id="rId44" Target="fonts/font44.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ΜΕΘΟΔΟΛΟΓΙΑ ΚΑΙ ΧΡΗΣΗ INTRO</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ΜΕΘΟΔΟΛΟΓΙΑ ΚΑΙ ΧΡΗΣΗ #1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ΜΕΘΟΔΟΛΟΓΙΑ ΚΑΙ ΧΡΗΣΗ #2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ΜΕΘΟΔΟΛΟΓΙΑ ΚΑΙ ΧΡΗΣΗ #3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ΜΕΘΟΔΟΛΟΓΙΑ ΚΑΙ ΧΡΗΣΗ #4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ΜΕΘΟΔΟΛΟΓΙΑ ΚΑΙ ΧΡΗΣΗ #1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ΜΕΘΟΔΟΛΟΓΙΑ ΚΑΙ ΧΡΗΣΗ #2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ΜΕΘΟΔΟΛΟΓΙΑ ΚΑΙ ΧΡΗΣΗ #2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ΜΕΘΟΔΟΛΟΓΙΑ ΚΑΙ ΧΡΗΣΗ #2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7.png" Type="http://schemas.openxmlformats.org/officeDocument/2006/relationships/image"/><Relationship Id="rId4" Target="../media/image1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8.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https://ai.azure.com/?tid=8f7698bc-b1b4-439f-b259-0213401d1cfb" TargetMode="External" Type="http://schemas.openxmlformats.org/officeDocument/2006/relationships/hyperlink"/></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95BBE"/>
        </a:solidFill>
      </p:bgPr>
    </p:bg>
    <p:spTree>
      <p:nvGrpSpPr>
        <p:cNvPr id="1" name=""/>
        <p:cNvGrpSpPr/>
        <p:nvPr/>
      </p:nvGrpSpPr>
      <p:grpSpPr>
        <a:xfrm>
          <a:off x="0" y="0"/>
          <a:ext cx="0" cy="0"/>
          <a:chOff x="0" y="0"/>
          <a:chExt cx="0" cy="0"/>
        </a:xfrm>
      </p:grpSpPr>
      <p:grpSp>
        <p:nvGrpSpPr>
          <p:cNvPr name="Group 2" id="2"/>
          <p:cNvGrpSpPr/>
          <p:nvPr/>
        </p:nvGrpSpPr>
        <p:grpSpPr>
          <a:xfrm rot="0">
            <a:off x="5181600" y="-2681288"/>
            <a:ext cx="15649575" cy="1564957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9D9D9"/>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1917"/>
                </a:lnSpc>
              </a:pPr>
            </a:p>
          </p:txBody>
        </p:sp>
      </p:grpSp>
      <p:grpSp>
        <p:nvGrpSpPr>
          <p:cNvPr name="Group 5" id="5"/>
          <p:cNvGrpSpPr/>
          <p:nvPr/>
        </p:nvGrpSpPr>
        <p:grpSpPr>
          <a:xfrm rot="0">
            <a:off x="7562850" y="-2709862"/>
            <a:ext cx="15649575" cy="1564957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6F6"/>
            </a:solidFill>
          </p:spPr>
        </p:sp>
        <p:sp>
          <p:nvSpPr>
            <p:cNvPr name="TextBox 7" id="7"/>
            <p:cNvSpPr txBox="true"/>
            <p:nvPr/>
          </p:nvSpPr>
          <p:spPr>
            <a:xfrm>
              <a:off x="76200" y="76200"/>
              <a:ext cx="660400" cy="660400"/>
            </a:xfrm>
            <a:prstGeom prst="rect">
              <a:avLst/>
            </a:prstGeom>
          </p:spPr>
          <p:txBody>
            <a:bodyPr anchor="ctr" rtlCol="false" tIns="50800" lIns="50800" bIns="50800" rIns="50800"/>
            <a:lstStyle/>
            <a:p>
              <a:pPr algn="ctr">
                <a:lnSpc>
                  <a:spcPts val="1917"/>
                </a:lnSpc>
              </a:pPr>
            </a:p>
          </p:txBody>
        </p:sp>
      </p:grpSp>
      <p:grpSp>
        <p:nvGrpSpPr>
          <p:cNvPr name="Group 8" id="8"/>
          <p:cNvGrpSpPr/>
          <p:nvPr/>
        </p:nvGrpSpPr>
        <p:grpSpPr>
          <a:xfrm rot="0">
            <a:off x="14643918" y="57150"/>
            <a:ext cx="3644082" cy="1515688"/>
            <a:chOff x="0" y="0"/>
            <a:chExt cx="4858776" cy="2020918"/>
          </a:xfrm>
        </p:grpSpPr>
        <p:sp>
          <p:nvSpPr>
            <p:cNvPr name="Freeform 9" id="9"/>
            <p:cNvSpPr/>
            <p:nvPr/>
          </p:nvSpPr>
          <p:spPr>
            <a:xfrm flipH="false" flipV="false" rot="0">
              <a:off x="2797787" y="0"/>
              <a:ext cx="2060989" cy="2020918"/>
            </a:xfrm>
            <a:custGeom>
              <a:avLst/>
              <a:gdLst/>
              <a:ahLst/>
              <a:cxnLst/>
              <a:rect r="r" b="b" t="t" l="l"/>
              <a:pathLst>
                <a:path h="2020918" w="2060989">
                  <a:moveTo>
                    <a:pt x="0" y="0"/>
                  </a:moveTo>
                  <a:lnTo>
                    <a:pt x="2060989" y="0"/>
                  </a:lnTo>
                  <a:lnTo>
                    <a:pt x="2060989" y="2020918"/>
                  </a:lnTo>
                  <a:lnTo>
                    <a:pt x="0" y="2020918"/>
                  </a:lnTo>
                  <a:lnTo>
                    <a:pt x="0" y="0"/>
                  </a:lnTo>
                  <a:close/>
                </a:path>
              </a:pathLst>
            </a:custGeom>
            <a:blipFill>
              <a:blip r:embed="rId2"/>
              <a:stretch>
                <a:fillRect l="-2086" t="-13563" r="-217174" b="-17161"/>
              </a:stretch>
            </a:blipFill>
          </p:spPr>
        </p:sp>
        <p:sp>
          <p:nvSpPr>
            <p:cNvPr name="Freeform 10" id="10"/>
            <p:cNvSpPr/>
            <p:nvPr/>
          </p:nvSpPr>
          <p:spPr>
            <a:xfrm flipH="false" flipV="false" rot="0">
              <a:off x="0" y="0"/>
              <a:ext cx="3028119" cy="2020918"/>
            </a:xfrm>
            <a:custGeom>
              <a:avLst/>
              <a:gdLst/>
              <a:ahLst/>
              <a:cxnLst/>
              <a:rect r="r" b="b" t="t" l="l"/>
              <a:pathLst>
                <a:path h="2020918" w="3028119">
                  <a:moveTo>
                    <a:pt x="0" y="0"/>
                  </a:moveTo>
                  <a:lnTo>
                    <a:pt x="3028119" y="0"/>
                  </a:lnTo>
                  <a:lnTo>
                    <a:pt x="3028119" y="2020918"/>
                  </a:lnTo>
                  <a:lnTo>
                    <a:pt x="0" y="2020918"/>
                  </a:lnTo>
                  <a:lnTo>
                    <a:pt x="0" y="0"/>
                  </a:lnTo>
                  <a:close/>
                </a:path>
              </a:pathLst>
            </a:custGeom>
            <a:blipFill>
              <a:blip r:embed="rId2"/>
              <a:stretch>
                <a:fillRect l="-54989" t="0" r="-11233" b="0"/>
              </a:stretch>
            </a:blipFill>
          </p:spPr>
        </p:sp>
      </p:grpSp>
      <p:sp>
        <p:nvSpPr>
          <p:cNvPr name="TextBox 11" id="11"/>
          <p:cNvSpPr txBox="true"/>
          <p:nvPr/>
        </p:nvSpPr>
        <p:spPr>
          <a:xfrm rot="0">
            <a:off x="8558479" y="3947684"/>
            <a:ext cx="8700821" cy="1753457"/>
          </a:xfrm>
          <a:prstGeom prst="rect">
            <a:avLst/>
          </a:prstGeom>
        </p:spPr>
        <p:txBody>
          <a:bodyPr anchor="t" rtlCol="false" tIns="0" lIns="0" bIns="0" rIns="0">
            <a:spAutoFit/>
          </a:bodyPr>
          <a:lstStyle/>
          <a:p>
            <a:pPr algn="l">
              <a:lnSpc>
                <a:spcPts val="12680"/>
              </a:lnSpc>
              <a:spcBef>
                <a:spcPct val="0"/>
              </a:spcBef>
            </a:pPr>
            <a:r>
              <a:rPr lang="en-US" b="true" sz="11741">
                <a:solidFill>
                  <a:srgbClr val="295BBE"/>
                </a:solidFill>
                <a:latin typeface="Poppins Bold"/>
                <a:ea typeface="Poppins Bold"/>
                <a:cs typeface="Poppins Bold"/>
                <a:sym typeface="Poppins Bold"/>
              </a:rPr>
              <a:t>FreshBox</a:t>
            </a:r>
          </a:p>
        </p:txBody>
      </p:sp>
      <p:sp>
        <p:nvSpPr>
          <p:cNvPr name="TextBox 12" id="12"/>
          <p:cNvSpPr txBox="true"/>
          <p:nvPr/>
        </p:nvSpPr>
        <p:spPr>
          <a:xfrm rot="5400000">
            <a:off x="17336912" y="9029381"/>
            <a:ext cx="936679" cy="272173"/>
          </a:xfrm>
          <a:prstGeom prst="rect">
            <a:avLst/>
          </a:prstGeom>
        </p:spPr>
        <p:txBody>
          <a:bodyPr anchor="t" rtlCol="false" tIns="0" lIns="0" bIns="0" rIns="0">
            <a:spAutoFit/>
          </a:bodyPr>
          <a:lstStyle/>
          <a:p>
            <a:pPr algn="l">
              <a:lnSpc>
                <a:spcPts val="1934"/>
              </a:lnSpc>
              <a:spcBef>
                <a:spcPct val="0"/>
              </a:spcBef>
            </a:pPr>
            <a:r>
              <a:rPr lang="en-US" sz="1791">
                <a:solidFill>
                  <a:srgbClr val="295BBE"/>
                </a:solidFill>
                <a:latin typeface="Poppins"/>
                <a:ea typeface="Poppins"/>
                <a:cs typeface="Poppins"/>
                <a:sym typeface="Poppins"/>
              </a:rPr>
              <a:t>page 1</a:t>
            </a:r>
          </a:p>
        </p:txBody>
      </p:sp>
      <p:sp>
        <p:nvSpPr>
          <p:cNvPr name="TextBox 13" id="13"/>
          <p:cNvSpPr txBox="true"/>
          <p:nvPr/>
        </p:nvSpPr>
        <p:spPr>
          <a:xfrm rot="0">
            <a:off x="8558479" y="5520166"/>
            <a:ext cx="5558535" cy="2215437"/>
          </a:xfrm>
          <a:prstGeom prst="rect">
            <a:avLst/>
          </a:prstGeom>
        </p:spPr>
        <p:txBody>
          <a:bodyPr anchor="t" rtlCol="false" tIns="0" lIns="0" bIns="0" rIns="0">
            <a:spAutoFit/>
          </a:bodyPr>
          <a:lstStyle/>
          <a:p>
            <a:pPr algn="l">
              <a:lnSpc>
                <a:spcPts val="4150"/>
              </a:lnSpc>
            </a:pPr>
            <a:r>
              <a:rPr lang="en-US" sz="2075" b="true">
                <a:solidFill>
                  <a:srgbClr val="295BBE"/>
                </a:solidFill>
                <a:latin typeface="Poppins Bold"/>
                <a:ea typeface="Poppins Bold"/>
                <a:cs typeface="Poppins Bold"/>
                <a:sym typeface="Poppins Bold"/>
              </a:rPr>
              <a:t>Ιωάννης Γεωργίου  (31292)</a:t>
            </a:r>
          </a:p>
          <a:p>
            <a:pPr algn="l">
              <a:lnSpc>
                <a:spcPts val="4150"/>
              </a:lnSpc>
            </a:pPr>
            <a:r>
              <a:rPr lang="en-US" sz="2075" b="true">
                <a:solidFill>
                  <a:srgbClr val="295BBE"/>
                </a:solidFill>
                <a:latin typeface="Poppins Bold"/>
                <a:ea typeface="Poppins Bold"/>
                <a:cs typeface="Poppins Bold"/>
                <a:sym typeface="Poppins Bold"/>
              </a:rPr>
              <a:t>Γιώργος Κάρυος       (30738)</a:t>
            </a:r>
          </a:p>
          <a:p>
            <a:pPr algn="l">
              <a:lnSpc>
                <a:spcPts val="4150"/>
              </a:lnSpc>
            </a:pPr>
            <a:r>
              <a:rPr lang="en-US" sz="2075" b="true">
                <a:solidFill>
                  <a:srgbClr val="295BBE"/>
                </a:solidFill>
                <a:latin typeface="Poppins Bold"/>
                <a:ea typeface="Poppins Bold"/>
                <a:cs typeface="Poppins Bold"/>
                <a:sym typeface="Poppins Bold"/>
              </a:rPr>
              <a:t>CEI 120 - Δρ. Χρίστος Λοΐζου</a:t>
            </a:r>
          </a:p>
          <a:p>
            <a:pPr algn="ctr">
              <a:lnSpc>
                <a:spcPts val="2241"/>
              </a:lnSpc>
            </a:pPr>
          </a:p>
          <a:p>
            <a:pPr algn="ctr">
              <a:lnSpc>
                <a:spcPts val="2241"/>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295BBE"/>
        </a:solidFill>
      </p:bgPr>
    </p:bg>
    <p:spTree>
      <p:nvGrpSpPr>
        <p:cNvPr id="1" name=""/>
        <p:cNvGrpSpPr/>
        <p:nvPr/>
      </p:nvGrpSpPr>
      <p:grpSpPr>
        <a:xfrm>
          <a:off x="0" y="0"/>
          <a:ext cx="0" cy="0"/>
          <a:chOff x="0" y="0"/>
          <a:chExt cx="0" cy="0"/>
        </a:xfrm>
      </p:grpSpPr>
      <p:grpSp>
        <p:nvGrpSpPr>
          <p:cNvPr name="Group 2" id="2"/>
          <p:cNvGrpSpPr/>
          <p:nvPr/>
        </p:nvGrpSpPr>
        <p:grpSpPr>
          <a:xfrm rot="0">
            <a:off x="-1767055" y="4323211"/>
            <a:ext cx="7626057" cy="8531075"/>
            <a:chOff x="0" y="0"/>
            <a:chExt cx="726574" cy="812800"/>
          </a:xfrm>
        </p:grpSpPr>
        <p:sp>
          <p:nvSpPr>
            <p:cNvPr name="Freeform 3" id="3"/>
            <p:cNvSpPr/>
            <p:nvPr/>
          </p:nvSpPr>
          <p:spPr>
            <a:xfrm flipH="false" flipV="false" rot="0">
              <a:off x="0" y="0"/>
              <a:ext cx="726574" cy="812800"/>
            </a:xfrm>
            <a:custGeom>
              <a:avLst/>
              <a:gdLst/>
              <a:ahLst/>
              <a:cxnLst/>
              <a:rect r="r" b="b" t="t" l="l"/>
              <a:pathLst>
                <a:path h="812800" w="726574">
                  <a:moveTo>
                    <a:pt x="363287" y="0"/>
                  </a:moveTo>
                  <a:cubicBezTo>
                    <a:pt x="162649" y="0"/>
                    <a:pt x="0" y="181951"/>
                    <a:pt x="0" y="406400"/>
                  </a:cubicBezTo>
                  <a:cubicBezTo>
                    <a:pt x="0" y="630849"/>
                    <a:pt x="162649" y="812800"/>
                    <a:pt x="363287" y="812800"/>
                  </a:cubicBezTo>
                  <a:cubicBezTo>
                    <a:pt x="563925" y="812800"/>
                    <a:pt x="726574" y="630849"/>
                    <a:pt x="726574" y="406400"/>
                  </a:cubicBezTo>
                  <a:cubicBezTo>
                    <a:pt x="726574" y="181951"/>
                    <a:pt x="563925" y="0"/>
                    <a:pt x="363287" y="0"/>
                  </a:cubicBezTo>
                  <a:close/>
                </a:path>
              </a:pathLst>
            </a:custGeom>
            <a:solidFill>
              <a:srgbClr val="FEF0E1"/>
            </a:solidFill>
          </p:spPr>
        </p:sp>
        <p:sp>
          <p:nvSpPr>
            <p:cNvPr name="TextBox 4" id="4"/>
            <p:cNvSpPr txBox="true"/>
            <p:nvPr/>
          </p:nvSpPr>
          <p:spPr>
            <a:xfrm>
              <a:off x="68116" y="76200"/>
              <a:ext cx="590342" cy="660400"/>
            </a:xfrm>
            <a:prstGeom prst="rect">
              <a:avLst/>
            </a:prstGeom>
          </p:spPr>
          <p:txBody>
            <a:bodyPr anchor="ctr" rtlCol="false" tIns="50800" lIns="50800" bIns="50800" rIns="50800"/>
            <a:lstStyle/>
            <a:p>
              <a:pPr algn="ctr">
                <a:lnSpc>
                  <a:spcPts val="1917"/>
                </a:lnSpc>
              </a:pPr>
            </a:p>
          </p:txBody>
        </p:sp>
      </p:grpSp>
      <p:sp>
        <p:nvSpPr>
          <p:cNvPr name="TextBox 5" id="5"/>
          <p:cNvSpPr txBox="true"/>
          <p:nvPr/>
        </p:nvSpPr>
        <p:spPr>
          <a:xfrm rot="0">
            <a:off x="10226118" y="854125"/>
            <a:ext cx="6444239" cy="2494729"/>
          </a:xfrm>
          <a:prstGeom prst="rect">
            <a:avLst/>
          </a:prstGeom>
        </p:spPr>
        <p:txBody>
          <a:bodyPr anchor="t" rtlCol="false" tIns="0" lIns="0" bIns="0" rIns="0">
            <a:spAutoFit/>
          </a:bodyPr>
          <a:lstStyle/>
          <a:p>
            <a:pPr algn="l">
              <a:lnSpc>
                <a:spcPts val="9391"/>
              </a:lnSpc>
            </a:pPr>
            <a:r>
              <a:rPr lang="en-US" sz="8696">
                <a:solidFill>
                  <a:srgbClr val="FFFFFF"/>
                </a:solidFill>
                <a:latin typeface="Poppins"/>
                <a:ea typeface="Poppins"/>
                <a:cs typeface="Poppins"/>
                <a:sym typeface="Poppins"/>
              </a:rPr>
              <a:t>ΣΚΟΠΟΣ</a:t>
            </a:r>
          </a:p>
          <a:p>
            <a:pPr algn="l">
              <a:lnSpc>
                <a:spcPts val="9391"/>
              </a:lnSpc>
              <a:spcBef>
                <a:spcPct val="0"/>
              </a:spcBef>
            </a:pPr>
            <a:r>
              <a:rPr lang="en-US" b="true" sz="8696">
                <a:solidFill>
                  <a:srgbClr val="FFFFFF"/>
                </a:solidFill>
                <a:latin typeface="Poppins Bold"/>
                <a:ea typeface="Poppins Bold"/>
                <a:cs typeface="Poppins Bold"/>
                <a:sym typeface="Poppins Bold"/>
              </a:rPr>
              <a:t>ΕΡΓΑΣΙΑΣ</a:t>
            </a:r>
          </a:p>
        </p:txBody>
      </p:sp>
      <p:sp>
        <p:nvSpPr>
          <p:cNvPr name="TextBox 6" id="6"/>
          <p:cNvSpPr txBox="true"/>
          <p:nvPr/>
        </p:nvSpPr>
        <p:spPr>
          <a:xfrm rot="5400000">
            <a:off x="17336912" y="9029381"/>
            <a:ext cx="936679" cy="272173"/>
          </a:xfrm>
          <a:prstGeom prst="rect">
            <a:avLst/>
          </a:prstGeom>
        </p:spPr>
        <p:txBody>
          <a:bodyPr anchor="t" rtlCol="false" tIns="0" lIns="0" bIns="0" rIns="0">
            <a:spAutoFit/>
          </a:bodyPr>
          <a:lstStyle/>
          <a:p>
            <a:pPr algn="l">
              <a:lnSpc>
                <a:spcPts val="1934"/>
              </a:lnSpc>
              <a:spcBef>
                <a:spcPct val="0"/>
              </a:spcBef>
            </a:pPr>
            <a:r>
              <a:rPr lang="en-US" sz="1791">
                <a:solidFill>
                  <a:srgbClr val="FFFFFF"/>
                </a:solidFill>
                <a:latin typeface="Poppins"/>
                <a:ea typeface="Poppins"/>
                <a:cs typeface="Poppins"/>
                <a:sym typeface="Poppins"/>
              </a:rPr>
              <a:t>page 2</a:t>
            </a:r>
          </a:p>
        </p:txBody>
      </p:sp>
      <p:sp>
        <p:nvSpPr>
          <p:cNvPr name="TextBox 7" id="7"/>
          <p:cNvSpPr txBox="true"/>
          <p:nvPr/>
        </p:nvSpPr>
        <p:spPr>
          <a:xfrm rot="0">
            <a:off x="10226118" y="3687364"/>
            <a:ext cx="6910831" cy="3938129"/>
          </a:xfrm>
          <a:prstGeom prst="rect">
            <a:avLst/>
          </a:prstGeom>
        </p:spPr>
        <p:txBody>
          <a:bodyPr anchor="t" rtlCol="false" tIns="0" lIns="0" bIns="0" rIns="0">
            <a:spAutoFit/>
          </a:bodyPr>
          <a:lstStyle/>
          <a:p>
            <a:pPr algn="just">
              <a:lnSpc>
                <a:spcPts val="3464"/>
              </a:lnSpc>
            </a:pPr>
            <a:r>
              <a:rPr lang="en-US" sz="2165">
                <a:solidFill>
                  <a:srgbClr val="FFFFFF"/>
                </a:solidFill>
                <a:latin typeface="Poppins"/>
                <a:ea typeface="Poppins"/>
                <a:cs typeface="Poppins"/>
                <a:sym typeface="Poppins"/>
              </a:rPr>
              <a:t>Ο σκοπός του </a:t>
            </a:r>
            <a:r>
              <a:rPr lang="en-US" b="true" sz="2165">
                <a:solidFill>
                  <a:srgbClr val="FFFFFF"/>
                </a:solidFill>
                <a:latin typeface="Poppins Bold"/>
                <a:ea typeface="Poppins Bold"/>
                <a:cs typeface="Poppins Bold"/>
                <a:sym typeface="Poppins Bold"/>
              </a:rPr>
              <a:t>FreshBox </a:t>
            </a:r>
            <a:r>
              <a:rPr lang="en-US" sz="2165">
                <a:solidFill>
                  <a:srgbClr val="FFFFFF"/>
                </a:solidFill>
                <a:latin typeface="Poppins"/>
                <a:ea typeface="Poppins"/>
                <a:cs typeface="Poppins"/>
                <a:sym typeface="Poppins"/>
              </a:rPr>
              <a:t>είναι να μεταμορφώσει τη διαχείριση τροφίμων, προσφέροντας έναν έξυπνο, φιλικό και δυναμικό ψυγειοκαταψύκτη που μειώνει τη σπατάλη, ενισχύει την οργάνωση και προάγει την υγιεινή διατροφή. Με τεχνητή νοημοσύνη, αυτόματη αναγνώριση προϊόντων και προτάσεις συνταγών, το </a:t>
            </a:r>
            <a:r>
              <a:rPr lang="en-US" b="true" sz="2165">
                <a:solidFill>
                  <a:srgbClr val="FFFFFF"/>
                </a:solidFill>
                <a:latin typeface="Poppins Bold"/>
                <a:ea typeface="Poppins Bold"/>
                <a:cs typeface="Poppins Bold"/>
                <a:sym typeface="Poppins Bold"/>
              </a:rPr>
              <a:t>FreshBox </a:t>
            </a:r>
            <a:r>
              <a:rPr lang="en-US" sz="2165">
                <a:solidFill>
                  <a:srgbClr val="FFFFFF"/>
                </a:solidFill>
                <a:latin typeface="Poppins"/>
                <a:ea typeface="Poppins"/>
                <a:cs typeface="Poppins"/>
                <a:sym typeface="Poppins"/>
              </a:rPr>
              <a:t>επιδιώκει να βοηθήσει τα νοικοκυριά να εξοικονομούν χρόνο, χρήματα και πόρους, συμβάλλοντας σε έναν βιώσιμο τρόπο ζωής.</a:t>
            </a:r>
          </a:p>
        </p:txBody>
      </p:sp>
      <p:grpSp>
        <p:nvGrpSpPr>
          <p:cNvPr name="Group 8" id="8"/>
          <p:cNvGrpSpPr/>
          <p:nvPr/>
        </p:nvGrpSpPr>
        <p:grpSpPr>
          <a:xfrm rot="0">
            <a:off x="17136949" y="2140832"/>
            <a:ext cx="1336606" cy="1351361"/>
            <a:chOff x="0" y="0"/>
            <a:chExt cx="719015" cy="726953"/>
          </a:xfrm>
        </p:grpSpPr>
        <p:sp>
          <p:nvSpPr>
            <p:cNvPr name="Freeform 9" id="9"/>
            <p:cNvSpPr/>
            <p:nvPr/>
          </p:nvSpPr>
          <p:spPr>
            <a:xfrm flipH="false" flipV="false" rot="0">
              <a:off x="0" y="0"/>
              <a:ext cx="719015" cy="726953"/>
            </a:xfrm>
            <a:custGeom>
              <a:avLst/>
              <a:gdLst/>
              <a:ahLst/>
              <a:cxnLst/>
              <a:rect r="r" b="b" t="t" l="l"/>
              <a:pathLst>
                <a:path h="726953" w="719015">
                  <a:moveTo>
                    <a:pt x="359508" y="0"/>
                  </a:moveTo>
                  <a:cubicBezTo>
                    <a:pt x="160957" y="0"/>
                    <a:pt x="0" y="162734"/>
                    <a:pt x="0" y="363476"/>
                  </a:cubicBezTo>
                  <a:cubicBezTo>
                    <a:pt x="0" y="564219"/>
                    <a:pt x="160957" y="726953"/>
                    <a:pt x="359508" y="726953"/>
                  </a:cubicBezTo>
                  <a:cubicBezTo>
                    <a:pt x="558058" y="726953"/>
                    <a:pt x="719015" y="564219"/>
                    <a:pt x="719015" y="363476"/>
                  </a:cubicBezTo>
                  <a:cubicBezTo>
                    <a:pt x="719015" y="162734"/>
                    <a:pt x="558058" y="0"/>
                    <a:pt x="359508" y="0"/>
                  </a:cubicBezTo>
                  <a:close/>
                </a:path>
              </a:pathLst>
            </a:custGeom>
            <a:solidFill>
              <a:srgbClr val="D9D9D9"/>
            </a:solidFill>
          </p:spPr>
        </p:sp>
        <p:sp>
          <p:nvSpPr>
            <p:cNvPr name="TextBox 10" id="10"/>
            <p:cNvSpPr txBox="true"/>
            <p:nvPr/>
          </p:nvSpPr>
          <p:spPr>
            <a:xfrm>
              <a:off x="67408" y="68152"/>
              <a:ext cx="584200" cy="590649"/>
            </a:xfrm>
            <a:prstGeom prst="rect">
              <a:avLst/>
            </a:prstGeom>
          </p:spPr>
          <p:txBody>
            <a:bodyPr anchor="ctr" rtlCol="false" tIns="50800" lIns="50800" bIns="50800" rIns="50800"/>
            <a:lstStyle/>
            <a:p>
              <a:pPr algn="ctr">
                <a:lnSpc>
                  <a:spcPts val="1917"/>
                </a:lnSpc>
              </a:pPr>
            </a:p>
          </p:txBody>
        </p:sp>
      </p:grpSp>
    </p:spTree>
  </p:cSld>
  <p:clrMapOvr>
    <a:masterClrMapping/>
  </p:clrMapOvr>
</p:sld>
</file>

<file path=ppt/slides/slide3.xml><?xml version="1.0" encoding="utf-8"?>
<p:sld xmlns:p="http://schemas.openxmlformats.org/presentationml/2006/main" xmlns:a="http://schemas.openxmlformats.org/drawingml/2006/main">
  <p:cSld>
    <p:bg>
      <p:bgPr>
        <a:solidFill>
          <a:srgbClr val="295BBE"/>
        </a:solidFill>
      </p:bgPr>
    </p:bg>
    <p:spTree>
      <p:nvGrpSpPr>
        <p:cNvPr id="1" name=""/>
        <p:cNvGrpSpPr/>
        <p:nvPr/>
      </p:nvGrpSpPr>
      <p:grpSpPr>
        <a:xfrm>
          <a:off x="0" y="0"/>
          <a:ext cx="0" cy="0"/>
          <a:chOff x="0" y="0"/>
          <a:chExt cx="0" cy="0"/>
        </a:xfrm>
      </p:grpSpPr>
      <p:grpSp>
        <p:nvGrpSpPr>
          <p:cNvPr name="Group 2" id="2"/>
          <p:cNvGrpSpPr/>
          <p:nvPr/>
        </p:nvGrpSpPr>
        <p:grpSpPr>
          <a:xfrm rot="0">
            <a:off x="12913316" y="5285271"/>
            <a:ext cx="3378012" cy="3415303"/>
            <a:chOff x="0" y="0"/>
            <a:chExt cx="719015" cy="726953"/>
          </a:xfrm>
        </p:grpSpPr>
        <p:sp>
          <p:nvSpPr>
            <p:cNvPr name="Freeform 3" id="3"/>
            <p:cNvSpPr/>
            <p:nvPr/>
          </p:nvSpPr>
          <p:spPr>
            <a:xfrm flipH="false" flipV="false" rot="0">
              <a:off x="0" y="0"/>
              <a:ext cx="719015" cy="726953"/>
            </a:xfrm>
            <a:custGeom>
              <a:avLst/>
              <a:gdLst/>
              <a:ahLst/>
              <a:cxnLst/>
              <a:rect r="r" b="b" t="t" l="l"/>
              <a:pathLst>
                <a:path h="726953" w="719015">
                  <a:moveTo>
                    <a:pt x="359508" y="0"/>
                  </a:moveTo>
                  <a:cubicBezTo>
                    <a:pt x="160957" y="0"/>
                    <a:pt x="0" y="162734"/>
                    <a:pt x="0" y="363476"/>
                  </a:cubicBezTo>
                  <a:cubicBezTo>
                    <a:pt x="0" y="564219"/>
                    <a:pt x="160957" y="726953"/>
                    <a:pt x="359508" y="726953"/>
                  </a:cubicBezTo>
                  <a:cubicBezTo>
                    <a:pt x="558058" y="726953"/>
                    <a:pt x="719015" y="564219"/>
                    <a:pt x="719015" y="363476"/>
                  </a:cubicBezTo>
                  <a:cubicBezTo>
                    <a:pt x="719015" y="162734"/>
                    <a:pt x="558058" y="0"/>
                    <a:pt x="359508" y="0"/>
                  </a:cubicBezTo>
                  <a:close/>
                </a:path>
              </a:pathLst>
            </a:custGeom>
            <a:solidFill>
              <a:srgbClr val="D9D9D9"/>
            </a:solidFill>
          </p:spPr>
        </p:sp>
        <p:sp>
          <p:nvSpPr>
            <p:cNvPr name="TextBox 4" id="4"/>
            <p:cNvSpPr txBox="true"/>
            <p:nvPr/>
          </p:nvSpPr>
          <p:spPr>
            <a:xfrm>
              <a:off x="67408" y="68152"/>
              <a:ext cx="584200" cy="590649"/>
            </a:xfrm>
            <a:prstGeom prst="rect">
              <a:avLst/>
            </a:prstGeom>
          </p:spPr>
          <p:txBody>
            <a:bodyPr anchor="ctr" rtlCol="false" tIns="50800" lIns="50800" bIns="50800" rIns="50800"/>
            <a:lstStyle/>
            <a:p>
              <a:pPr algn="ctr">
                <a:lnSpc>
                  <a:spcPts val="1917"/>
                </a:lnSpc>
              </a:pPr>
            </a:p>
          </p:txBody>
        </p:sp>
      </p:grpSp>
      <p:sp>
        <p:nvSpPr>
          <p:cNvPr name="TextBox 5" id="5"/>
          <p:cNvSpPr txBox="true"/>
          <p:nvPr/>
        </p:nvSpPr>
        <p:spPr>
          <a:xfrm rot="0">
            <a:off x="8770517" y="1400559"/>
            <a:ext cx="8488783" cy="1304104"/>
          </a:xfrm>
          <a:prstGeom prst="rect">
            <a:avLst/>
          </a:prstGeom>
        </p:spPr>
        <p:txBody>
          <a:bodyPr anchor="t" rtlCol="false" tIns="0" lIns="0" bIns="0" rIns="0">
            <a:spAutoFit/>
          </a:bodyPr>
          <a:lstStyle/>
          <a:p>
            <a:pPr algn="l">
              <a:lnSpc>
                <a:spcPts val="9391"/>
              </a:lnSpc>
              <a:spcBef>
                <a:spcPct val="0"/>
              </a:spcBef>
            </a:pPr>
            <a:r>
              <a:rPr lang="en-US" b="true" sz="8696">
                <a:solidFill>
                  <a:srgbClr val="FFFFFF"/>
                </a:solidFill>
                <a:latin typeface="Poppins Bold"/>
                <a:ea typeface="Poppins Bold"/>
                <a:cs typeface="Poppins Bold"/>
                <a:sym typeface="Poppins Bold"/>
              </a:rPr>
              <a:t>ΠΕΡΙΕΧΟΜΕΝΑ</a:t>
            </a:r>
          </a:p>
        </p:txBody>
      </p:sp>
      <p:sp>
        <p:nvSpPr>
          <p:cNvPr name="TextBox 6" id="6"/>
          <p:cNvSpPr txBox="true"/>
          <p:nvPr/>
        </p:nvSpPr>
        <p:spPr>
          <a:xfrm rot="5400000">
            <a:off x="17339423" y="9032827"/>
            <a:ext cx="936679" cy="272173"/>
          </a:xfrm>
          <a:prstGeom prst="rect">
            <a:avLst/>
          </a:prstGeom>
        </p:spPr>
        <p:txBody>
          <a:bodyPr anchor="t" rtlCol="false" tIns="0" lIns="0" bIns="0" rIns="0">
            <a:spAutoFit/>
          </a:bodyPr>
          <a:lstStyle/>
          <a:p>
            <a:pPr algn="l">
              <a:lnSpc>
                <a:spcPts val="1934"/>
              </a:lnSpc>
              <a:spcBef>
                <a:spcPct val="0"/>
              </a:spcBef>
            </a:pPr>
            <a:r>
              <a:rPr lang="en-US" sz="1791">
                <a:solidFill>
                  <a:srgbClr val="FFFFFF"/>
                </a:solidFill>
                <a:latin typeface="Poppins"/>
                <a:ea typeface="Poppins"/>
                <a:cs typeface="Poppins"/>
                <a:sym typeface="Poppins"/>
              </a:rPr>
              <a:t>page 3</a:t>
            </a:r>
          </a:p>
        </p:txBody>
      </p:sp>
      <p:grpSp>
        <p:nvGrpSpPr>
          <p:cNvPr name="Group 7" id="7"/>
          <p:cNvGrpSpPr/>
          <p:nvPr/>
        </p:nvGrpSpPr>
        <p:grpSpPr>
          <a:xfrm rot="0">
            <a:off x="1786773" y="900858"/>
            <a:ext cx="5723321" cy="8485284"/>
            <a:chOff x="0" y="0"/>
            <a:chExt cx="7631094" cy="11313712"/>
          </a:xfrm>
        </p:grpSpPr>
        <p:grpSp>
          <p:nvGrpSpPr>
            <p:cNvPr name="Group 8" id="8"/>
            <p:cNvGrpSpPr/>
            <p:nvPr/>
          </p:nvGrpSpPr>
          <p:grpSpPr>
            <a:xfrm rot="0">
              <a:off x="0" y="0"/>
              <a:ext cx="737723" cy="73772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5D3E2"/>
              </a:solidFill>
            </p:spPr>
          </p:sp>
          <p:sp>
            <p:nvSpPr>
              <p:cNvPr name="TextBox 10" id="10"/>
              <p:cNvSpPr txBox="true"/>
              <p:nvPr/>
            </p:nvSpPr>
            <p:spPr>
              <a:xfrm>
                <a:off x="76200" y="76200"/>
                <a:ext cx="660400" cy="660400"/>
              </a:xfrm>
              <a:prstGeom prst="rect">
                <a:avLst/>
              </a:prstGeom>
            </p:spPr>
            <p:txBody>
              <a:bodyPr anchor="ctr" rtlCol="false" tIns="50800" lIns="50800" bIns="50800" rIns="50800"/>
              <a:lstStyle/>
              <a:p>
                <a:pPr algn="ctr">
                  <a:lnSpc>
                    <a:spcPts val="1917"/>
                  </a:lnSpc>
                </a:pPr>
              </a:p>
            </p:txBody>
          </p:sp>
        </p:grpSp>
        <p:sp>
          <p:nvSpPr>
            <p:cNvPr name="TextBox 11" id="11"/>
            <p:cNvSpPr txBox="true"/>
            <p:nvPr/>
          </p:nvSpPr>
          <p:spPr>
            <a:xfrm rot="0">
              <a:off x="1023196" y="117078"/>
              <a:ext cx="6062886" cy="513092"/>
            </a:xfrm>
            <a:prstGeom prst="rect">
              <a:avLst/>
            </a:prstGeom>
          </p:spPr>
          <p:txBody>
            <a:bodyPr anchor="t" rtlCol="false" tIns="0" lIns="0" bIns="0" rIns="0">
              <a:spAutoFit/>
            </a:bodyPr>
            <a:lstStyle/>
            <a:p>
              <a:pPr algn="l">
                <a:lnSpc>
                  <a:spcPts val="2801"/>
                </a:lnSpc>
                <a:spcBef>
                  <a:spcPct val="0"/>
                </a:spcBef>
              </a:pPr>
              <a:r>
                <a:rPr lang="en-US" b="true" sz="2594">
                  <a:solidFill>
                    <a:srgbClr val="FFFFFF"/>
                  </a:solidFill>
                  <a:latin typeface="Poppins Bold"/>
                  <a:ea typeface="Poppins Bold"/>
                  <a:cs typeface="Poppins Bold"/>
                  <a:sym typeface="Poppins Bold"/>
                </a:rPr>
                <a:t>ΕΙΣΑΓΩΓΗ ΣΤΟ ΠΡΟΒΛΗΜΑ</a:t>
              </a:r>
            </a:p>
          </p:txBody>
        </p:sp>
        <p:grpSp>
          <p:nvGrpSpPr>
            <p:cNvPr name="Group 12" id="12"/>
            <p:cNvGrpSpPr/>
            <p:nvPr/>
          </p:nvGrpSpPr>
          <p:grpSpPr>
            <a:xfrm rot="0">
              <a:off x="0" y="1512423"/>
              <a:ext cx="737723" cy="73772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5D3E2"/>
              </a:solidFill>
            </p:spPr>
          </p:sp>
          <p:sp>
            <p:nvSpPr>
              <p:cNvPr name="TextBox 14" id="14"/>
              <p:cNvSpPr txBox="true"/>
              <p:nvPr/>
            </p:nvSpPr>
            <p:spPr>
              <a:xfrm>
                <a:off x="76200" y="76200"/>
                <a:ext cx="660400" cy="660400"/>
              </a:xfrm>
              <a:prstGeom prst="rect">
                <a:avLst/>
              </a:prstGeom>
            </p:spPr>
            <p:txBody>
              <a:bodyPr anchor="ctr" rtlCol="false" tIns="50800" lIns="50800" bIns="50800" rIns="50800"/>
              <a:lstStyle/>
              <a:p>
                <a:pPr algn="ctr">
                  <a:lnSpc>
                    <a:spcPts val="1917"/>
                  </a:lnSpc>
                </a:pPr>
              </a:p>
            </p:txBody>
          </p:sp>
        </p:grpSp>
        <p:sp>
          <p:nvSpPr>
            <p:cNvPr name="TextBox 15" id="15"/>
            <p:cNvSpPr txBox="true"/>
            <p:nvPr/>
          </p:nvSpPr>
          <p:spPr>
            <a:xfrm rot="0">
              <a:off x="1023196" y="1629501"/>
              <a:ext cx="5715093" cy="513092"/>
            </a:xfrm>
            <a:prstGeom prst="rect">
              <a:avLst/>
            </a:prstGeom>
          </p:spPr>
          <p:txBody>
            <a:bodyPr anchor="t" rtlCol="false" tIns="0" lIns="0" bIns="0" rIns="0">
              <a:spAutoFit/>
            </a:bodyPr>
            <a:lstStyle/>
            <a:p>
              <a:pPr algn="l">
                <a:lnSpc>
                  <a:spcPts val="2801"/>
                </a:lnSpc>
                <a:spcBef>
                  <a:spcPct val="0"/>
                </a:spcBef>
              </a:pPr>
              <a:r>
                <a:rPr lang="en-US" b="true" sz="2594">
                  <a:solidFill>
                    <a:srgbClr val="FFFFFF"/>
                  </a:solidFill>
                  <a:latin typeface="Poppins Bold"/>
                  <a:ea typeface="Poppins Bold"/>
                  <a:cs typeface="Poppins Bold"/>
                  <a:sym typeface="Poppins Bold"/>
                </a:rPr>
                <a:t>ΜΕΘΟΔΟΛΟΓΙΑ - ΧΡΗΣΗ</a:t>
              </a:r>
            </a:p>
          </p:txBody>
        </p:sp>
        <p:grpSp>
          <p:nvGrpSpPr>
            <p:cNvPr name="Group 16" id="16"/>
            <p:cNvGrpSpPr/>
            <p:nvPr/>
          </p:nvGrpSpPr>
          <p:grpSpPr>
            <a:xfrm rot="0">
              <a:off x="0" y="3024845"/>
              <a:ext cx="737723" cy="737723"/>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5D3E2"/>
              </a:solidFill>
            </p:spPr>
          </p:sp>
          <p:sp>
            <p:nvSpPr>
              <p:cNvPr name="TextBox 18" id="18"/>
              <p:cNvSpPr txBox="true"/>
              <p:nvPr/>
            </p:nvSpPr>
            <p:spPr>
              <a:xfrm>
                <a:off x="76200" y="76200"/>
                <a:ext cx="660400" cy="660400"/>
              </a:xfrm>
              <a:prstGeom prst="rect">
                <a:avLst/>
              </a:prstGeom>
            </p:spPr>
            <p:txBody>
              <a:bodyPr anchor="ctr" rtlCol="false" tIns="50800" lIns="50800" bIns="50800" rIns="50800"/>
              <a:lstStyle/>
              <a:p>
                <a:pPr algn="ctr">
                  <a:lnSpc>
                    <a:spcPts val="1917"/>
                  </a:lnSpc>
                </a:pPr>
              </a:p>
            </p:txBody>
          </p:sp>
        </p:grpSp>
        <p:sp>
          <p:nvSpPr>
            <p:cNvPr name="TextBox 19" id="19"/>
            <p:cNvSpPr txBox="true"/>
            <p:nvPr/>
          </p:nvSpPr>
          <p:spPr>
            <a:xfrm rot="0">
              <a:off x="1023196" y="3142718"/>
              <a:ext cx="6607899" cy="513092"/>
            </a:xfrm>
            <a:prstGeom prst="rect">
              <a:avLst/>
            </a:prstGeom>
          </p:spPr>
          <p:txBody>
            <a:bodyPr anchor="t" rtlCol="false" tIns="0" lIns="0" bIns="0" rIns="0">
              <a:spAutoFit/>
            </a:bodyPr>
            <a:lstStyle/>
            <a:p>
              <a:pPr algn="l">
                <a:lnSpc>
                  <a:spcPts val="2801"/>
                </a:lnSpc>
                <a:spcBef>
                  <a:spcPct val="0"/>
                </a:spcBef>
              </a:pPr>
              <a:r>
                <a:rPr lang="en-US" b="true" sz="2594">
                  <a:solidFill>
                    <a:srgbClr val="FFFFFF"/>
                  </a:solidFill>
                  <a:latin typeface="Poppins Bold"/>
                  <a:ea typeface="Poppins Bold"/>
                  <a:cs typeface="Poppins Bold"/>
                  <a:sym typeface="Poppins Bold"/>
                </a:rPr>
                <a:t>ΑΠΟΤΕΛΕΣΜΑΤΑ ΕΡΕΥΝΩΝ </a:t>
              </a:r>
            </a:p>
          </p:txBody>
        </p:sp>
        <p:grpSp>
          <p:nvGrpSpPr>
            <p:cNvPr name="Group 20" id="20"/>
            <p:cNvGrpSpPr/>
            <p:nvPr/>
          </p:nvGrpSpPr>
          <p:grpSpPr>
            <a:xfrm rot="0">
              <a:off x="0" y="6044206"/>
              <a:ext cx="737723" cy="737723"/>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5D3E2"/>
              </a:solidFill>
            </p:spPr>
          </p:sp>
          <p:sp>
            <p:nvSpPr>
              <p:cNvPr name="TextBox 22" id="22"/>
              <p:cNvSpPr txBox="true"/>
              <p:nvPr/>
            </p:nvSpPr>
            <p:spPr>
              <a:xfrm>
                <a:off x="76200" y="76200"/>
                <a:ext cx="660400" cy="660400"/>
              </a:xfrm>
              <a:prstGeom prst="rect">
                <a:avLst/>
              </a:prstGeom>
            </p:spPr>
            <p:txBody>
              <a:bodyPr anchor="ctr" rtlCol="false" tIns="50800" lIns="50800" bIns="50800" rIns="50800"/>
              <a:lstStyle/>
              <a:p>
                <a:pPr algn="ctr">
                  <a:lnSpc>
                    <a:spcPts val="1917"/>
                  </a:lnSpc>
                </a:pPr>
              </a:p>
            </p:txBody>
          </p:sp>
        </p:grpSp>
        <p:sp>
          <p:nvSpPr>
            <p:cNvPr name="TextBox 23" id="23"/>
            <p:cNvSpPr txBox="true"/>
            <p:nvPr/>
          </p:nvSpPr>
          <p:spPr>
            <a:xfrm rot="0">
              <a:off x="1023196" y="6161284"/>
              <a:ext cx="6062886" cy="513092"/>
            </a:xfrm>
            <a:prstGeom prst="rect">
              <a:avLst/>
            </a:prstGeom>
          </p:spPr>
          <p:txBody>
            <a:bodyPr anchor="t" rtlCol="false" tIns="0" lIns="0" bIns="0" rIns="0">
              <a:spAutoFit/>
            </a:bodyPr>
            <a:lstStyle/>
            <a:p>
              <a:pPr algn="l">
                <a:lnSpc>
                  <a:spcPts val="2801"/>
                </a:lnSpc>
                <a:spcBef>
                  <a:spcPct val="0"/>
                </a:spcBef>
              </a:pPr>
              <a:r>
                <a:rPr lang="en-US" b="true" sz="2594">
                  <a:solidFill>
                    <a:srgbClr val="FFFFFF"/>
                  </a:solidFill>
                  <a:latin typeface="Poppins Bold"/>
                  <a:ea typeface="Poppins Bold"/>
                  <a:cs typeface="Poppins Bold"/>
                  <a:sym typeface="Poppins Bold"/>
                </a:rPr>
                <a:t>ΜΕΛΛΟΝΤΙΚΕΣ ΠΡΟΤΑΣΕΙΣ</a:t>
              </a:r>
            </a:p>
          </p:txBody>
        </p:sp>
        <p:grpSp>
          <p:nvGrpSpPr>
            <p:cNvPr name="Group 24" id="24"/>
            <p:cNvGrpSpPr/>
            <p:nvPr/>
          </p:nvGrpSpPr>
          <p:grpSpPr>
            <a:xfrm rot="0">
              <a:off x="0" y="4537268"/>
              <a:ext cx="737723" cy="737723"/>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5D3E2"/>
              </a:solidFill>
            </p:spPr>
          </p:sp>
          <p:sp>
            <p:nvSpPr>
              <p:cNvPr name="TextBox 26" id="26"/>
              <p:cNvSpPr txBox="true"/>
              <p:nvPr/>
            </p:nvSpPr>
            <p:spPr>
              <a:xfrm>
                <a:off x="76200" y="76200"/>
                <a:ext cx="660400" cy="660400"/>
              </a:xfrm>
              <a:prstGeom prst="rect">
                <a:avLst/>
              </a:prstGeom>
            </p:spPr>
            <p:txBody>
              <a:bodyPr anchor="ctr" rtlCol="false" tIns="50800" lIns="50800" bIns="50800" rIns="50800"/>
              <a:lstStyle/>
              <a:p>
                <a:pPr algn="ctr">
                  <a:lnSpc>
                    <a:spcPts val="1917"/>
                  </a:lnSpc>
                </a:pPr>
              </a:p>
            </p:txBody>
          </p:sp>
        </p:grpSp>
        <p:sp>
          <p:nvSpPr>
            <p:cNvPr name="TextBox 27" id="27"/>
            <p:cNvSpPr txBox="true"/>
            <p:nvPr/>
          </p:nvSpPr>
          <p:spPr>
            <a:xfrm rot="0">
              <a:off x="1023196" y="4655935"/>
              <a:ext cx="6062886" cy="982992"/>
            </a:xfrm>
            <a:prstGeom prst="rect">
              <a:avLst/>
            </a:prstGeom>
          </p:spPr>
          <p:txBody>
            <a:bodyPr anchor="t" rtlCol="false" tIns="0" lIns="0" bIns="0" rIns="0">
              <a:spAutoFit/>
            </a:bodyPr>
            <a:lstStyle/>
            <a:p>
              <a:pPr algn="l">
                <a:lnSpc>
                  <a:spcPts val="2801"/>
                </a:lnSpc>
              </a:pPr>
              <a:r>
                <a:rPr lang="en-US" sz="2594" b="true">
                  <a:solidFill>
                    <a:srgbClr val="FFFFFF"/>
                  </a:solidFill>
                  <a:latin typeface="Poppins Bold"/>
                  <a:ea typeface="Poppins Bold"/>
                  <a:cs typeface="Poppins Bold"/>
                  <a:sym typeface="Poppins Bold"/>
                </a:rPr>
                <a:t>FRESHBOX AI</a:t>
              </a:r>
            </a:p>
            <a:p>
              <a:pPr algn="l">
                <a:lnSpc>
                  <a:spcPts val="2801"/>
                </a:lnSpc>
                <a:spcBef>
                  <a:spcPct val="0"/>
                </a:spcBef>
              </a:pPr>
            </a:p>
          </p:txBody>
        </p:sp>
        <p:grpSp>
          <p:nvGrpSpPr>
            <p:cNvPr name="Group 28" id="28"/>
            <p:cNvGrpSpPr/>
            <p:nvPr/>
          </p:nvGrpSpPr>
          <p:grpSpPr>
            <a:xfrm rot="0">
              <a:off x="0" y="9069051"/>
              <a:ext cx="737723" cy="737723"/>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5D3E2"/>
              </a:solidFill>
            </p:spPr>
          </p:sp>
          <p:sp>
            <p:nvSpPr>
              <p:cNvPr name="TextBox 30" id="30"/>
              <p:cNvSpPr txBox="true"/>
              <p:nvPr/>
            </p:nvSpPr>
            <p:spPr>
              <a:xfrm>
                <a:off x="76200" y="76200"/>
                <a:ext cx="660400" cy="660400"/>
              </a:xfrm>
              <a:prstGeom prst="rect">
                <a:avLst/>
              </a:prstGeom>
            </p:spPr>
            <p:txBody>
              <a:bodyPr anchor="ctr" rtlCol="false" tIns="50800" lIns="50800" bIns="50800" rIns="50800"/>
              <a:lstStyle/>
              <a:p>
                <a:pPr algn="ctr">
                  <a:lnSpc>
                    <a:spcPts val="1917"/>
                  </a:lnSpc>
                </a:pPr>
              </a:p>
            </p:txBody>
          </p:sp>
        </p:grpSp>
        <p:sp>
          <p:nvSpPr>
            <p:cNvPr name="TextBox 31" id="31"/>
            <p:cNvSpPr txBox="true"/>
            <p:nvPr/>
          </p:nvSpPr>
          <p:spPr>
            <a:xfrm rot="0">
              <a:off x="1023196" y="9187718"/>
              <a:ext cx="6062886" cy="513092"/>
            </a:xfrm>
            <a:prstGeom prst="rect">
              <a:avLst/>
            </a:prstGeom>
          </p:spPr>
          <p:txBody>
            <a:bodyPr anchor="t" rtlCol="false" tIns="0" lIns="0" bIns="0" rIns="0">
              <a:spAutoFit/>
            </a:bodyPr>
            <a:lstStyle/>
            <a:p>
              <a:pPr algn="l">
                <a:lnSpc>
                  <a:spcPts val="2801"/>
                </a:lnSpc>
                <a:spcBef>
                  <a:spcPct val="0"/>
                </a:spcBef>
              </a:pPr>
              <a:r>
                <a:rPr lang="en-US" b="true" sz="2594">
                  <a:solidFill>
                    <a:srgbClr val="FFFFFF"/>
                  </a:solidFill>
                  <a:latin typeface="Poppins Bold"/>
                  <a:ea typeface="Poppins Bold"/>
                  <a:cs typeface="Poppins Bold"/>
                  <a:sym typeface="Poppins Bold"/>
                </a:rPr>
                <a:t>ΣΥΧΝΕΣ ΕΡΩΤΗΣΕΙΣ (FAQ)</a:t>
              </a:r>
            </a:p>
          </p:txBody>
        </p:sp>
        <p:grpSp>
          <p:nvGrpSpPr>
            <p:cNvPr name="Group 32" id="32"/>
            <p:cNvGrpSpPr/>
            <p:nvPr/>
          </p:nvGrpSpPr>
          <p:grpSpPr>
            <a:xfrm rot="0">
              <a:off x="0" y="10575989"/>
              <a:ext cx="737723" cy="737723"/>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5D3E2"/>
              </a:solidFill>
            </p:spPr>
          </p:sp>
          <p:sp>
            <p:nvSpPr>
              <p:cNvPr name="TextBox 34" id="34"/>
              <p:cNvSpPr txBox="true"/>
              <p:nvPr/>
            </p:nvSpPr>
            <p:spPr>
              <a:xfrm>
                <a:off x="76200" y="76200"/>
                <a:ext cx="660400" cy="660400"/>
              </a:xfrm>
              <a:prstGeom prst="rect">
                <a:avLst/>
              </a:prstGeom>
            </p:spPr>
            <p:txBody>
              <a:bodyPr anchor="ctr" rtlCol="false" tIns="50800" lIns="50800" bIns="50800" rIns="50800"/>
              <a:lstStyle/>
              <a:p>
                <a:pPr algn="ctr">
                  <a:lnSpc>
                    <a:spcPts val="1917"/>
                  </a:lnSpc>
                </a:pPr>
              </a:p>
            </p:txBody>
          </p:sp>
        </p:grpSp>
        <p:sp>
          <p:nvSpPr>
            <p:cNvPr name="TextBox 35" id="35"/>
            <p:cNvSpPr txBox="true"/>
            <p:nvPr/>
          </p:nvSpPr>
          <p:spPr>
            <a:xfrm rot="0">
              <a:off x="1023196" y="10700935"/>
              <a:ext cx="6323953" cy="513092"/>
            </a:xfrm>
            <a:prstGeom prst="rect">
              <a:avLst/>
            </a:prstGeom>
          </p:spPr>
          <p:txBody>
            <a:bodyPr anchor="t" rtlCol="false" tIns="0" lIns="0" bIns="0" rIns="0">
              <a:spAutoFit/>
            </a:bodyPr>
            <a:lstStyle/>
            <a:p>
              <a:pPr algn="l">
                <a:lnSpc>
                  <a:spcPts val="2801"/>
                </a:lnSpc>
                <a:spcBef>
                  <a:spcPct val="0"/>
                </a:spcBef>
              </a:pPr>
              <a:r>
                <a:rPr lang="en-US" b="true" sz="2594">
                  <a:solidFill>
                    <a:srgbClr val="FFFFFF"/>
                  </a:solidFill>
                  <a:latin typeface="Poppins Bold"/>
                  <a:ea typeface="Poppins Bold"/>
                  <a:cs typeface="Poppins Bold"/>
                  <a:sym typeface="Poppins Bold"/>
                </a:rPr>
                <a:t>ΑΝΑΦΟΡΕΣ - ΒΙΒΛΙΟΓΡΑΦΙΑ</a:t>
              </a:r>
            </a:p>
          </p:txBody>
        </p:sp>
        <p:grpSp>
          <p:nvGrpSpPr>
            <p:cNvPr name="Group 36" id="36"/>
            <p:cNvGrpSpPr/>
            <p:nvPr/>
          </p:nvGrpSpPr>
          <p:grpSpPr>
            <a:xfrm rot="0">
              <a:off x="0" y="7556629"/>
              <a:ext cx="737723" cy="737723"/>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5D3E2"/>
              </a:solidFill>
            </p:spPr>
          </p:sp>
          <p:sp>
            <p:nvSpPr>
              <p:cNvPr name="TextBox 38" id="38"/>
              <p:cNvSpPr txBox="true"/>
              <p:nvPr/>
            </p:nvSpPr>
            <p:spPr>
              <a:xfrm>
                <a:off x="76200" y="76200"/>
                <a:ext cx="660400" cy="660400"/>
              </a:xfrm>
              <a:prstGeom prst="rect">
                <a:avLst/>
              </a:prstGeom>
            </p:spPr>
            <p:txBody>
              <a:bodyPr anchor="ctr" rtlCol="false" tIns="50800" lIns="50800" bIns="50800" rIns="50800"/>
              <a:lstStyle/>
              <a:p>
                <a:pPr algn="ctr">
                  <a:lnSpc>
                    <a:spcPts val="1917"/>
                  </a:lnSpc>
                </a:pPr>
              </a:p>
            </p:txBody>
          </p:sp>
        </p:grpSp>
        <p:sp>
          <p:nvSpPr>
            <p:cNvPr name="TextBox 39" id="39"/>
            <p:cNvSpPr txBox="true"/>
            <p:nvPr/>
          </p:nvSpPr>
          <p:spPr>
            <a:xfrm rot="0">
              <a:off x="1023196" y="7674501"/>
              <a:ext cx="6062886" cy="513092"/>
            </a:xfrm>
            <a:prstGeom prst="rect">
              <a:avLst/>
            </a:prstGeom>
          </p:spPr>
          <p:txBody>
            <a:bodyPr anchor="t" rtlCol="false" tIns="0" lIns="0" bIns="0" rIns="0">
              <a:spAutoFit/>
            </a:bodyPr>
            <a:lstStyle/>
            <a:p>
              <a:pPr algn="l">
                <a:lnSpc>
                  <a:spcPts val="2801"/>
                </a:lnSpc>
                <a:spcBef>
                  <a:spcPct val="0"/>
                </a:spcBef>
              </a:pPr>
              <a:r>
                <a:rPr lang="en-US" b="true" sz="2594">
                  <a:solidFill>
                    <a:srgbClr val="FFFFFF"/>
                  </a:solidFill>
                  <a:latin typeface="Poppins Bold"/>
                  <a:ea typeface="Poppins Bold"/>
                  <a:cs typeface="Poppins Bold"/>
                  <a:sym typeface="Poppins Bold"/>
                </a:rPr>
                <a:t>ΕΥΚΑΙΡΙΑ ΑΓΟΡΑΣ</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433594" y="5143500"/>
            <a:ext cx="10134151" cy="10124853"/>
            <a:chOff x="0" y="0"/>
            <a:chExt cx="813546" cy="812800"/>
          </a:xfrm>
        </p:grpSpPr>
        <p:sp>
          <p:nvSpPr>
            <p:cNvPr name="Freeform 3" id="3"/>
            <p:cNvSpPr/>
            <p:nvPr/>
          </p:nvSpPr>
          <p:spPr>
            <a:xfrm flipH="false" flipV="false" rot="0">
              <a:off x="0" y="0"/>
              <a:ext cx="813546" cy="812800"/>
            </a:xfrm>
            <a:custGeom>
              <a:avLst/>
              <a:gdLst/>
              <a:ahLst/>
              <a:cxnLst/>
              <a:rect r="r" b="b" t="t" l="l"/>
              <a:pathLst>
                <a:path h="812800" w="813546">
                  <a:moveTo>
                    <a:pt x="406773" y="0"/>
                  </a:moveTo>
                  <a:cubicBezTo>
                    <a:pt x="182119" y="0"/>
                    <a:pt x="0" y="181951"/>
                    <a:pt x="0" y="406400"/>
                  </a:cubicBezTo>
                  <a:cubicBezTo>
                    <a:pt x="0" y="630849"/>
                    <a:pt x="182119" y="812800"/>
                    <a:pt x="406773" y="812800"/>
                  </a:cubicBezTo>
                  <a:cubicBezTo>
                    <a:pt x="631428" y="812800"/>
                    <a:pt x="813546" y="630849"/>
                    <a:pt x="813546" y="406400"/>
                  </a:cubicBezTo>
                  <a:cubicBezTo>
                    <a:pt x="813546" y="181951"/>
                    <a:pt x="631428" y="0"/>
                    <a:pt x="406773" y="0"/>
                  </a:cubicBezTo>
                  <a:close/>
                </a:path>
              </a:pathLst>
            </a:custGeom>
            <a:solidFill>
              <a:srgbClr val="295BBE"/>
            </a:solidFill>
          </p:spPr>
        </p:sp>
        <p:sp>
          <p:nvSpPr>
            <p:cNvPr name="TextBox 4" id="4"/>
            <p:cNvSpPr txBox="true"/>
            <p:nvPr/>
          </p:nvSpPr>
          <p:spPr>
            <a:xfrm>
              <a:off x="76270" y="76200"/>
              <a:ext cx="661006" cy="660400"/>
            </a:xfrm>
            <a:prstGeom prst="rect">
              <a:avLst/>
            </a:prstGeom>
          </p:spPr>
          <p:txBody>
            <a:bodyPr anchor="ctr" rtlCol="false" tIns="50800" lIns="50800" bIns="50800" rIns="50800"/>
            <a:lstStyle/>
            <a:p>
              <a:pPr algn="ctr">
                <a:lnSpc>
                  <a:spcPts val="1917"/>
                </a:lnSpc>
              </a:pPr>
            </a:p>
          </p:txBody>
        </p:sp>
      </p:grpSp>
      <p:sp>
        <p:nvSpPr>
          <p:cNvPr name="Freeform 5" id="5"/>
          <p:cNvSpPr/>
          <p:nvPr/>
        </p:nvSpPr>
        <p:spPr>
          <a:xfrm flipH="false" flipV="false" rot="0">
            <a:off x="9565547" y="6350022"/>
            <a:ext cx="4070450" cy="3393282"/>
          </a:xfrm>
          <a:custGeom>
            <a:avLst/>
            <a:gdLst/>
            <a:ahLst/>
            <a:cxnLst/>
            <a:rect r="r" b="b" t="t" l="l"/>
            <a:pathLst>
              <a:path h="3393282" w="4070450">
                <a:moveTo>
                  <a:pt x="0" y="0"/>
                </a:moveTo>
                <a:lnTo>
                  <a:pt x="4070450" y="0"/>
                </a:lnTo>
                <a:lnTo>
                  <a:pt x="4070450" y="3393282"/>
                </a:lnTo>
                <a:lnTo>
                  <a:pt x="0" y="3393282"/>
                </a:lnTo>
                <a:lnTo>
                  <a:pt x="0" y="0"/>
                </a:lnTo>
                <a:close/>
              </a:path>
            </a:pathLst>
          </a:custGeom>
          <a:blipFill>
            <a:blip r:embed="rId2"/>
            <a:stretch>
              <a:fillRect l="0" t="0" r="0" b="0"/>
            </a:stretch>
          </a:blipFill>
        </p:spPr>
      </p:sp>
      <p:sp>
        <p:nvSpPr>
          <p:cNvPr name="Freeform 6" id="6"/>
          <p:cNvSpPr/>
          <p:nvPr/>
        </p:nvSpPr>
        <p:spPr>
          <a:xfrm flipH="false" flipV="false" rot="0">
            <a:off x="5865752" y="3895819"/>
            <a:ext cx="3058012" cy="2847176"/>
          </a:xfrm>
          <a:custGeom>
            <a:avLst/>
            <a:gdLst/>
            <a:ahLst/>
            <a:cxnLst/>
            <a:rect r="r" b="b" t="t" l="l"/>
            <a:pathLst>
              <a:path h="2847176" w="3058012">
                <a:moveTo>
                  <a:pt x="0" y="0"/>
                </a:moveTo>
                <a:lnTo>
                  <a:pt x="3058012" y="0"/>
                </a:lnTo>
                <a:lnTo>
                  <a:pt x="3058012" y="2847176"/>
                </a:lnTo>
                <a:lnTo>
                  <a:pt x="0" y="2847176"/>
                </a:lnTo>
                <a:lnTo>
                  <a:pt x="0" y="0"/>
                </a:lnTo>
                <a:close/>
              </a:path>
            </a:pathLst>
          </a:custGeom>
          <a:blipFill>
            <a:blip r:embed="rId3"/>
            <a:stretch>
              <a:fillRect l="-27329" t="-28559" r="-24179" b="-34168"/>
            </a:stretch>
          </a:blipFill>
        </p:spPr>
      </p:sp>
      <p:sp>
        <p:nvSpPr>
          <p:cNvPr name="Freeform 7" id="7"/>
          <p:cNvSpPr/>
          <p:nvPr/>
        </p:nvSpPr>
        <p:spPr>
          <a:xfrm flipH="false" flipV="false" rot="0">
            <a:off x="14973178" y="2528303"/>
            <a:ext cx="2387501" cy="3821719"/>
          </a:xfrm>
          <a:custGeom>
            <a:avLst/>
            <a:gdLst/>
            <a:ahLst/>
            <a:cxnLst/>
            <a:rect r="r" b="b" t="t" l="l"/>
            <a:pathLst>
              <a:path h="3821719" w="2387501">
                <a:moveTo>
                  <a:pt x="0" y="0"/>
                </a:moveTo>
                <a:lnTo>
                  <a:pt x="2387501" y="0"/>
                </a:lnTo>
                <a:lnTo>
                  <a:pt x="2387501" y="3821719"/>
                </a:lnTo>
                <a:lnTo>
                  <a:pt x="0" y="3821719"/>
                </a:lnTo>
                <a:lnTo>
                  <a:pt x="0" y="0"/>
                </a:lnTo>
                <a:close/>
              </a:path>
            </a:pathLst>
          </a:custGeom>
          <a:blipFill>
            <a:blip r:embed="rId4"/>
            <a:stretch>
              <a:fillRect l="0" t="0" r="0" b="0"/>
            </a:stretch>
          </a:blipFill>
        </p:spPr>
      </p:sp>
      <p:sp>
        <p:nvSpPr>
          <p:cNvPr name="Freeform 8" id="8"/>
          <p:cNvSpPr/>
          <p:nvPr/>
        </p:nvSpPr>
        <p:spPr>
          <a:xfrm flipH="false" flipV="false" rot="0">
            <a:off x="14441177" y="4167848"/>
            <a:ext cx="1064003" cy="1486585"/>
          </a:xfrm>
          <a:custGeom>
            <a:avLst/>
            <a:gdLst/>
            <a:ahLst/>
            <a:cxnLst/>
            <a:rect r="r" b="b" t="t" l="l"/>
            <a:pathLst>
              <a:path h="1486585" w="1064003">
                <a:moveTo>
                  <a:pt x="0" y="0"/>
                </a:moveTo>
                <a:lnTo>
                  <a:pt x="1064003" y="0"/>
                </a:lnTo>
                <a:lnTo>
                  <a:pt x="1064003" y="1486585"/>
                </a:lnTo>
                <a:lnTo>
                  <a:pt x="0" y="1486585"/>
                </a:lnTo>
                <a:lnTo>
                  <a:pt x="0" y="0"/>
                </a:lnTo>
                <a:close/>
              </a:path>
            </a:pathLst>
          </a:custGeom>
          <a:blipFill>
            <a:blip r:embed="rId5"/>
            <a:stretch>
              <a:fillRect l="0" t="0" r="0" b="0"/>
            </a:stretch>
          </a:blipFill>
        </p:spPr>
      </p:sp>
      <p:sp>
        <p:nvSpPr>
          <p:cNvPr name="TextBox 9" id="9"/>
          <p:cNvSpPr txBox="true"/>
          <p:nvPr/>
        </p:nvSpPr>
        <p:spPr>
          <a:xfrm rot="5400000">
            <a:off x="17336912" y="9029381"/>
            <a:ext cx="936679" cy="272173"/>
          </a:xfrm>
          <a:prstGeom prst="rect">
            <a:avLst/>
          </a:prstGeom>
        </p:spPr>
        <p:txBody>
          <a:bodyPr anchor="t" rtlCol="false" tIns="0" lIns="0" bIns="0" rIns="0">
            <a:spAutoFit/>
          </a:bodyPr>
          <a:lstStyle/>
          <a:p>
            <a:pPr algn="l">
              <a:lnSpc>
                <a:spcPts val="1934"/>
              </a:lnSpc>
              <a:spcBef>
                <a:spcPct val="0"/>
              </a:spcBef>
            </a:pPr>
            <a:r>
              <a:rPr lang="en-US" sz="1791">
                <a:solidFill>
                  <a:srgbClr val="FFFFFF"/>
                </a:solidFill>
                <a:latin typeface="Poppins"/>
                <a:ea typeface="Poppins"/>
                <a:cs typeface="Poppins"/>
                <a:sym typeface="Poppins"/>
              </a:rPr>
              <a:t>page 4</a:t>
            </a:r>
          </a:p>
        </p:txBody>
      </p:sp>
      <p:sp>
        <p:nvSpPr>
          <p:cNvPr name="TextBox 10" id="10"/>
          <p:cNvSpPr txBox="true"/>
          <p:nvPr/>
        </p:nvSpPr>
        <p:spPr>
          <a:xfrm rot="0">
            <a:off x="9945895" y="476250"/>
            <a:ext cx="7751845" cy="1300807"/>
          </a:xfrm>
          <a:prstGeom prst="rect">
            <a:avLst/>
          </a:prstGeom>
        </p:spPr>
        <p:txBody>
          <a:bodyPr anchor="t" rtlCol="false" tIns="0" lIns="0" bIns="0" rIns="0">
            <a:spAutoFit/>
          </a:bodyPr>
          <a:lstStyle/>
          <a:p>
            <a:pPr algn="l">
              <a:lnSpc>
                <a:spcPts val="9391"/>
              </a:lnSpc>
              <a:spcBef>
                <a:spcPct val="0"/>
              </a:spcBef>
            </a:pPr>
            <a:r>
              <a:rPr lang="en-US" sz="8696">
                <a:solidFill>
                  <a:srgbClr val="295BBE"/>
                </a:solidFill>
                <a:latin typeface="Poppins Light"/>
                <a:ea typeface="Poppins Light"/>
                <a:cs typeface="Poppins Light"/>
                <a:sym typeface="Poppins Light"/>
              </a:rPr>
              <a:t>ΕΙΣΑΓΩΓΗ ΣΤΟ</a:t>
            </a:r>
          </a:p>
        </p:txBody>
      </p:sp>
      <p:sp>
        <p:nvSpPr>
          <p:cNvPr name="TextBox 11" id="11"/>
          <p:cNvSpPr txBox="true"/>
          <p:nvPr/>
        </p:nvSpPr>
        <p:spPr>
          <a:xfrm rot="0">
            <a:off x="10974595" y="1364849"/>
            <a:ext cx="6723145" cy="1300807"/>
          </a:xfrm>
          <a:prstGeom prst="rect">
            <a:avLst/>
          </a:prstGeom>
        </p:spPr>
        <p:txBody>
          <a:bodyPr anchor="t" rtlCol="false" tIns="0" lIns="0" bIns="0" rIns="0">
            <a:spAutoFit/>
          </a:bodyPr>
          <a:lstStyle/>
          <a:p>
            <a:pPr algn="l">
              <a:lnSpc>
                <a:spcPts val="9391"/>
              </a:lnSpc>
              <a:spcBef>
                <a:spcPct val="0"/>
              </a:spcBef>
            </a:pPr>
            <a:r>
              <a:rPr lang="en-US" b="true" sz="8696">
                <a:solidFill>
                  <a:srgbClr val="295BBE"/>
                </a:solidFill>
                <a:latin typeface="Poppins Bold"/>
                <a:ea typeface="Poppins Bold"/>
                <a:cs typeface="Poppins Bold"/>
                <a:sym typeface="Poppins Bold"/>
              </a:rPr>
              <a:t>ΠΡΟΒΛΗΜΑ</a:t>
            </a:r>
          </a:p>
        </p:txBody>
      </p:sp>
      <p:sp>
        <p:nvSpPr>
          <p:cNvPr name="TextBox 12" id="12"/>
          <p:cNvSpPr txBox="true"/>
          <p:nvPr/>
        </p:nvSpPr>
        <p:spPr>
          <a:xfrm rot="0">
            <a:off x="863013" y="692327"/>
            <a:ext cx="3885466" cy="734863"/>
          </a:xfrm>
          <a:prstGeom prst="rect">
            <a:avLst/>
          </a:prstGeom>
        </p:spPr>
        <p:txBody>
          <a:bodyPr anchor="t" rtlCol="false" tIns="0" lIns="0" bIns="0" rIns="0">
            <a:spAutoFit/>
          </a:bodyPr>
          <a:lstStyle/>
          <a:p>
            <a:pPr algn="ctr">
              <a:lnSpc>
                <a:spcPts val="2801"/>
              </a:lnSpc>
              <a:spcBef>
                <a:spcPct val="0"/>
              </a:spcBef>
            </a:pPr>
            <a:r>
              <a:rPr lang="en-US" b="true" sz="2594">
                <a:solidFill>
                  <a:srgbClr val="295BBE"/>
                </a:solidFill>
                <a:latin typeface="Poppins Bold"/>
                <a:ea typeface="Poppins Bold"/>
                <a:cs typeface="Poppins Bold"/>
                <a:sym typeface="Poppins Bold"/>
              </a:rPr>
              <a:t>ΣΠΑΤΑΛΗ &amp; ΑΛΛΟΙΩΣΗ ΤΡΟΦΙΜΩΝ</a:t>
            </a:r>
          </a:p>
        </p:txBody>
      </p:sp>
      <p:sp>
        <p:nvSpPr>
          <p:cNvPr name="TextBox 13" id="13"/>
          <p:cNvSpPr txBox="true"/>
          <p:nvPr/>
        </p:nvSpPr>
        <p:spPr>
          <a:xfrm rot="0">
            <a:off x="776446" y="1570065"/>
            <a:ext cx="4130311" cy="1571920"/>
          </a:xfrm>
          <a:prstGeom prst="rect">
            <a:avLst/>
          </a:prstGeom>
        </p:spPr>
        <p:txBody>
          <a:bodyPr anchor="t" rtlCol="false" tIns="0" lIns="0" bIns="0" rIns="0">
            <a:spAutoFit/>
          </a:bodyPr>
          <a:lstStyle/>
          <a:p>
            <a:pPr algn="ctr">
              <a:lnSpc>
                <a:spcPts val="2045"/>
              </a:lnSpc>
              <a:spcBef>
                <a:spcPct val="0"/>
              </a:spcBef>
            </a:pPr>
            <a:r>
              <a:rPr lang="en-US" sz="1894">
                <a:solidFill>
                  <a:srgbClr val="295BBE"/>
                </a:solidFill>
                <a:latin typeface="Poppins Light"/>
                <a:ea typeface="Poppins Light"/>
                <a:cs typeface="Poppins Light"/>
                <a:sym typeface="Poppins Light"/>
              </a:rPr>
              <a:t>Το </a:t>
            </a:r>
            <a:r>
              <a:rPr lang="en-US" b="true" sz="1894">
                <a:solidFill>
                  <a:srgbClr val="295BBE"/>
                </a:solidFill>
                <a:latin typeface="Poppins Bold"/>
                <a:ea typeface="Poppins Bold"/>
                <a:cs typeface="Poppins Bold"/>
                <a:sym typeface="Poppins Bold"/>
              </a:rPr>
              <a:t>FreshBox</a:t>
            </a:r>
            <a:r>
              <a:rPr lang="en-US" sz="1894">
                <a:solidFill>
                  <a:srgbClr val="295BBE"/>
                </a:solidFill>
                <a:latin typeface="Poppins Light"/>
                <a:ea typeface="Poppins Light"/>
                <a:cs typeface="Poppins Light"/>
                <a:sym typeface="Poppins Light"/>
              </a:rPr>
              <a:t> διαθέτει αισθητήρες υγρασίας και θερμοκρασίας, εξασφαλίζοντας τις ιδανικές συνθήκες αποθήκευσης για τη μη αλλοίωση και τη διατήρηση της φρεσκάδας των τροφίμων.</a:t>
            </a:r>
          </a:p>
        </p:txBody>
      </p:sp>
      <p:sp>
        <p:nvSpPr>
          <p:cNvPr name="TextBox 14" id="14"/>
          <p:cNvSpPr txBox="true"/>
          <p:nvPr/>
        </p:nvSpPr>
        <p:spPr>
          <a:xfrm rot="0">
            <a:off x="5490529" y="689434"/>
            <a:ext cx="3935527" cy="734863"/>
          </a:xfrm>
          <a:prstGeom prst="rect">
            <a:avLst/>
          </a:prstGeom>
        </p:spPr>
        <p:txBody>
          <a:bodyPr anchor="t" rtlCol="false" tIns="0" lIns="0" bIns="0" rIns="0">
            <a:spAutoFit/>
          </a:bodyPr>
          <a:lstStyle/>
          <a:p>
            <a:pPr algn="ctr">
              <a:lnSpc>
                <a:spcPts val="2801"/>
              </a:lnSpc>
              <a:spcBef>
                <a:spcPct val="0"/>
              </a:spcBef>
            </a:pPr>
            <a:r>
              <a:rPr lang="en-US" b="true" sz="2594">
                <a:solidFill>
                  <a:srgbClr val="295BBE"/>
                </a:solidFill>
                <a:latin typeface="Poppins Bold"/>
                <a:ea typeface="Poppins Bold"/>
                <a:cs typeface="Poppins Bold"/>
                <a:sym typeface="Poppins Bold"/>
              </a:rPr>
              <a:t>ΔΥΣΚΟΛΙΑ ΔΙΑΧΕΙΡΙΣΗΣ ΑΠΟΘΕΜΑΤΟΣ</a:t>
            </a:r>
          </a:p>
        </p:txBody>
      </p:sp>
      <p:sp>
        <p:nvSpPr>
          <p:cNvPr name="TextBox 15" id="15"/>
          <p:cNvSpPr txBox="true"/>
          <p:nvPr/>
        </p:nvSpPr>
        <p:spPr>
          <a:xfrm rot="0">
            <a:off x="5268921" y="1570065"/>
            <a:ext cx="4378743" cy="1829095"/>
          </a:xfrm>
          <a:prstGeom prst="rect">
            <a:avLst/>
          </a:prstGeom>
        </p:spPr>
        <p:txBody>
          <a:bodyPr anchor="t" rtlCol="false" tIns="0" lIns="0" bIns="0" rIns="0">
            <a:spAutoFit/>
          </a:bodyPr>
          <a:lstStyle/>
          <a:p>
            <a:pPr algn="ctr">
              <a:lnSpc>
                <a:spcPts val="2045"/>
              </a:lnSpc>
              <a:spcBef>
                <a:spcPct val="0"/>
              </a:spcBef>
            </a:pPr>
            <a:r>
              <a:rPr lang="en-US" sz="1894">
                <a:solidFill>
                  <a:srgbClr val="295BBE"/>
                </a:solidFill>
                <a:latin typeface="Poppins Light"/>
                <a:ea typeface="Poppins Light"/>
                <a:cs typeface="Poppins Light"/>
                <a:sym typeface="Poppins Light"/>
              </a:rPr>
              <a:t>Το </a:t>
            </a:r>
            <a:r>
              <a:rPr lang="en-US" b="true" sz="1894">
                <a:solidFill>
                  <a:srgbClr val="295BBE"/>
                </a:solidFill>
                <a:latin typeface="Poppins Bold"/>
                <a:ea typeface="Poppins Bold"/>
                <a:cs typeface="Poppins Bold"/>
                <a:sym typeface="Poppins Bold"/>
              </a:rPr>
              <a:t>FreshBox </a:t>
            </a:r>
            <a:r>
              <a:rPr lang="en-US" sz="1894">
                <a:solidFill>
                  <a:srgbClr val="295BBE"/>
                </a:solidFill>
                <a:latin typeface="Poppins Light"/>
                <a:ea typeface="Poppins Light"/>
                <a:cs typeface="Poppins Light"/>
                <a:sym typeface="Poppins Light"/>
              </a:rPr>
              <a:t>καταγράφει αυτόματα το απόθεμα με κάμερες και barcode scanners, αποφεύγοντας την ανάγκη χειροκίνητου ελέγχου, και παρέχει ενημερώσεις σε πραγματικό χρόνο, εξασφαλίζοντας την ακρίβεια και στην παρακολούθηση των προϊόντων.</a:t>
            </a:r>
          </a:p>
        </p:txBody>
      </p:sp>
      <p:sp>
        <p:nvSpPr>
          <p:cNvPr name="TextBox 16" id="16"/>
          <p:cNvSpPr txBox="true"/>
          <p:nvPr/>
        </p:nvSpPr>
        <p:spPr>
          <a:xfrm rot="0">
            <a:off x="1210025" y="7311800"/>
            <a:ext cx="3263152" cy="734863"/>
          </a:xfrm>
          <a:prstGeom prst="rect">
            <a:avLst/>
          </a:prstGeom>
        </p:spPr>
        <p:txBody>
          <a:bodyPr anchor="t" rtlCol="false" tIns="0" lIns="0" bIns="0" rIns="0">
            <a:spAutoFit/>
          </a:bodyPr>
          <a:lstStyle/>
          <a:p>
            <a:pPr algn="ctr">
              <a:lnSpc>
                <a:spcPts val="2801"/>
              </a:lnSpc>
              <a:spcBef>
                <a:spcPct val="0"/>
              </a:spcBef>
            </a:pPr>
            <a:r>
              <a:rPr lang="en-US" b="true" sz="2594">
                <a:solidFill>
                  <a:srgbClr val="295BBE"/>
                </a:solidFill>
                <a:latin typeface="Poppins Bold"/>
                <a:ea typeface="Poppins Bold"/>
                <a:cs typeface="Poppins Bold"/>
                <a:sym typeface="Poppins Bold"/>
              </a:rPr>
              <a:t>ΧΕΙΡΟΚΙΝΗΤΕΣ ΛΙΣΤΕΣ ΑΓΟΡΩΝ</a:t>
            </a:r>
          </a:p>
        </p:txBody>
      </p:sp>
      <p:sp>
        <p:nvSpPr>
          <p:cNvPr name="TextBox 17" id="17"/>
          <p:cNvSpPr txBox="true"/>
          <p:nvPr/>
        </p:nvSpPr>
        <p:spPr>
          <a:xfrm rot="0">
            <a:off x="802743" y="8132388"/>
            <a:ext cx="4006007" cy="1571920"/>
          </a:xfrm>
          <a:prstGeom prst="rect">
            <a:avLst/>
          </a:prstGeom>
        </p:spPr>
        <p:txBody>
          <a:bodyPr anchor="t" rtlCol="false" tIns="0" lIns="0" bIns="0" rIns="0">
            <a:spAutoFit/>
          </a:bodyPr>
          <a:lstStyle/>
          <a:p>
            <a:pPr algn="ctr">
              <a:lnSpc>
                <a:spcPts val="2045"/>
              </a:lnSpc>
              <a:spcBef>
                <a:spcPct val="0"/>
              </a:spcBef>
            </a:pPr>
            <a:r>
              <a:rPr lang="en-US" sz="1894">
                <a:solidFill>
                  <a:srgbClr val="295BBE"/>
                </a:solidFill>
                <a:latin typeface="Poppins Light"/>
                <a:ea typeface="Poppins Light"/>
                <a:cs typeface="Poppins Light"/>
                <a:sym typeface="Poppins Light"/>
              </a:rPr>
              <a:t>Το </a:t>
            </a:r>
            <a:r>
              <a:rPr lang="en-US" b="true" sz="1894">
                <a:solidFill>
                  <a:srgbClr val="295BBE"/>
                </a:solidFill>
                <a:latin typeface="Poppins Bold"/>
                <a:ea typeface="Poppins Bold"/>
                <a:cs typeface="Poppins Bold"/>
                <a:sym typeface="Poppins Bold"/>
              </a:rPr>
              <a:t>FreshBox</a:t>
            </a:r>
            <a:r>
              <a:rPr lang="en-US" sz="1894">
                <a:solidFill>
                  <a:srgbClr val="295BBE"/>
                </a:solidFill>
                <a:latin typeface="Poppins Light"/>
                <a:ea typeface="Poppins Light"/>
                <a:cs typeface="Poppins Light"/>
                <a:sym typeface="Poppins Light"/>
              </a:rPr>
              <a:t> δημιουργεί αυτόματα λίστες όταν τελειώνουν προϊόντα, διευκολύνοντας τις αγορές, σε αντίθεση με τη χειροκίνητη παρακολούθηση των αναγκών.</a:t>
            </a:r>
          </a:p>
        </p:txBody>
      </p:sp>
      <p:sp>
        <p:nvSpPr>
          <p:cNvPr name="TextBox 18" id="18"/>
          <p:cNvSpPr txBox="true"/>
          <p:nvPr/>
        </p:nvSpPr>
        <p:spPr>
          <a:xfrm rot="0">
            <a:off x="5395054" y="7311800"/>
            <a:ext cx="4126477" cy="734863"/>
          </a:xfrm>
          <a:prstGeom prst="rect">
            <a:avLst/>
          </a:prstGeom>
        </p:spPr>
        <p:txBody>
          <a:bodyPr anchor="t" rtlCol="false" tIns="0" lIns="0" bIns="0" rIns="0">
            <a:spAutoFit/>
          </a:bodyPr>
          <a:lstStyle/>
          <a:p>
            <a:pPr algn="ctr">
              <a:lnSpc>
                <a:spcPts val="2801"/>
              </a:lnSpc>
              <a:spcBef>
                <a:spcPct val="0"/>
              </a:spcBef>
            </a:pPr>
            <a:r>
              <a:rPr lang="en-US" b="true" sz="2594">
                <a:solidFill>
                  <a:srgbClr val="295BBE"/>
                </a:solidFill>
                <a:latin typeface="Poppins Bold"/>
                <a:ea typeface="Poppins Bold"/>
                <a:cs typeface="Poppins Bold"/>
                <a:sym typeface="Poppins Bold"/>
              </a:rPr>
              <a:t>ΕΛΛΕΙΨΗ ΟΡΓΑΝΩΤΙΚΩΝ ΟΔΗΓΙΩΝ</a:t>
            </a:r>
          </a:p>
        </p:txBody>
      </p:sp>
      <p:sp>
        <p:nvSpPr>
          <p:cNvPr name="TextBox 19" id="19"/>
          <p:cNvSpPr txBox="true"/>
          <p:nvPr/>
        </p:nvSpPr>
        <p:spPr>
          <a:xfrm rot="0">
            <a:off x="5331988" y="8132388"/>
            <a:ext cx="4252610" cy="1571920"/>
          </a:xfrm>
          <a:prstGeom prst="rect">
            <a:avLst/>
          </a:prstGeom>
        </p:spPr>
        <p:txBody>
          <a:bodyPr anchor="t" rtlCol="false" tIns="0" lIns="0" bIns="0" rIns="0">
            <a:spAutoFit/>
          </a:bodyPr>
          <a:lstStyle/>
          <a:p>
            <a:pPr algn="ctr">
              <a:lnSpc>
                <a:spcPts val="2045"/>
              </a:lnSpc>
              <a:spcBef>
                <a:spcPct val="0"/>
              </a:spcBef>
            </a:pPr>
            <a:r>
              <a:rPr lang="en-US" sz="1894">
                <a:solidFill>
                  <a:srgbClr val="295BBE"/>
                </a:solidFill>
                <a:latin typeface="Poppins Light"/>
                <a:ea typeface="Poppins Light"/>
                <a:cs typeface="Poppins Light"/>
                <a:sym typeface="Poppins Light"/>
              </a:rPr>
              <a:t>Το </a:t>
            </a:r>
            <a:r>
              <a:rPr lang="en-US" b="true" sz="1894">
                <a:solidFill>
                  <a:srgbClr val="295BBE"/>
                </a:solidFill>
                <a:latin typeface="Poppins Bold"/>
                <a:ea typeface="Poppins Bold"/>
                <a:cs typeface="Poppins Bold"/>
                <a:sym typeface="Poppins Bold"/>
              </a:rPr>
              <a:t>FreshBox</a:t>
            </a:r>
            <a:r>
              <a:rPr lang="en-US" sz="1894">
                <a:solidFill>
                  <a:srgbClr val="295BBE"/>
                </a:solidFill>
                <a:latin typeface="Poppins Light"/>
                <a:ea typeface="Poppins Light"/>
                <a:cs typeface="Poppins Light"/>
                <a:sym typeface="Poppins Light"/>
              </a:rPr>
              <a:t> κατηγοριοποιεί τα προϊόντα και προτείνει περιοχές αποθήκευσης για μέγιστη φρεσκάδα και οργάνωση, αντίθετα με τα παραδοσιακά ψυγεία που δεν κατευθύνουν τους χρήστες.</a:t>
            </a:r>
          </a:p>
        </p:txBody>
      </p:sp>
      <p:sp>
        <p:nvSpPr>
          <p:cNvPr name="TextBox 20" id="20"/>
          <p:cNvSpPr txBox="true"/>
          <p:nvPr/>
        </p:nvSpPr>
        <p:spPr>
          <a:xfrm rot="0">
            <a:off x="9877200" y="3160956"/>
            <a:ext cx="4090064" cy="734863"/>
          </a:xfrm>
          <a:prstGeom prst="rect">
            <a:avLst/>
          </a:prstGeom>
        </p:spPr>
        <p:txBody>
          <a:bodyPr anchor="t" rtlCol="false" tIns="0" lIns="0" bIns="0" rIns="0">
            <a:spAutoFit/>
          </a:bodyPr>
          <a:lstStyle/>
          <a:p>
            <a:pPr algn="ctr">
              <a:lnSpc>
                <a:spcPts val="2801"/>
              </a:lnSpc>
              <a:spcBef>
                <a:spcPct val="0"/>
              </a:spcBef>
            </a:pPr>
            <a:r>
              <a:rPr lang="en-US" b="true" sz="2594">
                <a:solidFill>
                  <a:srgbClr val="295BBE"/>
                </a:solidFill>
                <a:latin typeface="Poppins Bold"/>
                <a:ea typeface="Poppins Bold"/>
                <a:cs typeface="Poppins Bold"/>
                <a:sym typeface="Poppins Bold"/>
              </a:rPr>
              <a:t>ΕΛΕΓΧΟΣ ΗΜΕΡΟΜΗΝΙΩΝ ΛΗΞΗΣ</a:t>
            </a:r>
          </a:p>
        </p:txBody>
      </p:sp>
      <p:sp>
        <p:nvSpPr>
          <p:cNvPr name="TextBox 21" id="21"/>
          <p:cNvSpPr txBox="true"/>
          <p:nvPr/>
        </p:nvSpPr>
        <p:spPr>
          <a:xfrm rot="0">
            <a:off x="10010445" y="3962494"/>
            <a:ext cx="3823573" cy="1897294"/>
          </a:xfrm>
          <a:prstGeom prst="rect">
            <a:avLst/>
          </a:prstGeom>
        </p:spPr>
        <p:txBody>
          <a:bodyPr anchor="t" rtlCol="false" tIns="0" lIns="0" bIns="0" rIns="0">
            <a:spAutoFit/>
          </a:bodyPr>
          <a:lstStyle/>
          <a:p>
            <a:pPr algn="ctr">
              <a:lnSpc>
                <a:spcPts val="2153"/>
              </a:lnSpc>
              <a:spcBef>
                <a:spcPct val="0"/>
              </a:spcBef>
            </a:pPr>
            <a:r>
              <a:rPr lang="en-US" sz="1994">
                <a:solidFill>
                  <a:srgbClr val="295BBE"/>
                </a:solidFill>
                <a:latin typeface="Poppins"/>
                <a:ea typeface="Poppins"/>
                <a:cs typeface="Poppins"/>
                <a:sym typeface="Poppins"/>
              </a:rPr>
              <a:t>Το </a:t>
            </a:r>
            <a:r>
              <a:rPr lang="en-US" b="true" sz="1994">
                <a:solidFill>
                  <a:srgbClr val="295BBE"/>
                </a:solidFill>
                <a:latin typeface="Poppins Bold"/>
                <a:ea typeface="Poppins Bold"/>
                <a:cs typeface="Poppins Bold"/>
                <a:sym typeface="Poppins Bold"/>
              </a:rPr>
              <a:t>FreshBox</a:t>
            </a:r>
            <a:r>
              <a:rPr lang="en-US" sz="1994">
                <a:solidFill>
                  <a:srgbClr val="295BBE"/>
                </a:solidFill>
                <a:latin typeface="Poppins"/>
                <a:ea typeface="Poppins"/>
                <a:cs typeface="Poppins"/>
                <a:sym typeface="Poppins"/>
              </a:rPr>
              <a:t> ειδοποιεί τους χρήστες όταν τα προϊόντα πλησιάζουν στη λήξη τους, αντίθετα με τα συνηθισμένα ψυγεία που δεν παρακολουθούν τις ημερομηνίες λήξης.</a:t>
            </a:r>
          </a:p>
        </p:txBody>
      </p:sp>
      <p:sp>
        <p:nvSpPr>
          <p:cNvPr name="TextBox 22" id="22"/>
          <p:cNvSpPr txBox="true"/>
          <p:nvPr/>
        </p:nvSpPr>
        <p:spPr>
          <a:xfrm rot="0">
            <a:off x="13570052" y="6676390"/>
            <a:ext cx="3870255" cy="1087288"/>
          </a:xfrm>
          <a:prstGeom prst="rect">
            <a:avLst/>
          </a:prstGeom>
        </p:spPr>
        <p:txBody>
          <a:bodyPr anchor="t" rtlCol="false" tIns="0" lIns="0" bIns="0" rIns="0">
            <a:spAutoFit/>
          </a:bodyPr>
          <a:lstStyle/>
          <a:p>
            <a:pPr algn="ctr">
              <a:lnSpc>
                <a:spcPts val="2801"/>
              </a:lnSpc>
              <a:spcBef>
                <a:spcPct val="0"/>
              </a:spcBef>
            </a:pPr>
            <a:r>
              <a:rPr lang="en-US" b="true" sz="2594">
                <a:solidFill>
                  <a:srgbClr val="FFFFFF"/>
                </a:solidFill>
                <a:latin typeface="Poppins Bold"/>
                <a:ea typeface="Poppins Bold"/>
                <a:cs typeface="Poppins Bold"/>
                <a:sym typeface="Poppins Bold"/>
              </a:rPr>
              <a:t>EΛΛΕΙΨΗ ΒΟΗΘΕΙΑΣ  ΠΡΟΓΡΑΜΜΑΤΙΣΜΟΥ ΓΕΥΜΑΤΩΝ</a:t>
            </a:r>
          </a:p>
        </p:txBody>
      </p:sp>
      <p:sp>
        <p:nvSpPr>
          <p:cNvPr name="TextBox 23" id="23"/>
          <p:cNvSpPr txBox="true"/>
          <p:nvPr/>
        </p:nvSpPr>
        <p:spPr>
          <a:xfrm rot="0">
            <a:off x="13405438" y="7744628"/>
            <a:ext cx="4142332" cy="1733550"/>
          </a:xfrm>
          <a:prstGeom prst="rect">
            <a:avLst/>
          </a:prstGeom>
        </p:spPr>
        <p:txBody>
          <a:bodyPr anchor="t" rtlCol="false" tIns="0" lIns="0" bIns="0" rIns="0">
            <a:spAutoFit/>
          </a:bodyPr>
          <a:lstStyle/>
          <a:p>
            <a:pPr algn="ctr">
              <a:lnSpc>
                <a:spcPts val="2273"/>
              </a:lnSpc>
            </a:pPr>
            <a:r>
              <a:rPr lang="en-US" sz="1894">
                <a:solidFill>
                  <a:srgbClr val="FFFFFF"/>
                </a:solidFill>
                <a:latin typeface="Poppins Light"/>
                <a:ea typeface="Poppins Light"/>
                <a:cs typeface="Poppins Light"/>
                <a:sym typeface="Poppins Light"/>
              </a:rPr>
              <a:t>Το </a:t>
            </a:r>
            <a:r>
              <a:rPr lang="en-US" b="true" sz="1894">
                <a:solidFill>
                  <a:srgbClr val="FFFFFF"/>
                </a:solidFill>
                <a:latin typeface="Poppins Bold"/>
                <a:ea typeface="Poppins Bold"/>
                <a:cs typeface="Poppins Bold"/>
                <a:sym typeface="Poppins Bold"/>
              </a:rPr>
              <a:t>FreshBox </a:t>
            </a:r>
            <a:r>
              <a:rPr lang="en-US" sz="1894">
                <a:solidFill>
                  <a:srgbClr val="FFFFFF"/>
                </a:solidFill>
                <a:latin typeface="Poppins Light"/>
                <a:ea typeface="Poppins Light"/>
                <a:cs typeface="Poppins Light"/>
                <a:sym typeface="Poppins Light"/>
              </a:rPr>
              <a:t>προτείνει συνταγές με βάση τα υπάρχοντα προϊόντα, διευκολύνοντας την προετοιμασία γευμάτων και μειώνοντας τη σπατάλη τροφίμων, σε αντίθεση με τα κανονικά ψυγεία.</a:t>
            </a:r>
          </a:p>
        </p:txBody>
      </p:sp>
      <p:sp>
        <p:nvSpPr>
          <p:cNvPr name="Freeform 24" id="24"/>
          <p:cNvSpPr/>
          <p:nvPr/>
        </p:nvSpPr>
        <p:spPr>
          <a:xfrm flipH="false" flipV="false" rot="0">
            <a:off x="977906" y="3627853"/>
            <a:ext cx="3495271" cy="3394782"/>
          </a:xfrm>
          <a:custGeom>
            <a:avLst/>
            <a:gdLst/>
            <a:ahLst/>
            <a:cxnLst/>
            <a:rect r="r" b="b" t="t" l="l"/>
            <a:pathLst>
              <a:path h="3394782" w="3495271">
                <a:moveTo>
                  <a:pt x="0" y="0"/>
                </a:moveTo>
                <a:lnTo>
                  <a:pt x="3495271" y="0"/>
                </a:lnTo>
                <a:lnTo>
                  <a:pt x="3495271" y="3394782"/>
                </a:lnTo>
                <a:lnTo>
                  <a:pt x="0" y="3394782"/>
                </a:lnTo>
                <a:lnTo>
                  <a:pt x="0" y="0"/>
                </a:lnTo>
                <a:close/>
              </a:path>
            </a:pathLst>
          </a:custGeom>
          <a:blipFill>
            <a:blip r:embed="rId6"/>
            <a:stretch>
              <a:fillRect l="0" t="0" r="0" b="0"/>
            </a:stretch>
          </a:blipFill>
        </p:spPr>
      </p:sp>
    </p:spTree>
  </p:cSld>
  <p:clrMapOvr>
    <a:masterClrMapping/>
  </p:clrMapOvr>
  <p:transition spd="fast">
    <p:circl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95BBE"/>
        </a:solidFill>
      </p:bgPr>
    </p:bg>
    <p:spTree>
      <p:nvGrpSpPr>
        <p:cNvPr id="1" name=""/>
        <p:cNvGrpSpPr/>
        <p:nvPr/>
      </p:nvGrpSpPr>
      <p:grpSpPr>
        <a:xfrm>
          <a:off x="0" y="0"/>
          <a:ext cx="0" cy="0"/>
          <a:chOff x="0" y="0"/>
          <a:chExt cx="0" cy="0"/>
        </a:xfrm>
      </p:grpSpPr>
      <p:grpSp>
        <p:nvGrpSpPr>
          <p:cNvPr name="Group 2" id="2"/>
          <p:cNvGrpSpPr/>
          <p:nvPr/>
        </p:nvGrpSpPr>
        <p:grpSpPr>
          <a:xfrm rot="0">
            <a:off x="15424612" y="7021304"/>
            <a:ext cx="3669377" cy="3709884"/>
            <a:chOff x="0" y="0"/>
            <a:chExt cx="719015" cy="726953"/>
          </a:xfrm>
        </p:grpSpPr>
        <p:sp>
          <p:nvSpPr>
            <p:cNvPr name="Freeform 3" id="3"/>
            <p:cNvSpPr/>
            <p:nvPr/>
          </p:nvSpPr>
          <p:spPr>
            <a:xfrm flipH="false" flipV="false" rot="0">
              <a:off x="0" y="0"/>
              <a:ext cx="719015" cy="726953"/>
            </a:xfrm>
            <a:custGeom>
              <a:avLst/>
              <a:gdLst/>
              <a:ahLst/>
              <a:cxnLst/>
              <a:rect r="r" b="b" t="t" l="l"/>
              <a:pathLst>
                <a:path h="726953" w="719015">
                  <a:moveTo>
                    <a:pt x="359508" y="0"/>
                  </a:moveTo>
                  <a:cubicBezTo>
                    <a:pt x="160957" y="0"/>
                    <a:pt x="0" y="162734"/>
                    <a:pt x="0" y="363476"/>
                  </a:cubicBezTo>
                  <a:cubicBezTo>
                    <a:pt x="0" y="564219"/>
                    <a:pt x="160957" y="726953"/>
                    <a:pt x="359508" y="726953"/>
                  </a:cubicBezTo>
                  <a:cubicBezTo>
                    <a:pt x="558058" y="726953"/>
                    <a:pt x="719015" y="564219"/>
                    <a:pt x="719015" y="363476"/>
                  </a:cubicBezTo>
                  <a:cubicBezTo>
                    <a:pt x="719015" y="162734"/>
                    <a:pt x="558058" y="0"/>
                    <a:pt x="359508" y="0"/>
                  </a:cubicBezTo>
                  <a:close/>
                </a:path>
              </a:pathLst>
            </a:custGeom>
            <a:solidFill>
              <a:srgbClr val="D9D9D9"/>
            </a:solidFill>
          </p:spPr>
        </p:sp>
        <p:sp>
          <p:nvSpPr>
            <p:cNvPr name="TextBox 4" id="4"/>
            <p:cNvSpPr txBox="true"/>
            <p:nvPr/>
          </p:nvSpPr>
          <p:spPr>
            <a:xfrm>
              <a:off x="67408" y="68152"/>
              <a:ext cx="584200" cy="590649"/>
            </a:xfrm>
            <a:prstGeom prst="rect">
              <a:avLst/>
            </a:prstGeom>
          </p:spPr>
          <p:txBody>
            <a:bodyPr anchor="ctr" rtlCol="false" tIns="50800" lIns="50800" bIns="50800" rIns="50800"/>
            <a:lstStyle/>
            <a:p>
              <a:pPr algn="ctr">
                <a:lnSpc>
                  <a:spcPts val="1917"/>
                </a:lnSpc>
              </a:pPr>
            </a:p>
          </p:txBody>
        </p:sp>
      </p:grpSp>
      <p:grpSp>
        <p:nvGrpSpPr>
          <p:cNvPr name="Group 5" id="5"/>
          <p:cNvGrpSpPr/>
          <p:nvPr/>
        </p:nvGrpSpPr>
        <p:grpSpPr>
          <a:xfrm rot="0">
            <a:off x="1786773" y="1124248"/>
            <a:ext cx="553292" cy="55329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5D3E2"/>
            </a:solidFill>
          </p:spPr>
        </p:sp>
        <p:sp>
          <p:nvSpPr>
            <p:cNvPr name="TextBox 7" id="7"/>
            <p:cNvSpPr txBox="true"/>
            <p:nvPr/>
          </p:nvSpPr>
          <p:spPr>
            <a:xfrm>
              <a:off x="76200" y="76200"/>
              <a:ext cx="660400" cy="660400"/>
            </a:xfrm>
            <a:prstGeom prst="rect">
              <a:avLst/>
            </a:prstGeom>
          </p:spPr>
          <p:txBody>
            <a:bodyPr anchor="ctr" rtlCol="false" tIns="50800" lIns="50800" bIns="50800" rIns="50800"/>
            <a:lstStyle/>
            <a:p>
              <a:pPr algn="ctr">
                <a:lnSpc>
                  <a:spcPts val="1917"/>
                </a:lnSpc>
              </a:pPr>
            </a:p>
          </p:txBody>
        </p:sp>
      </p:grpSp>
      <p:grpSp>
        <p:nvGrpSpPr>
          <p:cNvPr name="Group 8" id="8"/>
          <p:cNvGrpSpPr/>
          <p:nvPr/>
        </p:nvGrpSpPr>
        <p:grpSpPr>
          <a:xfrm rot="0">
            <a:off x="1786773" y="3217167"/>
            <a:ext cx="553292" cy="55329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5D3E2"/>
            </a:solidFill>
          </p:spPr>
        </p:sp>
        <p:sp>
          <p:nvSpPr>
            <p:cNvPr name="TextBox 10" id="10"/>
            <p:cNvSpPr txBox="true"/>
            <p:nvPr/>
          </p:nvSpPr>
          <p:spPr>
            <a:xfrm>
              <a:off x="76200" y="76200"/>
              <a:ext cx="660400" cy="660400"/>
            </a:xfrm>
            <a:prstGeom prst="rect">
              <a:avLst/>
            </a:prstGeom>
          </p:spPr>
          <p:txBody>
            <a:bodyPr anchor="ctr" rtlCol="false" tIns="50800" lIns="50800" bIns="50800" rIns="50800"/>
            <a:lstStyle/>
            <a:p>
              <a:pPr algn="ctr">
                <a:lnSpc>
                  <a:spcPts val="1917"/>
                </a:lnSpc>
              </a:pPr>
            </a:p>
          </p:txBody>
        </p:sp>
      </p:grpSp>
      <p:grpSp>
        <p:nvGrpSpPr>
          <p:cNvPr name="Group 11" id="11"/>
          <p:cNvGrpSpPr/>
          <p:nvPr/>
        </p:nvGrpSpPr>
        <p:grpSpPr>
          <a:xfrm rot="0">
            <a:off x="1786773" y="7409851"/>
            <a:ext cx="553292" cy="55329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5D3E2"/>
            </a:solidFill>
          </p:spPr>
        </p:sp>
        <p:sp>
          <p:nvSpPr>
            <p:cNvPr name="TextBox 13" id="13"/>
            <p:cNvSpPr txBox="true"/>
            <p:nvPr/>
          </p:nvSpPr>
          <p:spPr>
            <a:xfrm>
              <a:off x="76200" y="76200"/>
              <a:ext cx="660400" cy="660400"/>
            </a:xfrm>
            <a:prstGeom prst="rect">
              <a:avLst/>
            </a:prstGeom>
          </p:spPr>
          <p:txBody>
            <a:bodyPr anchor="ctr" rtlCol="false" tIns="50800" lIns="50800" bIns="50800" rIns="50800"/>
            <a:lstStyle/>
            <a:p>
              <a:pPr algn="ctr">
                <a:lnSpc>
                  <a:spcPts val="1917"/>
                </a:lnSpc>
              </a:pPr>
            </a:p>
          </p:txBody>
        </p:sp>
      </p:grpSp>
      <p:grpSp>
        <p:nvGrpSpPr>
          <p:cNvPr name="Group 14" id="14"/>
          <p:cNvGrpSpPr/>
          <p:nvPr/>
        </p:nvGrpSpPr>
        <p:grpSpPr>
          <a:xfrm rot="0">
            <a:off x="1786773" y="5313509"/>
            <a:ext cx="553292" cy="553292"/>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5D3E2"/>
            </a:solidFill>
          </p:spPr>
        </p:sp>
        <p:sp>
          <p:nvSpPr>
            <p:cNvPr name="TextBox 16" id="16"/>
            <p:cNvSpPr txBox="true"/>
            <p:nvPr/>
          </p:nvSpPr>
          <p:spPr>
            <a:xfrm>
              <a:off x="76200" y="76200"/>
              <a:ext cx="660400" cy="660400"/>
            </a:xfrm>
            <a:prstGeom prst="rect">
              <a:avLst/>
            </a:prstGeom>
          </p:spPr>
          <p:txBody>
            <a:bodyPr anchor="ctr" rtlCol="false" tIns="50800" lIns="50800" bIns="50800" rIns="50800"/>
            <a:lstStyle/>
            <a:p>
              <a:pPr algn="ctr">
                <a:lnSpc>
                  <a:spcPts val="1917"/>
                </a:lnSpc>
              </a:pPr>
            </a:p>
          </p:txBody>
        </p:sp>
      </p:grpSp>
      <p:sp>
        <p:nvSpPr>
          <p:cNvPr name="Freeform 17" id="17"/>
          <p:cNvSpPr/>
          <p:nvPr/>
        </p:nvSpPr>
        <p:spPr>
          <a:xfrm flipH="false" flipV="false" rot="0">
            <a:off x="13434761" y="3121619"/>
            <a:ext cx="3531878" cy="7926343"/>
          </a:xfrm>
          <a:custGeom>
            <a:avLst/>
            <a:gdLst/>
            <a:ahLst/>
            <a:cxnLst/>
            <a:rect r="r" b="b" t="t" l="l"/>
            <a:pathLst>
              <a:path h="7926343" w="3531878">
                <a:moveTo>
                  <a:pt x="0" y="0"/>
                </a:moveTo>
                <a:lnTo>
                  <a:pt x="3531878" y="0"/>
                </a:lnTo>
                <a:lnTo>
                  <a:pt x="3531878" y="7926344"/>
                </a:lnTo>
                <a:lnTo>
                  <a:pt x="0" y="7926344"/>
                </a:lnTo>
                <a:lnTo>
                  <a:pt x="0" y="0"/>
                </a:lnTo>
                <a:close/>
              </a:path>
            </a:pathLst>
          </a:custGeom>
          <a:blipFill>
            <a:blip r:embed="rId3"/>
            <a:stretch>
              <a:fillRect l="-135001" t="-6556" r="-6983" b="0"/>
            </a:stretch>
          </a:blipFill>
        </p:spPr>
      </p:sp>
      <p:sp>
        <p:nvSpPr>
          <p:cNvPr name="TextBox 18" id="18"/>
          <p:cNvSpPr txBox="true"/>
          <p:nvPr/>
        </p:nvSpPr>
        <p:spPr>
          <a:xfrm rot="0">
            <a:off x="9679394" y="760015"/>
            <a:ext cx="8483093" cy="1300807"/>
          </a:xfrm>
          <a:prstGeom prst="rect">
            <a:avLst/>
          </a:prstGeom>
        </p:spPr>
        <p:txBody>
          <a:bodyPr anchor="t" rtlCol="false" tIns="0" lIns="0" bIns="0" rIns="0">
            <a:spAutoFit/>
          </a:bodyPr>
          <a:lstStyle/>
          <a:p>
            <a:pPr algn="l">
              <a:lnSpc>
                <a:spcPts val="9391"/>
              </a:lnSpc>
              <a:spcBef>
                <a:spcPct val="0"/>
              </a:spcBef>
            </a:pPr>
            <a:r>
              <a:rPr lang="en-US" sz="8696">
                <a:solidFill>
                  <a:srgbClr val="FFFFFF"/>
                </a:solidFill>
                <a:latin typeface="Poppins Light"/>
                <a:ea typeface="Poppins Light"/>
                <a:cs typeface="Poppins Light"/>
                <a:sym typeface="Poppins Light"/>
              </a:rPr>
              <a:t>ΜΕΘΟΔΟΛΟΓΙΑ</a:t>
            </a:r>
          </a:p>
        </p:txBody>
      </p:sp>
      <p:sp>
        <p:nvSpPr>
          <p:cNvPr name="TextBox 19" id="19"/>
          <p:cNvSpPr txBox="true"/>
          <p:nvPr/>
        </p:nvSpPr>
        <p:spPr>
          <a:xfrm rot="0">
            <a:off x="9679394" y="1904910"/>
            <a:ext cx="5966804" cy="1300807"/>
          </a:xfrm>
          <a:prstGeom prst="rect">
            <a:avLst/>
          </a:prstGeom>
        </p:spPr>
        <p:txBody>
          <a:bodyPr anchor="t" rtlCol="false" tIns="0" lIns="0" bIns="0" rIns="0">
            <a:spAutoFit/>
          </a:bodyPr>
          <a:lstStyle/>
          <a:p>
            <a:pPr algn="l">
              <a:lnSpc>
                <a:spcPts val="9391"/>
              </a:lnSpc>
              <a:spcBef>
                <a:spcPct val="0"/>
              </a:spcBef>
            </a:pPr>
            <a:r>
              <a:rPr lang="en-US" b="true" sz="8696">
                <a:solidFill>
                  <a:srgbClr val="FFFFFF"/>
                </a:solidFill>
                <a:latin typeface="Poppins Bold"/>
                <a:ea typeface="Poppins Bold"/>
                <a:cs typeface="Poppins Bold"/>
                <a:sym typeface="Poppins Bold"/>
              </a:rPr>
              <a:t>&amp; ΧΡΗΣΗ</a:t>
            </a:r>
          </a:p>
        </p:txBody>
      </p:sp>
      <p:sp>
        <p:nvSpPr>
          <p:cNvPr name="TextBox 20" id="20"/>
          <p:cNvSpPr txBox="true"/>
          <p:nvPr/>
        </p:nvSpPr>
        <p:spPr>
          <a:xfrm rot="0">
            <a:off x="2554170" y="1038225"/>
            <a:ext cx="4757873" cy="734863"/>
          </a:xfrm>
          <a:prstGeom prst="rect">
            <a:avLst/>
          </a:prstGeom>
        </p:spPr>
        <p:txBody>
          <a:bodyPr anchor="t" rtlCol="false" tIns="0" lIns="0" bIns="0" rIns="0">
            <a:spAutoFit/>
          </a:bodyPr>
          <a:lstStyle/>
          <a:p>
            <a:pPr algn="l">
              <a:lnSpc>
                <a:spcPts val="2801"/>
              </a:lnSpc>
              <a:spcBef>
                <a:spcPct val="0"/>
              </a:spcBef>
            </a:pPr>
            <a:r>
              <a:rPr lang="en-US" b="true" sz="2594">
                <a:solidFill>
                  <a:srgbClr val="FFFFFF"/>
                </a:solidFill>
                <a:latin typeface="Poppins Bold"/>
                <a:ea typeface="Poppins Bold"/>
                <a:cs typeface="Poppins Bold"/>
                <a:sym typeface="Poppins Bold"/>
              </a:rPr>
              <a:t>ΛΟΓΙΣΜΙΚO - OS &amp; ΣΥΜΠΕΡΙΦΟΡA AI</a:t>
            </a:r>
          </a:p>
        </p:txBody>
      </p:sp>
      <p:sp>
        <p:nvSpPr>
          <p:cNvPr name="TextBox 21" id="21"/>
          <p:cNvSpPr txBox="true"/>
          <p:nvPr/>
        </p:nvSpPr>
        <p:spPr>
          <a:xfrm rot="0">
            <a:off x="2540195" y="1809660"/>
            <a:ext cx="5808172" cy="1061300"/>
          </a:xfrm>
          <a:prstGeom prst="rect">
            <a:avLst/>
          </a:prstGeom>
        </p:spPr>
        <p:txBody>
          <a:bodyPr anchor="t" rtlCol="false" tIns="0" lIns="0" bIns="0" rIns="0">
            <a:spAutoFit/>
          </a:bodyPr>
          <a:lstStyle/>
          <a:p>
            <a:pPr algn="just">
              <a:lnSpc>
                <a:spcPts val="2841"/>
              </a:lnSpc>
            </a:pPr>
            <a:r>
              <a:rPr lang="en-US" sz="1894">
                <a:solidFill>
                  <a:srgbClr val="FFFFFF"/>
                </a:solidFill>
                <a:latin typeface="Poppins Light"/>
                <a:ea typeface="Poppins Light"/>
                <a:cs typeface="Poppins Light"/>
                <a:sym typeface="Poppins Light"/>
              </a:rPr>
              <a:t>Προηγμένο λειτουργικό σύστημα με τεχνητή νοημοσύνη για έξυπνη διαχείριση τροφίμων και εξατομικευμένες προτάσεις.</a:t>
            </a:r>
          </a:p>
        </p:txBody>
      </p:sp>
      <p:sp>
        <p:nvSpPr>
          <p:cNvPr name="TextBox 22" id="22"/>
          <p:cNvSpPr txBox="true"/>
          <p:nvPr/>
        </p:nvSpPr>
        <p:spPr>
          <a:xfrm rot="0">
            <a:off x="2540195" y="3131144"/>
            <a:ext cx="4757873" cy="734863"/>
          </a:xfrm>
          <a:prstGeom prst="rect">
            <a:avLst/>
          </a:prstGeom>
        </p:spPr>
        <p:txBody>
          <a:bodyPr anchor="t" rtlCol="false" tIns="0" lIns="0" bIns="0" rIns="0">
            <a:spAutoFit/>
          </a:bodyPr>
          <a:lstStyle/>
          <a:p>
            <a:pPr algn="l">
              <a:lnSpc>
                <a:spcPts val="2801"/>
              </a:lnSpc>
              <a:spcBef>
                <a:spcPct val="0"/>
              </a:spcBef>
            </a:pPr>
            <a:r>
              <a:rPr lang="en-US" b="true" sz="2594">
                <a:solidFill>
                  <a:srgbClr val="FFFFFF"/>
                </a:solidFill>
                <a:latin typeface="Poppins Bold"/>
                <a:ea typeface="Poppins Bold"/>
                <a:cs typeface="Poppins Bold"/>
                <a:sym typeface="Poppins Bold"/>
              </a:rPr>
              <a:t>ΑΙΣΘΗΤHΡΕΣ &amp; ΚAΜΕΡΕΣ ΕΛEΓΧΟΥ ΤΡΟΦIΜΩΝ</a:t>
            </a:r>
          </a:p>
        </p:txBody>
      </p:sp>
      <p:sp>
        <p:nvSpPr>
          <p:cNvPr name="TextBox 23" id="23"/>
          <p:cNvSpPr txBox="true"/>
          <p:nvPr/>
        </p:nvSpPr>
        <p:spPr>
          <a:xfrm rot="0">
            <a:off x="2540195" y="3918026"/>
            <a:ext cx="5808172" cy="1061300"/>
          </a:xfrm>
          <a:prstGeom prst="rect">
            <a:avLst/>
          </a:prstGeom>
        </p:spPr>
        <p:txBody>
          <a:bodyPr anchor="t" rtlCol="false" tIns="0" lIns="0" bIns="0" rIns="0">
            <a:spAutoFit/>
          </a:bodyPr>
          <a:lstStyle/>
          <a:p>
            <a:pPr algn="just">
              <a:lnSpc>
                <a:spcPts val="2841"/>
              </a:lnSpc>
            </a:pPr>
            <a:r>
              <a:rPr lang="en-US" sz="1894">
                <a:solidFill>
                  <a:srgbClr val="FFFFFF"/>
                </a:solidFill>
                <a:latin typeface="Poppins Light"/>
                <a:ea typeface="Poppins Light"/>
                <a:cs typeface="Poppins Light"/>
                <a:sym typeface="Poppins Light"/>
              </a:rPr>
              <a:t>Περιλαμβάνει αισθητήρες θερμοκρασίας &amp; υγρασίας και κάμερες αναγνώρισης προϊόντων για αυτόματη καταγραφή.</a:t>
            </a:r>
          </a:p>
        </p:txBody>
      </p:sp>
      <p:sp>
        <p:nvSpPr>
          <p:cNvPr name="TextBox 24" id="24"/>
          <p:cNvSpPr txBox="true"/>
          <p:nvPr/>
        </p:nvSpPr>
        <p:spPr>
          <a:xfrm rot="0">
            <a:off x="2540195" y="8106316"/>
            <a:ext cx="5808172" cy="708875"/>
          </a:xfrm>
          <a:prstGeom prst="rect">
            <a:avLst/>
          </a:prstGeom>
        </p:spPr>
        <p:txBody>
          <a:bodyPr anchor="t" rtlCol="false" tIns="0" lIns="0" bIns="0" rIns="0">
            <a:spAutoFit/>
          </a:bodyPr>
          <a:lstStyle/>
          <a:p>
            <a:pPr algn="just">
              <a:lnSpc>
                <a:spcPts val="2841"/>
              </a:lnSpc>
            </a:pPr>
            <a:r>
              <a:rPr lang="en-US" sz="1894">
                <a:solidFill>
                  <a:srgbClr val="FFFFFF"/>
                </a:solidFill>
                <a:latin typeface="Poppins Light"/>
                <a:ea typeface="Poppins Light"/>
                <a:cs typeface="Poppins Light"/>
                <a:sym typeface="Poppins Light"/>
              </a:rPr>
              <a:t>Σύστημα απολύμανσης με υπεριώδη ακτινοβολία για μείωση βακτηρίων και ιών.</a:t>
            </a:r>
          </a:p>
        </p:txBody>
      </p:sp>
      <p:sp>
        <p:nvSpPr>
          <p:cNvPr name="TextBox 25" id="25"/>
          <p:cNvSpPr txBox="true"/>
          <p:nvPr/>
        </p:nvSpPr>
        <p:spPr>
          <a:xfrm rot="5400000">
            <a:off x="17336912" y="9029381"/>
            <a:ext cx="936679" cy="272173"/>
          </a:xfrm>
          <a:prstGeom prst="rect">
            <a:avLst/>
          </a:prstGeom>
        </p:spPr>
        <p:txBody>
          <a:bodyPr anchor="t" rtlCol="false" tIns="0" lIns="0" bIns="0" rIns="0">
            <a:spAutoFit/>
          </a:bodyPr>
          <a:lstStyle/>
          <a:p>
            <a:pPr algn="l">
              <a:lnSpc>
                <a:spcPts val="1934"/>
              </a:lnSpc>
              <a:spcBef>
                <a:spcPct val="0"/>
              </a:spcBef>
            </a:pPr>
            <a:r>
              <a:rPr lang="en-US" sz="1791">
                <a:solidFill>
                  <a:srgbClr val="295BBE"/>
                </a:solidFill>
                <a:latin typeface="Poppins"/>
                <a:ea typeface="Poppins"/>
                <a:cs typeface="Poppins"/>
                <a:sym typeface="Poppins"/>
              </a:rPr>
              <a:t>page 5</a:t>
            </a:r>
          </a:p>
        </p:txBody>
      </p:sp>
      <p:sp>
        <p:nvSpPr>
          <p:cNvPr name="TextBox 26" id="26"/>
          <p:cNvSpPr txBox="true"/>
          <p:nvPr/>
        </p:nvSpPr>
        <p:spPr>
          <a:xfrm rot="0">
            <a:off x="2540195" y="7323829"/>
            <a:ext cx="5302392" cy="734863"/>
          </a:xfrm>
          <a:prstGeom prst="rect">
            <a:avLst/>
          </a:prstGeom>
        </p:spPr>
        <p:txBody>
          <a:bodyPr anchor="t" rtlCol="false" tIns="0" lIns="0" bIns="0" rIns="0">
            <a:spAutoFit/>
          </a:bodyPr>
          <a:lstStyle/>
          <a:p>
            <a:pPr algn="l">
              <a:lnSpc>
                <a:spcPts val="2801"/>
              </a:lnSpc>
              <a:spcBef>
                <a:spcPct val="0"/>
              </a:spcBef>
            </a:pPr>
            <a:r>
              <a:rPr lang="en-US" b="true" sz="2594">
                <a:solidFill>
                  <a:srgbClr val="FFFFFF"/>
                </a:solidFill>
                <a:latin typeface="Poppins Bold"/>
                <a:ea typeface="Poppins Bold"/>
                <a:cs typeface="Poppins Bold"/>
                <a:sym typeface="Poppins Bold"/>
              </a:rPr>
              <a:t>ΑΠΟΛYΜΑΝΣΗ UV-C (UV LIGHT) ΓΙΑ ΑΣΦAΛΕΙΑ ΤΡΟΦIΜΩΝ</a:t>
            </a:r>
          </a:p>
        </p:txBody>
      </p:sp>
      <p:sp>
        <p:nvSpPr>
          <p:cNvPr name="TextBox 27" id="27"/>
          <p:cNvSpPr txBox="true"/>
          <p:nvPr/>
        </p:nvSpPr>
        <p:spPr>
          <a:xfrm rot="0">
            <a:off x="2554170" y="5227487"/>
            <a:ext cx="4757873" cy="734863"/>
          </a:xfrm>
          <a:prstGeom prst="rect">
            <a:avLst/>
          </a:prstGeom>
        </p:spPr>
        <p:txBody>
          <a:bodyPr anchor="t" rtlCol="false" tIns="0" lIns="0" bIns="0" rIns="0">
            <a:spAutoFit/>
          </a:bodyPr>
          <a:lstStyle/>
          <a:p>
            <a:pPr algn="l">
              <a:lnSpc>
                <a:spcPts val="2801"/>
              </a:lnSpc>
              <a:spcBef>
                <a:spcPct val="0"/>
              </a:spcBef>
            </a:pPr>
            <a:r>
              <a:rPr lang="en-US" b="true" sz="2594">
                <a:solidFill>
                  <a:srgbClr val="FFFFFF"/>
                </a:solidFill>
                <a:latin typeface="Poppins Bold"/>
                <a:ea typeface="Poppins Bold"/>
                <a:cs typeface="Poppins Bold"/>
                <a:sym typeface="Poppins Bold"/>
              </a:rPr>
              <a:t>ΠΟΛΥΖΩΝΙΚOΣ EΛΕΓΧΟΣ ΘΕΡΜΟΚΡΑΣIΑΣ ΤΡΟΦIΜΩΝ</a:t>
            </a:r>
          </a:p>
        </p:txBody>
      </p:sp>
      <p:sp>
        <p:nvSpPr>
          <p:cNvPr name="TextBox 28" id="28"/>
          <p:cNvSpPr txBox="true"/>
          <p:nvPr/>
        </p:nvSpPr>
        <p:spPr>
          <a:xfrm rot="0">
            <a:off x="2554170" y="5960004"/>
            <a:ext cx="5808172" cy="1061300"/>
          </a:xfrm>
          <a:prstGeom prst="rect">
            <a:avLst/>
          </a:prstGeom>
        </p:spPr>
        <p:txBody>
          <a:bodyPr anchor="t" rtlCol="false" tIns="0" lIns="0" bIns="0" rIns="0">
            <a:spAutoFit/>
          </a:bodyPr>
          <a:lstStyle/>
          <a:p>
            <a:pPr algn="just">
              <a:lnSpc>
                <a:spcPts val="2841"/>
              </a:lnSpc>
            </a:pPr>
            <a:r>
              <a:rPr lang="en-US" sz="1894">
                <a:solidFill>
                  <a:srgbClr val="FFFFFF"/>
                </a:solidFill>
                <a:latin typeface="Poppins Light"/>
                <a:ea typeface="Poppins Light"/>
                <a:cs typeface="Poppins Light"/>
                <a:sym typeface="Poppins Light"/>
              </a:rPr>
              <a:t>Ξεχωριστές ζώνες ψύξης για κάθε κατηγορία τροφίμου, που εξασφαλίζουν ιδανικές συνθήκες συντήρησης και μεγαλύτερη διάρκεια φρεσκάδας.</a:t>
            </a: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95BBE"/>
        </a:solidFill>
      </p:bgPr>
    </p:bg>
    <p:spTree>
      <p:nvGrpSpPr>
        <p:cNvPr id="1" name=""/>
        <p:cNvGrpSpPr/>
        <p:nvPr/>
      </p:nvGrpSpPr>
      <p:grpSpPr>
        <a:xfrm>
          <a:off x="0" y="0"/>
          <a:ext cx="0" cy="0"/>
          <a:chOff x="0" y="0"/>
          <a:chExt cx="0" cy="0"/>
        </a:xfrm>
      </p:grpSpPr>
      <p:grpSp>
        <p:nvGrpSpPr>
          <p:cNvPr name="Group 2" id="2"/>
          <p:cNvGrpSpPr/>
          <p:nvPr/>
        </p:nvGrpSpPr>
        <p:grpSpPr>
          <a:xfrm rot="0">
            <a:off x="-3610859" y="-2217125"/>
            <a:ext cx="15649575" cy="1564957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E9E9"/>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1917"/>
                </a:lnSpc>
              </a:pPr>
            </a:p>
          </p:txBody>
        </p:sp>
      </p:grpSp>
      <p:grpSp>
        <p:nvGrpSpPr>
          <p:cNvPr name="Group 5" id="5"/>
          <p:cNvGrpSpPr/>
          <p:nvPr/>
        </p:nvGrpSpPr>
        <p:grpSpPr>
          <a:xfrm rot="0">
            <a:off x="-5005667" y="-2217125"/>
            <a:ext cx="15649575" cy="1564957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76200"/>
              <a:ext cx="660400" cy="660400"/>
            </a:xfrm>
            <a:prstGeom prst="rect">
              <a:avLst/>
            </a:prstGeom>
          </p:spPr>
          <p:txBody>
            <a:bodyPr anchor="ctr" rtlCol="false" tIns="50800" lIns="50800" bIns="50800" rIns="50800"/>
            <a:lstStyle/>
            <a:p>
              <a:pPr algn="ctr">
                <a:lnSpc>
                  <a:spcPts val="1917"/>
                </a:lnSpc>
              </a:pPr>
            </a:p>
          </p:txBody>
        </p:sp>
      </p:grpSp>
      <p:grpSp>
        <p:nvGrpSpPr>
          <p:cNvPr name="Group 8" id="8"/>
          <p:cNvGrpSpPr>
            <a:grpSpLocks noChangeAspect="true"/>
          </p:cNvGrpSpPr>
          <p:nvPr/>
        </p:nvGrpSpPr>
        <p:grpSpPr>
          <a:xfrm rot="0">
            <a:off x="10970765" y="1270320"/>
            <a:ext cx="5895293" cy="11664851"/>
            <a:chOff x="0" y="0"/>
            <a:chExt cx="2620010" cy="5184140"/>
          </a:xfrm>
        </p:grpSpPr>
        <p:sp>
          <p:nvSpPr>
            <p:cNvPr name="Freeform 9" id="9"/>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0" id="10"/>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183360" t="-10334" r="-35436" b="0"/>
              </a:stretch>
            </a:blipFill>
          </p:spPr>
        </p:sp>
        <p:sp>
          <p:nvSpPr>
            <p:cNvPr name="Freeform 11" id="11"/>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B5B5B"/>
            </a:solidFill>
          </p:spPr>
        </p:sp>
        <p:sp>
          <p:nvSpPr>
            <p:cNvPr name="Freeform 12" id="12"/>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B5B5B"/>
            </a:solidFill>
          </p:spPr>
        </p:sp>
        <p:sp>
          <p:nvSpPr>
            <p:cNvPr name="Freeform 13" id="13"/>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EBCEB5"/>
            </a:solidFill>
          </p:spPr>
        </p:sp>
        <p:sp>
          <p:nvSpPr>
            <p:cNvPr name="Freeform 14" id="14"/>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EBCEB5"/>
            </a:solidFill>
          </p:spPr>
        </p:sp>
        <p:sp>
          <p:nvSpPr>
            <p:cNvPr name="Freeform 15" id="15"/>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EBCEB5"/>
            </a:solidFill>
          </p:spPr>
        </p:sp>
        <p:sp>
          <p:nvSpPr>
            <p:cNvPr name="Freeform 16" id="16"/>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EBCEB5"/>
            </a:solidFill>
          </p:spPr>
        </p:sp>
        <p:sp>
          <p:nvSpPr>
            <p:cNvPr name="Freeform 17" id="17"/>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FCE9D8"/>
            </a:solidFill>
          </p:spPr>
        </p:sp>
      </p:grpSp>
      <p:sp>
        <p:nvSpPr>
          <p:cNvPr name="TextBox 18" id="18"/>
          <p:cNvSpPr txBox="true"/>
          <p:nvPr/>
        </p:nvSpPr>
        <p:spPr>
          <a:xfrm rot="0">
            <a:off x="475399" y="192075"/>
            <a:ext cx="8170111" cy="1300807"/>
          </a:xfrm>
          <a:prstGeom prst="rect">
            <a:avLst/>
          </a:prstGeom>
        </p:spPr>
        <p:txBody>
          <a:bodyPr anchor="t" rtlCol="false" tIns="0" lIns="0" bIns="0" rIns="0">
            <a:spAutoFit/>
          </a:bodyPr>
          <a:lstStyle/>
          <a:p>
            <a:pPr algn="l">
              <a:lnSpc>
                <a:spcPts val="9391"/>
              </a:lnSpc>
              <a:spcBef>
                <a:spcPct val="0"/>
              </a:spcBef>
            </a:pPr>
            <a:r>
              <a:rPr lang="en-US" sz="8696">
                <a:solidFill>
                  <a:srgbClr val="295BBE"/>
                </a:solidFill>
                <a:latin typeface="Poppins Light"/>
                <a:ea typeface="Poppins Light"/>
                <a:cs typeface="Poppins Light"/>
                <a:sym typeface="Poppins Light"/>
              </a:rPr>
              <a:t>FreshBox </a:t>
            </a:r>
          </a:p>
        </p:txBody>
      </p:sp>
      <p:sp>
        <p:nvSpPr>
          <p:cNvPr name="TextBox 19" id="19"/>
          <p:cNvSpPr txBox="true"/>
          <p:nvPr/>
        </p:nvSpPr>
        <p:spPr>
          <a:xfrm rot="0">
            <a:off x="1228697" y="1117920"/>
            <a:ext cx="7878592" cy="1300807"/>
          </a:xfrm>
          <a:prstGeom prst="rect">
            <a:avLst/>
          </a:prstGeom>
        </p:spPr>
        <p:txBody>
          <a:bodyPr anchor="t" rtlCol="false" tIns="0" lIns="0" bIns="0" rIns="0">
            <a:spAutoFit/>
          </a:bodyPr>
          <a:lstStyle/>
          <a:p>
            <a:pPr algn="l">
              <a:lnSpc>
                <a:spcPts val="9391"/>
              </a:lnSpc>
              <a:spcBef>
                <a:spcPct val="0"/>
              </a:spcBef>
            </a:pPr>
            <a:r>
              <a:rPr lang="en-US" b="true" sz="8696">
                <a:solidFill>
                  <a:srgbClr val="295BBE"/>
                </a:solidFill>
                <a:latin typeface="Poppins Bold"/>
                <a:ea typeface="Poppins Bold"/>
                <a:cs typeface="Poppins Bold"/>
                <a:sym typeface="Poppins Bold"/>
              </a:rPr>
              <a:t>OS &amp; App</a:t>
            </a:r>
          </a:p>
        </p:txBody>
      </p:sp>
      <p:sp>
        <p:nvSpPr>
          <p:cNvPr name="TextBox 20" id="20"/>
          <p:cNvSpPr txBox="true"/>
          <p:nvPr/>
        </p:nvSpPr>
        <p:spPr>
          <a:xfrm rot="5400000">
            <a:off x="17336912" y="9029381"/>
            <a:ext cx="936679" cy="272173"/>
          </a:xfrm>
          <a:prstGeom prst="rect">
            <a:avLst/>
          </a:prstGeom>
        </p:spPr>
        <p:txBody>
          <a:bodyPr anchor="t" rtlCol="false" tIns="0" lIns="0" bIns="0" rIns="0">
            <a:spAutoFit/>
          </a:bodyPr>
          <a:lstStyle/>
          <a:p>
            <a:pPr algn="l">
              <a:lnSpc>
                <a:spcPts val="1934"/>
              </a:lnSpc>
              <a:spcBef>
                <a:spcPct val="0"/>
              </a:spcBef>
            </a:pPr>
            <a:r>
              <a:rPr lang="en-US" sz="1791">
                <a:solidFill>
                  <a:srgbClr val="FFFFFF"/>
                </a:solidFill>
                <a:latin typeface="Poppins"/>
                <a:ea typeface="Poppins"/>
                <a:cs typeface="Poppins"/>
                <a:sym typeface="Poppins"/>
              </a:rPr>
              <a:t>page 6</a:t>
            </a:r>
          </a:p>
        </p:txBody>
      </p:sp>
      <p:sp>
        <p:nvSpPr>
          <p:cNvPr name="TextBox 21" id="21"/>
          <p:cNvSpPr txBox="true"/>
          <p:nvPr/>
        </p:nvSpPr>
        <p:spPr>
          <a:xfrm rot="0">
            <a:off x="691410" y="2595336"/>
            <a:ext cx="8452590" cy="7927132"/>
          </a:xfrm>
          <a:prstGeom prst="rect">
            <a:avLst/>
          </a:prstGeom>
        </p:spPr>
        <p:txBody>
          <a:bodyPr anchor="t" rtlCol="false" tIns="0" lIns="0" bIns="0" rIns="0">
            <a:spAutoFit/>
          </a:bodyPr>
          <a:lstStyle/>
          <a:p>
            <a:pPr algn="just" marL="448164" indent="-224082" lvl="1">
              <a:lnSpc>
                <a:spcPts val="3736"/>
              </a:lnSpc>
              <a:buFont typeface="Arial"/>
              <a:buChar char="•"/>
            </a:pPr>
            <a:r>
              <a:rPr lang="en-US" b="true" sz="2075">
                <a:solidFill>
                  <a:srgbClr val="295BBE"/>
                </a:solidFill>
                <a:latin typeface="Poppins Bold"/>
                <a:ea typeface="Poppins Bold"/>
                <a:cs typeface="Poppins Bold"/>
                <a:sym typeface="Poppins Bold"/>
              </a:rPr>
              <a:t>Αισθητήρες &amp; Δεδομένα:</a:t>
            </a:r>
            <a:r>
              <a:rPr lang="en-US" sz="2075">
                <a:solidFill>
                  <a:srgbClr val="295BBE"/>
                </a:solidFill>
                <a:latin typeface="Poppins"/>
                <a:ea typeface="Poppins"/>
                <a:cs typeface="Poppins"/>
                <a:sym typeface="Poppins"/>
              </a:rPr>
              <a:t> Παρακολούθηση θερμοκρασίας, υγρασίας και ενέργειας για ακριβείς πληροφορίες.</a:t>
            </a:r>
          </a:p>
          <a:p>
            <a:pPr algn="just" marL="448164" indent="-224082" lvl="1">
              <a:lnSpc>
                <a:spcPts val="3736"/>
              </a:lnSpc>
              <a:buFont typeface="Arial"/>
              <a:buChar char="•"/>
            </a:pPr>
            <a:r>
              <a:rPr lang="en-US" b="true" sz="2075">
                <a:solidFill>
                  <a:srgbClr val="295BBE"/>
                </a:solidFill>
                <a:latin typeface="Poppins Bold"/>
                <a:ea typeface="Poppins Bold"/>
                <a:cs typeface="Poppins Bold"/>
                <a:sym typeface="Poppins Bold"/>
              </a:rPr>
              <a:t>Έξυπνες Ειδοποιήσεις:</a:t>
            </a:r>
            <a:r>
              <a:rPr lang="en-US" sz="2075">
                <a:solidFill>
                  <a:srgbClr val="295BBE"/>
                </a:solidFill>
                <a:latin typeface="Poppins"/>
                <a:ea typeface="Poppins"/>
                <a:cs typeface="Poppins"/>
                <a:sym typeface="Poppins"/>
              </a:rPr>
              <a:t> Ειδοποιήσεις για λήξη προϊόντων, θερμοκρασία και συντήρηση, όπως αλλαγή φίλτρου.</a:t>
            </a:r>
          </a:p>
          <a:p>
            <a:pPr algn="just" marL="448164" indent="-224082" lvl="1">
              <a:lnSpc>
                <a:spcPts val="3736"/>
              </a:lnSpc>
              <a:buFont typeface="Arial"/>
              <a:buChar char="•"/>
            </a:pPr>
            <a:r>
              <a:rPr lang="en-US" b="true" sz="2075">
                <a:solidFill>
                  <a:srgbClr val="295BBE"/>
                </a:solidFill>
                <a:latin typeface="Poppins Bold"/>
                <a:ea typeface="Poppins Bold"/>
                <a:cs typeface="Poppins Bold"/>
                <a:sym typeface="Poppins Bold"/>
              </a:rPr>
              <a:t>Εξατομικευμένες Προτάσεις:</a:t>
            </a:r>
            <a:r>
              <a:rPr lang="en-US" sz="2075">
                <a:solidFill>
                  <a:srgbClr val="295BBE"/>
                </a:solidFill>
                <a:latin typeface="Poppins"/>
                <a:ea typeface="Poppins"/>
                <a:cs typeface="Poppins"/>
                <a:sym typeface="Poppins"/>
              </a:rPr>
              <a:t> Συνταγές με βάση τα διαθέσιμα υλικά για αποφυγή σπατάλης.</a:t>
            </a:r>
          </a:p>
          <a:p>
            <a:pPr algn="just" marL="448164" indent="-224082" lvl="1">
              <a:lnSpc>
                <a:spcPts val="3736"/>
              </a:lnSpc>
              <a:buFont typeface="Arial"/>
              <a:buChar char="•"/>
            </a:pPr>
            <a:r>
              <a:rPr lang="en-US" b="true" sz="2075">
                <a:solidFill>
                  <a:srgbClr val="295BBE"/>
                </a:solidFill>
                <a:latin typeface="Poppins Bold"/>
                <a:ea typeface="Poppins Bold"/>
                <a:cs typeface="Poppins Bold"/>
                <a:sym typeface="Poppins Bold"/>
              </a:rPr>
              <a:t>Αναγνώριση Προϊόντων με AI:</a:t>
            </a:r>
            <a:r>
              <a:rPr lang="en-US" sz="2075">
                <a:solidFill>
                  <a:srgbClr val="295BBE"/>
                </a:solidFill>
                <a:latin typeface="Poppins"/>
                <a:ea typeface="Poppins"/>
                <a:cs typeface="Poppins"/>
                <a:sym typeface="Poppins"/>
              </a:rPr>
              <a:t> Αυτόματη καταχώρηση προϊόντων μέσω κάμερας και τεχνητής νοημοσύνης.</a:t>
            </a:r>
          </a:p>
          <a:p>
            <a:pPr algn="just" marL="448164" indent="-224082" lvl="1">
              <a:lnSpc>
                <a:spcPts val="3736"/>
              </a:lnSpc>
              <a:buFont typeface="Arial"/>
              <a:buChar char="•"/>
            </a:pPr>
            <a:r>
              <a:rPr lang="en-US" b="true" sz="2075">
                <a:solidFill>
                  <a:srgbClr val="295BBE"/>
                </a:solidFill>
                <a:latin typeface="Poppins Bold"/>
                <a:ea typeface="Poppins Bold"/>
                <a:cs typeface="Poppins Bold"/>
                <a:sym typeface="Poppins Bold"/>
              </a:rPr>
              <a:t>Απομακρυσμένος Έλεγχος:</a:t>
            </a:r>
            <a:r>
              <a:rPr lang="en-US" sz="2075">
                <a:solidFill>
                  <a:srgbClr val="295BBE"/>
                </a:solidFill>
                <a:latin typeface="Poppins"/>
                <a:ea typeface="Poppins"/>
                <a:cs typeface="Poppins"/>
                <a:sym typeface="Poppins"/>
              </a:rPr>
              <a:t> Έλεγχος προϊόντων και ειδοποιήσεις μέσω κινητού.</a:t>
            </a:r>
          </a:p>
          <a:p>
            <a:pPr algn="just" marL="448164" indent="-224082" lvl="1">
              <a:lnSpc>
                <a:spcPts val="3736"/>
              </a:lnSpc>
              <a:buFont typeface="Arial"/>
              <a:buChar char="•"/>
            </a:pPr>
            <a:r>
              <a:rPr lang="en-US" b="true" sz="2075">
                <a:solidFill>
                  <a:srgbClr val="295BBE"/>
                </a:solidFill>
                <a:latin typeface="Poppins Bold"/>
                <a:ea typeface="Poppins Bold"/>
                <a:cs typeface="Poppins Bold"/>
                <a:sym typeface="Poppins Bold"/>
              </a:rPr>
              <a:t>Λίστα Αγορών:</a:t>
            </a:r>
            <a:r>
              <a:rPr lang="en-US" sz="2075">
                <a:solidFill>
                  <a:srgbClr val="295BBE"/>
                </a:solidFill>
                <a:latin typeface="Poppins"/>
                <a:ea typeface="Poppins"/>
                <a:cs typeface="Poppins"/>
                <a:sym typeface="Poppins"/>
              </a:rPr>
              <a:t> Αυτόματη δημιουργία λίστας για προϊόντα που λείπουν ή λήγουν, με δυνατότητα online παραγγελίας.</a:t>
            </a:r>
          </a:p>
          <a:p>
            <a:pPr algn="just" marL="448164" indent="-224082" lvl="1">
              <a:lnSpc>
                <a:spcPts val="3736"/>
              </a:lnSpc>
              <a:buFont typeface="Arial"/>
              <a:buChar char="•"/>
            </a:pPr>
            <a:r>
              <a:rPr lang="en-US" b="true" sz="2075">
                <a:solidFill>
                  <a:srgbClr val="295BBE"/>
                </a:solidFill>
                <a:latin typeface="Poppins Bold"/>
                <a:ea typeface="Poppins Bold"/>
                <a:cs typeface="Poppins Bold"/>
                <a:sym typeface="Poppins Bold"/>
              </a:rPr>
              <a:t>Διαχείριση Υγείας:</a:t>
            </a:r>
            <a:r>
              <a:rPr lang="en-US" sz="2075">
                <a:solidFill>
                  <a:srgbClr val="295BBE"/>
                </a:solidFill>
                <a:latin typeface="Poppins"/>
                <a:ea typeface="Poppins"/>
                <a:cs typeface="Poppins"/>
                <a:sym typeface="Poppins"/>
              </a:rPr>
              <a:t> Παρακολούθηση διατροφής και προτάσεις για υγιεινές επιλογές.</a:t>
            </a:r>
          </a:p>
          <a:p>
            <a:pPr algn="just" marL="448164" indent="-224082" lvl="1">
              <a:lnSpc>
                <a:spcPts val="3736"/>
              </a:lnSpc>
              <a:buFont typeface="Arial"/>
              <a:buChar char="•"/>
            </a:pPr>
            <a:r>
              <a:rPr lang="en-US" b="true" sz="2075">
                <a:solidFill>
                  <a:srgbClr val="295BBE"/>
                </a:solidFill>
                <a:latin typeface="Poppins Bold"/>
                <a:ea typeface="Poppins Bold"/>
                <a:cs typeface="Poppins Bold"/>
                <a:sym typeface="Poppins Bold"/>
              </a:rPr>
              <a:t>Φωνητικές Εντολές:</a:t>
            </a:r>
            <a:r>
              <a:rPr lang="en-US" sz="2075">
                <a:solidFill>
                  <a:srgbClr val="295BBE"/>
                </a:solidFill>
                <a:latin typeface="Poppins"/>
                <a:ea typeface="Poppins"/>
                <a:cs typeface="Poppins"/>
                <a:sym typeface="Poppins"/>
              </a:rPr>
              <a:t> Επικοινωνία με το FreshBox μέσω φωνητικών εντολών για προτάσεις και ενημερώσεις.</a:t>
            </a:r>
          </a:p>
          <a:p>
            <a:pPr algn="just">
              <a:lnSpc>
                <a:spcPts val="3736"/>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10339508" y="-895534"/>
            <a:ext cx="8114526" cy="13019176"/>
            <a:chOff x="0" y="0"/>
            <a:chExt cx="2137159" cy="3428919"/>
          </a:xfrm>
        </p:grpSpPr>
        <p:sp>
          <p:nvSpPr>
            <p:cNvPr name="Freeform 3" id="3"/>
            <p:cNvSpPr/>
            <p:nvPr/>
          </p:nvSpPr>
          <p:spPr>
            <a:xfrm flipH="false" flipV="false" rot="0">
              <a:off x="0" y="0"/>
              <a:ext cx="2137159" cy="3428919"/>
            </a:xfrm>
            <a:custGeom>
              <a:avLst/>
              <a:gdLst/>
              <a:ahLst/>
              <a:cxnLst/>
              <a:rect r="r" b="b" t="t" l="l"/>
              <a:pathLst>
                <a:path h="3428919" w="2137159">
                  <a:moveTo>
                    <a:pt x="0" y="0"/>
                  </a:moveTo>
                  <a:lnTo>
                    <a:pt x="2137159" y="0"/>
                  </a:lnTo>
                  <a:lnTo>
                    <a:pt x="2137159" y="3428919"/>
                  </a:lnTo>
                  <a:lnTo>
                    <a:pt x="0" y="3428919"/>
                  </a:lnTo>
                  <a:close/>
                </a:path>
              </a:pathLst>
            </a:custGeom>
            <a:solidFill>
              <a:srgbClr val="295BBE"/>
            </a:solidFill>
          </p:spPr>
        </p:sp>
        <p:sp>
          <p:nvSpPr>
            <p:cNvPr name="TextBox 4" id="4"/>
            <p:cNvSpPr txBox="true"/>
            <p:nvPr/>
          </p:nvSpPr>
          <p:spPr>
            <a:xfrm>
              <a:off x="0" y="0"/>
              <a:ext cx="2137159" cy="3428919"/>
            </a:xfrm>
            <a:prstGeom prst="rect">
              <a:avLst/>
            </a:prstGeom>
          </p:spPr>
          <p:txBody>
            <a:bodyPr anchor="ctr" rtlCol="false" tIns="50800" lIns="50800" bIns="50800" rIns="50800"/>
            <a:lstStyle/>
            <a:p>
              <a:pPr algn="ctr">
                <a:lnSpc>
                  <a:spcPts val="1917"/>
                </a:lnSpc>
              </a:pPr>
            </a:p>
          </p:txBody>
        </p:sp>
      </p:grpSp>
      <p:sp>
        <p:nvSpPr>
          <p:cNvPr name="Freeform 5" id="5"/>
          <p:cNvSpPr/>
          <p:nvPr/>
        </p:nvSpPr>
        <p:spPr>
          <a:xfrm flipH="false" flipV="false" rot="0">
            <a:off x="11922613" y="5338682"/>
            <a:ext cx="4948318" cy="4948318"/>
          </a:xfrm>
          <a:custGeom>
            <a:avLst/>
            <a:gdLst/>
            <a:ahLst/>
            <a:cxnLst/>
            <a:rect r="r" b="b" t="t" l="l"/>
            <a:pathLst>
              <a:path h="4948318" w="4948318">
                <a:moveTo>
                  <a:pt x="0" y="0"/>
                </a:moveTo>
                <a:lnTo>
                  <a:pt x="4948317" y="0"/>
                </a:lnTo>
                <a:lnTo>
                  <a:pt x="4948317" y="4948318"/>
                </a:lnTo>
                <a:lnTo>
                  <a:pt x="0" y="4948318"/>
                </a:lnTo>
                <a:lnTo>
                  <a:pt x="0" y="0"/>
                </a:lnTo>
                <a:close/>
              </a:path>
            </a:pathLst>
          </a:custGeom>
          <a:blipFill>
            <a:blip r:embed="rId3"/>
            <a:stretch>
              <a:fillRect l="0" t="0" r="0" b="0"/>
            </a:stretch>
          </a:blipFill>
        </p:spPr>
      </p:sp>
      <p:sp>
        <p:nvSpPr>
          <p:cNvPr name="Freeform 6" id="6"/>
          <p:cNvSpPr/>
          <p:nvPr/>
        </p:nvSpPr>
        <p:spPr>
          <a:xfrm flipH="false" flipV="false" rot="0">
            <a:off x="10576867" y="229705"/>
            <a:ext cx="4872930" cy="4640550"/>
          </a:xfrm>
          <a:custGeom>
            <a:avLst/>
            <a:gdLst/>
            <a:ahLst/>
            <a:cxnLst/>
            <a:rect r="r" b="b" t="t" l="l"/>
            <a:pathLst>
              <a:path h="4640550" w="4872930">
                <a:moveTo>
                  <a:pt x="0" y="0"/>
                </a:moveTo>
                <a:lnTo>
                  <a:pt x="4872930" y="0"/>
                </a:lnTo>
                <a:lnTo>
                  <a:pt x="4872930" y="4640550"/>
                </a:lnTo>
                <a:lnTo>
                  <a:pt x="0" y="4640550"/>
                </a:lnTo>
                <a:lnTo>
                  <a:pt x="0" y="0"/>
                </a:lnTo>
                <a:close/>
              </a:path>
            </a:pathLst>
          </a:custGeom>
          <a:blipFill>
            <a:blip r:embed="rId4"/>
            <a:stretch>
              <a:fillRect l="0" t="0" r="0" b="0"/>
            </a:stretch>
          </a:blipFill>
        </p:spPr>
      </p:sp>
      <p:sp>
        <p:nvSpPr>
          <p:cNvPr name="Freeform 7" id="7"/>
          <p:cNvSpPr/>
          <p:nvPr/>
        </p:nvSpPr>
        <p:spPr>
          <a:xfrm flipH="false" flipV="false" rot="0">
            <a:off x="14895666" y="708867"/>
            <a:ext cx="3558368" cy="3999871"/>
          </a:xfrm>
          <a:custGeom>
            <a:avLst/>
            <a:gdLst/>
            <a:ahLst/>
            <a:cxnLst/>
            <a:rect r="r" b="b" t="t" l="l"/>
            <a:pathLst>
              <a:path h="3999871" w="3558368">
                <a:moveTo>
                  <a:pt x="0" y="0"/>
                </a:moveTo>
                <a:lnTo>
                  <a:pt x="3558369" y="0"/>
                </a:lnTo>
                <a:lnTo>
                  <a:pt x="3558369" y="3999870"/>
                </a:lnTo>
                <a:lnTo>
                  <a:pt x="0" y="3999870"/>
                </a:lnTo>
                <a:lnTo>
                  <a:pt x="0" y="0"/>
                </a:lnTo>
                <a:close/>
              </a:path>
            </a:pathLst>
          </a:custGeom>
          <a:blipFill>
            <a:blip r:embed="rId5"/>
            <a:stretch>
              <a:fillRect l="-6203" t="0" r="-6203" b="0"/>
            </a:stretch>
          </a:blipFill>
        </p:spPr>
      </p:sp>
      <p:sp>
        <p:nvSpPr>
          <p:cNvPr name="TextBox 8" id="8"/>
          <p:cNvSpPr txBox="true"/>
          <p:nvPr/>
        </p:nvSpPr>
        <p:spPr>
          <a:xfrm rot="5400000">
            <a:off x="17336912" y="9029381"/>
            <a:ext cx="936679" cy="272173"/>
          </a:xfrm>
          <a:prstGeom prst="rect">
            <a:avLst/>
          </a:prstGeom>
        </p:spPr>
        <p:txBody>
          <a:bodyPr anchor="t" rtlCol="false" tIns="0" lIns="0" bIns="0" rIns="0">
            <a:spAutoFit/>
          </a:bodyPr>
          <a:lstStyle/>
          <a:p>
            <a:pPr algn="l">
              <a:lnSpc>
                <a:spcPts val="1934"/>
              </a:lnSpc>
              <a:spcBef>
                <a:spcPct val="0"/>
              </a:spcBef>
            </a:pPr>
            <a:r>
              <a:rPr lang="en-US" sz="1791">
                <a:solidFill>
                  <a:srgbClr val="FFFFFF"/>
                </a:solidFill>
                <a:latin typeface="Poppins"/>
                <a:ea typeface="Poppins"/>
                <a:cs typeface="Poppins"/>
                <a:sym typeface="Poppins"/>
              </a:rPr>
              <a:t>page 7</a:t>
            </a:r>
          </a:p>
        </p:txBody>
      </p:sp>
      <p:sp>
        <p:nvSpPr>
          <p:cNvPr name="TextBox 9" id="9"/>
          <p:cNvSpPr txBox="true"/>
          <p:nvPr/>
        </p:nvSpPr>
        <p:spPr>
          <a:xfrm rot="0">
            <a:off x="-1728158" y="305592"/>
            <a:ext cx="8706103" cy="1304104"/>
          </a:xfrm>
          <a:prstGeom prst="rect">
            <a:avLst/>
          </a:prstGeom>
        </p:spPr>
        <p:txBody>
          <a:bodyPr anchor="t" rtlCol="false" tIns="0" lIns="0" bIns="0" rIns="0">
            <a:spAutoFit/>
          </a:bodyPr>
          <a:lstStyle/>
          <a:p>
            <a:pPr algn="r">
              <a:lnSpc>
                <a:spcPts val="9391"/>
              </a:lnSpc>
              <a:spcBef>
                <a:spcPct val="0"/>
              </a:spcBef>
            </a:pPr>
            <a:r>
              <a:rPr lang="en-US" sz="8696">
                <a:solidFill>
                  <a:srgbClr val="295BBE"/>
                </a:solidFill>
                <a:latin typeface="Poppins"/>
                <a:ea typeface="Poppins"/>
                <a:cs typeface="Poppins"/>
                <a:sym typeface="Poppins"/>
              </a:rPr>
              <a:t>ΑΙΣΘΗΤΗΡΕΣ</a:t>
            </a:r>
          </a:p>
        </p:txBody>
      </p:sp>
      <p:sp>
        <p:nvSpPr>
          <p:cNvPr name="TextBox 10" id="10"/>
          <p:cNvSpPr txBox="true"/>
          <p:nvPr/>
        </p:nvSpPr>
        <p:spPr>
          <a:xfrm rot="0">
            <a:off x="533706" y="1407995"/>
            <a:ext cx="6444239" cy="1300807"/>
          </a:xfrm>
          <a:prstGeom prst="rect">
            <a:avLst/>
          </a:prstGeom>
        </p:spPr>
        <p:txBody>
          <a:bodyPr anchor="t" rtlCol="false" tIns="0" lIns="0" bIns="0" rIns="0">
            <a:spAutoFit/>
          </a:bodyPr>
          <a:lstStyle/>
          <a:p>
            <a:pPr algn="l">
              <a:lnSpc>
                <a:spcPts val="9391"/>
              </a:lnSpc>
              <a:spcBef>
                <a:spcPct val="0"/>
              </a:spcBef>
            </a:pPr>
            <a:r>
              <a:rPr lang="en-US" b="true" sz="8696">
                <a:solidFill>
                  <a:srgbClr val="295BBE"/>
                </a:solidFill>
                <a:latin typeface="Poppins Bold"/>
                <a:ea typeface="Poppins Bold"/>
                <a:cs typeface="Poppins Bold"/>
                <a:sym typeface="Poppins Bold"/>
              </a:rPr>
              <a:t>&amp; ΚΑΜΕΡΕΣ</a:t>
            </a:r>
          </a:p>
        </p:txBody>
      </p:sp>
      <p:sp>
        <p:nvSpPr>
          <p:cNvPr name="TextBox 11" id="11"/>
          <p:cNvSpPr txBox="true"/>
          <p:nvPr/>
        </p:nvSpPr>
        <p:spPr>
          <a:xfrm rot="0">
            <a:off x="167166" y="2854076"/>
            <a:ext cx="9953930" cy="7246044"/>
          </a:xfrm>
          <a:prstGeom prst="rect">
            <a:avLst/>
          </a:prstGeom>
        </p:spPr>
        <p:txBody>
          <a:bodyPr anchor="t" rtlCol="false" tIns="0" lIns="0" bIns="0" rIns="0">
            <a:spAutoFit/>
          </a:bodyPr>
          <a:lstStyle/>
          <a:p>
            <a:pPr algn="just" marL="452172" indent="-226086" lvl="1">
              <a:lnSpc>
                <a:spcPts val="3057"/>
              </a:lnSpc>
              <a:buFont typeface="Arial"/>
              <a:buChar char="•"/>
            </a:pPr>
            <a:r>
              <a:rPr lang="en-US" b="true" sz="2094">
                <a:solidFill>
                  <a:srgbClr val="295BBE"/>
                </a:solidFill>
                <a:latin typeface="Poppins Bold"/>
                <a:ea typeface="Poppins Bold"/>
                <a:cs typeface="Poppins Bold"/>
                <a:sym typeface="Poppins Bold"/>
              </a:rPr>
              <a:t>Αισθητήρες Βάρους: </a:t>
            </a:r>
            <a:r>
              <a:rPr lang="en-US" sz="2094">
                <a:solidFill>
                  <a:srgbClr val="295BBE"/>
                </a:solidFill>
                <a:latin typeface="Poppins"/>
                <a:ea typeface="Poppins"/>
                <a:cs typeface="Poppins"/>
                <a:sym typeface="Poppins"/>
              </a:rPr>
              <a:t>Παρακολουθούν το βάρος των τροφίμων στα ράφια, ειδοποιώντας τον χρήστη όταν ένα προϊόν πλησιάζει στην εξάντληση, ιδανικό για συχνά καταναλισκόμενα προϊόντα.</a:t>
            </a:r>
          </a:p>
          <a:p>
            <a:pPr algn="just">
              <a:lnSpc>
                <a:spcPts val="3057"/>
              </a:lnSpc>
            </a:pPr>
          </a:p>
          <a:p>
            <a:pPr algn="just" marL="452172" indent="-226086" lvl="1">
              <a:lnSpc>
                <a:spcPts val="3057"/>
              </a:lnSpc>
              <a:buFont typeface="Arial"/>
              <a:buChar char="•"/>
            </a:pPr>
            <a:r>
              <a:rPr lang="en-US" b="true" sz="2094">
                <a:solidFill>
                  <a:srgbClr val="295BBE"/>
                </a:solidFill>
                <a:latin typeface="Poppins Bold"/>
                <a:ea typeface="Poppins Bold"/>
                <a:cs typeface="Poppins Bold"/>
                <a:sym typeface="Poppins Bold"/>
              </a:rPr>
              <a:t>Αισθητήρες Θερμοκρασίας: </a:t>
            </a:r>
            <a:r>
              <a:rPr lang="en-US" sz="2094">
                <a:solidFill>
                  <a:srgbClr val="295BBE"/>
                </a:solidFill>
                <a:latin typeface="Poppins"/>
                <a:ea typeface="Poppins"/>
                <a:cs typeface="Poppins"/>
                <a:sym typeface="Poppins"/>
              </a:rPr>
              <a:t>Ρυθμίζουν τη θερμοκρασία σε ιδανικά επίπεδα για κάθε ζώνη, διασφαλίζοντας τη φρεσκάδα και παρατείνοντας τη διάρκεια ζωής των τροφίμων.</a:t>
            </a:r>
          </a:p>
          <a:p>
            <a:pPr algn="just">
              <a:lnSpc>
                <a:spcPts val="3057"/>
              </a:lnSpc>
            </a:pPr>
          </a:p>
          <a:p>
            <a:pPr algn="just" marL="452172" indent="-226086" lvl="1">
              <a:lnSpc>
                <a:spcPts val="3057"/>
              </a:lnSpc>
              <a:buFont typeface="Arial"/>
              <a:buChar char="•"/>
            </a:pPr>
            <a:r>
              <a:rPr lang="en-US" b="true" sz="2094">
                <a:solidFill>
                  <a:srgbClr val="295BBE"/>
                </a:solidFill>
                <a:latin typeface="Poppins Bold"/>
                <a:ea typeface="Poppins Bold"/>
                <a:cs typeface="Poppins Bold"/>
                <a:sym typeface="Poppins Bold"/>
              </a:rPr>
              <a:t>Αισθητήρες Υγρασίας: </a:t>
            </a:r>
            <a:r>
              <a:rPr lang="en-US" sz="2094">
                <a:solidFill>
                  <a:srgbClr val="295BBE"/>
                </a:solidFill>
                <a:latin typeface="Poppins"/>
                <a:ea typeface="Poppins"/>
                <a:cs typeface="Poppins"/>
                <a:sym typeface="Poppins"/>
              </a:rPr>
              <a:t>Ελέγχουν την υγρασία ανάλογα με τις ανάγκες των τροφίμων, όπως τα φρούτα, για να διατηρούνται φρέσκα για περισσότερο.</a:t>
            </a:r>
          </a:p>
          <a:p>
            <a:pPr algn="just">
              <a:lnSpc>
                <a:spcPts val="3057"/>
              </a:lnSpc>
            </a:pPr>
          </a:p>
          <a:p>
            <a:pPr algn="just" marL="452172" indent="-226086" lvl="1">
              <a:lnSpc>
                <a:spcPts val="3057"/>
              </a:lnSpc>
              <a:buFont typeface="Arial"/>
              <a:buChar char="•"/>
            </a:pPr>
            <a:r>
              <a:rPr lang="en-US" b="true" sz="2094">
                <a:solidFill>
                  <a:srgbClr val="295BBE"/>
                </a:solidFill>
                <a:latin typeface="Poppins Bold"/>
                <a:ea typeface="Poppins Bold"/>
                <a:cs typeface="Poppins Bold"/>
                <a:sym typeface="Poppins Bold"/>
              </a:rPr>
              <a:t>Αισθητήρες Αερίων: </a:t>
            </a:r>
            <a:r>
              <a:rPr lang="en-US" sz="2094">
                <a:solidFill>
                  <a:srgbClr val="295BBE"/>
                </a:solidFill>
                <a:latin typeface="Poppins"/>
                <a:ea typeface="Poppins"/>
                <a:cs typeface="Poppins"/>
                <a:sym typeface="Poppins"/>
              </a:rPr>
              <a:t>Ανιχνεύουν αέρια όπως αιθυλένιο που επηρεάζουν την ωρίμανση, προτείνοντας κατανάλωση ή ενεργοποιώντας αποσμητικές λειτουργίες.</a:t>
            </a:r>
          </a:p>
          <a:p>
            <a:pPr algn="just">
              <a:lnSpc>
                <a:spcPts val="3057"/>
              </a:lnSpc>
            </a:pPr>
          </a:p>
          <a:p>
            <a:pPr algn="just" marL="452172" indent="-226086" lvl="1">
              <a:lnSpc>
                <a:spcPts val="3057"/>
              </a:lnSpc>
              <a:buFont typeface="Arial"/>
              <a:buChar char="•"/>
            </a:pPr>
            <a:r>
              <a:rPr lang="en-US" b="true" sz="2094">
                <a:solidFill>
                  <a:srgbClr val="295BBE"/>
                </a:solidFill>
                <a:latin typeface="Poppins Bold"/>
                <a:ea typeface="Poppins Bold"/>
                <a:cs typeface="Poppins Bold"/>
                <a:sym typeface="Poppins Bold"/>
              </a:rPr>
              <a:t>Κάμερες Αναγνώρισης Τροφίμων: </a:t>
            </a:r>
            <a:r>
              <a:rPr lang="en-US" sz="2094">
                <a:solidFill>
                  <a:srgbClr val="295BBE"/>
                </a:solidFill>
                <a:latin typeface="Poppins"/>
                <a:ea typeface="Poppins"/>
                <a:cs typeface="Poppins"/>
                <a:sym typeface="Poppins"/>
              </a:rPr>
              <a:t>Καταγράφουν αυτόματα τα αποθέματα και την ημερομηνία λήξης των τροφίμων, βοηθώντας στη μείωση της σπατάλης.</a:t>
            </a:r>
          </a:p>
          <a:p>
            <a:pPr algn="just">
              <a:lnSpc>
                <a:spcPts val="3057"/>
              </a:lnSpc>
            </a:pPr>
          </a:p>
        </p:txBody>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95BBE"/>
        </a:solidFill>
      </p:bgPr>
    </p:bg>
    <p:spTree>
      <p:nvGrpSpPr>
        <p:cNvPr id="1" name=""/>
        <p:cNvGrpSpPr/>
        <p:nvPr/>
      </p:nvGrpSpPr>
      <p:grpSpPr>
        <a:xfrm>
          <a:off x="0" y="0"/>
          <a:ext cx="0" cy="0"/>
          <a:chOff x="0" y="0"/>
          <a:chExt cx="0" cy="0"/>
        </a:xfrm>
      </p:grpSpPr>
      <p:sp>
        <p:nvSpPr>
          <p:cNvPr name="Freeform 2" id="2"/>
          <p:cNvSpPr/>
          <p:nvPr/>
        </p:nvSpPr>
        <p:spPr>
          <a:xfrm flipH="false" flipV="false" rot="0">
            <a:off x="1903946" y="2377583"/>
            <a:ext cx="5328132" cy="9543658"/>
          </a:xfrm>
          <a:custGeom>
            <a:avLst/>
            <a:gdLst/>
            <a:ahLst/>
            <a:cxnLst/>
            <a:rect r="r" b="b" t="t" l="l"/>
            <a:pathLst>
              <a:path h="9543658" w="5328132">
                <a:moveTo>
                  <a:pt x="0" y="0"/>
                </a:moveTo>
                <a:lnTo>
                  <a:pt x="5328132" y="0"/>
                </a:lnTo>
                <a:lnTo>
                  <a:pt x="5328132" y="9543657"/>
                </a:lnTo>
                <a:lnTo>
                  <a:pt x="0" y="9543657"/>
                </a:lnTo>
                <a:lnTo>
                  <a:pt x="0" y="0"/>
                </a:lnTo>
                <a:close/>
              </a:path>
            </a:pathLst>
          </a:custGeom>
          <a:blipFill>
            <a:blip r:embed="rId3"/>
            <a:stretch>
              <a:fillRect l="-16426" t="0" r="0" b="0"/>
            </a:stretch>
          </a:blipFill>
        </p:spPr>
      </p:sp>
      <p:sp>
        <p:nvSpPr>
          <p:cNvPr name="TextBox 3" id="3"/>
          <p:cNvSpPr txBox="true"/>
          <p:nvPr/>
        </p:nvSpPr>
        <p:spPr>
          <a:xfrm rot="5400000">
            <a:off x="17336912" y="9029381"/>
            <a:ext cx="936679" cy="272173"/>
          </a:xfrm>
          <a:prstGeom prst="rect">
            <a:avLst/>
          </a:prstGeom>
        </p:spPr>
        <p:txBody>
          <a:bodyPr anchor="t" rtlCol="false" tIns="0" lIns="0" bIns="0" rIns="0">
            <a:spAutoFit/>
          </a:bodyPr>
          <a:lstStyle/>
          <a:p>
            <a:pPr algn="l">
              <a:lnSpc>
                <a:spcPts val="1934"/>
              </a:lnSpc>
              <a:spcBef>
                <a:spcPct val="0"/>
              </a:spcBef>
            </a:pPr>
            <a:r>
              <a:rPr lang="en-US" sz="1791">
                <a:solidFill>
                  <a:srgbClr val="FFFFFF"/>
                </a:solidFill>
                <a:latin typeface="Poppins"/>
                <a:ea typeface="Poppins"/>
                <a:cs typeface="Poppins"/>
                <a:sym typeface="Poppins"/>
              </a:rPr>
              <a:t>page 8</a:t>
            </a:r>
          </a:p>
        </p:txBody>
      </p:sp>
      <p:sp>
        <p:nvSpPr>
          <p:cNvPr name="TextBox 4" id="4"/>
          <p:cNvSpPr txBox="true"/>
          <p:nvPr/>
        </p:nvSpPr>
        <p:spPr>
          <a:xfrm rot="0">
            <a:off x="730143" y="303270"/>
            <a:ext cx="7493499" cy="1450861"/>
          </a:xfrm>
          <a:prstGeom prst="rect">
            <a:avLst/>
          </a:prstGeom>
        </p:spPr>
        <p:txBody>
          <a:bodyPr anchor="t" rtlCol="false" tIns="0" lIns="0" bIns="0" rIns="0">
            <a:spAutoFit/>
          </a:bodyPr>
          <a:lstStyle/>
          <a:p>
            <a:pPr algn="just">
              <a:lnSpc>
                <a:spcPts val="5421"/>
              </a:lnSpc>
            </a:pPr>
            <a:r>
              <a:rPr lang="en-US" sz="5019">
                <a:solidFill>
                  <a:srgbClr val="FFFFFF"/>
                </a:solidFill>
                <a:latin typeface="Poppins"/>
                <a:ea typeface="Poppins"/>
                <a:cs typeface="Poppins"/>
                <a:sym typeface="Poppins"/>
              </a:rPr>
              <a:t>ΠΟΛΥΖΩΝΙΚΟΣ </a:t>
            </a:r>
          </a:p>
          <a:p>
            <a:pPr algn="just">
              <a:lnSpc>
                <a:spcPts val="5421"/>
              </a:lnSpc>
              <a:spcBef>
                <a:spcPct val="0"/>
              </a:spcBef>
            </a:pPr>
            <a:r>
              <a:rPr lang="en-US" sz="5019">
                <a:solidFill>
                  <a:srgbClr val="FFFFFF"/>
                </a:solidFill>
                <a:latin typeface="Poppins"/>
                <a:ea typeface="Poppins"/>
                <a:cs typeface="Poppins"/>
                <a:sym typeface="Poppins"/>
              </a:rPr>
              <a:t>ΕΛΕΓΧΟΣ </a:t>
            </a:r>
          </a:p>
        </p:txBody>
      </p:sp>
      <p:sp>
        <p:nvSpPr>
          <p:cNvPr name="TextBox 5" id="5"/>
          <p:cNvSpPr txBox="true"/>
          <p:nvPr/>
        </p:nvSpPr>
        <p:spPr>
          <a:xfrm rot="0">
            <a:off x="1293172" y="1341695"/>
            <a:ext cx="7850828" cy="1375801"/>
          </a:xfrm>
          <a:prstGeom prst="rect">
            <a:avLst/>
          </a:prstGeom>
        </p:spPr>
        <p:txBody>
          <a:bodyPr anchor="t" rtlCol="false" tIns="0" lIns="0" bIns="0" rIns="0">
            <a:spAutoFit/>
          </a:bodyPr>
          <a:lstStyle/>
          <a:p>
            <a:pPr algn="ctr">
              <a:lnSpc>
                <a:spcPts val="5180"/>
              </a:lnSpc>
            </a:pPr>
            <a:r>
              <a:rPr lang="en-US" sz="4797" b="true">
                <a:solidFill>
                  <a:srgbClr val="FFFFFF"/>
                </a:solidFill>
                <a:latin typeface="Poppins Bold"/>
                <a:ea typeface="Poppins Bold"/>
                <a:cs typeface="Poppins Bold"/>
                <a:sym typeface="Poppins Bold"/>
              </a:rPr>
              <a:t>            ΘΕΡΜΟΚΡΑΣΙΩΝ</a:t>
            </a:r>
          </a:p>
          <a:p>
            <a:pPr algn="ctr">
              <a:lnSpc>
                <a:spcPts val="5180"/>
              </a:lnSpc>
              <a:spcBef>
                <a:spcPct val="0"/>
              </a:spcBef>
            </a:pPr>
            <a:r>
              <a:rPr lang="en-US" b="true" sz="4797">
                <a:solidFill>
                  <a:srgbClr val="FFFFFF"/>
                </a:solidFill>
                <a:latin typeface="Poppins Bold"/>
                <a:ea typeface="Poppins Bold"/>
                <a:cs typeface="Poppins Bold"/>
                <a:sym typeface="Poppins Bold"/>
              </a:rPr>
              <a:t>                        ΤΡΟΦΙΜΩΝ </a:t>
            </a:r>
          </a:p>
        </p:txBody>
      </p:sp>
      <p:sp>
        <p:nvSpPr>
          <p:cNvPr name="TextBox 6" id="6"/>
          <p:cNvSpPr txBox="true"/>
          <p:nvPr/>
        </p:nvSpPr>
        <p:spPr>
          <a:xfrm rot="0">
            <a:off x="9144000" y="1268401"/>
            <a:ext cx="7372640" cy="4234851"/>
          </a:xfrm>
          <a:prstGeom prst="rect">
            <a:avLst/>
          </a:prstGeom>
        </p:spPr>
        <p:txBody>
          <a:bodyPr anchor="t" rtlCol="false" tIns="0" lIns="0" bIns="0" rIns="0">
            <a:spAutoFit/>
          </a:bodyPr>
          <a:lstStyle/>
          <a:p>
            <a:pPr algn="just" marL="452172" indent="-226086" lvl="1">
              <a:lnSpc>
                <a:spcPts val="2617"/>
              </a:lnSpc>
              <a:buAutoNum type="arabicPeriod" startAt="1"/>
            </a:pPr>
            <a:r>
              <a:rPr lang="en-US" b="true" sz="2094">
                <a:solidFill>
                  <a:srgbClr val="FFFFFF"/>
                </a:solidFill>
                <a:latin typeface="Poppins Bold"/>
                <a:ea typeface="Poppins Bold"/>
                <a:cs typeface="Poppins Bold"/>
                <a:sym typeface="Poppins Bold"/>
              </a:rPr>
              <a:t>Διαχωρισμός σε Ζώνες: </a:t>
            </a:r>
            <a:r>
              <a:rPr lang="en-US" sz="2094">
                <a:solidFill>
                  <a:srgbClr val="FFFFFF"/>
                </a:solidFill>
                <a:latin typeface="Poppins"/>
                <a:ea typeface="Poppins"/>
                <a:cs typeface="Poppins"/>
                <a:sym typeface="Poppins"/>
              </a:rPr>
              <a:t>Το FreshBox διαθέτει ξεχωριστές ζώνες ψύξης για κάθε κατηγορία τροφίμου. Χαμηλή θερμοκρασία για κρέατα και ψάρια, ήπια ψύξη για φρούτα και λαχανικά.</a:t>
            </a:r>
          </a:p>
          <a:p>
            <a:pPr algn="just" marL="452172" indent="-226086" lvl="1">
              <a:lnSpc>
                <a:spcPts val="2617"/>
              </a:lnSpc>
              <a:buAutoNum type="arabicPeriod" startAt="1"/>
            </a:pPr>
            <a:r>
              <a:rPr lang="en-US" b="true" sz="2094">
                <a:solidFill>
                  <a:srgbClr val="FFFFFF"/>
                </a:solidFill>
                <a:latin typeface="Poppins Bold"/>
                <a:ea typeface="Poppins Bold"/>
                <a:cs typeface="Poppins Bold"/>
                <a:sym typeface="Poppins Bold"/>
              </a:rPr>
              <a:t>Αυτόματη Ρύθμιση: </a:t>
            </a:r>
            <a:r>
              <a:rPr lang="en-US" sz="2094">
                <a:solidFill>
                  <a:srgbClr val="FFFFFF"/>
                </a:solidFill>
                <a:latin typeface="Poppins"/>
                <a:ea typeface="Poppins"/>
                <a:cs typeface="Poppins"/>
                <a:sym typeface="Poppins"/>
              </a:rPr>
              <a:t>Με αισθητήρες που ανιχνεύουν τις ανάγκες των τροφίμων, το ψυγείο ρυθμίζει αυτόματα τη θερμοκρασία και την υγρασία σε κάθε ζώνη.</a:t>
            </a:r>
          </a:p>
          <a:p>
            <a:pPr algn="just" marL="452172" indent="-226086" lvl="1">
              <a:lnSpc>
                <a:spcPts val="2617"/>
              </a:lnSpc>
              <a:buAutoNum type="arabicPeriod" startAt="1"/>
            </a:pPr>
            <a:r>
              <a:rPr lang="en-US" b="true" sz="2094">
                <a:solidFill>
                  <a:srgbClr val="FFFFFF"/>
                </a:solidFill>
                <a:latin typeface="Poppins Bold"/>
                <a:ea typeface="Poppins Bold"/>
                <a:cs typeface="Poppins Bold"/>
                <a:sym typeface="Poppins Bold"/>
              </a:rPr>
              <a:t>Μείωση Μόλυνσης: </a:t>
            </a:r>
            <a:r>
              <a:rPr lang="en-US" sz="2094">
                <a:solidFill>
                  <a:srgbClr val="FFFFFF"/>
                </a:solidFill>
                <a:latin typeface="Poppins"/>
                <a:ea typeface="Poppins"/>
                <a:cs typeface="Poppins"/>
                <a:sym typeface="Poppins"/>
              </a:rPr>
              <a:t>Οι ζώνες διατηρούν κάθε τρόφιμο ξεχωριστό, αποτρέποντας τη μετάδοση οσμών και βακτηρίων και διασφαλίζοντας τη φρεσκάδα τους.</a:t>
            </a:r>
          </a:p>
          <a:p>
            <a:pPr algn="just">
              <a:lnSpc>
                <a:spcPts val="2617"/>
              </a:lnSpc>
            </a:pPr>
          </a:p>
        </p:txBody>
      </p:sp>
      <p:sp>
        <p:nvSpPr>
          <p:cNvPr name="TextBox 7" id="7"/>
          <p:cNvSpPr txBox="true"/>
          <p:nvPr/>
        </p:nvSpPr>
        <p:spPr>
          <a:xfrm rot="0">
            <a:off x="9144000" y="6362653"/>
            <a:ext cx="7372640" cy="3580286"/>
          </a:xfrm>
          <a:prstGeom prst="rect">
            <a:avLst/>
          </a:prstGeom>
        </p:spPr>
        <p:txBody>
          <a:bodyPr anchor="t" rtlCol="false" tIns="0" lIns="0" bIns="0" rIns="0">
            <a:spAutoFit/>
          </a:bodyPr>
          <a:lstStyle/>
          <a:p>
            <a:pPr algn="just" marL="452172" indent="-226086" lvl="1">
              <a:lnSpc>
                <a:spcPts val="2597"/>
              </a:lnSpc>
              <a:buAutoNum type="arabicPeriod" startAt="1"/>
            </a:pPr>
            <a:r>
              <a:rPr lang="en-US" b="true" sz="2094">
                <a:solidFill>
                  <a:srgbClr val="FFFFFF"/>
                </a:solidFill>
                <a:latin typeface="Poppins Bold"/>
                <a:ea typeface="Poppins Bold"/>
                <a:cs typeface="Poppins Bold"/>
                <a:sym typeface="Poppins Bold"/>
              </a:rPr>
              <a:t>Βέλτιστη Φρεσκάδα: </a:t>
            </a:r>
            <a:r>
              <a:rPr lang="en-US" sz="2094">
                <a:solidFill>
                  <a:srgbClr val="FFFFFF"/>
                </a:solidFill>
                <a:latin typeface="Poppins"/>
                <a:ea typeface="Poppins"/>
                <a:cs typeface="Poppins"/>
                <a:sym typeface="Poppins"/>
              </a:rPr>
              <a:t>Κάθε τρόφιμο διατηρείται στην ιδανική θερμοκρασία, παραμένοντας φρέσκο για μεγαλύτερο διάστημα.</a:t>
            </a:r>
          </a:p>
          <a:p>
            <a:pPr algn="just" marL="452172" indent="-226086" lvl="1">
              <a:lnSpc>
                <a:spcPts val="2597"/>
              </a:lnSpc>
              <a:buAutoNum type="arabicPeriod" startAt="1"/>
            </a:pPr>
            <a:r>
              <a:rPr lang="en-US" b="true" sz="2094">
                <a:solidFill>
                  <a:srgbClr val="FFFFFF"/>
                </a:solidFill>
                <a:latin typeface="Poppins Bold"/>
                <a:ea typeface="Poppins Bold"/>
                <a:cs typeface="Poppins Bold"/>
                <a:sym typeface="Poppins Bold"/>
              </a:rPr>
              <a:t>Οικονομία και Μείωση Αποβλήτων:</a:t>
            </a:r>
            <a:r>
              <a:rPr lang="en-US" sz="2094">
                <a:solidFill>
                  <a:srgbClr val="FFFFFF"/>
                </a:solidFill>
                <a:latin typeface="Poppins"/>
                <a:ea typeface="Poppins"/>
                <a:cs typeface="Poppins"/>
                <a:sym typeface="Poppins"/>
              </a:rPr>
              <a:t> Με τη μακροχρόνια συντήρηση, ο χρήστης αποφεύγει τη σπατάλη τροφίμων, μειώνοντας το περιβαλλοντικό αποτύπωμα.</a:t>
            </a:r>
          </a:p>
          <a:p>
            <a:pPr algn="just" marL="452172" indent="-226086" lvl="1">
              <a:lnSpc>
                <a:spcPts val="2597"/>
              </a:lnSpc>
              <a:buAutoNum type="arabicPeriod" startAt="1"/>
            </a:pPr>
            <a:r>
              <a:rPr lang="en-US" b="true" sz="2094">
                <a:solidFill>
                  <a:srgbClr val="FFFFFF"/>
                </a:solidFill>
                <a:latin typeface="Poppins Bold"/>
                <a:ea typeface="Poppins Bold"/>
                <a:cs typeface="Poppins Bold"/>
                <a:sym typeface="Poppins Bold"/>
              </a:rPr>
              <a:t>Ασφάλεια Τροφίμων:</a:t>
            </a:r>
            <a:r>
              <a:rPr lang="en-US" sz="2094">
                <a:solidFill>
                  <a:srgbClr val="FFFFFF"/>
                </a:solidFill>
                <a:latin typeface="Poppins"/>
                <a:ea typeface="Poppins"/>
                <a:cs typeface="Poppins"/>
                <a:sym typeface="Poppins"/>
              </a:rPr>
              <a:t> Η χρήση πολλαπλών ζωνών μειώνει τον κίνδυνο επιμόλυνσης, διατηρώντας τα τρόφιμα ασφαλή και υγιεινά.</a:t>
            </a:r>
          </a:p>
          <a:p>
            <a:pPr algn="just">
              <a:lnSpc>
                <a:spcPts val="2597"/>
              </a:lnSpc>
            </a:pPr>
          </a:p>
        </p:txBody>
      </p:sp>
      <p:sp>
        <p:nvSpPr>
          <p:cNvPr name="TextBox 8" id="8"/>
          <p:cNvSpPr txBox="true"/>
          <p:nvPr/>
        </p:nvSpPr>
        <p:spPr>
          <a:xfrm rot="0">
            <a:off x="9144000" y="5676567"/>
            <a:ext cx="5330646" cy="603733"/>
          </a:xfrm>
          <a:prstGeom prst="rect">
            <a:avLst/>
          </a:prstGeom>
        </p:spPr>
        <p:txBody>
          <a:bodyPr anchor="t" rtlCol="false" tIns="0" lIns="0" bIns="0" rIns="0">
            <a:spAutoFit/>
          </a:bodyPr>
          <a:lstStyle/>
          <a:p>
            <a:pPr algn="ctr">
              <a:lnSpc>
                <a:spcPts val="4309"/>
              </a:lnSpc>
              <a:spcBef>
                <a:spcPct val="0"/>
              </a:spcBef>
            </a:pPr>
            <a:r>
              <a:rPr lang="en-US" b="true" sz="3990">
                <a:solidFill>
                  <a:srgbClr val="FFFFFF"/>
                </a:solidFill>
                <a:latin typeface="Poppins Bold"/>
                <a:ea typeface="Poppins Bold"/>
                <a:cs typeface="Poppins Bold"/>
                <a:sym typeface="Poppins Bold"/>
              </a:rPr>
              <a:t>Οφέλη της Μεθόδου:</a:t>
            </a:r>
          </a:p>
        </p:txBody>
      </p:sp>
      <p:sp>
        <p:nvSpPr>
          <p:cNvPr name="TextBox 9" id="9"/>
          <p:cNvSpPr txBox="true"/>
          <p:nvPr/>
        </p:nvSpPr>
        <p:spPr>
          <a:xfrm rot="0">
            <a:off x="9144000" y="529452"/>
            <a:ext cx="4236721" cy="603733"/>
          </a:xfrm>
          <a:prstGeom prst="rect">
            <a:avLst/>
          </a:prstGeom>
        </p:spPr>
        <p:txBody>
          <a:bodyPr anchor="t" rtlCol="false" tIns="0" lIns="0" bIns="0" rIns="0">
            <a:spAutoFit/>
          </a:bodyPr>
          <a:lstStyle/>
          <a:p>
            <a:pPr algn="ctr">
              <a:lnSpc>
                <a:spcPts val="4309"/>
              </a:lnSpc>
              <a:spcBef>
                <a:spcPct val="0"/>
              </a:spcBef>
            </a:pPr>
            <a:r>
              <a:rPr lang="en-US" b="true" sz="3990">
                <a:solidFill>
                  <a:srgbClr val="FFFFFF"/>
                </a:solidFill>
                <a:latin typeface="Poppins Bold"/>
                <a:ea typeface="Poppins Bold"/>
                <a:cs typeface="Poppins Bold"/>
                <a:sym typeface="Poppins Bold"/>
              </a:rPr>
              <a:t>Πώς Λειτουργεί:</a:t>
            </a:r>
          </a:p>
        </p:txBody>
      </p:sp>
    </p:spTree>
  </p:cSld>
  <p:clrMapOvr>
    <a:masterClrMapping/>
  </p:clrMapOvr>
  <p:transition spd="fast">
    <p:wipe dir="l"/>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207134" y="7853336"/>
            <a:ext cx="3196234" cy="3231518"/>
            <a:chOff x="0" y="0"/>
            <a:chExt cx="719015" cy="726953"/>
          </a:xfrm>
        </p:grpSpPr>
        <p:sp>
          <p:nvSpPr>
            <p:cNvPr name="Freeform 3" id="3"/>
            <p:cNvSpPr/>
            <p:nvPr/>
          </p:nvSpPr>
          <p:spPr>
            <a:xfrm flipH="false" flipV="false" rot="0">
              <a:off x="0" y="0"/>
              <a:ext cx="719015" cy="726953"/>
            </a:xfrm>
            <a:custGeom>
              <a:avLst/>
              <a:gdLst/>
              <a:ahLst/>
              <a:cxnLst/>
              <a:rect r="r" b="b" t="t" l="l"/>
              <a:pathLst>
                <a:path h="726953" w="719015">
                  <a:moveTo>
                    <a:pt x="359508" y="0"/>
                  </a:moveTo>
                  <a:cubicBezTo>
                    <a:pt x="160957" y="0"/>
                    <a:pt x="0" y="162734"/>
                    <a:pt x="0" y="363476"/>
                  </a:cubicBezTo>
                  <a:cubicBezTo>
                    <a:pt x="0" y="564219"/>
                    <a:pt x="160957" y="726953"/>
                    <a:pt x="359508" y="726953"/>
                  </a:cubicBezTo>
                  <a:cubicBezTo>
                    <a:pt x="558058" y="726953"/>
                    <a:pt x="719015" y="564219"/>
                    <a:pt x="719015" y="363476"/>
                  </a:cubicBezTo>
                  <a:cubicBezTo>
                    <a:pt x="719015" y="162734"/>
                    <a:pt x="558058" y="0"/>
                    <a:pt x="359508" y="0"/>
                  </a:cubicBezTo>
                  <a:close/>
                </a:path>
              </a:pathLst>
            </a:custGeom>
            <a:solidFill>
              <a:srgbClr val="295BBE"/>
            </a:solidFill>
          </p:spPr>
        </p:sp>
        <p:sp>
          <p:nvSpPr>
            <p:cNvPr name="TextBox 4" id="4"/>
            <p:cNvSpPr txBox="true"/>
            <p:nvPr/>
          </p:nvSpPr>
          <p:spPr>
            <a:xfrm>
              <a:off x="67408" y="68152"/>
              <a:ext cx="584200" cy="590649"/>
            </a:xfrm>
            <a:prstGeom prst="rect">
              <a:avLst/>
            </a:prstGeom>
          </p:spPr>
          <p:txBody>
            <a:bodyPr anchor="ctr" rtlCol="false" tIns="50800" lIns="50800" bIns="50800" rIns="50800"/>
            <a:lstStyle/>
            <a:p>
              <a:pPr algn="ctr">
                <a:lnSpc>
                  <a:spcPts val="1917"/>
                </a:lnSpc>
              </a:pPr>
            </a:p>
          </p:txBody>
        </p:sp>
      </p:grpSp>
      <p:grpSp>
        <p:nvGrpSpPr>
          <p:cNvPr name="Group 5" id="5"/>
          <p:cNvGrpSpPr/>
          <p:nvPr/>
        </p:nvGrpSpPr>
        <p:grpSpPr>
          <a:xfrm rot="0">
            <a:off x="-506380" y="-795439"/>
            <a:ext cx="8972736" cy="12806875"/>
            <a:chOff x="0" y="0"/>
            <a:chExt cx="2363190" cy="3373004"/>
          </a:xfrm>
        </p:grpSpPr>
        <p:sp>
          <p:nvSpPr>
            <p:cNvPr name="Freeform 6" id="6"/>
            <p:cNvSpPr/>
            <p:nvPr/>
          </p:nvSpPr>
          <p:spPr>
            <a:xfrm flipH="false" flipV="false" rot="0">
              <a:off x="0" y="0"/>
              <a:ext cx="2363190" cy="3373004"/>
            </a:xfrm>
            <a:custGeom>
              <a:avLst/>
              <a:gdLst/>
              <a:ahLst/>
              <a:cxnLst/>
              <a:rect r="r" b="b" t="t" l="l"/>
              <a:pathLst>
                <a:path h="3373004" w="2363190">
                  <a:moveTo>
                    <a:pt x="25885" y="0"/>
                  </a:moveTo>
                  <a:lnTo>
                    <a:pt x="2337305" y="0"/>
                  </a:lnTo>
                  <a:cubicBezTo>
                    <a:pt x="2351601" y="0"/>
                    <a:pt x="2363190" y="11589"/>
                    <a:pt x="2363190" y="25885"/>
                  </a:cubicBezTo>
                  <a:lnTo>
                    <a:pt x="2363190" y="3347119"/>
                  </a:lnTo>
                  <a:cubicBezTo>
                    <a:pt x="2363190" y="3361415"/>
                    <a:pt x="2351601" y="3373004"/>
                    <a:pt x="2337305" y="3373004"/>
                  </a:cubicBezTo>
                  <a:lnTo>
                    <a:pt x="25885" y="3373004"/>
                  </a:lnTo>
                  <a:cubicBezTo>
                    <a:pt x="11589" y="3373004"/>
                    <a:pt x="0" y="3361415"/>
                    <a:pt x="0" y="3347119"/>
                  </a:cubicBezTo>
                  <a:lnTo>
                    <a:pt x="0" y="25885"/>
                  </a:lnTo>
                  <a:cubicBezTo>
                    <a:pt x="0" y="11589"/>
                    <a:pt x="11589" y="0"/>
                    <a:pt x="25885" y="0"/>
                  </a:cubicBezTo>
                  <a:close/>
                </a:path>
              </a:pathLst>
            </a:custGeom>
            <a:solidFill>
              <a:srgbClr val="295BBE"/>
            </a:solidFill>
          </p:spPr>
        </p:sp>
        <p:sp>
          <p:nvSpPr>
            <p:cNvPr name="TextBox 7" id="7"/>
            <p:cNvSpPr txBox="true"/>
            <p:nvPr/>
          </p:nvSpPr>
          <p:spPr>
            <a:xfrm>
              <a:off x="0" y="0"/>
              <a:ext cx="2363190" cy="3373004"/>
            </a:xfrm>
            <a:prstGeom prst="rect">
              <a:avLst/>
            </a:prstGeom>
          </p:spPr>
          <p:txBody>
            <a:bodyPr anchor="ctr" rtlCol="false" tIns="50800" lIns="50800" bIns="50800" rIns="50800"/>
            <a:lstStyle/>
            <a:p>
              <a:pPr algn="ctr">
                <a:lnSpc>
                  <a:spcPts val="1917"/>
                </a:lnSpc>
              </a:pPr>
            </a:p>
          </p:txBody>
        </p:sp>
      </p:grpSp>
      <p:sp>
        <p:nvSpPr>
          <p:cNvPr name="Freeform 8" id="8"/>
          <p:cNvSpPr/>
          <p:nvPr/>
        </p:nvSpPr>
        <p:spPr>
          <a:xfrm flipH="false" flipV="false" rot="0">
            <a:off x="10023722" y="2821188"/>
            <a:ext cx="6947621" cy="7875095"/>
          </a:xfrm>
          <a:custGeom>
            <a:avLst/>
            <a:gdLst/>
            <a:ahLst/>
            <a:cxnLst/>
            <a:rect r="r" b="b" t="t" l="l"/>
            <a:pathLst>
              <a:path h="7875095" w="6947621">
                <a:moveTo>
                  <a:pt x="0" y="0"/>
                </a:moveTo>
                <a:lnTo>
                  <a:pt x="6947621" y="0"/>
                </a:lnTo>
                <a:lnTo>
                  <a:pt x="6947621" y="7875095"/>
                </a:lnTo>
                <a:lnTo>
                  <a:pt x="0" y="7875095"/>
                </a:lnTo>
                <a:lnTo>
                  <a:pt x="0" y="0"/>
                </a:lnTo>
                <a:close/>
              </a:path>
            </a:pathLst>
          </a:custGeom>
          <a:blipFill>
            <a:blip r:embed="rId3"/>
            <a:stretch>
              <a:fillRect l="0" t="0" r="0" b="0"/>
            </a:stretch>
          </a:blipFill>
        </p:spPr>
      </p:sp>
      <p:sp>
        <p:nvSpPr>
          <p:cNvPr name="TextBox 9" id="9"/>
          <p:cNvSpPr txBox="true"/>
          <p:nvPr/>
        </p:nvSpPr>
        <p:spPr>
          <a:xfrm rot="0">
            <a:off x="9164177" y="270087"/>
            <a:ext cx="7807166" cy="1300807"/>
          </a:xfrm>
          <a:prstGeom prst="rect">
            <a:avLst/>
          </a:prstGeom>
        </p:spPr>
        <p:txBody>
          <a:bodyPr anchor="t" rtlCol="false" tIns="0" lIns="0" bIns="0" rIns="0">
            <a:spAutoFit/>
          </a:bodyPr>
          <a:lstStyle/>
          <a:p>
            <a:pPr algn="l">
              <a:lnSpc>
                <a:spcPts val="9391"/>
              </a:lnSpc>
              <a:spcBef>
                <a:spcPct val="0"/>
              </a:spcBef>
            </a:pPr>
            <a:r>
              <a:rPr lang="en-US" sz="8696">
                <a:solidFill>
                  <a:srgbClr val="295BBE"/>
                </a:solidFill>
                <a:latin typeface="Poppins"/>
                <a:ea typeface="Poppins"/>
                <a:cs typeface="Poppins"/>
                <a:sym typeface="Poppins"/>
              </a:rPr>
              <a:t>ΑΠΟΛΥΜΑΝΣΗ</a:t>
            </a:r>
          </a:p>
        </p:txBody>
      </p:sp>
      <p:sp>
        <p:nvSpPr>
          <p:cNvPr name="TextBox 10" id="10"/>
          <p:cNvSpPr txBox="true"/>
          <p:nvPr/>
        </p:nvSpPr>
        <p:spPr>
          <a:xfrm rot="0">
            <a:off x="9164177" y="1260958"/>
            <a:ext cx="6444239" cy="1300807"/>
          </a:xfrm>
          <a:prstGeom prst="rect">
            <a:avLst/>
          </a:prstGeom>
        </p:spPr>
        <p:txBody>
          <a:bodyPr anchor="t" rtlCol="false" tIns="0" lIns="0" bIns="0" rIns="0">
            <a:spAutoFit/>
          </a:bodyPr>
          <a:lstStyle/>
          <a:p>
            <a:pPr algn="l">
              <a:lnSpc>
                <a:spcPts val="9391"/>
              </a:lnSpc>
              <a:spcBef>
                <a:spcPct val="0"/>
              </a:spcBef>
            </a:pPr>
            <a:r>
              <a:rPr lang="en-US" b="true" sz="8696">
                <a:solidFill>
                  <a:srgbClr val="295BBE"/>
                </a:solidFill>
                <a:latin typeface="Poppins Bold"/>
                <a:ea typeface="Poppins Bold"/>
                <a:cs typeface="Poppins Bold"/>
                <a:sym typeface="Poppins Bold"/>
              </a:rPr>
              <a:t>UV-C </a:t>
            </a:r>
          </a:p>
        </p:txBody>
      </p:sp>
      <p:sp>
        <p:nvSpPr>
          <p:cNvPr name="TextBox 11" id="11"/>
          <p:cNvSpPr txBox="true"/>
          <p:nvPr/>
        </p:nvSpPr>
        <p:spPr>
          <a:xfrm rot="5400000">
            <a:off x="17358699" y="9036489"/>
            <a:ext cx="936679" cy="272173"/>
          </a:xfrm>
          <a:prstGeom prst="rect">
            <a:avLst/>
          </a:prstGeom>
        </p:spPr>
        <p:txBody>
          <a:bodyPr anchor="t" rtlCol="false" tIns="0" lIns="0" bIns="0" rIns="0">
            <a:spAutoFit/>
          </a:bodyPr>
          <a:lstStyle/>
          <a:p>
            <a:pPr algn="l">
              <a:lnSpc>
                <a:spcPts val="1934"/>
              </a:lnSpc>
              <a:spcBef>
                <a:spcPct val="0"/>
              </a:spcBef>
            </a:pPr>
            <a:r>
              <a:rPr lang="en-US" sz="1791">
                <a:solidFill>
                  <a:srgbClr val="FFFFFF"/>
                </a:solidFill>
                <a:latin typeface="Poppins"/>
                <a:ea typeface="Poppins"/>
                <a:cs typeface="Poppins"/>
                <a:sym typeface="Poppins"/>
              </a:rPr>
              <a:t>page 9</a:t>
            </a:r>
          </a:p>
        </p:txBody>
      </p:sp>
      <p:sp>
        <p:nvSpPr>
          <p:cNvPr name="TextBox 12" id="12"/>
          <p:cNvSpPr txBox="true"/>
          <p:nvPr/>
        </p:nvSpPr>
        <p:spPr>
          <a:xfrm rot="0">
            <a:off x="439184" y="778004"/>
            <a:ext cx="7851765" cy="4918229"/>
          </a:xfrm>
          <a:prstGeom prst="rect">
            <a:avLst/>
          </a:prstGeom>
        </p:spPr>
        <p:txBody>
          <a:bodyPr anchor="t" rtlCol="false" tIns="0" lIns="0" bIns="0" rIns="0">
            <a:spAutoFit/>
          </a:bodyPr>
          <a:lstStyle/>
          <a:p>
            <a:pPr algn="l" marL="466909" indent="-233455" lvl="1">
              <a:lnSpc>
                <a:spcPts val="3243"/>
              </a:lnSpc>
              <a:buAutoNum type="arabicPeriod" startAt="1"/>
            </a:pPr>
            <a:r>
              <a:rPr lang="en-US" b="true" sz="2162" u="sng">
                <a:solidFill>
                  <a:srgbClr val="FFFFFF"/>
                </a:solidFill>
                <a:latin typeface="Poppins Bold"/>
                <a:ea typeface="Poppins Bold"/>
                <a:cs typeface="Poppins Bold"/>
                <a:sym typeface="Poppins Bold"/>
              </a:rPr>
              <a:t>Χρήση UV-C Ακτινοβολίας:</a:t>
            </a:r>
            <a:r>
              <a:rPr lang="en-US" sz="2162">
                <a:solidFill>
                  <a:srgbClr val="FFFFFF"/>
                </a:solidFill>
                <a:latin typeface="Poppins"/>
                <a:ea typeface="Poppins"/>
                <a:cs typeface="Poppins"/>
                <a:sym typeface="Poppins"/>
              </a:rPr>
              <a:t> Εξουδετέρωση βακτηρίων και ιών μέσω υπεριώδους ακτινοβολίας τύπου C (UV-C).</a:t>
            </a:r>
          </a:p>
          <a:p>
            <a:pPr algn="l" marL="466909" indent="-233455" lvl="1">
              <a:lnSpc>
                <a:spcPts val="3243"/>
              </a:lnSpc>
              <a:buAutoNum type="arabicPeriod" startAt="1"/>
            </a:pPr>
            <a:r>
              <a:rPr lang="en-US" b="true" sz="2162" u="sng">
                <a:solidFill>
                  <a:srgbClr val="FFFFFF"/>
                </a:solidFill>
                <a:latin typeface="Poppins Bold"/>
                <a:ea typeface="Poppins Bold"/>
                <a:cs typeface="Poppins Bold"/>
                <a:sym typeface="Poppins Bold"/>
              </a:rPr>
              <a:t>Αυτόματη Ενεργοποίηση:</a:t>
            </a:r>
            <a:r>
              <a:rPr lang="en-US" sz="2162">
                <a:solidFill>
                  <a:srgbClr val="FFFFFF"/>
                </a:solidFill>
                <a:latin typeface="Poppins"/>
                <a:ea typeface="Poppins"/>
                <a:cs typeface="Poppins"/>
                <a:sym typeface="Poppins"/>
              </a:rPr>
              <a:t> Η λάμπα UV-C ενεργοποιείται όταν η πόρτα του ψυγείου είναι κλειστή, προσφέροντας απολύμανση χωρίς να επηρεάζει τον χρήστη.</a:t>
            </a:r>
          </a:p>
          <a:p>
            <a:pPr algn="l" marL="466909" indent="-233455" lvl="1">
              <a:lnSpc>
                <a:spcPts val="3243"/>
              </a:lnSpc>
              <a:buAutoNum type="arabicPeriod" startAt="1"/>
            </a:pPr>
            <a:r>
              <a:rPr lang="en-US" b="true" sz="2162" u="sng">
                <a:solidFill>
                  <a:srgbClr val="FFFFFF"/>
                </a:solidFill>
                <a:latin typeface="Poppins Bold"/>
                <a:ea typeface="Poppins Bold"/>
                <a:cs typeface="Poppins Bold"/>
                <a:sym typeface="Poppins Bold"/>
              </a:rPr>
              <a:t>Αισθητήρες Ασφαλείας:</a:t>
            </a:r>
            <a:r>
              <a:rPr lang="en-US" sz="2162">
                <a:solidFill>
                  <a:srgbClr val="FFFFFF"/>
                </a:solidFill>
                <a:latin typeface="Poppins"/>
                <a:ea typeface="Poppins"/>
                <a:cs typeface="Poppins"/>
                <a:sym typeface="Poppins"/>
              </a:rPr>
              <a:t> Ειδικοί αισθητήρες ενεργοποιούν τη λάμπα UV-C για συγκεκριμένη διάρκεια, εξασφαλίζοντας απολύμανση με ασφάλεια και αποτελεσματικότητα.</a:t>
            </a:r>
          </a:p>
          <a:p>
            <a:pPr algn="just">
              <a:lnSpc>
                <a:spcPts val="3243"/>
              </a:lnSpc>
            </a:pPr>
          </a:p>
        </p:txBody>
      </p:sp>
      <p:sp>
        <p:nvSpPr>
          <p:cNvPr name="TextBox 13" id="13"/>
          <p:cNvSpPr txBox="true"/>
          <p:nvPr/>
        </p:nvSpPr>
        <p:spPr>
          <a:xfrm rot="0">
            <a:off x="439184" y="6174588"/>
            <a:ext cx="7851765" cy="3688677"/>
          </a:xfrm>
          <a:prstGeom prst="rect">
            <a:avLst/>
          </a:prstGeom>
        </p:spPr>
        <p:txBody>
          <a:bodyPr anchor="t" rtlCol="false" tIns="0" lIns="0" bIns="0" rIns="0">
            <a:spAutoFit/>
          </a:bodyPr>
          <a:lstStyle/>
          <a:p>
            <a:pPr algn="l" marL="471598" indent="-235799" lvl="1">
              <a:lnSpc>
                <a:spcPts val="3276"/>
              </a:lnSpc>
              <a:buAutoNum type="arabicPeriod" startAt="1"/>
            </a:pPr>
            <a:r>
              <a:rPr lang="en-US" b="true" sz="2184" u="sng">
                <a:solidFill>
                  <a:srgbClr val="FFFFFF"/>
                </a:solidFill>
                <a:latin typeface="Poppins Bold"/>
                <a:ea typeface="Poppins Bold"/>
                <a:cs typeface="Poppins Bold"/>
                <a:sym typeface="Poppins Bold"/>
              </a:rPr>
              <a:t>Ασφάλεια Τροφίμων:</a:t>
            </a:r>
            <a:r>
              <a:rPr lang="en-US" b="true" sz="2184">
                <a:solidFill>
                  <a:srgbClr val="FFFFFF"/>
                </a:solidFill>
                <a:latin typeface="Poppins Bold"/>
                <a:ea typeface="Poppins Bold"/>
                <a:cs typeface="Poppins Bold"/>
                <a:sym typeface="Poppins Bold"/>
              </a:rPr>
              <a:t> </a:t>
            </a:r>
            <a:r>
              <a:rPr lang="en-US" sz="2184">
                <a:solidFill>
                  <a:srgbClr val="FFFFFF"/>
                </a:solidFill>
                <a:latin typeface="Poppins"/>
                <a:ea typeface="Poppins"/>
                <a:cs typeface="Poppins"/>
                <a:sym typeface="Poppins"/>
              </a:rPr>
              <a:t>Μειώνει τα μικρόβια, διατηρώντας τα τρόφιμα ασφαλή.</a:t>
            </a:r>
          </a:p>
          <a:p>
            <a:pPr algn="l" marL="471598" indent="-235799" lvl="1">
              <a:lnSpc>
                <a:spcPts val="3276"/>
              </a:lnSpc>
              <a:buAutoNum type="arabicPeriod" startAt="1"/>
            </a:pPr>
            <a:r>
              <a:rPr lang="en-US" b="true" sz="2184">
                <a:solidFill>
                  <a:srgbClr val="FFFFFF"/>
                </a:solidFill>
                <a:latin typeface="Poppins Bold"/>
                <a:ea typeface="Poppins Bold"/>
                <a:cs typeface="Poppins Bold"/>
                <a:sym typeface="Poppins Bold"/>
              </a:rPr>
              <a:t>Π</a:t>
            </a:r>
            <a:r>
              <a:rPr lang="en-US" b="true" sz="2184" u="sng">
                <a:solidFill>
                  <a:srgbClr val="FFFFFF"/>
                </a:solidFill>
                <a:latin typeface="Poppins Bold"/>
                <a:ea typeface="Poppins Bold"/>
                <a:cs typeface="Poppins Bold"/>
                <a:sym typeface="Poppins Bold"/>
              </a:rPr>
              <a:t>αρατεταμένη Φρεσκάδα:</a:t>
            </a:r>
            <a:r>
              <a:rPr lang="en-US" b="true" sz="2184">
                <a:solidFill>
                  <a:srgbClr val="FFFFFF"/>
                </a:solidFill>
                <a:latin typeface="Poppins Bold"/>
                <a:ea typeface="Poppins Bold"/>
                <a:cs typeface="Poppins Bold"/>
                <a:sym typeface="Poppins Bold"/>
              </a:rPr>
              <a:t> </a:t>
            </a:r>
            <a:r>
              <a:rPr lang="en-US" sz="2184">
                <a:solidFill>
                  <a:srgbClr val="FFFFFF"/>
                </a:solidFill>
                <a:latin typeface="Poppins"/>
                <a:ea typeface="Poppins"/>
                <a:cs typeface="Poppins"/>
                <a:sym typeface="Poppins"/>
              </a:rPr>
              <a:t>Ελαχιστοποιεί τους μικροοργανισμούς, παρατείνοντας τη διάρκεια ζωής των τροφίμων.</a:t>
            </a:r>
          </a:p>
          <a:p>
            <a:pPr algn="l" marL="471598" indent="-235799" lvl="1">
              <a:lnSpc>
                <a:spcPts val="3276"/>
              </a:lnSpc>
              <a:buAutoNum type="arabicPeriod" startAt="1"/>
            </a:pPr>
            <a:r>
              <a:rPr lang="en-US" b="true" sz="2184" u="sng">
                <a:solidFill>
                  <a:srgbClr val="FFFFFF"/>
                </a:solidFill>
                <a:latin typeface="Poppins Bold"/>
                <a:ea typeface="Poppins Bold"/>
                <a:cs typeface="Poppins Bold"/>
                <a:sym typeface="Poppins Bold"/>
              </a:rPr>
              <a:t>Υγιεινό Περιβάλλον:</a:t>
            </a:r>
            <a:r>
              <a:rPr lang="en-US" b="true" sz="2184">
                <a:solidFill>
                  <a:srgbClr val="FFFFFF"/>
                </a:solidFill>
                <a:latin typeface="Poppins Bold"/>
                <a:ea typeface="Poppins Bold"/>
                <a:cs typeface="Poppins Bold"/>
                <a:sym typeface="Poppins Bold"/>
              </a:rPr>
              <a:t> </a:t>
            </a:r>
            <a:r>
              <a:rPr lang="en-US" sz="2184">
                <a:solidFill>
                  <a:srgbClr val="FFFFFF"/>
                </a:solidFill>
                <a:latin typeface="Poppins"/>
                <a:ea typeface="Poppins"/>
                <a:cs typeface="Poppins"/>
                <a:sym typeface="Poppins"/>
              </a:rPr>
              <a:t>Διατηρεί το εσωτερικό καθαρό και ιδανικό για φρέσκα τρόφιμα</a:t>
            </a:r>
            <a:r>
              <a:rPr lang="en-US" b="true" sz="2184">
                <a:solidFill>
                  <a:srgbClr val="FFFFFF"/>
                </a:solidFill>
                <a:latin typeface="Poppins Bold"/>
                <a:ea typeface="Poppins Bold"/>
                <a:cs typeface="Poppins Bold"/>
                <a:sym typeface="Poppins Bold"/>
              </a:rPr>
              <a:t>.</a:t>
            </a:r>
          </a:p>
          <a:p>
            <a:pPr algn="l" marL="471598" indent="-235799" lvl="1">
              <a:lnSpc>
                <a:spcPts val="3276"/>
              </a:lnSpc>
              <a:buAutoNum type="arabicPeriod" startAt="1"/>
            </a:pPr>
            <a:r>
              <a:rPr lang="en-US" b="true" sz="2184" u="sng">
                <a:solidFill>
                  <a:srgbClr val="FFFFFF"/>
                </a:solidFill>
                <a:latin typeface="Poppins Bold"/>
                <a:ea typeface="Poppins Bold"/>
                <a:cs typeface="Poppins Bold"/>
                <a:sym typeface="Poppins Bold"/>
              </a:rPr>
              <a:t>Αυτόματη Λειτουργία:</a:t>
            </a:r>
            <a:r>
              <a:rPr lang="en-US" b="true" sz="2184">
                <a:solidFill>
                  <a:srgbClr val="FFFFFF"/>
                </a:solidFill>
                <a:latin typeface="Poppins Bold"/>
                <a:ea typeface="Poppins Bold"/>
                <a:cs typeface="Poppins Bold"/>
                <a:sym typeface="Poppins Bold"/>
              </a:rPr>
              <a:t> </a:t>
            </a:r>
            <a:r>
              <a:rPr lang="en-US" sz="2184">
                <a:solidFill>
                  <a:srgbClr val="FFFFFF"/>
                </a:solidFill>
                <a:latin typeface="Poppins"/>
                <a:ea typeface="Poppins"/>
                <a:cs typeface="Poppins"/>
                <a:sym typeface="Poppins"/>
              </a:rPr>
              <a:t>Ενεργοποιείται αυτόματα χωρίς ανάγκη παρέμβασης</a:t>
            </a:r>
            <a:r>
              <a:rPr lang="en-US" b="true" sz="2184">
                <a:solidFill>
                  <a:srgbClr val="FFFFFF"/>
                </a:solidFill>
                <a:latin typeface="Poppins Bold"/>
                <a:ea typeface="Poppins Bold"/>
                <a:cs typeface="Poppins Bold"/>
                <a:sym typeface="Poppins Bold"/>
              </a:rPr>
              <a:t>.</a:t>
            </a:r>
          </a:p>
        </p:txBody>
      </p:sp>
      <p:sp>
        <p:nvSpPr>
          <p:cNvPr name="TextBox 14" id="14"/>
          <p:cNvSpPr txBox="true"/>
          <p:nvPr/>
        </p:nvSpPr>
        <p:spPr>
          <a:xfrm rot="0">
            <a:off x="439184" y="5607999"/>
            <a:ext cx="5330646" cy="603733"/>
          </a:xfrm>
          <a:prstGeom prst="rect">
            <a:avLst/>
          </a:prstGeom>
        </p:spPr>
        <p:txBody>
          <a:bodyPr anchor="t" rtlCol="false" tIns="0" lIns="0" bIns="0" rIns="0">
            <a:spAutoFit/>
          </a:bodyPr>
          <a:lstStyle/>
          <a:p>
            <a:pPr algn="ctr">
              <a:lnSpc>
                <a:spcPts val="4309"/>
              </a:lnSpc>
              <a:spcBef>
                <a:spcPct val="0"/>
              </a:spcBef>
            </a:pPr>
            <a:r>
              <a:rPr lang="en-US" b="true" sz="3990">
                <a:solidFill>
                  <a:srgbClr val="FFFFFF"/>
                </a:solidFill>
                <a:latin typeface="Poppins Bold"/>
                <a:ea typeface="Poppins Bold"/>
                <a:cs typeface="Poppins Bold"/>
                <a:sym typeface="Poppins Bold"/>
              </a:rPr>
              <a:t>Οφέλη της Μεθόδου:</a:t>
            </a:r>
          </a:p>
        </p:txBody>
      </p:sp>
      <p:sp>
        <p:nvSpPr>
          <p:cNvPr name="TextBox 15" id="15"/>
          <p:cNvSpPr txBox="true"/>
          <p:nvPr/>
        </p:nvSpPr>
        <p:spPr>
          <a:xfrm rot="0">
            <a:off x="439184" y="212937"/>
            <a:ext cx="4236721" cy="603733"/>
          </a:xfrm>
          <a:prstGeom prst="rect">
            <a:avLst/>
          </a:prstGeom>
        </p:spPr>
        <p:txBody>
          <a:bodyPr anchor="t" rtlCol="false" tIns="0" lIns="0" bIns="0" rIns="0">
            <a:spAutoFit/>
          </a:bodyPr>
          <a:lstStyle/>
          <a:p>
            <a:pPr algn="ctr">
              <a:lnSpc>
                <a:spcPts val="4309"/>
              </a:lnSpc>
              <a:spcBef>
                <a:spcPct val="0"/>
              </a:spcBef>
            </a:pPr>
            <a:r>
              <a:rPr lang="en-US" b="true" sz="3990">
                <a:solidFill>
                  <a:srgbClr val="FFFFFF"/>
                </a:solidFill>
                <a:latin typeface="Poppins Bold"/>
                <a:ea typeface="Poppins Bold"/>
                <a:cs typeface="Poppins Bold"/>
                <a:sym typeface="Poppins Bold"/>
              </a:rPr>
              <a:t>Πώς Λειτουργεί:</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972731" y="3360129"/>
            <a:ext cx="8981519" cy="8973279"/>
            <a:chOff x="0" y="0"/>
            <a:chExt cx="813546" cy="812800"/>
          </a:xfrm>
        </p:grpSpPr>
        <p:sp>
          <p:nvSpPr>
            <p:cNvPr name="Freeform 3" id="3"/>
            <p:cNvSpPr/>
            <p:nvPr/>
          </p:nvSpPr>
          <p:spPr>
            <a:xfrm flipH="false" flipV="false" rot="0">
              <a:off x="0" y="0"/>
              <a:ext cx="813546" cy="812800"/>
            </a:xfrm>
            <a:custGeom>
              <a:avLst/>
              <a:gdLst/>
              <a:ahLst/>
              <a:cxnLst/>
              <a:rect r="r" b="b" t="t" l="l"/>
              <a:pathLst>
                <a:path h="812800" w="813546">
                  <a:moveTo>
                    <a:pt x="406773" y="0"/>
                  </a:moveTo>
                  <a:cubicBezTo>
                    <a:pt x="182119" y="0"/>
                    <a:pt x="0" y="181951"/>
                    <a:pt x="0" y="406400"/>
                  </a:cubicBezTo>
                  <a:cubicBezTo>
                    <a:pt x="0" y="630849"/>
                    <a:pt x="182119" y="812800"/>
                    <a:pt x="406773" y="812800"/>
                  </a:cubicBezTo>
                  <a:cubicBezTo>
                    <a:pt x="631428" y="812800"/>
                    <a:pt x="813546" y="630849"/>
                    <a:pt x="813546" y="406400"/>
                  </a:cubicBezTo>
                  <a:cubicBezTo>
                    <a:pt x="813546" y="181951"/>
                    <a:pt x="631428" y="0"/>
                    <a:pt x="406773" y="0"/>
                  </a:cubicBezTo>
                  <a:close/>
                </a:path>
              </a:pathLst>
            </a:custGeom>
            <a:solidFill>
              <a:srgbClr val="295BBE"/>
            </a:solidFill>
          </p:spPr>
        </p:sp>
        <p:sp>
          <p:nvSpPr>
            <p:cNvPr name="TextBox 4" id="4"/>
            <p:cNvSpPr txBox="true"/>
            <p:nvPr/>
          </p:nvSpPr>
          <p:spPr>
            <a:xfrm>
              <a:off x="76270" y="76200"/>
              <a:ext cx="661006" cy="660400"/>
            </a:xfrm>
            <a:prstGeom prst="rect">
              <a:avLst/>
            </a:prstGeom>
          </p:spPr>
          <p:txBody>
            <a:bodyPr anchor="ctr" rtlCol="false" tIns="50800" lIns="50800" bIns="50800" rIns="50800"/>
            <a:lstStyle/>
            <a:p>
              <a:pPr algn="ctr">
                <a:lnSpc>
                  <a:spcPts val="1917"/>
                </a:lnSpc>
              </a:pPr>
            </a:p>
          </p:txBody>
        </p:sp>
      </p:grpSp>
      <p:sp>
        <p:nvSpPr>
          <p:cNvPr name="Freeform 5" id="5"/>
          <p:cNvSpPr/>
          <p:nvPr/>
        </p:nvSpPr>
        <p:spPr>
          <a:xfrm flipH="false" flipV="false" rot="0">
            <a:off x="11316519" y="4798071"/>
            <a:ext cx="5658840" cy="4835736"/>
          </a:xfrm>
          <a:custGeom>
            <a:avLst/>
            <a:gdLst/>
            <a:ahLst/>
            <a:cxnLst/>
            <a:rect r="r" b="b" t="t" l="l"/>
            <a:pathLst>
              <a:path h="4835736" w="5658840">
                <a:moveTo>
                  <a:pt x="0" y="0"/>
                </a:moveTo>
                <a:lnTo>
                  <a:pt x="5658840" y="0"/>
                </a:lnTo>
                <a:lnTo>
                  <a:pt x="5658840" y="4835736"/>
                </a:lnTo>
                <a:lnTo>
                  <a:pt x="0" y="48357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488781" y="1899913"/>
            <a:ext cx="6883756" cy="435341"/>
          </a:xfrm>
          <a:prstGeom prst="rect">
            <a:avLst/>
          </a:prstGeom>
        </p:spPr>
        <p:txBody>
          <a:bodyPr anchor="t" rtlCol="false" tIns="0" lIns="0" bIns="0" rIns="0">
            <a:spAutoFit/>
          </a:bodyPr>
          <a:lstStyle/>
          <a:p>
            <a:pPr algn="just">
              <a:lnSpc>
                <a:spcPts val="3175"/>
              </a:lnSpc>
              <a:spcBef>
                <a:spcPct val="0"/>
              </a:spcBef>
            </a:pPr>
            <a:r>
              <a:rPr lang="en-US" b="true" sz="2940">
                <a:solidFill>
                  <a:srgbClr val="295BBE"/>
                </a:solidFill>
                <a:latin typeface="Poppins Bold"/>
                <a:ea typeface="Poppins Bold"/>
                <a:cs typeface="Poppins Bold"/>
                <a:sym typeface="Poppins Bold"/>
              </a:rPr>
              <a:t>Η ΠΑΓΚΟΣΜΙΑ ΣΠΑΤΑΛΗ ΤΡΟΦΙΜΩΝ</a:t>
            </a:r>
          </a:p>
        </p:txBody>
      </p:sp>
      <p:sp>
        <p:nvSpPr>
          <p:cNvPr name="TextBox 7" id="7"/>
          <p:cNvSpPr txBox="true"/>
          <p:nvPr/>
        </p:nvSpPr>
        <p:spPr>
          <a:xfrm rot="0">
            <a:off x="9293154" y="516034"/>
            <a:ext cx="8108122" cy="1374354"/>
          </a:xfrm>
          <a:prstGeom prst="rect">
            <a:avLst/>
          </a:prstGeom>
        </p:spPr>
        <p:txBody>
          <a:bodyPr anchor="t" rtlCol="false" tIns="0" lIns="0" bIns="0" rIns="0">
            <a:spAutoFit/>
          </a:bodyPr>
          <a:lstStyle/>
          <a:p>
            <a:pPr algn="l">
              <a:lnSpc>
                <a:spcPts val="9915"/>
              </a:lnSpc>
              <a:spcBef>
                <a:spcPct val="0"/>
              </a:spcBef>
            </a:pPr>
            <a:r>
              <a:rPr lang="en-US" sz="9180">
                <a:solidFill>
                  <a:srgbClr val="295BBE"/>
                </a:solidFill>
                <a:latin typeface="Poppins Light"/>
                <a:ea typeface="Poppins Light"/>
                <a:cs typeface="Poppins Light"/>
                <a:sym typeface="Poppins Light"/>
              </a:rPr>
              <a:t>Αποτελέσματα</a:t>
            </a:r>
          </a:p>
        </p:txBody>
      </p:sp>
      <p:sp>
        <p:nvSpPr>
          <p:cNvPr name="TextBox 8" id="8"/>
          <p:cNvSpPr txBox="true"/>
          <p:nvPr/>
        </p:nvSpPr>
        <p:spPr>
          <a:xfrm rot="0">
            <a:off x="9293154" y="1748962"/>
            <a:ext cx="6871009" cy="1388215"/>
          </a:xfrm>
          <a:prstGeom prst="rect">
            <a:avLst/>
          </a:prstGeom>
        </p:spPr>
        <p:txBody>
          <a:bodyPr anchor="t" rtlCol="false" tIns="0" lIns="0" bIns="0" rIns="0">
            <a:spAutoFit/>
          </a:bodyPr>
          <a:lstStyle/>
          <a:p>
            <a:pPr algn="l">
              <a:lnSpc>
                <a:spcPts val="10013"/>
              </a:lnSpc>
              <a:spcBef>
                <a:spcPct val="0"/>
              </a:spcBef>
            </a:pPr>
            <a:r>
              <a:rPr lang="en-US" b="true" sz="9271">
                <a:solidFill>
                  <a:srgbClr val="295BBE"/>
                </a:solidFill>
                <a:latin typeface="Poppins Bold"/>
                <a:ea typeface="Poppins Bold"/>
                <a:cs typeface="Poppins Bold"/>
                <a:sym typeface="Poppins Bold"/>
              </a:rPr>
              <a:t>Ερευνών</a:t>
            </a:r>
          </a:p>
        </p:txBody>
      </p:sp>
      <p:sp>
        <p:nvSpPr>
          <p:cNvPr name="TextBox 9" id="9"/>
          <p:cNvSpPr txBox="true"/>
          <p:nvPr/>
        </p:nvSpPr>
        <p:spPr>
          <a:xfrm rot="5400000">
            <a:off x="17336912" y="9029381"/>
            <a:ext cx="936679" cy="272173"/>
          </a:xfrm>
          <a:prstGeom prst="rect">
            <a:avLst/>
          </a:prstGeom>
        </p:spPr>
        <p:txBody>
          <a:bodyPr anchor="t" rtlCol="false" tIns="0" lIns="0" bIns="0" rIns="0">
            <a:spAutoFit/>
          </a:bodyPr>
          <a:lstStyle/>
          <a:p>
            <a:pPr algn="l">
              <a:lnSpc>
                <a:spcPts val="1934"/>
              </a:lnSpc>
              <a:spcBef>
                <a:spcPct val="0"/>
              </a:spcBef>
            </a:pPr>
            <a:r>
              <a:rPr lang="en-US" sz="1791">
                <a:solidFill>
                  <a:srgbClr val="FFFFFF"/>
                </a:solidFill>
                <a:latin typeface="Poppins"/>
                <a:ea typeface="Poppins"/>
                <a:cs typeface="Poppins"/>
                <a:sym typeface="Poppins"/>
              </a:rPr>
              <a:t>page 10</a:t>
            </a:r>
          </a:p>
        </p:txBody>
      </p:sp>
      <p:sp>
        <p:nvSpPr>
          <p:cNvPr name="TextBox 10" id="10"/>
          <p:cNvSpPr txBox="true"/>
          <p:nvPr/>
        </p:nvSpPr>
        <p:spPr>
          <a:xfrm rot="0">
            <a:off x="1488781" y="7115279"/>
            <a:ext cx="6883756" cy="835391"/>
          </a:xfrm>
          <a:prstGeom prst="rect">
            <a:avLst/>
          </a:prstGeom>
        </p:spPr>
        <p:txBody>
          <a:bodyPr anchor="t" rtlCol="false" tIns="0" lIns="0" bIns="0" rIns="0">
            <a:spAutoFit/>
          </a:bodyPr>
          <a:lstStyle/>
          <a:p>
            <a:pPr algn="l">
              <a:lnSpc>
                <a:spcPts val="3175"/>
              </a:lnSpc>
            </a:pPr>
            <a:r>
              <a:rPr lang="en-US" sz="2940" b="true">
                <a:solidFill>
                  <a:srgbClr val="295BBE"/>
                </a:solidFill>
                <a:latin typeface="Poppins Bold"/>
                <a:ea typeface="Poppins Bold"/>
                <a:cs typeface="Poppins Bold"/>
                <a:sym typeface="Poppins Bold"/>
              </a:rPr>
              <a:t>ΣΥΜΠΕΡΑΣΜΑΤΑ:</a:t>
            </a:r>
          </a:p>
          <a:p>
            <a:pPr algn="l">
              <a:lnSpc>
                <a:spcPts val="3175"/>
              </a:lnSpc>
              <a:spcBef>
                <a:spcPct val="0"/>
              </a:spcBef>
            </a:pPr>
            <a:r>
              <a:rPr lang="en-US" b="true" sz="2940">
                <a:solidFill>
                  <a:srgbClr val="295BBE"/>
                </a:solidFill>
                <a:latin typeface="Poppins Bold"/>
                <a:ea typeface="Poppins Bold"/>
                <a:cs typeface="Poppins Bold"/>
                <a:sym typeface="Poppins Bold"/>
              </a:rPr>
              <a:t>Η ΣΥΝΕΙΣΦΟΡΑ ΤΟΥ FRESHBOX</a:t>
            </a:r>
          </a:p>
        </p:txBody>
      </p:sp>
      <p:sp>
        <p:nvSpPr>
          <p:cNvPr name="TextBox 11" id="11"/>
          <p:cNvSpPr txBox="true"/>
          <p:nvPr/>
        </p:nvSpPr>
        <p:spPr>
          <a:xfrm rot="0">
            <a:off x="1488781" y="3507192"/>
            <a:ext cx="6883756" cy="835391"/>
          </a:xfrm>
          <a:prstGeom prst="rect">
            <a:avLst/>
          </a:prstGeom>
        </p:spPr>
        <p:txBody>
          <a:bodyPr anchor="t" rtlCol="false" tIns="0" lIns="0" bIns="0" rIns="0">
            <a:spAutoFit/>
          </a:bodyPr>
          <a:lstStyle/>
          <a:p>
            <a:pPr algn="l">
              <a:lnSpc>
                <a:spcPts val="3175"/>
              </a:lnSpc>
              <a:spcBef>
                <a:spcPct val="0"/>
              </a:spcBef>
            </a:pPr>
            <a:r>
              <a:rPr lang="en-US" b="true" sz="2940">
                <a:solidFill>
                  <a:srgbClr val="295BBE"/>
                </a:solidFill>
                <a:latin typeface="Poppins Bold"/>
                <a:ea typeface="Poppins Bold"/>
                <a:cs typeface="Poppins Bold"/>
                <a:sym typeface="Poppins Bold"/>
              </a:rPr>
              <a:t>ΔΕΙΚΤΗΣ ΠΑΓΚΟΣΜΙΑΣ ΑΠΩΛΕΙΑΣ ΤΡΟΦΙΜΩΝ</a:t>
            </a:r>
          </a:p>
        </p:txBody>
      </p:sp>
      <p:grpSp>
        <p:nvGrpSpPr>
          <p:cNvPr name="Group 12" id="12"/>
          <p:cNvGrpSpPr/>
          <p:nvPr/>
        </p:nvGrpSpPr>
        <p:grpSpPr>
          <a:xfrm rot="0">
            <a:off x="271703" y="1729912"/>
            <a:ext cx="766522" cy="765819"/>
            <a:chOff x="0" y="0"/>
            <a:chExt cx="813546" cy="812800"/>
          </a:xfrm>
        </p:grpSpPr>
        <p:sp>
          <p:nvSpPr>
            <p:cNvPr name="Freeform 13" id="13"/>
            <p:cNvSpPr/>
            <p:nvPr/>
          </p:nvSpPr>
          <p:spPr>
            <a:xfrm flipH="false" flipV="false" rot="0">
              <a:off x="0" y="0"/>
              <a:ext cx="813546" cy="812800"/>
            </a:xfrm>
            <a:custGeom>
              <a:avLst/>
              <a:gdLst/>
              <a:ahLst/>
              <a:cxnLst/>
              <a:rect r="r" b="b" t="t" l="l"/>
              <a:pathLst>
                <a:path h="812800" w="813546">
                  <a:moveTo>
                    <a:pt x="406773" y="0"/>
                  </a:moveTo>
                  <a:cubicBezTo>
                    <a:pt x="182119" y="0"/>
                    <a:pt x="0" y="181951"/>
                    <a:pt x="0" y="406400"/>
                  </a:cubicBezTo>
                  <a:cubicBezTo>
                    <a:pt x="0" y="630849"/>
                    <a:pt x="182119" y="812800"/>
                    <a:pt x="406773" y="812800"/>
                  </a:cubicBezTo>
                  <a:cubicBezTo>
                    <a:pt x="631428" y="812800"/>
                    <a:pt x="813546" y="630849"/>
                    <a:pt x="813546" y="406400"/>
                  </a:cubicBezTo>
                  <a:cubicBezTo>
                    <a:pt x="813546" y="181951"/>
                    <a:pt x="631428" y="0"/>
                    <a:pt x="406773" y="0"/>
                  </a:cubicBezTo>
                  <a:close/>
                </a:path>
              </a:pathLst>
            </a:custGeom>
            <a:solidFill>
              <a:srgbClr val="295BBE"/>
            </a:solidFill>
            <a:ln cap="sq">
              <a:noFill/>
              <a:prstDash val="solid"/>
              <a:miter/>
            </a:ln>
          </p:spPr>
        </p:sp>
        <p:sp>
          <p:nvSpPr>
            <p:cNvPr name="TextBox 14" id="14"/>
            <p:cNvSpPr txBox="true"/>
            <p:nvPr/>
          </p:nvSpPr>
          <p:spPr>
            <a:xfrm>
              <a:off x="76270" y="76200"/>
              <a:ext cx="661006" cy="660400"/>
            </a:xfrm>
            <a:prstGeom prst="rect">
              <a:avLst/>
            </a:prstGeom>
          </p:spPr>
          <p:txBody>
            <a:bodyPr anchor="ctr" rtlCol="false" tIns="50800" lIns="50800" bIns="50800" rIns="50800"/>
            <a:lstStyle/>
            <a:p>
              <a:pPr algn="just">
                <a:lnSpc>
                  <a:spcPts val="1917"/>
                </a:lnSpc>
              </a:pPr>
            </a:p>
          </p:txBody>
        </p:sp>
      </p:grpSp>
      <p:grpSp>
        <p:nvGrpSpPr>
          <p:cNvPr name="Group 15" id="15"/>
          <p:cNvGrpSpPr/>
          <p:nvPr/>
        </p:nvGrpSpPr>
        <p:grpSpPr>
          <a:xfrm rot="0">
            <a:off x="271703" y="7145303"/>
            <a:ext cx="766522" cy="765819"/>
            <a:chOff x="0" y="0"/>
            <a:chExt cx="813546" cy="812800"/>
          </a:xfrm>
        </p:grpSpPr>
        <p:sp>
          <p:nvSpPr>
            <p:cNvPr name="Freeform 16" id="16"/>
            <p:cNvSpPr/>
            <p:nvPr/>
          </p:nvSpPr>
          <p:spPr>
            <a:xfrm flipH="false" flipV="false" rot="0">
              <a:off x="0" y="0"/>
              <a:ext cx="813546" cy="812800"/>
            </a:xfrm>
            <a:custGeom>
              <a:avLst/>
              <a:gdLst/>
              <a:ahLst/>
              <a:cxnLst/>
              <a:rect r="r" b="b" t="t" l="l"/>
              <a:pathLst>
                <a:path h="812800" w="813546">
                  <a:moveTo>
                    <a:pt x="406773" y="0"/>
                  </a:moveTo>
                  <a:cubicBezTo>
                    <a:pt x="182119" y="0"/>
                    <a:pt x="0" y="181951"/>
                    <a:pt x="0" y="406400"/>
                  </a:cubicBezTo>
                  <a:cubicBezTo>
                    <a:pt x="0" y="630849"/>
                    <a:pt x="182119" y="812800"/>
                    <a:pt x="406773" y="812800"/>
                  </a:cubicBezTo>
                  <a:cubicBezTo>
                    <a:pt x="631428" y="812800"/>
                    <a:pt x="813546" y="630849"/>
                    <a:pt x="813546" y="406400"/>
                  </a:cubicBezTo>
                  <a:cubicBezTo>
                    <a:pt x="813546" y="181951"/>
                    <a:pt x="631428" y="0"/>
                    <a:pt x="406773" y="0"/>
                  </a:cubicBezTo>
                  <a:close/>
                </a:path>
              </a:pathLst>
            </a:custGeom>
            <a:solidFill>
              <a:srgbClr val="295BBE"/>
            </a:solidFill>
            <a:ln cap="sq">
              <a:noFill/>
              <a:prstDash val="solid"/>
              <a:miter/>
            </a:ln>
          </p:spPr>
        </p:sp>
        <p:sp>
          <p:nvSpPr>
            <p:cNvPr name="TextBox 17" id="17"/>
            <p:cNvSpPr txBox="true"/>
            <p:nvPr/>
          </p:nvSpPr>
          <p:spPr>
            <a:xfrm>
              <a:off x="76270" y="76200"/>
              <a:ext cx="661006" cy="660400"/>
            </a:xfrm>
            <a:prstGeom prst="rect">
              <a:avLst/>
            </a:prstGeom>
          </p:spPr>
          <p:txBody>
            <a:bodyPr anchor="ctr" rtlCol="false" tIns="50800" lIns="50800" bIns="50800" rIns="50800"/>
            <a:lstStyle/>
            <a:p>
              <a:pPr algn="just">
                <a:lnSpc>
                  <a:spcPts val="1917"/>
                </a:lnSpc>
              </a:pPr>
            </a:p>
          </p:txBody>
        </p:sp>
      </p:grpSp>
      <p:grpSp>
        <p:nvGrpSpPr>
          <p:cNvPr name="Group 18" id="18"/>
          <p:cNvGrpSpPr/>
          <p:nvPr/>
        </p:nvGrpSpPr>
        <p:grpSpPr>
          <a:xfrm rot="0">
            <a:off x="271703" y="3537215"/>
            <a:ext cx="766522" cy="765819"/>
            <a:chOff x="0" y="0"/>
            <a:chExt cx="813546" cy="812800"/>
          </a:xfrm>
        </p:grpSpPr>
        <p:sp>
          <p:nvSpPr>
            <p:cNvPr name="Freeform 19" id="19"/>
            <p:cNvSpPr/>
            <p:nvPr/>
          </p:nvSpPr>
          <p:spPr>
            <a:xfrm flipH="false" flipV="false" rot="0">
              <a:off x="0" y="0"/>
              <a:ext cx="813546" cy="812800"/>
            </a:xfrm>
            <a:custGeom>
              <a:avLst/>
              <a:gdLst/>
              <a:ahLst/>
              <a:cxnLst/>
              <a:rect r="r" b="b" t="t" l="l"/>
              <a:pathLst>
                <a:path h="812800" w="813546">
                  <a:moveTo>
                    <a:pt x="406773" y="0"/>
                  </a:moveTo>
                  <a:cubicBezTo>
                    <a:pt x="182119" y="0"/>
                    <a:pt x="0" y="181951"/>
                    <a:pt x="0" y="406400"/>
                  </a:cubicBezTo>
                  <a:cubicBezTo>
                    <a:pt x="0" y="630849"/>
                    <a:pt x="182119" y="812800"/>
                    <a:pt x="406773" y="812800"/>
                  </a:cubicBezTo>
                  <a:cubicBezTo>
                    <a:pt x="631428" y="812800"/>
                    <a:pt x="813546" y="630849"/>
                    <a:pt x="813546" y="406400"/>
                  </a:cubicBezTo>
                  <a:cubicBezTo>
                    <a:pt x="813546" y="181951"/>
                    <a:pt x="631428" y="0"/>
                    <a:pt x="406773" y="0"/>
                  </a:cubicBezTo>
                  <a:close/>
                </a:path>
              </a:pathLst>
            </a:custGeom>
            <a:solidFill>
              <a:srgbClr val="295BBE"/>
            </a:solidFill>
            <a:ln cap="sq">
              <a:noFill/>
              <a:prstDash val="solid"/>
              <a:miter/>
            </a:ln>
          </p:spPr>
        </p:sp>
        <p:sp>
          <p:nvSpPr>
            <p:cNvPr name="TextBox 20" id="20"/>
            <p:cNvSpPr txBox="true"/>
            <p:nvPr/>
          </p:nvSpPr>
          <p:spPr>
            <a:xfrm>
              <a:off x="76270" y="76200"/>
              <a:ext cx="661006" cy="660400"/>
            </a:xfrm>
            <a:prstGeom prst="rect">
              <a:avLst/>
            </a:prstGeom>
          </p:spPr>
          <p:txBody>
            <a:bodyPr anchor="ctr" rtlCol="false" tIns="50800" lIns="50800" bIns="50800" rIns="50800"/>
            <a:lstStyle/>
            <a:p>
              <a:pPr algn="just">
                <a:lnSpc>
                  <a:spcPts val="1917"/>
                </a:lnSpc>
              </a:pPr>
            </a:p>
          </p:txBody>
        </p:sp>
      </p:grpSp>
      <p:grpSp>
        <p:nvGrpSpPr>
          <p:cNvPr name="Group 21" id="21"/>
          <p:cNvGrpSpPr/>
          <p:nvPr/>
        </p:nvGrpSpPr>
        <p:grpSpPr>
          <a:xfrm rot="0">
            <a:off x="271703" y="5341259"/>
            <a:ext cx="766522" cy="765819"/>
            <a:chOff x="0" y="0"/>
            <a:chExt cx="813546" cy="812800"/>
          </a:xfrm>
        </p:grpSpPr>
        <p:sp>
          <p:nvSpPr>
            <p:cNvPr name="Freeform 22" id="22"/>
            <p:cNvSpPr/>
            <p:nvPr/>
          </p:nvSpPr>
          <p:spPr>
            <a:xfrm flipH="false" flipV="false" rot="0">
              <a:off x="0" y="0"/>
              <a:ext cx="813546" cy="812800"/>
            </a:xfrm>
            <a:custGeom>
              <a:avLst/>
              <a:gdLst/>
              <a:ahLst/>
              <a:cxnLst/>
              <a:rect r="r" b="b" t="t" l="l"/>
              <a:pathLst>
                <a:path h="812800" w="813546">
                  <a:moveTo>
                    <a:pt x="406773" y="0"/>
                  </a:moveTo>
                  <a:cubicBezTo>
                    <a:pt x="182119" y="0"/>
                    <a:pt x="0" y="181951"/>
                    <a:pt x="0" y="406400"/>
                  </a:cubicBezTo>
                  <a:cubicBezTo>
                    <a:pt x="0" y="630849"/>
                    <a:pt x="182119" y="812800"/>
                    <a:pt x="406773" y="812800"/>
                  </a:cubicBezTo>
                  <a:cubicBezTo>
                    <a:pt x="631428" y="812800"/>
                    <a:pt x="813546" y="630849"/>
                    <a:pt x="813546" y="406400"/>
                  </a:cubicBezTo>
                  <a:cubicBezTo>
                    <a:pt x="813546" y="181951"/>
                    <a:pt x="631428" y="0"/>
                    <a:pt x="406773" y="0"/>
                  </a:cubicBezTo>
                  <a:close/>
                </a:path>
              </a:pathLst>
            </a:custGeom>
            <a:solidFill>
              <a:srgbClr val="295BBE"/>
            </a:solidFill>
            <a:ln cap="sq">
              <a:noFill/>
              <a:prstDash val="solid"/>
              <a:miter/>
            </a:ln>
          </p:spPr>
        </p:sp>
        <p:sp>
          <p:nvSpPr>
            <p:cNvPr name="TextBox 23" id="23"/>
            <p:cNvSpPr txBox="true"/>
            <p:nvPr/>
          </p:nvSpPr>
          <p:spPr>
            <a:xfrm>
              <a:off x="76270" y="76200"/>
              <a:ext cx="661006" cy="660400"/>
            </a:xfrm>
            <a:prstGeom prst="rect">
              <a:avLst/>
            </a:prstGeom>
          </p:spPr>
          <p:txBody>
            <a:bodyPr anchor="ctr" rtlCol="false" tIns="50800" lIns="50800" bIns="50800" rIns="50800"/>
            <a:lstStyle/>
            <a:p>
              <a:pPr algn="just">
                <a:lnSpc>
                  <a:spcPts val="1917"/>
                </a:lnSpc>
              </a:pPr>
            </a:p>
          </p:txBody>
        </p:sp>
      </p:grpSp>
      <p:sp>
        <p:nvSpPr>
          <p:cNvPr name="TextBox 24" id="24"/>
          <p:cNvSpPr txBox="true"/>
          <p:nvPr/>
        </p:nvSpPr>
        <p:spPr>
          <a:xfrm rot="0">
            <a:off x="1488781" y="5311236"/>
            <a:ext cx="6883756" cy="835391"/>
          </a:xfrm>
          <a:prstGeom prst="rect">
            <a:avLst/>
          </a:prstGeom>
        </p:spPr>
        <p:txBody>
          <a:bodyPr anchor="t" rtlCol="false" tIns="0" lIns="0" bIns="0" rIns="0">
            <a:spAutoFit/>
          </a:bodyPr>
          <a:lstStyle/>
          <a:p>
            <a:pPr algn="l">
              <a:lnSpc>
                <a:spcPts val="3175"/>
              </a:lnSpc>
              <a:spcBef>
                <a:spcPct val="0"/>
              </a:spcBef>
            </a:pPr>
            <a:r>
              <a:rPr lang="en-US" b="true" sz="2940">
                <a:solidFill>
                  <a:srgbClr val="295BBE"/>
                </a:solidFill>
                <a:latin typeface="Poppins Bold"/>
                <a:ea typeface="Poppins Bold"/>
                <a:cs typeface="Poppins Bold"/>
                <a:sym typeface="Poppins Bold"/>
              </a:rPr>
              <a:t>ΓΡΑΦHΜΑΤΑ ΜΕ ΑΝΑΛΥΤΙΚA ΝΟYΜΕΡΑ</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295BBE"/>
        </a:solidFill>
      </p:bgPr>
    </p:bg>
    <p:spTree>
      <p:nvGrpSpPr>
        <p:cNvPr id="1" name=""/>
        <p:cNvGrpSpPr/>
        <p:nvPr/>
      </p:nvGrpSpPr>
      <p:grpSpPr>
        <a:xfrm>
          <a:off x="0" y="0"/>
          <a:ext cx="0" cy="0"/>
          <a:chOff x="0" y="0"/>
          <a:chExt cx="0" cy="0"/>
        </a:xfrm>
      </p:grpSpPr>
      <p:grpSp>
        <p:nvGrpSpPr>
          <p:cNvPr name="Group 2" id="2"/>
          <p:cNvGrpSpPr/>
          <p:nvPr/>
        </p:nvGrpSpPr>
        <p:grpSpPr>
          <a:xfrm rot="0">
            <a:off x="5641627" y="-2243803"/>
            <a:ext cx="15649575" cy="1564957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E9E9"/>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1917"/>
                </a:lnSpc>
              </a:pPr>
            </a:p>
          </p:txBody>
        </p:sp>
      </p:grpSp>
      <p:grpSp>
        <p:nvGrpSpPr>
          <p:cNvPr name="Group 5" id="5"/>
          <p:cNvGrpSpPr/>
          <p:nvPr/>
        </p:nvGrpSpPr>
        <p:grpSpPr>
          <a:xfrm rot="0">
            <a:off x="7993604" y="-2243803"/>
            <a:ext cx="15649575" cy="1564957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76200"/>
              <a:ext cx="660400" cy="660400"/>
            </a:xfrm>
            <a:prstGeom prst="rect">
              <a:avLst/>
            </a:prstGeom>
          </p:spPr>
          <p:txBody>
            <a:bodyPr anchor="ctr" rtlCol="false" tIns="50800" lIns="50800" bIns="50800" rIns="50800"/>
            <a:lstStyle/>
            <a:p>
              <a:pPr algn="ctr">
                <a:lnSpc>
                  <a:spcPts val="1917"/>
                </a:lnSpc>
              </a:pPr>
            </a:p>
          </p:txBody>
        </p:sp>
      </p:grpSp>
      <p:grpSp>
        <p:nvGrpSpPr>
          <p:cNvPr name="Group 8" id="8"/>
          <p:cNvGrpSpPr/>
          <p:nvPr/>
        </p:nvGrpSpPr>
        <p:grpSpPr>
          <a:xfrm rot="0">
            <a:off x="16828343" y="3658861"/>
            <a:ext cx="383261" cy="382909"/>
            <a:chOff x="0" y="0"/>
            <a:chExt cx="813546" cy="812800"/>
          </a:xfrm>
        </p:grpSpPr>
        <p:sp>
          <p:nvSpPr>
            <p:cNvPr name="Freeform 9" id="9"/>
            <p:cNvSpPr/>
            <p:nvPr/>
          </p:nvSpPr>
          <p:spPr>
            <a:xfrm flipH="false" flipV="false" rot="0">
              <a:off x="0" y="0"/>
              <a:ext cx="813546" cy="812800"/>
            </a:xfrm>
            <a:custGeom>
              <a:avLst/>
              <a:gdLst/>
              <a:ahLst/>
              <a:cxnLst/>
              <a:rect r="r" b="b" t="t" l="l"/>
              <a:pathLst>
                <a:path h="812800" w="813546">
                  <a:moveTo>
                    <a:pt x="406773" y="0"/>
                  </a:moveTo>
                  <a:cubicBezTo>
                    <a:pt x="182119" y="0"/>
                    <a:pt x="0" y="181951"/>
                    <a:pt x="0" y="406400"/>
                  </a:cubicBezTo>
                  <a:cubicBezTo>
                    <a:pt x="0" y="630849"/>
                    <a:pt x="182119" y="812800"/>
                    <a:pt x="406773" y="812800"/>
                  </a:cubicBezTo>
                  <a:cubicBezTo>
                    <a:pt x="631428" y="812800"/>
                    <a:pt x="813546" y="630849"/>
                    <a:pt x="813546" y="406400"/>
                  </a:cubicBezTo>
                  <a:cubicBezTo>
                    <a:pt x="813546" y="181951"/>
                    <a:pt x="631428" y="0"/>
                    <a:pt x="406773" y="0"/>
                  </a:cubicBezTo>
                  <a:close/>
                </a:path>
              </a:pathLst>
            </a:custGeom>
            <a:solidFill>
              <a:srgbClr val="FFFFFF"/>
            </a:solidFill>
            <a:ln cap="sq">
              <a:noFill/>
              <a:prstDash val="solid"/>
              <a:miter/>
            </a:ln>
          </p:spPr>
        </p:sp>
        <p:sp>
          <p:nvSpPr>
            <p:cNvPr name="TextBox 10" id="10"/>
            <p:cNvSpPr txBox="true"/>
            <p:nvPr/>
          </p:nvSpPr>
          <p:spPr>
            <a:xfrm>
              <a:off x="76270" y="76200"/>
              <a:ext cx="661006" cy="660400"/>
            </a:xfrm>
            <a:prstGeom prst="rect">
              <a:avLst/>
            </a:prstGeom>
          </p:spPr>
          <p:txBody>
            <a:bodyPr anchor="ctr" rtlCol="false" tIns="50800" lIns="50800" bIns="50800" rIns="50800"/>
            <a:lstStyle/>
            <a:p>
              <a:pPr algn="just" marL="0" indent="0" lvl="0">
                <a:lnSpc>
                  <a:spcPts val="1917"/>
                </a:lnSpc>
                <a:spcBef>
                  <a:spcPct val="0"/>
                </a:spcBef>
              </a:pPr>
            </a:p>
          </p:txBody>
        </p:sp>
      </p:grpSp>
      <p:grpSp>
        <p:nvGrpSpPr>
          <p:cNvPr name="Group 11" id="11"/>
          <p:cNvGrpSpPr/>
          <p:nvPr/>
        </p:nvGrpSpPr>
        <p:grpSpPr>
          <a:xfrm rot="0">
            <a:off x="-530103" y="2646069"/>
            <a:ext cx="19348205" cy="2497431"/>
            <a:chOff x="0" y="0"/>
            <a:chExt cx="5095824" cy="657759"/>
          </a:xfrm>
        </p:grpSpPr>
        <p:sp>
          <p:nvSpPr>
            <p:cNvPr name="Freeform 12" id="12"/>
            <p:cNvSpPr/>
            <p:nvPr/>
          </p:nvSpPr>
          <p:spPr>
            <a:xfrm flipH="false" flipV="false" rot="0">
              <a:off x="0" y="0"/>
              <a:ext cx="5095823" cy="657759"/>
            </a:xfrm>
            <a:custGeom>
              <a:avLst/>
              <a:gdLst/>
              <a:ahLst/>
              <a:cxnLst/>
              <a:rect r="r" b="b" t="t" l="l"/>
              <a:pathLst>
                <a:path h="657759" w="5095823">
                  <a:moveTo>
                    <a:pt x="20407" y="0"/>
                  </a:moveTo>
                  <a:lnTo>
                    <a:pt x="5075417" y="0"/>
                  </a:lnTo>
                  <a:cubicBezTo>
                    <a:pt x="5080829" y="0"/>
                    <a:pt x="5086019" y="2150"/>
                    <a:pt x="5089846" y="5977"/>
                  </a:cubicBezTo>
                  <a:cubicBezTo>
                    <a:pt x="5093674" y="9804"/>
                    <a:pt x="5095823" y="14995"/>
                    <a:pt x="5095823" y="20407"/>
                  </a:cubicBezTo>
                  <a:lnTo>
                    <a:pt x="5095823" y="637353"/>
                  </a:lnTo>
                  <a:cubicBezTo>
                    <a:pt x="5095823" y="642765"/>
                    <a:pt x="5093674" y="647955"/>
                    <a:pt x="5089846" y="651782"/>
                  </a:cubicBezTo>
                  <a:cubicBezTo>
                    <a:pt x="5086019" y="655609"/>
                    <a:pt x="5080829" y="657759"/>
                    <a:pt x="5075417" y="657759"/>
                  </a:cubicBezTo>
                  <a:lnTo>
                    <a:pt x="20407" y="657759"/>
                  </a:lnTo>
                  <a:cubicBezTo>
                    <a:pt x="14995" y="657759"/>
                    <a:pt x="9804" y="655609"/>
                    <a:pt x="5977" y="651782"/>
                  </a:cubicBezTo>
                  <a:cubicBezTo>
                    <a:pt x="2150" y="647955"/>
                    <a:pt x="0" y="642765"/>
                    <a:pt x="0" y="637353"/>
                  </a:cubicBezTo>
                  <a:lnTo>
                    <a:pt x="0" y="20407"/>
                  </a:lnTo>
                  <a:cubicBezTo>
                    <a:pt x="0" y="14995"/>
                    <a:pt x="2150" y="9804"/>
                    <a:pt x="5977" y="5977"/>
                  </a:cubicBezTo>
                  <a:cubicBezTo>
                    <a:pt x="9804" y="2150"/>
                    <a:pt x="14995" y="0"/>
                    <a:pt x="20407" y="0"/>
                  </a:cubicBezTo>
                  <a:close/>
                </a:path>
              </a:pathLst>
            </a:custGeom>
            <a:solidFill>
              <a:srgbClr val="000000"/>
            </a:solidFill>
          </p:spPr>
        </p:sp>
        <p:sp>
          <p:nvSpPr>
            <p:cNvPr name="TextBox 13" id="13"/>
            <p:cNvSpPr txBox="true"/>
            <p:nvPr/>
          </p:nvSpPr>
          <p:spPr>
            <a:xfrm>
              <a:off x="0" y="0"/>
              <a:ext cx="5095824" cy="657759"/>
            </a:xfrm>
            <a:prstGeom prst="rect">
              <a:avLst/>
            </a:prstGeom>
          </p:spPr>
          <p:txBody>
            <a:bodyPr anchor="ctr" rtlCol="false" tIns="50800" lIns="50800" bIns="50800" rIns="50800"/>
            <a:lstStyle/>
            <a:p>
              <a:pPr algn="ctr">
                <a:lnSpc>
                  <a:spcPts val="1917"/>
                </a:lnSpc>
              </a:pPr>
            </a:p>
          </p:txBody>
        </p:sp>
      </p:grpSp>
      <p:grpSp>
        <p:nvGrpSpPr>
          <p:cNvPr name="Group 14" id="14"/>
          <p:cNvGrpSpPr/>
          <p:nvPr/>
        </p:nvGrpSpPr>
        <p:grpSpPr>
          <a:xfrm rot="0">
            <a:off x="447591" y="2693080"/>
            <a:ext cx="559504" cy="3375120"/>
            <a:chOff x="0" y="0"/>
            <a:chExt cx="746006" cy="4500161"/>
          </a:xfrm>
        </p:grpSpPr>
        <p:grpSp>
          <p:nvGrpSpPr>
            <p:cNvPr name="Group 15" id="15"/>
            <p:cNvGrpSpPr/>
            <p:nvPr/>
          </p:nvGrpSpPr>
          <p:grpSpPr>
            <a:xfrm rot="0">
              <a:off x="0" y="3754839"/>
              <a:ext cx="746006" cy="745321"/>
              <a:chOff x="0" y="0"/>
              <a:chExt cx="813546" cy="812800"/>
            </a:xfrm>
          </p:grpSpPr>
          <p:sp>
            <p:nvSpPr>
              <p:cNvPr name="Freeform 16" id="16"/>
              <p:cNvSpPr/>
              <p:nvPr/>
            </p:nvSpPr>
            <p:spPr>
              <a:xfrm flipH="false" flipV="false" rot="0">
                <a:off x="0" y="0"/>
                <a:ext cx="813546" cy="812800"/>
              </a:xfrm>
              <a:custGeom>
                <a:avLst/>
                <a:gdLst/>
                <a:ahLst/>
                <a:cxnLst/>
                <a:rect r="r" b="b" t="t" l="l"/>
                <a:pathLst>
                  <a:path h="812800" w="813546">
                    <a:moveTo>
                      <a:pt x="406773" y="0"/>
                    </a:moveTo>
                    <a:cubicBezTo>
                      <a:pt x="182119" y="0"/>
                      <a:pt x="0" y="181951"/>
                      <a:pt x="0" y="406400"/>
                    </a:cubicBezTo>
                    <a:cubicBezTo>
                      <a:pt x="0" y="630849"/>
                      <a:pt x="182119" y="812800"/>
                      <a:pt x="406773" y="812800"/>
                    </a:cubicBezTo>
                    <a:cubicBezTo>
                      <a:pt x="631428" y="812800"/>
                      <a:pt x="813546" y="630849"/>
                      <a:pt x="813546" y="406400"/>
                    </a:cubicBezTo>
                    <a:cubicBezTo>
                      <a:pt x="813546" y="181951"/>
                      <a:pt x="631428" y="0"/>
                      <a:pt x="406773" y="0"/>
                    </a:cubicBezTo>
                    <a:close/>
                  </a:path>
                </a:pathLst>
              </a:custGeom>
              <a:solidFill>
                <a:srgbClr val="000000"/>
              </a:solidFill>
              <a:ln cap="sq">
                <a:noFill/>
                <a:prstDash val="solid"/>
                <a:miter/>
              </a:ln>
            </p:spPr>
          </p:sp>
          <p:sp>
            <p:nvSpPr>
              <p:cNvPr name="TextBox 17" id="17"/>
              <p:cNvSpPr txBox="true"/>
              <p:nvPr/>
            </p:nvSpPr>
            <p:spPr>
              <a:xfrm>
                <a:off x="76270" y="76200"/>
                <a:ext cx="661006" cy="660400"/>
              </a:xfrm>
              <a:prstGeom prst="rect">
                <a:avLst/>
              </a:prstGeom>
            </p:spPr>
            <p:txBody>
              <a:bodyPr anchor="ctr" rtlCol="false" tIns="50800" lIns="50800" bIns="50800" rIns="50800"/>
              <a:lstStyle/>
              <a:p>
                <a:pPr algn="just">
                  <a:lnSpc>
                    <a:spcPts val="1917"/>
                  </a:lnSpc>
                </a:pPr>
              </a:p>
            </p:txBody>
          </p:sp>
        </p:grpSp>
        <p:grpSp>
          <p:nvGrpSpPr>
            <p:cNvPr name="Group 18" id="18"/>
            <p:cNvGrpSpPr/>
            <p:nvPr/>
          </p:nvGrpSpPr>
          <p:grpSpPr>
            <a:xfrm rot="0">
              <a:off x="0" y="0"/>
              <a:ext cx="746006" cy="4114800"/>
              <a:chOff x="0" y="0"/>
              <a:chExt cx="147359" cy="812800"/>
            </a:xfrm>
          </p:grpSpPr>
          <p:sp>
            <p:nvSpPr>
              <p:cNvPr name="Freeform 19" id="19"/>
              <p:cNvSpPr/>
              <p:nvPr/>
            </p:nvSpPr>
            <p:spPr>
              <a:xfrm flipH="false" flipV="false" rot="0">
                <a:off x="0" y="0"/>
                <a:ext cx="147359" cy="812800"/>
              </a:xfrm>
              <a:custGeom>
                <a:avLst/>
                <a:gdLst/>
                <a:ahLst/>
                <a:cxnLst/>
                <a:rect r="r" b="b" t="t" l="l"/>
                <a:pathLst>
                  <a:path h="812800" w="147359">
                    <a:moveTo>
                      <a:pt x="0" y="0"/>
                    </a:moveTo>
                    <a:lnTo>
                      <a:pt x="147359" y="0"/>
                    </a:lnTo>
                    <a:lnTo>
                      <a:pt x="147359" y="812800"/>
                    </a:lnTo>
                    <a:lnTo>
                      <a:pt x="0" y="812800"/>
                    </a:lnTo>
                    <a:close/>
                  </a:path>
                </a:pathLst>
              </a:custGeom>
              <a:solidFill>
                <a:srgbClr val="000000"/>
              </a:solidFill>
            </p:spPr>
          </p:sp>
          <p:sp>
            <p:nvSpPr>
              <p:cNvPr name="TextBox 20" id="20"/>
              <p:cNvSpPr txBox="true"/>
              <p:nvPr/>
            </p:nvSpPr>
            <p:spPr>
              <a:xfrm>
                <a:off x="0" y="0"/>
                <a:ext cx="147359" cy="812800"/>
              </a:xfrm>
              <a:prstGeom prst="rect">
                <a:avLst/>
              </a:prstGeom>
            </p:spPr>
            <p:txBody>
              <a:bodyPr anchor="ctr" rtlCol="false" tIns="50800" lIns="50800" bIns="50800" rIns="50800"/>
              <a:lstStyle/>
              <a:p>
                <a:pPr algn="ctr">
                  <a:lnSpc>
                    <a:spcPts val="1917"/>
                  </a:lnSpc>
                </a:pPr>
              </a:p>
            </p:txBody>
          </p:sp>
        </p:grpSp>
      </p:grpSp>
      <p:sp>
        <p:nvSpPr>
          <p:cNvPr name="TextBox 21" id="21"/>
          <p:cNvSpPr txBox="true"/>
          <p:nvPr/>
        </p:nvSpPr>
        <p:spPr>
          <a:xfrm rot="0">
            <a:off x="2324519" y="2913652"/>
            <a:ext cx="13638962" cy="1979214"/>
          </a:xfrm>
          <a:prstGeom prst="rect">
            <a:avLst/>
          </a:prstGeom>
        </p:spPr>
        <p:txBody>
          <a:bodyPr anchor="t" rtlCol="false" tIns="0" lIns="0" bIns="0" rIns="0">
            <a:spAutoFit/>
          </a:bodyPr>
          <a:lstStyle/>
          <a:p>
            <a:pPr algn="just">
              <a:lnSpc>
                <a:spcPts val="2559"/>
              </a:lnSpc>
              <a:spcBef>
                <a:spcPct val="0"/>
              </a:spcBef>
            </a:pPr>
            <a:r>
              <a:rPr lang="en-US" sz="2369">
                <a:solidFill>
                  <a:srgbClr val="FFFFFF"/>
                </a:solidFill>
                <a:latin typeface="Poppins"/>
                <a:ea typeface="Poppins"/>
                <a:cs typeface="Poppins"/>
                <a:sym typeface="Poppins"/>
              </a:rPr>
              <a:t>Η σπατάλη τροφίμων αποτελεί ένα κρίσιμο ζήτημα με σημαντικές επιπτώσεις. Σύμφωνα με την Έκθεση του Προγράμματος των Ηνωμένων Εθνών για το Περιβάλλον </a:t>
            </a:r>
            <a:r>
              <a:rPr lang="en-US" b="true" sz="2369">
                <a:solidFill>
                  <a:srgbClr val="FFFFFF"/>
                </a:solidFill>
                <a:latin typeface="Poppins Bold"/>
                <a:ea typeface="Poppins Bold"/>
                <a:cs typeface="Poppins Bold"/>
                <a:sym typeface="Poppins Bold"/>
              </a:rPr>
              <a:t>(UNEP)</a:t>
            </a:r>
            <a:r>
              <a:rPr lang="en-US" sz="2369">
                <a:solidFill>
                  <a:srgbClr val="FFFFFF"/>
                </a:solidFill>
                <a:latin typeface="Poppins"/>
                <a:ea typeface="Poppins"/>
                <a:cs typeface="Poppins"/>
                <a:sym typeface="Poppins"/>
              </a:rPr>
              <a:t> του 2024, </a:t>
            </a:r>
            <a:r>
              <a:rPr lang="en-US" b="true" sz="2369">
                <a:solidFill>
                  <a:srgbClr val="FFFFFF"/>
                </a:solidFill>
                <a:latin typeface="Poppins Bold"/>
                <a:ea typeface="Poppins Bold"/>
                <a:cs typeface="Poppins Bold"/>
                <a:sym typeface="Poppins Bold"/>
              </a:rPr>
              <a:t>περίπου 931 εκατομμύρια τόνοι τροφίμων σπαταλήθηκαν παγκοσμίως το 2022</a:t>
            </a:r>
            <a:r>
              <a:rPr lang="en-US" sz="2369">
                <a:solidFill>
                  <a:srgbClr val="FFFFFF"/>
                </a:solidFill>
                <a:latin typeface="Poppins"/>
                <a:ea typeface="Poppins"/>
                <a:cs typeface="Poppins"/>
                <a:sym typeface="Poppins"/>
              </a:rPr>
              <a:t>, με τα </a:t>
            </a:r>
            <a:r>
              <a:rPr lang="en-US" b="true" sz="2369">
                <a:solidFill>
                  <a:srgbClr val="FFFFFF"/>
                </a:solidFill>
                <a:latin typeface="Poppins Bold"/>
                <a:ea typeface="Poppins Bold"/>
                <a:cs typeface="Poppins Bold"/>
                <a:sym typeface="Poppins Bold"/>
              </a:rPr>
              <a:t>νοικοκυριά</a:t>
            </a:r>
            <a:r>
              <a:rPr lang="en-US" sz="2369">
                <a:solidFill>
                  <a:srgbClr val="FFFFFF"/>
                </a:solidFill>
                <a:latin typeface="Poppins"/>
                <a:ea typeface="Poppins"/>
                <a:cs typeface="Poppins"/>
                <a:sym typeface="Poppins"/>
              </a:rPr>
              <a:t> να ευθύνονται για το </a:t>
            </a:r>
            <a:r>
              <a:rPr lang="en-US" b="true" sz="2369">
                <a:solidFill>
                  <a:srgbClr val="FFFFFF"/>
                </a:solidFill>
                <a:latin typeface="Poppins Bold"/>
                <a:ea typeface="Poppins Bold"/>
                <a:cs typeface="Poppins Bold"/>
                <a:sym typeface="Poppins Bold"/>
              </a:rPr>
              <a:t>60%</a:t>
            </a:r>
            <a:r>
              <a:rPr lang="en-US" sz="2369">
                <a:solidFill>
                  <a:srgbClr val="FFFFFF"/>
                </a:solidFill>
                <a:latin typeface="Poppins"/>
                <a:ea typeface="Poppins"/>
                <a:cs typeface="Poppins"/>
                <a:sym typeface="Poppins"/>
              </a:rPr>
              <a:t> αυτής της ποσότητας [6]. </a:t>
            </a:r>
            <a:r>
              <a:rPr lang="en-US" sz="2369">
                <a:solidFill>
                  <a:srgbClr val="FFFFFF"/>
                </a:solidFill>
                <a:latin typeface="Poppins"/>
                <a:ea typeface="Poppins"/>
                <a:cs typeface="Poppins"/>
                <a:sym typeface="Poppins"/>
              </a:rPr>
              <a:t>Στην Ευρωπαϊκή Ένωση, σύμφωνα με τα δεδομένα της Eurostat, το 2021 κάθε άτομο παρήγαγε κατά μέσο όρο 131 κιλά σπατάλης τροφίμων [7].</a:t>
            </a:r>
          </a:p>
        </p:txBody>
      </p:sp>
      <p:sp>
        <p:nvSpPr>
          <p:cNvPr name="TextBox 22" id="22"/>
          <p:cNvSpPr txBox="true"/>
          <p:nvPr/>
        </p:nvSpPr>
        <p:spPr>
          <a:xfrm rot="0">
            <a:off x="551271" y="453344"/>
            <a:ext cx="7270883" cy="1260981"/>
          </a:xfrm>
          <a:prstGeom prst="rect">
            <a:avLst/>
          </a:prstGeom>
        </p:spPr>
        <p:txBody>
          <a:bodyPr anchor="t" rtlCol="false" tIns="0" lIns="0" bIns="0" rIns="0">
            <a:spAutoFit/>
          </a:bodyPr>
          <a:lstStyle/>
          <a:p>
            <a:pPr algn="l">
              <a:lnSpc>
                <a:spcPts val="9035"/>
              </a:lnSpc>
              <a:spcBef>
                <a:spcPct val="0"/>
              </a:spcBef>
            </a:pPr>
            <a:r>
              <a:rPr lang="en-US" sz="8366">
                <a:solidFill>
                  <a:srgbClr val="000000"/>
                </a:solidFill>
                <a:latin typeface="Poppins Light"/>
                <a:ea typeface="Poppins Light"/>
                <a:cs typeface="Poppins Light"/>
                <a:sym typeface="Poppins Light"/>
              </a:rPr>
              <a:t>Η ΠΑΓΚΟΣΜΙΑ</a:t>
            </a:r>
          </a:p>
        </p:txBody>
      </p:sp>
      <p:sp>
        <p:nvSpPr>
          <p:cNvPr name="TextBox 23" id="23"/>
          <p:cNvSpPr txBox="true"/>
          <p:nvPr/>
        </p:nvSpPr>
        <p:spPr>
          <a:xfrm rot="0">
            <a:off x="1891656" y="1437857"/>
            <a:ext cx="8797338" cy="960769"/>
          </a:xfrm>
          <a:prstGeom prst="rect">
            <a:avLst/>
          </a:prstGeom>
        </p:spPr>
        <p:txBody>
          <a:bodyPr anchor="t" rtlCol="false" tIns="0" lIns="0" bIns="0" rIns="0">
            <a:spAutoFit/>
          </a:bodyPr>
          <a:lstStyle/>
          <a:p>
            <a:pPr algn="l">
              <a:lnSpc>
                <a:spcPts val="6904"/>
              </a:lnSpc>
              <a:spcBef>
                <a:spcPct val="0"/>
              </a:spcBef>
            </a:pPr>
            <a:r>
              <a:rPr lang="en-US" b="true" sz="6392">
                <a:solidFill>
                  <a:srgbClr val="000000"/>
                </a:solidFill>
                <a:latin typeface="Poppins Bold"/>
                <a:ea typeface="Poppins Bold"/>
                <a:cs typeface="Poppins Bold"/>
                <a:sym typeface="Poppins Bold"/>
              </a:rPr>
              <a:t>ΣΠΑΤΑΛΗ ΤΡΟΦΙΜΩΝ</a:t>
            </a:r>
          </a:p>
        </p:txBody>
      </p:sp>
      <p:sp>
        <p:nvSpPr>
          <p:cNvPr name="TextBox 24" id="24"/>
          <p:cNvSpPr txBox="true"/>
          <p:nvPr/>
        </p:nvSpPr>
        <p:spPr>
          <a:xfrm rot="5400000">
            <a:off x="17336912" y="9029381"/>
            <a:ext cx="936679" cy="272173"/>
          </a:xfrm>
          <a:prstGeom prst="rect">
            <a:avLst/>
          </a:prstGeom>
        </p:spPr>
        <p:txBody>
          <a:bodyPr anchor="t" rtlCol="false" tIns="0" lIns="0" bIns="0" rIns="0">
            <a:spAutoFit/>
          </a:bodyPr>
          <a:lstStyle/>
          <a:p>
            <a:pPr algn="l">
              <a:lnSpc>
                <a:spcPts val="1934"/>
              </a:lnSpc>
              <a:spcBef>
                <a:spcPct val="0"/>
              </a:spcBef>
            </a:pPr>
            <a:r>
              <a:rPr lang="en-US" sz="1791">
                <a:solidFill>
                  <a:srgbClr val="FFFFFF"/>
                </a:solidFill>
                <a:latin typeface="Poppins"/>
                <a:ea typeface="Poppins"/>
                <a:cs typeface="Poppins"/>
                <a:sym typeface="Poppins"/>
              </a:rPr>
              <a:t>page 6</a:t>
            </a:r>
          </a:p>
        </p:txBody>
      </p:sp>
      <p:sp>
        <p:nvSpPr>
          <p:cNvPr name="TextBox 25" id="25"/>
          <p:cNvSpPr txBox="true"/>
          <p:nvPr/>
        </p:nvSpPr>
        <p:spPr>
          <a:xfrm rot="0">
            <a:off x="1092821" y="5561934"/>
            <a:ext cx="4253187" cy="3213950"/>
          </a:xfrm>
          <a:prstGeom prst="rect">
            <a:avLst/>
          </a:prstGeom>
        </p:spPr>
        <p:txBody>
          <a:bodyPr anchor="t" rtlCol="false" tIns="0" lIns="0" bIns="0" rIns="0">
            <a:spAutoFit/>
          </a:bodyPr>
          <a:lstStyle/>
          <a:p>
            <a:pPr algn="l">
              <a:lnSpc>
                <a:spcPts val="2823"/>
              </a:lnSpc>
            </a:pPr>
            <a:r>
              <a:rPr lang="en-US" sz="2455" b="true">
                <a:solidFill>
                  <a:srgbClr val="FFFFFF"/>
                </a:solidFill>
                <a:latin typeface="Poppins Bold"/>
                <a:ea typeface="Poppins Bold"/>
                <a:cs typeface="Poppins Bold"/>
                <a:sym typeface="Poppins Bold"/>
              </a:rPr>
              <a:t>Παρά τη σπατάλη, εκατομμύρια άνθρωποι παγκοσμίως αντιμετωπίζουν επισιτιστική ανασφάλεια. Η UNEP αναφέρει ότι 783 εκατομμύρια άνθρωποι υπέφεραν από χρόνια πείνα το 2022 [8].</a:t>
            </a:r>
          </a:p>
        </p:txBody>
      </p:sp>
      <p:sp>
        <p:nvSpPr>
          <p:cNvPr name="TextBox 26" id="26"/>
          <p:cNvSpPr txBox="true"/>
          <p:nvPr/>
        </p:nvSpPr>
        <p:spPr>
          <a:xfrm rot="0">
            <a:off x="13142638" y="5509209"/>
            <a:ext cx="3877336" cy="1752845"/>
          </a:xfrm>
          <a:prstGeom prst="rect">
            <a:avLst/>
          </a:prstGeom>
        </p:spPr>
        <p:txBody>
          <a:bodyPr anchor="t" rtlCol="false" tIns="0" lIns="0" bIns="0" rIns="0">
            <a:spAutoFit/>
          </a:bodyPr>
          <a:lstStyle/>
          <a:p>
            <a:pPr algn="l">
              <a:lnSpc>
                <a:spcPts val="2717"/>
              </a:lnSpc>
              <a:spcBef>
                <a:spcPct val="0"/>
              </a:spcBef>
            </a:pPr>
            <a:r>
              <a:rPr lang="en-US" b="true" sz="2516">
                <a:solidFill>
                  <a:srgbClr val="295BBE"/>
                </a:solidFill>
                <a:latin typeface="Poppins Bold"/>
                <a:ea typeface="Poppins Bold"/>
                <a:cs typeface="Poppins Bold"/>
                <a:sym typeface="Poppins Bold"/>
              </a:rPr>
              <a:t>Στην ΕΕ, η σπατάλη τροφίμων εκτιμάται ότι κοστίζει περίπου 132 δισεκατομμύρια ευρώ ετησίως.</a:t>
            </a:r>
          </a:p>
        </p:txBody>
      </p:sp>
      <p:sp>
        <p:nvSpPr>
          <p:cNvPr name="TextBox 27" id="27"/>
          <p:cNvSpPr txBox="true"/>
          <p:nvPr/>
        </p:nvSpPr>
        <p:spPr>
          <a:xfrm rot="0">
            <a:off x="7039830" y="5634670"/>
            <a:ext cx="4208340" cy="2781545"/>
          </a:xfrm>
          <a:prstGeom prst="rect">
            <a:avLst/>
          </a:prstGeom>
        </p:spPr>
        <p:txBody>
          <a:bodyPr anchor="t" rtlCol="false" tIns="0" lIns="0" bIns="0" rIns="0">
            <a:spAutoFit/>
          </a:bodyPr>
          <a:lstStyle/>
          <a:p>
            <a:pPr algn="l">
              <a:lnSpc>
                <a:spcPts val="2717"/>
              </a:lnSpc>
              <a:spcBef>
                <a:spcPct val="0"/>
              </a:spcBef>
            </a:pPr>
            <a:r>
              <a:rPr lang="en-US" b="true" sz="2516">
                <a:solidFill>
                  <a:srgbClr val="295BBE"/>
                </a:solidFill>
                <a:latin typeface="Poppins Bold"/>
                <a:ea typeface="Poppins Bold"/>
                <a:cs typeface="Poppins Bold"/>
                <a:sym typeface="Poppins Bold"/>
              </a:rPr>
              <a:t>Η σπατάλη τροφίμων συμβάλλει στην εκπομπή αερίων του θερμοκηπίου. Η UNEP εκτιμά ότι η σπατάλη τροφίμων ευθύνεται για το 8-10% των παγκόσμιων εκπομπών [6].</a:t>
            </a:r>
          </a:p>
        </p:txBody>
      </p:sp>
      <p:grpSp>
        <p:nvGrpSpPr>
          <p:cNvPr name="Group 28" id="28"/>
          <p:cNvGrpSpPr/>
          <p:nvPr/>
        </p:nvGrpSpPr>
        <p:grpSpPr>
          <a:xfrm rot="0">
            <a:off x="6394601" y="4873434"/>
            <a:ext cx="559504" cy="1194767"/>
            <a:chOff x="0" y="0"/>
            <a:chExt cx="746006" cy="1593022"/>
          </a:xfrm>
        </p:grpSpPr>
        <p:grpSp>
          <p:nvGrpSpPr>
            <p:cNvPr name="Group 29" id="29"/>
            <p:cNvGrpSpPr/>
            <p:nvPr/>
          </p:nvGrpSpPr>
          <p:grpSpPr>
            <a:xfrm rot="0">
              <a:off x="0" y="847701"/>
              <a:ext cx="746006" cy="745321"/>
              <a:chOff x="0" y="0"/>
              <a:chExt cx="813546" cy="812800"/>
            </a:xfrm>
          </p:grpSpPr>
          <p:sp>
            <p:nvSpPr>
              <p:cNvPr name="Freeform 30" id="30"/>
              <p:cNvSpPr/>
              <p:nvPr/>
            </p:nvSpPr>
            <p:spPr>
              <a:xfrm flipH="false" flipV="false" rot="0">
                <a:off x="0" y="0"/>
                <a:ext cx="813546" cy="812800"/>
              </a:xfrm>
              <a:custGeom>
                <a:avLst/>
                <a:gdLst/>
                <a:ahLst/>
                <a:cxnLst/>
                <a:rect r="r" b="b" t="t" l="l"/>
                <a:pathLst>
                  <a:path h="812800" w="813546">
                    <a:moveTo>
                      <a:pt x="406773" y="0"/>
                    </a:moveTo>
                    <a:cubicBezTo>
                      <a:pt x="182119" y="0"/>
                      <a:pt x="0" y="181951"/>
                      <a:pt x="0" y="406400"/>
                    </a:cubicBezTo>
                    <a:cubicBezTo>
                      <a:pt x="0" y="630849"/>
                      <a:pt x="182119" y="812800"/>
                      <a:pt x="406773" y="812800"/>
                    </a:cubicBezTo>
                    <a:cubicBezTo>
                      <a:pt x="631428" y="812800"/>
                      <a:pt x="813546" y="630849"/>
                      <a:pt x="813546" y="406400"/>
                    </a:cubicBezTo>
                    <a:cubicBezTo>
                      <a:pt x="813546" y="181951"/>
                      <a:pt x="631428" y="0"/>
                      <a:pt x="406773" y="0"/>
                    </a:cubicBezTo>
                    <a:close/>
                  </a:path>
                </a:pathLst>
              </a:custGeom>
              <a:solidFill>
                <a:srgbClr val="000000"/>
              </a:solidFill>
              <a:ln cap="sq">
                <a:noFill/>
                <a:prstDash val="solid"/>
                <a:miter/>
              </a:ln>
            </p:spPr>
          </p:sp>
          <p:sp>
            <p:nvSpPr>
              <p:cNvPr name="TextBox 31" id="31"/>
              <p:cNvSpPr txBox="true"/>
              <p:nvPr/>
            </p:nvSpPr>
            <p:spPr>
              <a:xfrm>
                <a:off x="76270" y="76200"/>
                <a:ext cx="661006" cy="660400"/>
              </a:xfrm>
              <a:prstGeom prst="rect">
                <a:avLst/>
              </a:prstGeom>
            </p:spPr>
            <p:txBody>
              <a:bodyPr anchor="ctr" rtlCol="false" tIns="50800" lIns="50800" bIns="50800" rIns="50800"/>
              <a:lstStyle/>
              <a:p>
                <a:pPr algn="just">
                  <a:lnSpc>
                    <a:spcPts val="1917"/>
                  </a:lnSpc>
                </a:pPr>
              </a:p>
            </p:txBody>
          </p:sp>
        </p:grpSp>
        <p:grpSp>
          <p:nvGrpSpPr>
            <p:cNvPr name="Group 32" id="32"/>
            <p:cNvGrpSpPr/>
            <p:nvPr/>
          </p:nvGrpSpPr>
          <p:grpSpPr>
            <a:xfrm rot="0">
              <a:off x="0" y="0"/>
              <a:ext cx="746006" cy="1207662"/>
              <a:chOff x="0" y="0"/>
              <a:chExt cx="147359" cy="238550"/>
            </a:xfrm>
          </p:grpSpPr>
          <p:sp>
            <p:nvSpPr>
              <p:cNvPr name="Freeform 33" id="33"/>
              <p:cNvSpPr/>
              <p:nvPr/>
            </p:nvSpPr>
            <p:spPr>
              <a:xfrm flipH="false" flipV="false" rot="0">
                <a:off x="0" y="0"/>
                <a:ext cx="147359" cy="238550"/>
              </a:xfrm>
              <a:custGeom>
                <a:avLst/>
                <a:gdLst/>
                <a:ahLst/>
                <a:cxnLst/>
                <a:rect r="r" b="b" t="t" l="l"/>
                <a:pathLst>
                  <a:path h="238550" w="147359">
                    <a:moveTo>
                      <a:pt x="0" y="0"/>
                    </a:moveTo>
                    <a:lnTo>
                      <a:pt x="147359" y="0"/>
                    </a:lnTo>
                    <a:lnTo>
                      <a:pt x="147359" y="238550"/>
                    </a:lnTo>
                    <a:lnTo>
                      <a:pt x="0" y="238550"/>
                    </a:lnTo>
                    <a:close/>
                  </a:path>
                </a:pathLst>
              </a:custGeom>
              <a:solidFill>
                <a:srgbClr val="000000"/>
              </a:solidFill>
            </p:spPr>
          </p:sp>
          <p:sp>
            <p:nvSpPr>
              <p:cNvPr name="TextBox 34" id="34"/>
              <p:cNvSpPr txBox="true"/>
              <p:nvPr/>
            </p:nvSpPr>
            <p:spPr>
              <a:xfrm>
                <a:off x="0" y="0"/>
                <a:ext cx="147359" cy="238550"/>
              </a:xfrm>
              <a:prstGeom prst="rect">
                <a:avLst/>
              </a:prstGeom>
            </p:spPr>
            <p:txBody>
              <a:bodyPr anchor="ctr" rtlCol="false" tIns="50800" lIns="50800" bIns="50800" rIns="50800"/>
              <a:lstStyle/>
              <a:p>
                <a:pPr algn="ctr">
                  <a:lnSpc>
                    <a:spcPts val="1917"/>
                  </a:lnSpc>
                </a:pPr>
              </a:p>
            </p:txBody>
          </p:sp>
        </p:grpSp>
      </p:grpSp>
      <p:grpSp>
        <p:nvGrpSpPr>
          <p:cNvPr name="Group 35" id="35"/>
          <p:cNvGrpSpPr/>
          <p:nvPr/>
        </p:nvGrpSpPr>
        <p:grpSpPr>
          <a:xfrm rot="0">
            <a:off x="12447420" y="5103934"/>
            <a:ext cx="559504" cy="954100"/>
            <a:chOff x="0" y="0"/>
            <a:chExt cx="746006" cy="1272134"/>
          </a:xfrm>
        </p:grpSpPr>
        <p:grpSp>
          <p:nvGrpSpPr>
            <p:cNvPr name="Group 36" id="36"/>
            <p:cNvGrpSpPr/>
            <p:nvPr/>
          </p:nvGrpSpPr>
          <p:grpSpPr>
            <a:xfrm rot="0">
              <a:off x="0" y="526813"/>
              <a:ext cx="746006" cy="745321"/>
              <a:chOff x="0" y="0"/>
              <a:chExt cx="813546" cy="812800"/>
            </a:xfrm>
          </p:grpSpPr>
          <p:sp>
            <p:nvSpPr>
              <p:cNvPr name="Freeform 37" id="37"/>
              <p:cNvSpPr/>
              <p:nvPr/>
            </p:nvSpPr>
            <p:spPr>
              <a:xfrm flipH="false" flipV="false" rot="0">
                <a:off x="0" y="0"/>
                <a:ext cx="813546" cy="812800"/>
              </a:xfrm>
              <a:custGeom>
                <a:avLst/>
                <a:gdLst/>
                <a:ahLst/>
                <a:cxnLst/>
                <a:rect r="r" b="b" t="t" l="l"/>
                <a:pathLst>
                  <a:path h="812800" w="813546">
                    <a:moveTo>
                      <a:pt x="406773" y="0"/>
                    </a:moveTo>
                    <a:cubicBezTo>
                      <a:pt x="182119" y="0"/>
                      <a:pt x="0" y="181951"/>
                      <a:pt x="0" y="406400"/>
                    </a:cubicBezTo>
                    <a:cubicBezTo>
                      <a:pt x="0" y="630849"/>
                      <a:pt x="182119" y="812800"/>
                      <a:pt x="406773" y="812800"/>
                    </a:cubicBezTo>
                    <a:cubicBezTo>
                      <a:pt x="631428" y="812800"/>
                      <a:pt x="813546" y="630849"/>
                      <a:pt x="813546" y="406400"/>
                    </a:cubicBezTo>
                    <a:cubicBezTo>
                      <a:pt x="813546" y="181951"/>
                      <a:pt x="631428" y="0"/>
                      <a:pt x="406773" y="0"/>
                    </a:cubicBezTo>
                    <a:close/>
                  </a:path>
                </a:pathLst>
              </a:custGeom>
              <a:solidFill>
                <a:srgbClr val="000000"/>
              </a:solidFill>
              <a:ln cap="sq">
                <a:noFill/>
                <a:prstDash val="solid"/>
                <a:miter/>
              </a:ln>
            </p:spPr>
          </p:sp>
          <p:sp>
            <p:nvSpPr>
              <p:cNvPr name="TextBox 38" id="38"/>
              <p:cNvSpPr txBox="true"/>
              <p:nvPr/>
            </p:nvSpPr>
            <p:spPr>
              <a:xfrm>
                <a:off x="76270" y="76200"/>
                <a:ext cx="661006" cy="660400"/>
              </a:xfrm>
              <a:prstGeom prst="rect">
                <a:avLst/>
              </a:prstGeom>
            </p:spPr>
            <p:txBody>
              <a:bodyPr anchor="ctr" rtlCol="false" tIns="50800" lIns="50800" bIns="50800" rIns="50800"/>
              <a:lstStyle/>
              <a:p>
                <a:pPr algn="just">
                  <a:lnSpc>
                    <a:spcPts val="1917"/>
                  </a:lnSpc>
                </a:pPr>
              </a:p>
            </p:txBody>
          </p:sp>
        </p:grpSp>
        <p:grpSp>
          <p:nvGrpSpPr>
            <p:cNvPr name="Group 39" id="39"/>
            <p:cNvGrpSpPr/>
            <p:nvPr/>
          </p:nvGrpSpPr>
          <p:grpSpPr>
            <a:xfrm rot="0">
              <a:off x="0" y="0"/>
              <a:ext cx="746006" cy="886773"/>
              <a:chOff x="0" y="0"/>
              <a:chExt cx="147359" cy="175165"/>
            </a:xfrm>
          </p:grpSpPr>
          <p:sp>
            <p:nvSpPr>
              <p:cNvPr name="Freeform 40" id="40"/>
              <p:cNvSpPr/>
              <p:nvPr/>
            </p:nvSpPr>
            <p:spPr>
              <a:xfrm flipH="false" flipV="false" rot="0">
                <a:off x="0" y="0"/>
                <a:ext cx="147359" cy="175165"/>
              </a:xfrm>
              <a:custGeom>
                <a:avLst/>
                <a:gdLst/>
                <a:ahLst/>
                <a:cxnLst/>
                <a:rect r="r" b="b" t="t" l="l"/>
                <a:pathLst>
                  <a:path h="175165" w="147359">
                    <a:moveTo>
                      <a:pt x="0" y="0"/>
                    </a:moveTo>
                    <a:lnTo>
                      <a:pt x="147359" y="0"/>
                    </a:lnTo>
                    <a:lnTo>
                      <a:pt x="147359" y="175165"/>
                    </a:lnTo>
                    <a:lnTo>
                      <a:pt x="0" y="175165"/>
                    </a:lnTo>
                    <a:close/>
                  </a:path>
                </a:pathLst>
              </a:custGeom>
              <a:solidFill>
                <a:srgbClr val="000000"/>
              </a:solidFill>
            </p:spPr>
          </p:sp>
          <p:sp>
            <p:nvSpPr>
              <p:cNvPr name="TextBox 41" id="41"/>
              <p:cNvSpPr txBox="true"/>
              <p:nvPr/>
            </p:nvSpPr>
            <p:spPr>
              <a:xfrm>
                <a:off x="0" y="0"/>
                <a:ext cx="147359" cy="175165"/>
              </a:xfrm>
              <a:prstGeom prst="rect">
                <a:avLst/>
              </a:prstGeom>
            </p:spPr>
            <p:txBody>
              <a:bodyPr anchor="ctr" rtlCol="false" tIns="50800" lIns="50800" bIns="50800" rIns="50800"/>
              <a:lstStyle/>
              <a:p>
                <a:pPr algn="ctr">
                  <a:lnSpc>
                    <a:spcPts val="1917"/>
                  </a:lnSpc>
                </a:pPr>
              </a:p>
            </p:txBody>
          </p:sp>
        </p:grpSp>
      </p:grpSp>
      <p:grpSp>
        <p:nvGrpSpPr>
          <p:cNvPr name="Group 42" id="42"/>
          <p:cNvGrpSpPr/>
          <p:nvPr/>
        </p:nvGrpSpPr>
        <p:grpSpPr>
          <a:xfrm rot="0">
            <a:off x="1679491" y="2457075"/>
            <a:ext cx="559504" cy="913155"/>
            <a:chOff x="0" y="0"/>
            <a:chExt cx="746006" cy="1217540"/>
          </a:xfrm>
        </p:grpSpPr>
        <p:grpSp>
          <p:nvGrpSpPr>
            <p:cNvPr name="Group 43" id="43"/>
            <p:cNvGrpSpPr/>
            <p:nvPr/>
          </p:nvGrpSpPr>
          <p:grpSpPr>
            <a:xfrm rot="0">
              <a:off x="0" y="472219"/>
              <a:ext cx="746006" cy="745321"/>
              <a:chOff x="0" y="0"/>
              <a:chExt cx="813546" cy="812800"/>
            </a:xfrm>
          </p:grpSpPr>
          <p:sp>
            <p:nvSpPr>
              <p:cNvPr name="Freeform 44" id="44"/>
              <p:cNvSpPr/>
              <p:nvPr/>
            </p:nvSpPr>
            <p:spPr>
              <a:xfrm flipH="false" flipV="false" rot="0">
                <a:off x="0" y="0"/>
                <a:ext cx="813546" cy="812800"/>
              </a:xfrm>
              <a:custGeom>
                <a:avLst/>
                <a:gdLst/>
                <a:ahLst/>
                <a:cxnLst/>
                <a:rect r="r" b="b" t="t" l="l"/>
                <a:pathLst>
                  <a:path h="812800" w="813546">
                    <a:moveTo>
                      <a:pt x="406773" y="0"/>
                    </a:moveTo>
                    <a:cubicBezTo>
                      <a:pt x="182119" y="0"/>
                      <a:pt x="0" y="181951"/>
                      <a:pt x="0" y="406400"/>
                    </a:cubicBezTo>
                    <a:cubicBezTo>
                      <a:pt x="0" y="630849"/>
                      <a:pt x="182119" y="812800"/>
                      <a:pt x="406773" y="812800"/>
                    </a:cubicBezTo>
                    <a:cubicBezTo>
                      <a:pt x="631428" y="812800"/>
                      <a:pt x="813546" y="630849"/>
                      <a:pt x="813546" y="406400"/>
                    </a:cubicBezTo>
                    <a:cubicBezTo>
                      <a:pt x="813546" y="181951"/>
                      <a:pt x="631428" y="0"/>
                      <a:pt x="406773" y="0"/>
                    </a:cubicBezTo>
                    <a:close/>
                  </a:path>
                </a:pathLst>
              </a:custGeom>
              <a:solidFill>
                <a:srgbClr val="295BBE"/>
              </a:solidFill>
              <a:ln cap="sq">
                <a:noFill/>
                <a:prstDash val="solid"/>
                <a:miter/>
              </a:ln>
            </p:spPr>
          </p:sp>
          <p:sp>
            <p:nvSpPr>
              <p:cNvPr name="TextBox 45" id="45"/>
              <p:cNvSpPr txBox="true"/>
              <p:nvPr/>
            </p:nvSpPr>
            <p:spPr>
              <a:xfrm>
                <a:off x="76270" y="76200"/>
                <a:ext cx="661006" cy="660400"/>
              </a:xfrm>
              <a:prstGeom prst="rect">
                <a:avLst/>
              </a:prstGeom>
            </p:spPr>
            <p:txBody>
              <a:bodyPr anchor="ctr" rtlCol="false" tIns="50800" lIns="50800" bIns="50800" rIns="50800"/>
              <a:lstStyle/>
              <a:p>
                <a:pPr algn="just">
                  <a:lnSpc>
                    <a:spcPts val="1917"/>
                  </a:lnSpc>
                </a:pPr>
              </a:p>
            </p:txBody>
          </p:sp>
        </p:grpSp>
        <p:grpSp>
          <p:nvGrpSpPr>
            <p:cNvPr name="Group 46" id="46"/>
            <p:cNvGrpSpPr/>
            <p:nvPr/>
          </p:nvGrpSpPr>
          <p:grpSpPr>
            <a:xfrm rot="0">
              <a:off x="0" y="0"/>
              <a:ext cx="746006" cy="832179"/>
              <a:chOff x="0" y="0"/>
              <a:chExt cx="147359" cy="164381"/>
            </a:xfrm>
          </p:grpSpPr>
          <p:sp>
            <p:nvSpPr>
              <p:cNvPr name="Freeform 47" id="47"/>
              <p:cNvSpPr/>
              <p:nvPr/>
            </p:nvSpPr>
            <p:spPr>
              <a:xfrm flipH="false" flipV="false" rot="0">
                <a:off x="0" y="0"/>
                <a:ext cx="147359" cy="164381"/>
              </a:xfrm>
              <a:custGeom>
                <a:avLst/>
                <a:gdLst/>
                <a:ahLst/>
                <a:cxnLst/>
                <a:rect r="r" b="b" t="t" l="l"/>
                <a:pathLst>
                  <a:path h="164381" w="147359">
                    <a:moveTo>
                      <a:pt x="0" y="0"/>
                    </a:moveTo>
                    <a:lnTo>
                      <a:pt x="147359" y="0"/>
                    </a:lnTo>
                    <a:lnTo>
                      <a:pt x="147359" y="164381"/>
                    </a:lnTo>
                    <a:lnTo>
                      <a:pt x="0" y="164381"/>
                    </a:lnTo>
                    <a:close/>
                  </a:path>
                </a:pathLst>
              </a:custGeom>
              <a:solidFill>
                <a:srgbClr val="295BBE"/>
              </a:solidFill>
            </p:spPr>
          </p:sp>
          <p:sp>
            <p:nvSpPr>
              <p:cNvPr name="TextBox 48" id="48"/>
              <p:cNvSpPr txBox="true"/>
              <p:nvPr/>
            </p:nvSpPr>
            <p:spPr>
              <a:xfrm>
                <a:off x="0" y="0"/>
                <a:ext cx="147359" cy="164381"/>
              </a:xfrm>
              <a:prstGeom prst="rect">
                <a:avLst/>
              </a:prstGeom>
            </p:spPr>
            <p:txBody>
              <a:bodyPr anchor="ctr" rtlCol="false" tIns="50800" lIns="50800" bIns="50800" rIns="50800"/>
              <a:lstStyle/>
              <a:p>
                <a:pPr algn="ctr">
                  <a:lnSpc>
                    <a:spcPts val="1917"/>
                  </a:lnSpc>
                </a:pPr>
              </a:p>
            </p:txBody>
          </p:sp>
        </p:grpSp>
      </p:grpSp>
      <p:sp>
        <p:nvSpPr>
          <p:cNvPr name="TextBox 49" id="49"/>
          <p:cNvSpPr txBox="true"/>
          <p:nvPr/>
        </p:nvSpPr>
        <p:spPr>
          <a:xfrm rot="5400000">
            <a:off x="17489312" y="9181781"/>
            <a:ext cx="936679" cy="272173"/>
          </a:xfrm>
          <a:prstGeom prst="rect">
            <a:avLst/>
          </a:prstGeom>
        </p:spPr>
        <p:txBody>
          <a:bodyPr anchor="t" rtlCol="false" tIns="0" lIns="0" bIns="0" rIns="0">
            <a:spAutoFit/>
          </a:bodyPr>
          <a:lstStyle/>
          <a:p>
            <a:pPr algn="l">
              <a:lnSpc>
                <a:spcPts val="1934"/>
              </a:lnSpc>
              <a:spcBef>
                <a:spcPct val="0"/>
              </a:spcBef>
            </a:pPr>
            <a:r>
              <a:rPr lang="en-US" sz="1791">
                <a:solidFill>
                  <a:srgbClr val="295BBE"/>
                </a:solidFill>
                <a:latin typeface="Poppins"/>
                <a:ea typeface="Poppins"/>
                <a:cs typeface="Poppins"/>
                <a:sym typeface="Poppins"/>
              </a:rPr>
              <a:t>page 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238690" y="-257530"/>
            <a:ext cx="9373165" cy="13019176"/>
            <a:chOff x="0" y="0"/>
            <a:chExt cx="2468652" cy="3428919"/>
          </a:xfrm>
        </p:grpSpPr>
        <p:sp>
          <p:nvSpPr>
            <p:cNvPr name="Freeform 3" id="3"/>
            <p:cNvSpPr/>
            <p:nvPr/>
          </p:nvSpPr>
          <p:spPr>
            <a:xfrm flipH="false" flipV="false" rot="0">
              <a:off x="0" y="0"/>
              <a:ext cx="2468652" cy="3428919"/>
            </a:xfrm>
            <a:custGeom>
              <a:avLst/>
              <a:gdLst/>
              <a:ahLst/>
              <a:cxnLst/>
              <a:rect r="r" b="b" t="t" l="l"/>
              <a:pathLst>
                <a:path h="3428919" w="2468652">
                  <a:moveTo>
                    <a:pt x="0" y="0"/>
                  </a:moveTo>
                  <a:lnTo>
                    <a:pt x="2468652" y="0"/>
                  </a:lnTo>
                  <a:lnTo>
                    <a:pt x="2468652" y="3428919"/>
                  </a:lnTo>
                  <a:lnTo>
                    <a:pt x="0" y="3428919"/>
                  </a:lnTo>
                  <a:close/>
                </a:path>
              </a:pathLst>
            </a:custGeom>
            <a:solidFill>
              <a:srgbClr val="295BBE"/>
            </a:solidFill>
          </p:spPr>
        </p:sp>
        <p:sp>
          <p:nvSpPr>
            <p:cNvPr name="TextBox 4" id="4"/>
            <p:cNvSpPr txBox="true"/>
            <p:nvPr/>
          </p:nvSpPr>
          <p:spPr>
            <a:xfrm>
              <a:off x="0" y="0"/>
              <a:ext cx="2468652" cy="3428919"/>
            </a:xfrm>
            <a:prstGeom prst="rect">
              <a:avLst/>
            </a:prstGeom>
          </p:spPr>
          <p:txBody>
            <a:bodyPr anchor="ctr" rtlCol="false" tIns="50800" lIns="50800" bIns="50800" rIns="50800"/>
            <a:lstStyle/>
            <a:p>
              <a:pPr algn="ctr">
                <a:lnSpc>
                  <a:spcPts val="1917"/>
                </a:lnSpc>
              </a:pPr>
            </a:p>
          </p:txBody>
        </p:sp>
      </p:grpSp>
      <p:grpSp>
        <p:nvGrpSpPr>
          <p:cNvPr name="Group 5" id="5"/>
          <p:cNvGrpSpPr/>
          <p:nvPr/>
        </p:nvGrpSpPr>
        <p:grpSpPr>
          <a:xfrm rot="0">
            <a:off x="-733074" y="-2627031"/>
            <a:ext cx="10615181" cy="10605442"/>
            <a:chOff x="0" y="0"/>
            <a:chExt cx="813546" cy="812800"/>
          </a:xfrm>
        </p:grpSpPr>
        <p:sp>
          <p:nvSpPr>
            <p:cNvPr name="Freeform 6" id="6"/>
            <p:cNvSpPr/>
            <p:nvPr/>
          </p:nvSpPr>
          <p:spPr>
            <a:xfrm flipH="false" flipV="false" rot="0">
              <a:off x="0" y="0"/>
              <a:ext cx="813546" cy="812800"/>
            </a:xfrm>
            <a:custGeom>
              <a:avLst/>
              <a:gdLst/>
              <a:ahLst/>
              <a:cxnLst/>
              <a:rect r="r" b="b" t="t" l="l"/>
              <a:pathLst>
                <a:path h="812800" w="813546">
                  <a:moveTo>
                    <a:pt x="406773" y="0"/>
                  </a:moveTo>
                  <a:cubicBezTo>
                    <a:pt x="182119" y="0"/>
                    <a:pt x="0" y="181951"/>
                    <a:pt x="0" y="406400"/>
                  </a:cubicBezTo>
                  <a:cubicBezTo>
                    <a:pt x="0" y="630849"/>
                    <a:pt x="182119" y="812800"/>
                    <a:pt x="406773" y="812800"/>
                  </a:cubicBezTo>
                  <a:cubicBezTo>
                    <a:pt x="631428" y="812800"/>
                    <a:pt x="813546" y="630849"/>
                    <a:pt x="813546" y="406400"/>
                  </a:cubicBezTo>
                  <a:cubicBezTo>
                    <a:pt x="813546" y="181951"/>
                    <a:pt x="631428" y="0"/>
                    <a:pt x="406773" y="0"/>
                  </a:cubicBezTo>
                  <a:close/>
                </a:path>
              </a:pathLst>
            </a:custGeom>
            <a:solidFill>
              <a:srgbClr val="FFFFFF"/>
            </a:solidFill>
          </p:spPr>
        </p:sp>
        <p:sp>
          <p:nvSpPr>
            <p:cNvPr name="TextBox 7" id="7"/>
            <p:cNvSpPr txBox="true"/>
            <p:nvPr/>
          </p:nvSpPr>
          <p:spPr>
            <a:xfrm>
              <a:off x="76270" y="76200"/>
              <a:ext cx="661006" cy="660400"/>
            </a:xfrm>
            <a:prstGeom prst="rect">
              <a:avLst/>
            </a:prstGeom>
          </p:spPr>
          <p:txBody>
            <a:bodyPr anchor="ctr" rtlCol="false" tIns="50800" lIns="50800" bIns="50800" rIns="50800"/>
            <a:lstStyle/>
            <a:p>
              <a:pPr algn="ctr">
                <a:lnSpc>
                  <a:spcPts val="1917"/>
                </a:lnSpc>
              </a:pPr>
            </a:p>
          </p:txBody>
        </p:sp>
      </p:grpSp>
      <p:grpSp>
        <p:nvGrpSpPr>
          <p:cNvPr name="Group 8" id="8"/>
          <p:cNvGrpSpPr/>
          <p:nvPr/>
        </p:nvGrpSpPr>
        <p:grpSpPr>
          <a:xfrm rot="0">
            <a:off x="8494104" y="2609914"/>
            <a:ext cx="10615181" cy="10605442"/>
            <a:chOff x="0" y="0"/>
            <a:chExt cx="813546" cy="812800"/>
          </a:xfrm>
        </p:grpSpPr>
        <p:sp>
          <p:nvSpPr>
            <p:cNvPr name="Freeform 9" id="9"/>
            <p:cNvSpPr/>
            <p:nvPr/>
          </p:nvSpPr>
          <p:spPr>
            <a:xfrm flipH="false" flipV="false" rot="0">
              <a:off x="0" y="0"/>
              <a:ext cx="813546" cy="812800"/>
            </a:xfrm>
            <a:custGeom>
              <a:avLst/>
              <a:gdLst/>
              <a:ahLst/>
              <a:cxnLst/>
              <a:rect r="r" b="b" t="t" l="l"/>
              <a:pathLst>
                <a:path h="812800" w="813546">
                  <a:moveTo>
                    <a:pt x="406773" y="0"/>
                  </a:moveTo>
                  <a:cubicBezTo>
                    <a:pt x="182119" y="0"/>
                    <a:pt x="0" y="181951"/>
                    <a:pt x="0" y="406400"/>
                  </a:cubicBezTo>
                  <a:cubicBezTo>
                    <a:pt x="0" y="630849"/>
                    <a:pt x="182119" y="812800"/>
                    <a:pt x="406773" y="812800"/>
                  </a:cubicBezTo>
                  <a:cubicBezTo>
                    <a:pt x="631428" y="812800"/>
                    <a:pt x="813546" y="630849"/>
                    <a:pt x="813546" y="406400"/>
                  </a:cubicBezTo>
                  <a:cubicBezTo>
                    <a:pt x="813546" y="181951"/>
                    <a:pt x="631428" y="0"/>
                    <a:pt x="406773" y="0"/>
                  </a:cubicBezTo>
                  <a:close/>
                </a:path>
              </a:pathLst>
            </a:custGeom>
            <a:solidFill>
              <a:srgbClr val="295BBE"/>
            </a:solidFill>
          </p:spPr>
        </p:sp>
        <p:sp>
          <p:nvSpPr>
            <p:cNvPr name="TextBox 10" id="10"/>
            <p:cNvSpPr txBox="true"/>
            <p:nvPr/>
          </p:nvSpPr>
          <p:spPr>
            <a:xfrm>
              <a:off x="76270" y="76200"/>
              <a:ext cx="661006" cy="660400"/>
            </a:xfrm>
            <a:prstGeom prst="rect">
              <a:avLst/>
            </a:prstGeom>
          </p:spPr>
          <p:txBody>
            <a:bodyPr anchor="ctr" rtlCol="false" tIns="50800" lIns="50800" bIns="50800" rIns="50800"/>
            <a:lstStyle/>
            <a:p>
              <a:pPr algn="ctr">
                <a:lnSpc>
                  <a:spcPts val="1917"/>
                </a:lnSpc>
              </a:pPr>
            </a:p>
          </p:txBody>
        </p:sp>
      </p:grpSp>
      <p:grpSp>
        <p:nvGrpSpPr>
          <p:cNvPr name="Group 11" id="11"/>
          <p:cNvGrpSpPr/>
          <p:nvPr/>
        </p:nvGrpSpPr>
        <p:grpSpPr>
          <a:xfrm rot="0">
            <a:off x="9596504" y="4777160"/>
            <a:ext cx="383261" cy="382909"/>
            <a:chOff x="0" y="0"/>
            <a:chExt cx="813546" cy="812800"/>
          </a:xfrm>
        </p:grpSpPr>
        <p:sp>
          <p:nvSpPr>
            <p:cNvPr name="Freeform 12" id="12"/>
            <p:cNvSpPr/>
            <p:nvPr/>
          </p:nvSpPr>
          <p:spPr>
            <a:xfrm flipH="false" flipV="false" rot="0">
              <a:off x="0" y="0"/>
              <a:ext cx="813546" cy="812800"/>
            </a:xfrm>
            <a:custGeom>
              <a:avLst/>
              <a:gdLst/>
              <a:ahLst/>
              <a:cxnLst/>
              <a:rect r="r" b="b" t="t" l="l"/>
              <a:pathLst>
                <a:path h="812800" w="813546">
                  <a:moveTo>
                    <a:pt x="406773" y="0"/>
                  </a:moveTo>
                  <a:cubicBezTo>
                    <a:pt x="182119" y="0"/>
                    <a:pt x="0" y="181951"/>
                    <a:pt x="0" y="406400"/>
                  </a:cubicBezTo>
                  <a:cubicBezTo>
                    <a:pt x="0" y="630849"/>
                    <a:pt x="182119" y="812800"/>
                    <a:pt x="406773" y="812800"/>
                  </a:cubicBezTo>
                  <a:cubicBezTo>
                    <a:pt x="631428" y="812800"/>
                    <a:pt x="813546" y="630849"/>
                    <a:pt x="813546" y="406400"/>
                  </a:cubicBezTo>
                  <a:cubicBezTo>
                    <a:pt x="813546" y="181951"/>
                    <a:pt x="631428" y="0"/>
                    <a:pt x="406773" y="0"/>
                  </a:cubicBezTo>
                  <a:close/>
                </a:path>
              </a:pathLst>
            </a:custGeom>
            <a:solidFill>
              <a:srgbClr val="FFFFFF"/>
            </a:solidFill>
            <a:ln cap="sq">
              <a:noFill/>
              <a:prstDash val="solid"/>
              <a:miter/>
            </a:ln>
          </p:spPr>
        </p:sp>
        <p:sp>
          <p:nvSpPr>
            <p:cNvPr name="TextBox 13" id="13"/>
            <p:cNvSpPr txBox="true"/>
            <p:nvPr/>
          </p:nvSpPr>
          <p:spPr>
            <a:xfrm>
              <a:off x="76270" y="76200"/>
              <a:ext cx="661006" cy="660400"/>
            </a:xfrm>
            <a:prstGeom prst="rect">
              <a:avLst/>
            </a:prstGeom>
          </p:spPr>
          <p:txBody>
            <a:bodyPr anchor="ctr" rtlCol="false" tIns="50800" lIns="50800" bIns="50800" rIns="50800"/>
            <a:lstStyle/>
            <a:p>
              <a:pPr algn="just">
                <a:lnSpc>
                  <a:spcPts val="1917"/>
                </a:lnSpc>
              </a:pPr>
            </a:p>
          </p:txBody>
        </p:sp>
      </p:grpSp>
      <p:grpSp>
        <p:nvGrpSpPr>
          <p:cNvPr name="Group 14" id="14"/>
          <p:cNvGrpSpPr/>
          <p:nvPr/>
        </p:nvGrpSpPr>
        <p:grpSpPr>
          <a:xfrm rot="0">
            <a:off x="9596504" y="6792133"/>
            <a:ext cx="383261" cy="382909"/>
            <a:chOff x="0" y="0"/>
            <a:chExt cx="813546" cy="812800"/>
          </a:xfrm>
        </p:grpSpPr>
        <p:sp>
          <p:nvSpPr>
            <p:cNvPr name="Freeform 15" id="15"/>
            <p:cNvSpPr/>
            <p:nvPr/>
          </p:nvSpPr>
          <p:spPr>
            <a:xfrm flipH="false" flipV="false" rot="0">
              <a:off x="0" y="0"/>
              <a:ext cx="813546" cy="812800"/>
            </a:xfrm>
            <a:custGeom>
              <a:avLst/>
              <a:gdLst/>
              <a:ahLst/>
              <a:cxnLst/>
              <a:rect r="r" b="b" t="t" l="l"/>
              <a:pathLst>
                <a:path h="812800" w="813546">
                  <a:moveTo>
                    <a:pt x="406773" y="0"/>
                  </a:moveTo>
                  <a:cubicBezTo>
                    <a:pt x="182119" y="0"/>
                    <a:pt x="0" y="181951"/>
                    <a:pt x="0" y="406400"/>
                  </a:cubicBezTo>
                  <a:cubicBezTo>
                    <a:pt x="0" y="630849"/>
                    <a:pt x="182119" y="812800"/>
                    <a:pt x="406773" y="812800"/>
                  </a:cubicBezTo>
                  <a:cubicBezTo>
                    <a:pt x="631428" y="812800"/>
                    <a:pt x="813546" y="630849"/>
                    <a:pt x="813546" y="406400"/>
                  </a:cubicBezTo>
                  <a:cubicBezTo>
                    <a:pt x="813546" y="181951"/>
                    <a:pt x="631428" y="0"/>
                    <a:pt x="406773" y="0"/>
                  </a:cubicBezTo>
                  <a:close/>
                </a:path>
              </a:pathLst>
            </a:custGeom>
            <a:solidFill>
              <a:srgbClr val="FFFFFF"/>
            </a:solidFill>
            <a:ln cap="sq">
              <a:noFill/>
              <a:prstDash val="solid"/>
              <a:miter/>
            </a:ln>
          </p:spPr>
        </p:sp>
        <p:sp>
          <p:nvSpPr>
            <p:cNvPr name="TextBox 16" id="16"/>
            <p:cNvSpPr txBox="true"/>
            <p:nvPr/>
          </p:nvSpPr>
          <p:spPr>
            <a:xfrm>
              <a:off x="76270" y="76200"/>
              <a:ext cx="661006" cy="660400"/>
            </a:xfrm>
            <a:prstGeom prst="rect">
              <a:avLst/>
            </a:prstGeom>
          </p:spPr>
          <p:txBody>
            <a:bodyPr anchor="ctr" rtlCol="false" tIns="50800" lIns="50800" bIns="50800" rIns="50800"/>
            <a:lstStyle/>
            <a:p>
              <a:pPr algn="just">
                <a:lnSpc>
                  <a:spcPts val="1917"/>
                </a:lnSpc>
              </a:pPr>
            </a:p>
          </p:txBody>
        </p:sp>
      </p:grpSp>
      <p:grpSp>
        <p:nvGrpSpPr>
          <p:cNvPr name="Group 17" id="17"/>
          <p:cNvGrpSpPr/>
          <p:nvPr/>
        </p:nvGrpSpPr>
        <p:grpSpPr>
          <a:xfrm rot="-10800000">
            <a:off x="767846" y="3847612"/>
            <a:ext cx="327373" cy="330673"/>
            <a:chOff x="0" y="0"/>
            <a:chExt cx="694913" cy="701919"/>
          </a:xfrm>
        </p:grpSpPr>
        <p:sp>
          <p:nvSpPr>
            <p:cNvPr name="Freeform 18" id="18"/>
            <p:cNvSpPr/>
            <p:nvPr/>
          </p:nvSpPr>
          <p:spPr>
            <a:xfrm flipH="false" flipV="false" rot="0">
              <a:off x="0" y="0"/>
              <a:ext cx="694913" cy="701919"/>
            </a:xfrm>
            <a:custGeom>
              <a:avLst/>
              <a:gdLst/>
              <a:ahLst/>
              <a:cxnLst/>
              <a:rect r="r" b="b" t="t" l="l"/>
              <a:pathLst>
                <a:path h="701919" w="694913">
                  <a:moveTo>
                    <a:pt x="347457" y="0"/>
                  </a:moveTo>
                  <a:cubicBezTo>
                    <a:pt x="155562" y="0"/>
                    <a:pt x="0" y="157130"/>
                    <a:pt x="0" y="350959"/>
                  </a:cubicBezTo>
                  <a:cubicBezTo>
                    <a:pt x="0" y="544789"/>
                    <a:pt x="155562" y="701919"/>
                    <a:pt x="347457" y="701919"/>
                  </a:cubicBezTo>
                  <a:cubicBezTo>
                    <a:pt x="539352" y="701919"/>
                    <a:pt x="694913" y="544789"/>
                    <a:pt x="694913" y="350959"/>
                  </a:cubicBezTo>
                  <a:cubicBezTo>
                    <a:pt x="694913" y="157130"/>
                    <a:pt x="539352" y="0"/>
                    <a:pt x="347457" y="0"/>
                  </a:cubicBezTo>
                  <a:close/>
                </a:path>
              </a:pathLst>
            </a:custGeom>
            <a:solidFill>
              <a:srgbClr val="295BBE"/>
            </a:solidFill>
            <a:ln cap="sq">
              <a:noFill/>
              <a:prstDash val="solid"/>
              <a:miter/>
            </a:ln>
          </p:spPr>
        </p:sp>
        <p:sp>
          <p:nvSpPr>
            <p:cNvPr name="TextBox 19" id="19"/>
            <p:cNvSpPr txBox="true"/>
            <p:nvPr/>
          </p:nvSpPr>
          <p:spPr>
            <a:xfrm>
              <a:off x="65148" y="65805"/>
              <a:ext cx="564617" cy="570309"/>
            </a:xfrm>
            <a:prstGeom prst="rect">
              <a:avLst/>
            </a:prstGeom>
          </p:spPr>
          <p:txBody>
            <a:bodyPr anchor="ctr" rtlCol="false" tIns="50800" lIns="50800" bIns="50800" rIns="50800"/>
            <a:lstStyle/>
            <a:p>
              <a:pPr algn="just">
                <a:lnSpc>
                  <a:spcPts val="1917"/>
                </a:lnSpc>
              </a:pPr>
            </a:p>
          </p:txBody>
        </p:sp>
      </p:grpSp>
      <p:sp>
        <p:nvSpPr>
          <p:cNvPr name="TextBox 20" id="20"/>
          <p:cNvSpPr txBox="true"/>
          <p:nvPr/>
        </p:nvSpPr>
        <p:spPr>
          <a:xfrm rot="5400000">
            <a:off x="17336912" y="9029381"/>
            <a:ext cx="936679" cy="272173"/>
          </a:xfrm>
          <a:prstGeom prst="rect">
            <a:avLst/>
          </a:prstGeom>
        </p:spPr>
        <p:txBody>
          <a:bodyPr anchor="t" rtlCol="false" tIns="0" lIns="0" bIns="0" rIns="0">
            <a:spAutoFit/>
          </a:bodyPr>
          <a:lstStyle/>
          <a:p>
            <a:pPr algn="l">
              <a:lnSpc>
                <a:spcPts val="1934"/>
              </a:lnSpc>
              <a:spcBef>
                <a:spcPct val="0"/>
              </a:spcBef>
            </a:pPr>
            <a:r>
              <a:rPr lang="en-US" sz="1791">
                <a:solidFill>
                  <a:srgbClr val="FFFFFF"/>
                </a:solidFill>
                <a:latin typeface="Poppins"/>
                <a:ea typeface="Poppins"/>
                <a:cs typeface="Poppins"/>
                <a:sym typeface="Poppins"/>
              </a:rPr>
              <a:t>page 12</a:t>
            </a:r>
          </a:p>
        </p:txBody>
      </p:sp>
      <p:sp>
        <p:nvSpPr>
          <p:cNvPr name="TextBox 21" id="21"/>
          <p:cNvSpPr txBox="true"/>
          <p:nvPr/>
        </p:nvSpPr>
        <p:spPr>
          <a:xfrm rot="0">
            <a:off x="-500966" y="492793"/>
            <a:ext cx="8797192" cy="982784"/>
          </a:xfrm>
          <a:prstGeom prst="rect">
            <a:avLst/>
          </a:prstGeom>
        </p:spPr>
        <p:txBody>
          <a:bodyPr anchor="t" rtlCol="false" tIns="0" lIns="0" bIns="0" rIns="0">
            <a:spAutoFit/>
          </a:bodyPr>
          <a:lstStyle/>
          <a:p>
            <a:pPr algn="r">
              <a:lnSpc>
                <a:spcPts val="7111"/>
              </a:lnSpc>
              <a:spcBef>
                <a:spcPct val="0"/>
              </a:spcBef>
            </a:pPr>
            <a:r>
              <a:rPr lang="en-US" sz="6584">
                <a:solidFill>
                  <a:srgbClr val="000000"/>
                </a:solidFill>
                <a:latin typeface="Poppins Light"/>
                <a:ea typeface="Poppins Light"/>
                <a:cs typeface="Poppins Light"/>
                <a:sym typeface="Poppins Light"/>
              </a:rPr>
              <a:t>Δείκτης Παγκόσμιας</a:t>
            </a:r>
          </a:p>
        </p:txBody>
      </p:sp>
      <p:sp>
        <p:nvSpPr>
          <p:cNvPr name="TextBox 22" id="22"/>
          <p:cNvSpPr txBox="true"/>
          <p:nvPr/>
        </p:nvSpPr>
        <p:spPr>
          <a:xfrm rot="0">
            <a:off x="1517313" y="1345233"/>
            <a:ext cx="8767596" cy="969406"/>
          </a:xfrm>
          <a:prstGeom prst="rect">
            <a:avLst/>
          </a:prstGeom>
        </p:spPr>
        <p:txBody>
          <a:bodyPr anchor="t" rtlCol="false" tIns="0" lIns="0" bIns="0" rIns="0">
            <a:spAutoFit/>
          </a:bodyPr>
          <a:lstStyle/>
          <a:p>
            <a:pPr algn="l">
              <a:lnSpc>
                <a:spcPts val="6947"/>
              </a:lnSpc>
              <a:spcBef>
                <a:spcPct val="0"/>
              </a:spcBef>
            </a:pPr>
            <a:r>
              <a:rPr lang="en-US" b="true" sz="6433">
                <a:solidFill>
                  <a:srgbClr val="000000"/>
                </a:solidFill>
                <a:latin typeface="Poppins Bold"/>
                <a:ea typeface="Poppins Bold"/>
                <a:cs typeface="Poppins Bold"/>
                <a:sym typeface="Poppins Bold"/>
              </a:rPr>
              <a:t>Απώλειας Τροφίμων</a:t>
            </a:r>
          </a:p>
        </p:txBody>
      </p:sp>
      <p:sp>
        <p:nvSpPr>
          <p:cNvPr name="TextBox 23" id="23"/>
          <p:cNvSpPr txBox="true"/>
          <p:nvPr/>
        </p:nvSpPr>
        <p:spPr>
          <a:xfrm rot="0">
            <a:off x="1294334" y="4243617"/>
            <a:ext cx="6833606" cy="968838"/>
          </a:xfrm>
          <a:prstGeom prst="rect">
            <a:avLst/>
          </a:prstGeom>
        </p:spPr>
        <p:txBody>
          <a:bodyPr anchor="t" rtlCol="false" tIns="0" lIns="0" bIns="0" rIns="0">
            <a:spAutoFit/>
          </a:bodyPr>
          <a:lstStyle/>
          <a:p>
            <a:pPr algn="l">
              <a:lnSpc>
                <a:spcPts val="2507"/>
              </a:lnSpc>
              <a:spcBef>
                <a:spcPct val="0"/>
              </a:spcBef>
            </a:pPr>
            <a:r>
              <a:rPr lang="en-US" b="true" sz="2322">
                <a:solidFill>
                  <a:srgbClr val="000000"/>
                </a:solidFill>
                <a:latin typeface="Poppins Bold"/>
                <a:ea typeface="Poppins Bold"/>
                <a:cs typeface="Poppins Bold"/>
                <a:sym typeface="Poppins Bold"/>
              </a:rPr>
              <a:t>Ανάδειξη της ανάγκης μείωσης της σπατάλης τροφίμων από το στάδιο της παραγωγής έως τον τελικό καταναλωτή.</a:t>
            </a:r>
          </a:p>
        </p:txBody>
      </p:sp>
      <p:sp>
        <p:nvSpPr>
          <p:cNvPr name="TextBox 24" id="24"/>
          <p:cNvSpPr txBox="true"/>
          <p:nvPr/>
        </p:nvSpPr>
        <p:spPr>
          <a:xfrm rot="0">
            <a:off x="1278687" y="3713393"/>
            <a:ext cx="1683544" cy="520699"/>
          </a:xfrm>
          <a:prstGeom prst="rect">
            <a:avLst/>
          </a:prstGeom>
        </p:spPr>
        <p:txBody>
          <a:bodyPr anchor="t" rtlCol="false" tIns="0" lIns="0" bIns="0" rIns="0">
            <a:spAutoFit/>
          </a:bodyPr>
          <a:lstStyle/>
          <a:p>
            <a:pPr algn="ctr">
              <a:lnSpc>
                <a:spcPts val="3824"/>
              </a:lnSpc>
              <a:spcBef>
                <a:spcPct val="0"/>
              </a:spcBef>
            </a:pPr>
            <a:r>
              <a:rPr lang="en-US" b="true" sz="3541">
                <a:solidFill>
                  <a:srgbClr val="000000"/>
                </a:solidFill>
                <a:latin typeface="Poppins Bold"/>
                <a:ea typeface="Poppins Bold"/>
                <a:cs typeface="Poppins Bold"/>
                <a:sym typeface="Poppins Bold"/>
              </a:rPr>
              <a:t>Στόχος:</a:t>
            </a:r>
          </a:p>
        </p:txBody>
      </p:sp>
      <p:sp>
        <p:nvSpPr>
          <p:cNvPr name="TextBox 25" id="25"/>
          <p:cNvSpPr txBox="true"/>
          <p:nvPr/>
        </p:nvSpPr>
        <p:spPr>
          <a:xfrm rot="0">
            <a:off x="10227759" y="6801658"/>
            <a:ext cx="6808249" cy="916284"/>
          </a:xfrm>
          <a:prstGeom prst="rect">
            <a:avLst/>
          </a:prstGeom>
        </p:spPr>
        <p:txBody>
          <a:bodyPr anchor="t" rtlCol="false" tIns="0" lIns="0" bIns="0" rIns="0">
            <a:spAutoFit/>
          </a:bodyPr>
          <a:lstStyle/>
          <a:p>
            <a:pPr algn="l">
              <a:lnSpc>
                <a:spcPts val="3508"/>
              </a:lnSpc>
              <a:spcBef>
                <a:spcPct val="0"/>
              </a:spcBef>
            </a:pPr>
            <a:r>
              <a:rPr lang="en-US" b="true" sz="3248">
                <a:solidFill>
                  <a:srgbClr val="000000"/>
                </a:solidFill>
                <a:latin typeface="Poppins Bold"/>
                <a:ea typeface="Poppins Bold"/>
                <a:cs typeface="Poppins Bold"/>
                <a:sym typeface="Poppins Bold"/>
              </a:rPr>
              <a:t>Σημαντική Απώλεια στην Αλυσίδα Εφοδιασμού:</a:t>
            </a:r>
          </a:p>
        </p:txBody>
      </p:sp>
      <p:sp>
        <p:nvSpPr>
          <p:cNvPr name="TextBox 26" id="26"/>
          <p:cNvSpPr txBox="true"/>
          <p:nvPr/>
        </p:nvSpPr>
        <p:spPr>
          <a:xfrm rot="0">
            <a:off x="10227759" y="4734300"/>
            <a:ext cx="6089650" cy="478155"/>
          </a:xfrm>
          <a:prstGeom prst="rect">
            <a:avLst/>
          </a:prstGeom>
        </p:spPr>
        <p:txBody>
          <a:bodyPr anchor="t" rtlCol="false" tIns="0" lIns="0" bIns="0" rIns="0">
            <a:spAutoFit/>
          </a:bodyPr>
          <a:lstStyle/>
          <a:p>
            <a:pPr algn="ctr">
              <a:lnSpc>
                <a:spcPts val="3509"/>
              </a:lnSpc>
              <a:spcBef>
                <a:spcPct val="0"/>
              </a:spcBef>
            </a:pPr>
            <a:r>
              <a:rPr lang="en-US" b="true" sz="3249">
                <a:solidFill>
                  <a:srgbClr val="000000"/>
                </a:solidFill>
                <a:latin typeface="Poppins Bold"/>
                <a:ea typeface="Poppins Bold"/>
                <a:cs typeface="Poppins Bold"/>
                <a:sym typeface="Poppins Bold"/>
              </a:rPr>
              <a:t>Δείκτης Απώλειας Τροφίμων:</a:t>
            </a:r>
          </a:p>
        </p:txBody>
      </p:sp>
      <p:sp>
        <p:nvSpPr>
          <p:cNvPr name="TextBox 27" id="27"/>
          <p:cNvSpPr txBox="true"/>
          <p:nvPr/>
        </p:nvSpPr>
        <p:spPr>
          <a:xfrm rot="0">
            <a:off x="10227759" y="5365501"/>
            <a:ext cx="7377193" cy="1283112"/>
          </a:xfrm>
          <a:prstGeom prst="rect">
            <a:avLst/>
          </a:prstGeom>
        </p:spPr>
        <p:txBody>
          <a:bodyPr anchor="t" rtlCol="false" tIns="0" lIns="0" bIns="0" rIns="0">
            <a:spAutoFit/>
          </a:bodyPr>
          <a:lstStyle/>
          <a:p>
            <a:pPr algn="l">
              <a:lnSpc>
                <a:spcPts val="2504"/>
              </a:lnSpc>
              <a:spcBef>
                <a:spcPct val="0"/>
              </a:spcBef>
            </a:pPr>
            <a:r>
              <a:rPr lang="en-US" sz="2318">
                <a:solidFill>
                  <a:srgbClr val="000000"/>
                </a:solidFill>
                <a:latin typeface="Poppins Light"/>
                <a:ea typeface="Poppins Light"/>
                <a:cs typeface="Poppins Light"/>
                <a:sym typeface="Poppins Light"/>
              </a:rPr>
              <a:t>Ο δείκτης του Our World in Data καταγράφει την απώλεια τροφίμων σε κάθε στάδιο της αλυσίδας παραγωγής και διανομής, από το αγρόκτημα έως το ράφι.</a:t>
            </a:r>
          </a:p>
        </p:txBody>
      </p:sp>
      <p:sp>
        <p:nvSpPr>
          <p:cNvPr name="TextBox 28" id="28"/>
          <p:cNvSpPr txBox="true"/>
          <p:nvPr/>
        </p:nvSpPr>
        <p:spPr>
          <a:xfrm rot="0">
            <a:off x="10227759" y="7769760"/>
            <a:ext cx="7147870" cy="1655450"/>
          </a:xfrm>
          <a:prstGeom prst="rect">
            <a:avLst/>
          </a:prstGeom>
        </p:spPr>
        <p:txBody>
          <a:bodyPr anchor="t" rtlCol="false" tIns="0" lIns="0" bIns="0" rIns="0">
            <a:spAutoFit/>
          </a:bodyPr>
          <a:lstStyle/>
          <a:p>
            <a:pPr algn="l">
              <a:lnSpc>
                <a:spcPts val="2565"/>
              </a:lnSpc>
            </a:pPr>
            <a:r>
              <a:rPr lang="en-US" sz="2375">
                <a:solidFill>
                  <a:srgbClr val="000000"/>
                </a:solidFill>
                <a:latin typeface="Poppins Light"/>
                <a:ea typeface="Poppins Light"/>
                <a:cs typeface="Poppins Light"/>
                <a:sym typeface="Poppins Light"/>
              </a:rPr>
              <a:t>Η σπατάλη τροφίμων ξεκινά από την παραγωγή και συνεχίζεται στη μεταφορά, την αποθήκευση, και τη διανομή, επηρεάζοντας την προσφορά και αυξάνοντας το περιβαλλοντικό κόστος.</a:t>
            </a:r>
          </a:p>
          <a:p>
            <a:pPr algn="l">
              <a:lnSpc>
                <a:spcPts val="2565"/>
              </a:lnSpc>
              <a:spcBef>
                <a:spcPct val="0"/>
              </a:spcBef>
            </a:pPr>
          </a:p>
        </p:txBody>
      </p:sp>
      <p:grpSp>
        <p:nvGrpSpPr>
          <p:cNvPr name="Group 29" id="29"/>
          <p:cNvGrpSpPr/>
          <p:nvPr/>
        </p:nvGrpSpPr>
        <p:grpSpPr>
          <a:xfrm rot="0">
            <a:off x="229553" y="9230678"/>
            <a:ext cx="570548" cy="380047"/>
            <a:chOff x="0" y="0"/>
            <a:chExt cx="760730" cy="506730"/>
          </a:xfrm>
        </p:grpSpPr>
        <p:sp>
          <p:nvSpPr>
            <p:cNvPr name="Freeform 30" id="30"/>
            <p:cNvSpPr/>
            <p:nvPr/>
          </p:nvSpPr>
          <p:spPr>
            <a:xfrm flipH="false" flipV="false" rot="0">
              <a:off x="44450" y="45720"/>
              <a:ext cx="666750" cy="414020"/>
            </a:xfrm>
            <a:custGeom>
              <a:avLst/>
              <a:gdLst/>
              <a:ahLst/>
              <a:cxnLst/>
              <a:rect r="r" b="b" t="t" l="l"/>
              <a:pathLst>
                <a:path h="414020" w="666750">
                  <a:moveTo>
                    <a:pt x="125730" y="19050"/>
                  </a:moveTo>
                  <a:cubicBezTo>
                    <a:pt x="505460" y="256540"/>
                    <a:pt x="513080" y="271780"/>
                    <a:pt x="516890" y="289560"/>
                  </a:cubicBezTo>
                  <a:cubicBezTo>
                    <a:pt x="520700" y="303530"/>
                    <a:pt x="518160" y="317500"/>
                    <a:pt x="514350" y="330200"/>
                  </a:cubicBezTo>
                  <a:cubicBezTo>
                    <a:pt x="510540" y="342900"/>
                    <a:pt x="502920" y="355600"/>
                    <a:pt x="492760" y="365760"/>
                  </a:cubicBezTo>
                  <a:cubicBezTo>
                    <a:pt x="483870" y="374650"/>
                    <a:pt x="471170" y="382270"/>
                    <a:pt x="458470" y="386080"/>
                  </a:cubicBezTo>
                  <a:cubicBezTo>
                    <a:pt x="445770" y="389890"/>
                    <a:pt x="435610" y="393700"/>
                    <a:pt x="417830" y="388620"/>
                  </a:cubicBezTo>
                  <a:cubicBezTo>
                    <a:pt x="368300" y="377190"/>
                    <a:pt x="222250" y="293370"/>
                    <a:pt x="173990" y="250190"/>
                  </a:cubicBezTo>
                  <a:cubicBezTo>
                    <a:pt x="147320" y="226060"/>
                    <a:pt x="132080" y="207010"/>
                    <a:pt x="124460" y="180340"/>
                  </a:cubicBezTo>
                  <a:cubicBezTo>
                    <a:pt x="114300" y="152400"/>
                    <a:pt x="111760" y="109220"/>
                    <a:pt x="124460" y="83820"/>
                  </a:cubicBezTo>
                  <a:cubicBezTo>
                    <a:pt x="135890" y="60960"/>
                    <a:pt x="165100" y="38100"/>
                    <a:pt x="190500" y="30480"/>
                  </a:cubicBezTo>
                  <a:cubicBezTo>
                    <a:pt x="214630" y="22860"/>
                    <a:pt x="237490" y="26670"/>
                    <a:pt x="273050" y="38100"/>
                  </a:cubicBezTo>
                  <a:cubicBezTo>
                    <a:pt x="353060" y="63500"/>
                    <a:pt x="580390" y="198120"/>
                    <a:pt x="632460" y="248920"/>
                  </a:cubicBezTo>
                  <a:cubicBezTo>
                    <a:pt x="652780" y="269240"/>
                    <a:pt x="659130" y="280670"/>
                    <a:pt x="662940" y="299720"/>
                  </a:cubicBezTo>
                  <a:cubicBezTo>
                    <a:pt x="666750" y="317500"/>
                    <a:pt x="666750" y="340360"/>
                    <a:pt x="657860" y="356870"/>
                  </a:cubicBezTo>
                  <a:cubicBezTo>
                    <a:pt x="646430" y="378460"/>
                    <a:pt x="612140" y="403860"/>
                    <a:pt x="589280" y="410210"/>
                  </a:cubicBezTo>
                  <a:cubicBezTo>
                    <a:pt x="570230" y="414020"/>
                    <a:pt x="548640" y="408940"/>
                    <a:pt x="532130" y="401320"/>
                  </a:cubicBezTo>
                  <a:cubicBezTo>
                    <a:pt x="515620" y="392430"/>
                    <a:pt x="497840" y="377190"/>
                    <a:pt x="491490" y="358140"/>
                  </a:cubicBezTo>
                  <a:cubicBezTo>
                    <a:pt x="482600" y="336550"/>
                    <a:pt x="485140" y="294640"/>
                    <a:pt x="495300" y="273050"/>
                  </a:cubicBezTo>
                  <a:cubicBezTo>
                    <a:pt x="504190" y="255270"/>
                    <a:pt x="521970" y="241300"/>
                    <a:pt x="539750" y="234950"/>
                  </a:cubicBezTo>
                  <a:cubicBezTo>
                    <a:pt x="556260" y="227330"/>
                    <a:pt x="580390" y="226060"/>
                    <a:pt x="598170" y="231140"/>
                  </a:cubicBezTo>
                  <a:cubicBezTo>
                    <a:pt x="615950" y="236220"/>
                    <a:pt x="635000" y="248920"/>
                    <a:pt x="646430" y="264160"/>
                  </a:cubicBezTo>
                  <a:cubicBezTo>
                    <a:pt x="657860" y="278130"/>
                    <a:pt x="665480" y="300990"/>
                    <a:pt x="665480" y="318770"/>
                  </a:cubicBezTo>
                  <a:cubicBezTo>
                    <a:pt x="665480" y="337820"/>
                    <a:pt x="657860" y="359410"/>
                    <a:pt x="647700" y="374650"/>
                  </a:cubicBezTo>
                  <a:cubicBezTo>
                    <a:pt x="636270" y="388620"/>
                    <a:pt x="617220" y="402590"/>
                    <a:pt x="599440" y="407670"/>
                  </a:cubicBezTo>
                  <a:cubicBezTo>
                    <a:pt x="581660" y="412750"/>
                    <a:pt x="563880" y="411480"/>
                    <a:pt x="541020" y="405130"/>
                  </a:cubicBezTo>
                  <a:cubicBezTo>
                    <a:pt x="500380" y="393700"/>
                    <a:pt x="426720" y="347980"/>
                    <a:pt x="386080" y="321310"/>
                  </a:cubicBezTo>
                  <a:cubicBezTo>
                    <a:pt x="358140" y="302260"/>
                    <a:pt x="337820" y="287020"/>
                    <a:pt x="317500" y="265430"/>
                  </a:cubicBezTo>
                  <a:cubicBezTo>
                    <a:pt x="295910" y="243840"/>
                    <a:pt x="266700" y="219710"/>
                    <a:pt x="260350" y="193040"/>
                  </a:cubicBezTo>
                  <a:cubicBezTo>
                    <a:pt x="254000" y="166370"/>
                    <a:pt x="257810" y="114300"/>
                    <a:pt x="276860" y="106680"/>
                  </a:cubicBezTo>
                  <a:cubicBezTo>
                    <a:pt x="311150" y="92710"/>
                    <a:pt x="468630" y="214630"/>
                    <a:pt x="500380" y="251460"/>
                  </a:cubicBezTo>
                  <a:cubicBezTo>
                    <a:pt x="513080" y="265430"/>
                    <a:pt x="514350" y="275590"/>
                    <a:pt x="516890" y="289560"/>
                  </a:cubicBezTo>
                  <a:cubicBezTo>
                    <a:pt x="519430" y="302260"/>
                    <a:pt x="518160" y="317500"/>
                    <a:pt x="514350" y="330200"/>
                  </a:cubicBezTo>
                  <a:cubicBezTo>
                    <a:pt x="510540" y="342900"/>
                    <a:pt x="502920" y="355600"/>
                    <a:pt x="492760" y="364490"/>
                  </a:cubicBezTo>
                  <a:cubicBezTo>
                    <a:pt x="483870" y="374650"/>
                    <a:pt x="472440" y="383540"/>
                    <a:pt x="458470" y="386080"/>
                  </a:cubicBezTo>
                  <a:cubicBezTo>
                    <a:pt x="440690" y="391160"/>
                    <a:pt x="422910" y="389890"/>
                    <a:pt x="397510" y="382270"/>
                  </a:cubicBezTo>
                  <a:cubicBezTo>
                    <a:pt x="346710" y="367030"/>
                    <a:pt x="247650" y="297180"/>
                    <a:pt x="185420" y="256540"/>
                  </a:cubicBezTo>
                  <a:cubicBezTo>
                    <a:pt x="135890" y="223520"/>
                    <a:pt x="85090" y="187960"/>
                    <a:pt x="53340" y="160020"/>
                  </a:cubicBezTo>
                  <a:cubicBezTo>
                    <a:pt x="33020" y="140970"/>
                    <a:pt x="13970" y="129540"/>
                    <a:pt x="6350" y="110490"/>
                  </a:cubicBezTo>
                  <a:cubicBezTo>
                    <a:pt x="0" y="90170"/>
                    <a:pt x="2540" y="55880"/>
                    <a:pt x="11430" y="38100"/>
                  </a:cubicBezTo>
                  <a:cubicBezTo>
                    <a:pt x="20320" y="22860"/>
                    <a:pt x="38100" y="8890"/>
                    <a:pt x="55880" y="5080"/>
                  </a:cubicBezTo>
                  <a:cubicBezTo>
                    <a:pt x="74930" y="0"/>
                    <a:pt x="125730" y="19050"/>
                    <a:pt x="125730" y="19050"/>
                  </a:cubicBezTo>
                </a:path>
              </a:pathLst>
            </a:custGeom>
            <a:solidFill>
              <a:srgbClr val="295BBE"/>
            </a:solidFill>
            <a:ln cap="sq">
              <a:noFill/>
              <a:prstDash val="solid"/>
              <a:miter/>
            </a:ln>
          </p:spPr>
        </p:sp>
      </p:grpSp>
      <p:grpSp>
        <p:nvGrpSpPr>
          <p:cNvPr name="Group 31" id="31"/>
          <p:cNvGrpSpPr/>
          <p:nvPr/>
        </p:nvGrpSpPr>
        <p:grpSpPr>
          <a:xfrm rot="0">
            <a:off x="364808" y="9227820"/>
            <a:ext cx="623888" cy="451485"/>
            <a:chOff x="0" y="0"/>
            <a:chExt cx="831850" cy="601980"/>
          </a:xfrm>
        </p:grpSpPr>
        <p:sp>
          <p:nvSpPr>
            <p:cNvPr name="Freeform 32" id="32"/>
            <p:cNvSpPr/>
            <p:nvPr/>
          </p:nvSpPr>
          <p:spPr>
            <a:xfrm flipH="false" flipV="false" rot="0">
              <a:off x="48260" y="49530"/>
              <a:ext cx="734060" cy="505460"/>
            </a:xfrm>
            <a:custGeom>
              <a:avLst/>
              <a:gdLst/>
              <a:ahLst/>
              <a:cxnLst/>
              <a:rect r="r" b="b" t="t" l="l"/>
              <a:pathLst>
                <a:path h="505460" w="734060">
                  <a:moveTo>
                    <a:pt x="628650" y="401320"/>
                  </a:moveTo>
                  <a:cubicBezTo>
                    <a:pt x="734060" y="474980"/>
                    <a:pt x="727710" y="491490"/>
                    <a:pt x="721360" y="496570"/>
                  </a:cubicBezTo>
                  <a:cubicBezTo>
                    <a:pt x="715010" y="501650"/>
                    <a:pt x="706120" y="501650"/>
                    <a:pt x="692150" y="497840"/>
                  </a:cubicBezTo>
                  <a:cubicBezTo>
                    <a:pt x="642620" y="481330"/>
                    <a:pt x="491490" y="334010"/>
                    <a:pt x="381000" y="260350"/>
                  </a:cubicBezTo>
                  <a:cubicBezTo>
                    <a:pt x="266700" y="182880"/>
                    <a:pt x="52070" y="91440"/>
                    <a:pt x="13970" y="48260"/>
                  </a:cubicBezTo>
                  <a:cubicBezTo>
                    <a:pt x="5080" y="36830"/>
                    <a:pt x="0" y="27940"/>
                    <a:pt x="2540" y="20320"/>
                  </a:cubicBezTo>
                  <a:cubicBezTo>
                    <a:pt x="6350" y="11430"/>
                    <a:pt x="27940" y="0"/>
                    <a:pt x="35560" y="2540"/>
                  </a:cubicBezTo>
                  <a:cubicBezTo>
                    <a:pt x="43180" y="5080"/>
                    <a:pt x="54610" y="27940"/>
                    <a:pt x="50800" y="35560"/>
                  </a:cubicBezTo>
                  <a:cubicBezTo>
                    <a:pt x="48260" y="43180"/>
                    <a:pt x="25400" y="53340"/>
                    <a:pt x="16510" y="49530"/>
                  </a:cubicBezTo>
                  <a:cubicBezTo>
                    <a:pt x="8890" y="46990"/>
                    <a:pt x="0" y="30480"/>
                    <a:pt x="2540" y="22860"/>
                  </a:cubicBezTo>
                  <a:cubicBezTo>
                    <a:pt x="5080" y="13970"/>
                    <a:pt x="17780" y="2540"/>
                    <a:pt x="33020" y="1270"/>
                  </a:cubicBezTo>
                  <a:cubicBezTo>
                    <a:pt x="64770" y="0"/>
                    <a:pt x="137160" y="54610"/>
                    <a:pt x="191770" y="85090"/>
                  </a:cubicBezTo>
                  <a:cubicBezTo>
                    <a:pt x="252730" y="120650"/>
                    <a:pt x="312420" y="154940"/>
                    <a:pt x="383540" y="203200"/>
                  </a:cubicBezTo>
                  <a:cubicBezTo>
                    <a:pt x="478790" y="266700"/>
                    <a:pt x="664210" y="388620"/>
                    <a:pt x="708660" y="436880"/>
                  </a:cubicBezTo>
                  <a:cubicBezTo>
                    <a:pt x="723900" y="453390"/>
                    <a:pt x="732790" y="464820"/>
                    <a:pt x="732790" y="476250"/>
                  </a:cubicBezTo>
                  <a:cubicBezTo>
                    <a:pt x="731520" y="485140"/>
                    <a:pt x="721360" y="499110"/>
                    <a:pt x="709930" y="501650"/>
                  </a:cubicBezTo>
                  <a:cubicBezTo>
                    <a:pt x="688340" y="505460"/>
                    <a:pt x="614680" y="464820"/>
                    <a:pt x="600710" y="444500"/>
                  </a:cubicBezTo>
                  <a:cubicBezTo>
                    <a:pt x="593090" y="433070"/>
                    <a:pt x="590550" y="417830"/>
                    <a:pt x="595630" y="410210"/>
                  </a:cubicBezTo>
                  <a:cubicBezTo>
                    <a:pt x="600710" y="403860"/>
                    <a:pt x="628650" y="401320"/>
                    <a:pt x="628650" y="401320"/>
                  </a:cubicBezTo>
                </a:path>
              </a:pathLst>
            </a:custGeom>
            <a:solidFill>
              <a:srgbClr val="295BBE"/>
            </a:solidFill>
            <a:ln cap="sq">
              <a:noFill/>
              <a:prstDash val="solid"/>
              <a:miter/>
            </a:ln>
          </p:spPr>
        </p:sp>
      </p:grpSp>
      <p:grpSp>
        <p:nvGrpSpPr>
          <p:cNvPr name="Group 33" id="33"/>
          <p:cNvGrpSpPr/>
          <p:nvPr/>
        </p:nvGrpSpPr>
        <p:grpSpPr>
          <a:xfrm rot="0">
            <a:off x="706755" y="9424988"/>
            <a:ext cx="267653" cy="226695"/>
            <a:chOff x="0" y="0"/>
            <a:chExt cx="356870" cy="302260"/>
          </a:xfrm>
        </p:grpSpPr>
        <p:sp>
          <p:nvSpPr>
            <p:cNvPr name="Freeform 34" id="34"/>
            <p:cNvSpPr/>
            <p:nvPr/>
          </p:nvSpPr>
          <p:spPr>
            <a:xfrm flipH="false" flipV="false" rot="0">
              <a:off x="44450" y="46990"/>
              <a:ext cx="264160" cy="203200"/>
            </a:xfrm>
            <a:custGeom>
              <a:avLst/>
              <a:gdLst/>
              <a:ahLst/>
              <a:cxnLst/>
              <a:rect r="r" b="b" t="t" l="l"/>
              <a:pathLst>
                <a:path h="203200" w="264160">
                  <a:moveTo>
                    <a:pt x="40640" y="3810"/>
                  </a:moveTo>
                  <a:cubicBezTo>
                    <a:pt x="262890" y="173990"/>
                    <a:pt x="260350" y="190500"/>
                    <a:pt x="254000" y="196850"/>
                  </a:cubicBezTo>
                  <a:cubicBezTo>
                    <a:pt x="248920" y="201930"/>
                    <a:pt x="231140" y="203200"/>
                    <a:pt x="223520" y="199390"/>
                  </a:cubicBezTo>
                  <a:cubicBezTo>
                    <a:pt x="217170" y="195580"/>
                    <a:pt x="212090" y="185420"/>
                    <a:pt x="212090" y="177800"/>
                  </a:cubicBezTo>
                  <a:cubicBezTo>
                    <a:pt x="212090" y="171450"/>
                    <a:pt x="215900" y="160020"/>
                    <a:pt x="222250" y="157480"/>
                  </a:cubicBezTo>
                  <a:cubicBezTo>
                    <a:pt x="231140" y="153670"/>
                    <a:pt x="252730" y="157480"/>
                    <a:pt x="259080" y="163830"/>
                  </a:cubicBezTo>
                  <a:cubicBezTo>
                    <a:pt x="264160" y="168910"/>
                    <a:pt x="264160" y="181610"/>
                    <a:pt x="260350" y="187960"/>
                  </a:cubicBezTo>
                  <a:cubicBezTo>
                    <a:pt x="256540" y="195580"/>
                    <a:pt x="245110" y="203200"/>
                    <a:pt x="233680" y="203200"/>
                  </a:cubicBezTo>
                  <a:cubicBezTo>
                    <a:pt x="213360" y="201930"/>
                    <a:pt x="177800" y="168910"/>
                    <a:pt x="144780" y="147320"/>
                  </a:cubicBezTo>
                  <a:cubicBezTo>
                    <a:pt x="102870" y="118110"/>
                    <a:pt x="19050" y="68580"/>
                    <a:pt x="6350" y="39370"/>
                  </a:cubicBezTo>
                  <a:cubicBezTo>
                    <a:pt x="0" y="26670"/>
                    <a:pt x="1270" y="12700"/>
                    <a:pt x="7620" y="6350"/>
                  </a:cubicBezTo>
                  <a:cubicBezTo>
                    <a:pt x="12700" y="0"/>
                    <a:pt x="40640" y="3810"/>
                    <a:pt x="40640" y="3810"/>
                  </a:cubicBezTo>
                </a:path>
              </a:pathLst>
            </a:custGeom>
            <a:solidFill>
              <a:srgbClr val="295BBE"/>
            </a:solidFill>
            <a:ln cap="sq">
              <a:noFill/>
              <a:prstDash val="solid"/>
              <a:miter/>
            </a:ln>
          </p:spPr>
        </p:sp>
      </p:grpSp>
      <p:grpSp>
        <p:nvGrpSpPr>
          <p:cNvPr name="Group 35" id="35"/>
          <p:cNvGrpSpPr/>
          <p:nvPr/>
        </p:nvGrpSpPr>
        <p:grpSpPr>
          <a:xfrm rot="0">
            <a:off x="2790825" y="9815512"/>
            <a:ext cx="1106805" cy="449580"/>
            <a:chOff x="0" y="0"/>
            <a:chExt cx="1475740" cy="599440"/>
          </a:xfrm>
        </p:grpSpPr>
        <p:sp>
          <p:nvSpPr>
            <p:cNvPr name="Freeform 36" id="36"/>
            <p:cNvSpPr/>
            <p:nvPr/>
          </p:nvSpPr>
          <p:spPr>
            <a:xfrm flipH="false" flipV="false" rot="0">
              <a:off x="46990" y="46990"/>
              <a:ext cx="1379220" cy="505460"/>
            </a:xfrm>
            <a:custGeom>
              <a:avLst/>
              <a:gdLst/>
              <a:ahLst/>
              <a:cxnLst/>
              <a:rect r="r" b="b" t="t" l="l"/>
              <a:pathLst>
                <a:path h="505460" w="1379220">
                  <a:moveTo>
                    <a:pt x="115570" y="72390"/>
                  </a:moveTo>
                  <a:cubicBezTo>
                    <a:pt x="535940" y="406400"/>
                    <a:pt x="615950" y="430530"/>
                    <a:pt x="635000" y="457200"/>
                  </a:cubicBezTo>
                  <a:cubicBezTo>
                    <a:pt x="642620" y="467360"/>
                    <a:pt x="645160" y="477520"/>
                    <a:pt x="641350" y="485140"/>
                  </a:cubicBezTo>
                  <a:cubicBezTo>
                    <a:pt x="637540" y="492760"/>
                    <a:pt x="626110" y="500380"/>
                    <a:pt x="610870" y="500380"/>
                  </a:cubicBezTo>
                  <a:cubicBezTo>
                    <a:pt x="558800" y="500380"/>
                    <a:pt x="351790" y="379730"/>
                    <a:pt x="267970" y="321310"/>
                  </a:cubicBezTo>
                  <a:cubicBezTo>
                    <a:pt x="212090" y="283210"/>
                    <a:pt x="181610" y="247650"/>
                    <a:pt x="140970" y="205740"/>
                  </a:cubicBezTo>
                  <a:cubicBezTo>
                    <a:pt x="99060" y="162560"/>
                    <a:pt x="40640" y="93980"/>
                    <a:pt x="20320" y="67310"/>
                  </a:cubicBezTo>
                  <a:cubicBezTo>
                    <a:pt x="11430" y="57150"/>
                    <a:pt x="6350" y="53340"/>
                    <a:pt x="3810" y="44450"/>
                  </a:cubicBezTo>
                  <a:cubicBezTo>
                    <a:pt x="1270" y="33020"/>
                    <a:pt x="0" y="13970"/>
                    <a:pt x="7620" y="7620"/>
                  </a:cubicBezTo>
                  <a:cubicBezTo>
                    <a:pt x="13970" y="0"/>
                    <a:pt x="31750" y="0"/>
                    <a:pt x="48260" y="3810"/>
                  </a:cubicBezTo>
                  <a:cubicBezTo>
                    <a:pt x="78740" y="8890"/>
                    <a:pt x="119380" y="31750"/>
                    <a:pt x="166370" y="58420"/>
                  </a:cubicBezTo>
                  <a:cubicBezTo>
                    <a:pt x="246380" y="105410"/>
                    <a:pt x="402590" y="219710"/>
                    <a:pt x="474980" y="278130"/>
                  </a:cubicBezTo>
                  <a:cubicBezTo>
                    <a:pt x="518160" y="312420"/>
                    <a:pt x="530860" y="341630"/>
                    <a:pt x="571500" y="367030"/>
                  </a:cubicBezTo>
                  <a:cubicBezTo>
                    <a:pt x="619760" y="398780"/>
                    <a:pt x="684530" y="426720"/>
                    <a:pt x="754380" y="439420"/>
                  </a:cubicBezTo>
                  <a:cubicBezTo>
                    <a:pt x="842010" y="455930"/>
                    <a:pt x="963930" y="454660"/>
                    <a:pt x="1061720" y="431800"/>
                  </a:cubicBezTo>
                  <a:cubicBezTo>
                    <a:pt x="1159510" y="410210"/>
                    <a:pt x="1300480" y="311150"/>
                    <a:pt x="1343660" y="304800"/>
                  </a:cubicBezTo>
                  <a:cubicBezTo>
                    <a:pt x="1355090" y="302260"/>
                    <a:pt x="1361440" y="302260"/>
                    <a:pt x="1366520" y="307340"/>
                  </a:cubicBezTo>
                  <a:cubicBezTo>
                    <a:pt x="1372870" y="311150"/>
                    <a:pt x="1377950" y="320040"/>
                    <a:pt x="1377950" y="327660"/>
                  </a:cubicBezTo>
                  <a:cubicBezTo>
                    <a:pt x="1377950" y="334010"/>
                    <a:pt x="1374140" y="345440"/>
                    <a:pt x="1367790" y="349250"/>
                  </a:cubicBezTo>
                  <a:cubicBezTo>
                    <a:pt x="1358900" y="353060"/>
                    <a:pt x="1336040" y="347980"/>
                    <a:pt x="1330960" y="341630"/>
                  </a:cubicBezTo>
                  <a:cubicBezTo>
                    <a:pt x="1327150" y="334010"/>
                    <a:pt x="1333500" y="309880"/>
                    <a:pt x="1341120" y="306070"/>
                  </a:cubicBezTo>
                  <a:cubicBezTo>
                    <a:pt x="1347470" y="300990"/>
                    <a:pt x="1371600" y="309880"/>
                    <a:pt x="1375410" y="317500"/>
                  </a:cubicBezTo>
                  <a:cubicBezTo>
                    <a:pt x="1379220" y="323850"/>
                    <a:pt x="1377950" y="336550"/>
                    <a:pt x="1369060" y="346710"/>
                  </a:cubicBezTo>
                  <a:cubicBezTo>
                    <a:pt x="1342390" y="381000"/>
                    <a:pt x="1153160" y="455930"/>
                    <a:pt x="1090930" y="476250"/>
                  </a:cubicBezTo>
                  <a:cubicBezTo>
                    <a:pt x="1060450" y="486410"/>
                    <a:pt x="1052830" y="486410"/>
                    <a:pt x="1021080" y="490220"/>
                  </a:cubicBezTo>
                  <a:cubicBezTo>
                    <a:pt x="961390" y="495300"/>
                    <a:pt x="835660" y="505460"/>
                    <a:pt x="754380" y="491490"/>
                  </a:cubicBezTo>
                  <a:cubicBezTo>
                    <a:pt x="681990" y="478790"/>
                    <a:pt x="627380" y="458470"/>
                    <a:pt x="557530" y="419100"/>
                  </a:cubicBezTo>
                  <a:cubicBezTo>
                    <a:pt x="461010" y="365760"/>
                    <a:pt x="340360" y="238760"/>
                    <a:pt x="245110" y="172720"/>
                  </a:cubicBezTo>
                  <a:cubicBezTo>
                    <a:pt x="168910" y="120650"/>
                    <a:pt x="30480" y="64770"/>
                    <a:pt x="31750" y="44450"/>
                  </a:cubicBezTo>
                  <a:cubicBezTo>
                    <a:pt x="31750" y="38100"/>
                    <a:pt x="45720" y="30480"/>
                    <a:pt x="57150" y="33020"/>
                  </a:cubicBezTo>
                  <a:cubicBezTo>
                    <a:pt x="97790" y="40640"/>
                    <a:pt x="201930" y="209550"/>
                    <a:pt x="294640" y="278130"/>
                  </a:cubicBezTo>
                  <a:cubicBezTo>
                    <a:pt x="392430" y="351790"/>
                    <a:pt x="604520" y="417830"/>
                    <a:pt x="635000" y="457200"/>
                  </a:cubicBezTo>
                  <a:cubicBezTo>
                    <a:pt x="642620" y="467360"/>
                    <a:pt x="645160" y="477520"/>
                    <a:pt x="641350" y="485140"/>
                  </a:cubicBezTo>
                  <a:cubicBezTo>
                    <a:pt x="637540" y="492760"/>
                    <a:pt x="624840" y="500380"/>
                    <a:pt x="610870" y="500380"/>
                  </a:cubicBezTo>
                  <a:cubicBezTo>
                    <a:pt x="575310" y="499110"/>
                    <a:pt x="496570" y="441960"/>
                    <a:pt x="427990" y="394970"/>
                  </a:cubicBezTo>
                  <a:cubicBezTo>
                    <a:pt x="328930" y="326390"/>
                    <a:pt x="113030" y="167640"/>
                    <a:pt x="85090" y="113030"/>
                  </a:cubicBezTo>
                  <a:cubicBezTo>
                    <a:pt x="77470" y="97790"/>
                    <a:pt x="76200" y="82550"/>
                    <a:pt x="82550" y="74930"/>
                  </a:cubicBezTo>
                  <a:cubicBezTo>
                    <a:pt x="87630" y="69850"/>
                    <a:pt x="115570" y="72390"/>
                    <a:pt x="115570" y="72390"/>
                  </a:cubicBezTo>
                </a:path>
              </a:pathLst>
            </a:custGeom>
            <a:solidFill>
              <a:srgbClr val="295BBE"/>
            </a:solidFill>
            <a:ln cap="sq">
              <a:noFill/>
              <a:prstDash val="solid"/>
              <a:miter/>
            </a:ln>
          </p:spPr>
        </p:sp>
      </p:grpSp>
      <p:grpSp>
        <p:nvGrpSpPr>
          <p:cNvPr name="Group 37" id="37"/>
          <p:cNvGrpSpPr/>
          <p:nvPr/>
        </p:nvGrpSpPr>
        <p:grpSpPr>
          <a:xfrm rot="0">
            <a:off x="2784158" y="9813607"/>
            <a:ext cx="870585" cy="473393"/>
            <a:chOff x="0" y="0"/>
            <a:chExt cx="1160780" cy="631190"/>
          </a:xfrm>
        </p:grpSpPr>
        <p:sp>
          <p:nvSpPr>
            <p:cNvPr name="Freeform 38" id="38"/>
            <p:cNvSpPr/>
            <p:nvPr/>
          </p:nvSpPr>
          <p:spPr>
            <a:xfrm flipH="false" flipV="false" rot="0">
              <a:off x="50800" y="45720"/>
              <a:ext cx="1061720" cy="553720"/>
            </a:xfrm>
            <a:custGeom>
              <a:avLst/>
              <a:gdLst/>
              <a:ahLst/>
              <a:cxnLst/>
              <a:rect r="r" b="b" t="t" l="l"/>
              <a:pathLst>
                <a:path h="553720" w="1061720">
                  <a:moveTo>
                    <a:pt x="109220" y="8890"/>
                  </a:moveTo>
                  <a:cubicBezTo>
                    <a:pt x="742950" y="346710"/>
                    <a:pt x="756920" y="346710"/>
                    <a:pt x="792480" y="351790"/>
                  </a:cubicBezTo>
                  <a:cubicBezTo>
                    <a:pt x="842010" y="356870"/>
                    <a:pt x="927100" y="347980"/>
                    <a:pt x="969010" y="355600"/>
                  </a:cubicBezTo>
                  <a:cubicBezTo>
                    <a:pt x="991870" y="360680"/>
                    <a:pt x="1008380" y="361950"/>
                    <a:pt x="1023620" y="374650"/>
                  </a:cubicBezTo>
                  <a:cubicBezTo>
                    <a:pt x="1040130" y="389890"/>
                    <a:pt x="1057910" y="427990"/>
                    <a:pt x="1059180" y="450850"/>
                  </a:cubicBezTo>
                  <a:cubicBezTo>
                    <a:pt x="1059180" y="469900"/>
                    <a:pt x="1049020" y="490220"/>
                    <a:pt x="1037590" y="504190"/>
                  </a:cubicBezTo>
                  <a:cubicBezTo>
                    <a:pt x="1026160" y="518160"/>
                    <a:pt x="1005840" y="530860"/>
                    <a:pt x="988060" y="534670"/>
                  </a:cubicBezTo>
                  <a:cubicBezTo>
                    <a:pt x="970280" y="538480"/>
                    <a:pt x="947420" y="537210"/>
                    <a:pt x="930910" y="528320"/>
                  </a:cubicBezTo>
                  <a:cubicBezTo>
                    <a:pt x="910590" y="516890"/>
                    <a:pt x="883920" y="485140"/>
                    <a:pt x="878840" y="461010"/>
                  </a:cubicBezTo>
                  <a:cubicBezTo>
                    <a:pt x="875030" y="435610"/>
                    <a:pt x="890270" y="397510"/>
                    <a:pt x="906780" y="381000"/>
                  </a:cubicBezTo>
                  <a:cubicBezTo>
                    <a:pt x="919480" y="365760"/>
                    <a:pt x="939800" y="356870"/>
                    <a:pt x="958850" y="356870"/>
                  </a:cubicBezTo>
                  <a:cubicBezTo>
                    <a:pt x="981710" y="355600"/>
                    <a:pt x="1021080" y="368300"/>
                    <a:pt x="1037590" y="387350"/>
                  </a:cubicBezTo>
                  <a:cubicBezTo>
                    <a:pt x="1054100" y="406400"/>
                    <a:pt x="1061720" y="445770"/>
                    <a:pt x="1055370" y="469900"/>
                  </a:cubicBezTo>
                  <a:cubicBezTo>
                    <a:pt x="1049020" y="494030"/>
                    <a:pt x="1027430" y="519430"/>
                    <a:pt x="996950" y="532130"/>
                  </a:cubicBezTo>
                  <a:cubicBezTo>
                    <a:pt x="943610" y="553720"/>
                    <a:pt x="807720" y="537210"/>
                    <a:pt x="731520" y="523240"/>
                  </a:cubicBezTo>
                  <a:cubicBezTo>
                    <a:pt x="670560" y="511810"/>
                    <a:pt x="638810" y="500380"/>
                    <a:pt x="571500" y="469900"/>
                  </a:cubicBezTo>
                  <a:cubicBezTo>
                    <a:pt x="440690" y="407670"/>
                    <a:pt x="73660" y="199390"/>
                    <a:pt x="17780" y="127000"/>
                  </a:cubicBezTo>
                  <a:cubicBezTo>
                    <a:pt x="1270" y="106680"/>
                    <a:pt x="1270" y="90170"/>
                    <a:pt x="0" y="74930"/>
                  </a:cubicBezTo>
                  <a:cubicBezTo>
                    <a:pt x="0" y="62230"/>
                    <a:pt x="3810" y="50800"/>
                    <a:pt x="11430" y="39370"/>
                  </a:cubicBezTo>
                  <a:cubicBezTo>
                    <a:pt x="20320" y="26670"/>
                    <a:pt x="38100" y="10160"/>
                    <a:pt x="54610" y="5080"/>
                  </a:cubicBezTo>
                  <a:cubicBezTo>
                    <a:pt x="69850" y="0"/>
                    <a:pt x="109220" y="8890"/>
                    <a:pt x="109220" y="8890"/>
                  </a:cubicBezTo>
                </a:path>
              </a:pathLst>
            </a:custGeom>
            <a:solidFill>
              <a:srgbClr val="295BBE"/>
            </a:solidFill>
            <a:ln cap="sq">
              <a:noFill/>
              <a:prstDash val="solid"/>
              <a:miter/>
            </a:ln>
          </p:spPr>
        </p:sp>
      </p:grpSp>
      <p:grpSp>
        <p:nvGrpSpPr>
          <p:cNvPr name="Group 39" id="39"/>
          <p:cNvGrpSpPr/>
          <p:nvPr/>
        </p:nvGrpSpPr>
        <p:grpSpPr>
          <a:xfrm rot="0">
            <a:off x="4835842" y="9165907"/>
            <a:ext cx="469582" cy="351472"/>
            <a:chOff x="0" y="0"/>
            <a:chExt cx="626110" cy="468630"/>
          </a:xfrm>
        </p:grpSpPr>
        <p:sp>
          <p:nvSpPr>
            <p:cNvPr name="Freeform 40" id="40"/>
            <p:cNvSpPr/>
            <p:nvPr/>
          </p:nvSpPr>
          <p:spPr>
            <a:xfrm flipH="false" flipV="false" rot="0">
              <a:off x="46990" y="48260"/>
              <a:ext cx="529590" cy="368300"/>
            </a:xfrm>
            <a:custGeom>
              <a:avLst/>
              <a:gdLst/>
              <a:ahLst/>
              <a:cxnLst/>
              <a:rect r="r" b="b" t="t" l="l"/>
              <a:pathLst>
                <a:path h="368300" w="529590">
                  <a:moveTo>
                    <a:pt x="44450" y="220980"/>
                  </a:moveTo>
                  <a:cubicBezTo>
                    <a:pt x="429260" y="2540"/>
                    <a:pt x="440690" y="0"/>
                    <a:pt x="457200" y="2540"/>
                  </a:cubicBezTo>
                  <a:cubicBezTo>
                    <a:pt x="473710" y="5080"/>
                    <a:pt x="492760" y="15240"/>
                    <a:pt x="505460" y="27940"/>
                  </a:cubicBezTo>
                  <a:cubicBezTo>
                    <a:pt x="516890" y="39370"/>
                    <a:pt x="527050" y="58420"/>
                    <a:pt x="527050" y="76200"/>
                  </a:cubicBezTo>
                  <a:cubicBezTo>
                    <a:pt x="528320" y="97790"/>
                    <a:pt x="514350" y="133350"/>
                    <a:pt x="497840" y="148590"/>
                  </a:cubicBezTo>
                  <a:cubicBezTo>
                    <a:pt x="485140" y="161290"/>
                    <a:pt x="466090" y="170180"/>
                    <a:pt x="448310" y="168910"/>
                  </a:cubicBezTo>
                  <a:cubicBezTo>
                    <a:pt x="426720" y="168910"/>
                    <a:pt x="391160" y="154940"/>
                    <a:pt x="377190" y="135890"/>
                  </a:cubicBezTo>
                  <a:cubicBezTo>
                    <a:pt x="363220" y="118110"/>
                    <a:pt x="359410" y="80010"/>
                    <a:pt x="364490" y="58420"/>
                  </a:cubicBezTo>
                  <a:cubicBezTo>
                    <a:pt x="368300" y="40640"/>
                    <a:pt x="381000" y="24130"/>
                    <a:pt x="396240" y="15240"/>
                  </a:cubicBezTo>
                  <a:cubicBezTo>
                    <a:pt x="415290" y="5080"/>
                    <a:pt x="454660" y="1270"/>
                    <a:pt x="474980" y="7620"/>
                  </a:cubicBezTo>
                  <a:cubicBezTo>
                    <a:pt x="492760" y="12700"/>
                    <a:pt x="506730" y="27940"/>
                    <a:pt x="515620" y="41910"/>
                  </a:cubicBezTo>
                  <a:cubicBezTo>
                    <a:pt x="524510" y="55880"/>
                    <a:pt x="529590" y="77470"/>
                    <a:pt x="527050" y="93980"/>
                  </a:cubicBezTo>
                  <a:cubicBezTo>
                    <a:pt x="525780" y="110490"/>
                    <a:pt x="521970" y="124460"/>
                    <a:pt x="505460" y="143510"/>
                  </a:cubicBezTo>
                  <a:cubicBezTo>
                    <a:pt x="459740" y="191770"/>
                    <a:pt x="240030" y="298450"/>
                    <a:pt x="163830" y="335280"/>
                  </a:cubicBezTo>
                  <a:cubicBezTo>
                    <a:pt x="127000" y="353060"/>
                    <a:pt x="105410" y="368300"/>
                    <a:pt x="81280" y="368300"/>
                  </a:cubicBezTo>
                  <a:cubicBezTo>
                    <a:pt x="62230" y="368300"/>
                    <a:pt x="41910" y="360680"/>
                    <a:pt x="29210" y="347980"/>
                  </a:cubicBezTo>
                  <a:cubicBezTo>
                    <a:pt x="13970" y="334010"/>
                    <a:pt x="0" y="302260"/>
                    <a:pt x="3810" y="280670"/>
                  </a:cubicBezTo>
                  <a:cubicBezTo>
                    <a:pt x="6350" y="259080"/>
                    <a:pt x="44450" y="220980"/>
                    <a:pt x="44450" y="220980"/>
                  </a:cubicBezTo>
                </a:path>
              </a:pathLst>
            </a:custGeom>
            <a:solidFill>
              <a:srgbClr val="295BBE"/>
            </a:solidFill>
            <a:ln cap="sq">
              <a:noFill/>
              <a:prstDash val="solid"/>
              <a:miter/>
            </a:ln>
          </p:spPr>
        </p:sp>
      </p:grpSp>
      <p:grpSp>
        <p:nvGrpSpPr>
          <p:cNvPr name="Group 41" id="41"/>
          <p:cNvGrpSpPr/>
          <p:nvPr/>
        </p:nvGrpSpPr>
        <p:grpSpPr>
          <a:xfrm rot="0">
            <a:off x="4103370" y="7968615"/>
            <a:ext cx="323850" cy="205740"/>
            <a:chOff x="0" y="0"/>
            <a:chExt cx="431800" cy="274320"/>
          </a:xfrm>
        </p:grpSpPr>
        <p:sp>
          <p:nvSpPr>
            <p:cNvPr name="Freeform 42" id="42"/>
            <p:cNvSpPr/>
            <p:nvPr/>
          </p:nvSpPr>
          <p:spPr>
            <a:xfrm flipH="false" flipV="false" rot="0">
              <a:off x="48260" y="46990"/>
              <a:ext cx="334010" cy="185420"/>
            </a:xfrm>
            <a:custGeom>
              <a:avLst/>
              <a:gdLst/>
              <a:ahLst/>
              <a:cxnLst/>
              <a:rect r="r" b="b" t="t" l="l"/>
              <a:pathLst>
                <a:path h="185420" w="334010">
                  <a:moveTo>
                    <a:pt x="31750" y="115570"/>
                  </a:moveTo>
                  <a:cubicBezTo>
                    <a:pt x="205740" y="121920"/>
                    <a:pt x="212090" y="130810"/>
                    <a:pt x="212090" y="138430"/>
                  </a:cubicBezTo>
                  <a:cubicBezTo>
                    <a:pt x="213360" y="146050"/>
                    <a:pt x="208280" y="157480"/>
                    <a:pt x="198120" y="163830"/>
                  </a:cubicBezTo>
                  <a:cubicBezTo>
                    <a:pt x="175260" y="177800"/>
                    <a:pt x="76200" y="185420"/>
                    <a:pt x="46990" y="176530"/>
                  </a:cubicBezTo>
                  <a:cubicBezTo>
                    <a:pt x="33020" y="171450"/>
                    <a:pt x="22860" y="162560"/>
                    <a:pt x="20320" y="153670"/>
                  </a:cubicBezTo>
                  <a:cubicBezTo>
                    <a:pt x="17780" y="143510"/>
                    <a:pt x="21590" y="129540"/>
                    <a:pt x="31750" y="121920"/>
                  </a:cubicBezTo>
                  <a:cubicBezTo>
                    <a:pt x="48260" y="105410"/>
                    <a:pt x="102870" y="110490"/>
                    <a:pt x="142240" y="95250"/>
                  </a:cubicBezTo>
                  <a:cubicBezTo>
                    <a:pt x="194310" y="74930"/>
                    <a:pt x="285750" y="0"/>
                    <a:pt x="313690" y="3810"/>
                  </a:cubicBezTo>
                  <a:cubicBezTo>
                    <a:pt x="322580" y="5080"/>
                    <a:pt x="328930" y="12700"/>
                    <a:pt x="331470" y="19050"/>
                  </a:cubicBezTo>
                  <a:cubicBezTo>
                    <a:pt x="334010" y="25400"/>
                    <a:pt x="332740" y="36830"/>
                    <a:pt x="327660" y="43180"/>
                  </a:cubicBezTo>
                  <a:cubicBezTo>
                    <a:pt x="323850" y="48260"/>
                    <a:pt x="313690" y="54610"/>
                    <a:pt x="307340" y="53340"/>
                  </a:cubicBezTo>
                  <a:cubicBezTo>
                    <a:pt x="298450" y="53340"/>
                    <a:pt x="285750" y="41910"/>
                    <a:pt x="283210" y="34290"/>
                  </a:cubicBezTo>
                  <a:cubicBezTo>
                    <a:pt x="280670" y="27940"/>
                    <a:pt x="283210" y="16510"/>
                    <a:pt x="288290" y="11430"/>
                  </a:cubicBezTo>
                  <a:cubicBezTo>
                    <a:pt x="294640" y="6350"/>
                    <a:pt x="311150" y="2540"/>
                    <a:pt x="318770" y="5080"/>
                  </a:cubicBezTo>
                  <a:cubicBezTo>
                    <a:pt x="325120" y="7620"/>
                    <a:pt x="331470" y="17780"/>
                    <a:pt x="332740" y="24130"/>
                  </a:cubicBezTo>
                  <a:cubicBezTo>
                    <a:pt x="334010" y="31750"/>
                    <a:pt x="331470" y="39370"/>
                    <a:pt x="323850" y="46990"/>
                  </a:cubicBezTo>
                  <a:cubicBezTo>
                    <a:pt x="306070" y="68580"/>
                    <a:pt x="227330" y="111760"/>
                    <a:pt x="184150" y="130810"/>
                  </a:cubicBezTo>
                  <a:cubicBezTo>
                    <a:pt x="151130" y="147320"/>
                    <a:pt x="113030" y="165100"/>
                    <a:pt x="91440" y="163830"/>
                  </a:cubicBezTo>
                  <a:cubicBezTo>
                    <a:pt x="80010" y="163830"/>
                    <a:pt x="71120" y="157480"/>
                    <a:pt x="66040" y="151130"/>
                  </a:cubicBezTo>
                  <a:cubicBezTo>
                    <a:pt x="60960" y="144780"/>
                    <a:pt x="54610" y="133350"/>
                    <a:pt x="59690" y="127000"/>
                  </a:cubicBezTo>
                  <a:cubicBezTo>
                    <a:pt x="69850" y="111760"/>
                    <a:pt x="171450" y="106680"/>
                    <a:pt x="194310" y="115570"/>
                  </a:cubicBezTo>
                  <a:cubicBezTo>
                    <a:pt x="205740" y="120650"/>
                    <a:pt x="212090" y="130810"/>
                    <a:pt x="212090" y="138430"/>
                  </a:cubicBezTo>
                  <a:cubicBezTo>
                    <a:pt x="213360" y="146050"/>
                    <a:pt x="207010" y="157480"/>
                    <a:pt x="198120" y="163830"/>
                  </a:cubicBezTo>
                  <a:cubicBezTo>
                    <a:pt x="182880" y="173990"/>
                    <a:pt x="147320" y="175260"/>
                    <a:pt x="120650" y="175260"/>
                  </a:cubicBezTo>
                  <a:cubicBezTo>
                    <a:pt x="88900" y="176530"/>
                    <a:pt x="39370" y="177800"/>
                    <a:pt x="20320" y="165100"/>
                  </a:cubicBezTo>
                  <a:cubicBezTo>
                    <a:pt x="8890" y="157480"/>
                    <a:pt x="0" y="139700"/>
                    <a:pt x="2540" y="132080"/>
                  </a:cubicBezTo>
                  <a:cubicBezTo>
                    <a:pt x="5080" y="123190"/>
                    <a:pt x="31750" y="115570"/>
                    <a:pt x="31750" y="115570"/>
                  </a:cubicBezTo>
                </a:path>
              </a:pathLst>
            </a:custGeom>
            <a:solidFill>
              <a:srgbClr val="295BBE"/>
            </a:solidFill>
            <a:ln cap="sq">
              <a:noFill/>
              <a:prstDash val="solid"/>
              <a:miter/>
            </a:ln>
          </p:spPr>
        </p:sp>
      </p:grpSp>
      <p:grpSp>
        <p:nvGrpSpPr>
          <p:cNvPr name="Group 43" id="43"/>
          <p:cNvGrpSpPr/>
          <p:nvPr/>
        </p:nvGrpSpPr>
        <p:grpSpPr>
          <a:xfrm rot="0">
            <a:off x="3514725" y="7770495"/>
            <a:ext cx="189548" cy="154305"/>
            <a:chOff x="0" y="0"/>
            <a:chExt cx="252730" cy="205740"/>
          </a:xfrm>
        </p:grpSpPr>
        <p:sp>
          <p:nvSpPr>
            <p:cNvPr name="Freeform 44" id="44"/>
            <p:cNvSpPr/>
            <p:nvPr/>
          </p:nvSpPr>
          <p:spPr>
            <a:xfrm flipH="false" flipV="false" rot="0">
              <a:off x="48260" y="46990"/>
              <a:ext cx="156210" cy="113030"/>
            </a:xfrm>
            <a:custGeom>
              <a:avLst/>
              <a:gdLst/>
              <a:ahLst/>
              <a:cxnLst/>
              <a:rect r="r" b="b" t="t" l="l"/>
              <a:pathLst>
                <a:path h="113030" w="156210">
                  <a:moveTo>
                    <a:pt x="40640" y="3810"/>
                  </a:moveTo>
                  <a:cubicBezTo>
                    <a:pt x="115570" y="60960"/>
                    <a:pt x="143510" y="58420"/>
                    <a:pt x="151130" y="68580"/>
                  </a:cubicBezTo>
                  <a:cubicBezTo>
                    <a:pt x="156210" y="76200"/>
                    <a:pt x="154940" y="92710"/>
                    <a:pt x="149860" y="99060"/>
                  </a:cubicBezTo>
                  <a:cubicBezTo>
                    <a:pt x="144780" y="105410"/>
                    <a:pt x="127000" y="107950"/>
                    <a:pt x="119380" y="105410"/>
                  </a:cubicBezTo>
                  <a:cubicBezTo>
                    <a:pt x="113030" y="102870"/>
                    <a:pt x="106680" y="93980"/>
                    <a:pt x="105410" y="86360"/>
                  </a:cubicBezTo>
                  <a:cubicBezTo>
                    <a:pt x="104140" y="80010"/>
                    <a:pt x="107950" y="68580"/>
                    <a:pt x="113030" y="64770"/>
                  </a:cubicBezTo>
                  <a:cubicBezTo>
                    <a:pt x="118110" y="59690"/>
                    <a:pt x="128270" y="55880"/>
                    <a:pt x="135890" y="57150"/>
                  </a:cubicBezTo>
                  <a:cubicBezTo>
                    <a:pt x="142240" y="59690"/>
                    <a:pt x="152400" y="66040"/>
                    <a:pt x="153670" y="72390"/>
                  </a:cubicBezTo>
                  <a:cubicBezTo>
                    <a:pt x="156210" y="81280"/>
                    <a:pt x="148590" y="101600"/>
                    <a:pt x="138430" y="106680"/>
                  </a:cubicBezTo>
                  <a:cubicBezTo>
                    <a:pt x="125730" y="113030"/>
                    <a:pt x="97790" y="100330"/>
                    <a:pt x="77470" y="91440"/>
                  </a:cubicBezTo>
                  <a:cubicBezTo>
                    <a:pt x="52070" y="78740"/>
                    <a:pt x="8890" y="50800"/>
                    <a:pt x="2540" y="33020"/>
                  </a:cubicBezTo>
                  <a:cubicBezTo>
                    <a:pt x="0" y="22860"/>
                    <a:pt x="5080" y="10160"/>
                    <a:pt x="11430" y="5080"/>
                  </a:cubicBezTo>
                  <a:cubicBezTo>
                    <a:pt x="17780" y="0"/>
                    <a:pt x="40640" y="3810"/>
                    <a:pt x="40640" y="3810"/>
                  </a:cubicBezTo>
                </a:path>
              </a:pathLst>
            </a:custGeom>
            <a:solidFill>
              <a:srgbClr val="FFFFFF"/>
            </a:solidFill>
            <a:ln cap="sq">
              <a:noFill/>
              <a:prstDash val="solid"/>
              <a:miter/>
            </a:ln>
          </p:spPr>
        </p:sp>
      </p:grpSp>
      <p:grpSp>
        <p:nvGrpSpPr>
          <p:cNvPr name="Group 45" id="45"/>
          <p:cNvGrpSpPr/>
          <p:nvPr/>
        </p:nvGrpSpPr>
        <p:grpSpPr>
          <a:xfrm rot="0">
            <a:off x="4255770" y="7955280"/>
            <a:ext cx="177165" cy="160020"/>
            <a:chOff x="0" y="0"/>
            <a:chExt cx="236220" cy="213360"/>
          </a:xfrm>
        </p:grpSpPr>
        <p:sp>
          <p:nvSpPr>
            <p:cNvPr name="Freeform 46" id="46"/>
            <p:cNvSpPr/>
            <p:nvPr/>
          </p:nvSpPr>
          <p:spPr>
            <a:xfrm flipH="false" flipV="false" rot="0">
              <a:off x="49530" y="49530"/>
              <a:ext cx="135890" cy="115570"/>
            </a:xfrm>
            <a:custGeom>
              <a:avLst/>
              <a:gdLst/>
              <a:ahLst/>
              <a:cxnLst/>
              <a:rect r="r" b="b" t="t" l="l"/>
              <a:pathLst>
                <a:path h="115570" w="135890">
                  <a:moveTo>
                    <a:pt x="13970" y="66040"/>
                  </a:moveTo>
                  <a:cubicBezTo>
                    <a:pt x="123190" y="3810"/>
                    <a:pt x="134620" y="21590"/>
                    <a:pt x="134620" y="30480"/>
                  </a:cubicBezTo>
                  <a:cubicBezTo>
                    <a:pt x="134620" y="38100"/>
                    <a:pt x="127000" y="46990"/>
                    <a:pt x="120650" y="49530"/>
                  </a:cubicBezTo>
                  <a:cubicBezTo>
                    <a:pt x="114300" y="52070"/>
                    <a:pt x="101600" y="53340"/>
                    <a:pt x="96520" y="48260"/>
                  </a:cubicBezTo>
                  <a:cubicBezTo>
                    <a:pt x="90170" y="43180"/>
                    <a:pt x="83820" y="20320"/>
                    <a:pt x="88900" y="12700"/>
                  </a:cubicBezTo>
                  <a:cubicBezTo>
                    <a:pt x="92710" y="5080"/>
                    <a:pt x="110490" y="0"/>
                    <a:pt x="118110" y="2540"/>
                  </a:cubicBezTo>
                  <a:cubicBezTo>
                    <a:pt x="125730" y="5080"/>
                    <a:pt x="135890" y="17780"/>
                    <a:pt x="134620" y="27940"/>
                  </a:cubicBezTo>
                  <a:cubicBezTo>
                    <a:pt x="134620" y="43180"/>
                    <a:pt x="107950" y="68580"/>
                    <a:pt x="90170" y="82550"/>
                  </a:cubicBezTo>
                  <a:cubicBezTo>
                    <a:pt x="71120" y="96520"/>
                    <a:pt x="36830" y="115570"/>
                    <a:pt x="21590" y="113030"/>
                  </a:cubicBezTo>
                  <a:cubicBezTo>
                    <a:pt x="11430" y="110490"/>
                    <a:pt x="2540" y="99060"/>
                    <a:pt x="1270" y="91440"/>
                  </a:cubicBezTo>
                  <a:cubicBezTo>
                    <a:pt x="0" y="83820"/>
                    <a:pt x="13970" y="66040"/>
                    <a:pt x="13970" y="66040"/>
                  </a:cubicBezTo>
                </a:path>
              </a:pathLst>
            </a:custGeom>
            <a:solidFill>
              <a:srgbClr val="295BBE"/>
            </a:solidFill>
            <a:ln cap="sq">
              <a:noFill/>
              <a:prstDash val="solid"/>
              <a:miter/>
            </a:ln>
          </p:spPr>
        </p:sp>
      </p:grpSp>
      <p:grpSp>
        <p:nvGrpSpPr>
          <p:cNvPr name="Group 47" id="47"/>
          <p:cNvGrpSpPr/>
          <p:nvPr/>
        </p:nvGrpSpPr>
        <p:grpSpPr>
          <a:xfrm rot="0">
            <a:off x="626745" y="9272588"/>
            <a:ext cx="330518" cy="274320"/>
            <a:chOff x="0" y="0"/>
            <a:chExt cx="440690" cy="365760"/>
          </a:xfrm>
        </p:grpSpPr>
        <p:sp>
          <p:nvSpPr>
            <p:cNvPr name="Freeform 48" id="48"/>
            <p:cNvSpPr/>
            <p:nvPr/>
          </p:nvSpPr>
          <p:spPr>
            <a:xfrm flipH="false" flipV="false" rot="0">
              <a:off x="48260" y="46990"/>
              <a:ext cx="346710" cy="271780"/>
            </a:xfrm>
            <a:custGeom>
              <a:avLst/>
              <a:gdLst/>
              <a:ahLst/>
              <a:cxnLst/>
              <a:rect r="r" b="b" t="t" l="l"/>
              <a:pathLst>
                <a:path h="271780" w="346710">
                  <a:moveTo>
                    <a:pt x="106680" y="6350"/>
                  </a:moveTo>
                  <a:cubicBezTo>
                    <a:pt x="247650" y="80010"/>
                    <a:pt x="318770" y="116840"/>
                    <a:pt x="335280" y="152400"/>
                  </a:cubicBezTo>
                  <a:cubicBezTo>
                    <a:pt x="346710" y="176530"/>
                    <a:pt x="341630" y="209550"/>
                    <a:pt x="332740" y="228600"/>
                  </a:cubicBezTo>
                  <a:cubicBezTo>
                    <a:pt x="325120" y="243840"/>
                    <a:pt x="308610" y="256540"/>
                    <a:pt x="293370" y="262890"/>
                  </a:cubicBezTo>
                  <a:cubicBezTo>
                    <a:pt x="278130" y="269240"/>
                    <a:pt x="257810" y="271780"/>
                    <a:pt x="241300" y="265430"/>
                  </a:cubicBezTo>
                  <a:cubicBezTo>
                    <a:pt x="220980" y="259080"/>
                    <a:pt x="193040" y="234950"/>
                    <a:pt x="185420" y="213360"/>
                  </a:cubicBezTo>
                  <a:cubicBezTo>
                    <a:pt x="177800" y="193040"/>
                    <a:pt x="186690" y="156210"/>
                    <a:pt x="196850" y="138430"/>
                  </a:cubicBezTo>
                  <a:cubicBezTo>
                    <a:pt x="207010" y="124460"/>
                    <a:pt x="224790" y="114300"/>
                    <a:pt x="240030" y="109220"/>
                  </a:cubicBezTo>
                  <a:cubicBezTo>
                    <a:pt x="255270" y="105410"/>
                    <a:pt x="276860" y="104140"/>
                    <a:pt x="292100" y="111760"/>
                  </a:cubicBezTo>
                  <a:cubicBezTo>
                    <a:pt x="311150" y="120650"/>
                    <a:pt x="336550" y="147320"/>
                    <a:pt x="341630" y="168910"/>
                  </a:cubicBezTo>
                  <a:cubicBezTo>
                    <a:pt x="346710" y="191770"/>
                    <a:pt x="335280" y="226060"/>
                    <a:pt x="321310" y="242570"/>
                  </a:cubicBezTo>
                  <a:cubicBezTo>
                    <a:pt x="311150" y="256540"/>
                    <a:pt x="292100" y="264160"/>
                    <a:pt x="275590" y="267970"/>
                  </a:cubicBezTo>
                  <a:cubicBezTo>
                    <a:pt x="260350" y="270510"/>
                    <a:pt x="246380" y="267970"/>
                    <a:pt x="224790" y="259080"/>
                  </a:cubicBezTo>
                  <a:cubicBezTo>
                    <a:pt x="180340" y="242570"/>
                    <a:pt x="63500" y="167640"/>
                    <a:pt x="30480" y="138430"/>
                  </a:cubicBezTo>
                  <a:cubicBezTo>
                    <a:pt x="17780" y="127000"/>
                    <a:pt x="12700" y="121920"/>
                    <a:pt x="7620" y="110490"/>
                  </a:cubicBezTo>
                  <a:cubicBezTo>
                    <a:pt x="1270" y="95250"/>
                    <a:pt x="0" y="71120"/>
                    <a:pt x="2540" y="55880"/>
                  </a:cubicBezTo>
                  <a:cubicBezTo>
                    <a:pt x="5080" y="43180"/>
                    <a:pt x="12700" y="31750"/>
                    <a:pt x="21590" y="24130"/>
                  </a:cubicBezTo>
                  <a:cubicBezTo>
                    <a:pt x="29210" y="15240"/>
                    <a:pt x="39370" y="7620"/>
                    <a:pt x="52070" y="3810"/>
                  </a:cubicBezTo>
                  <a:cubicBezTo>
                    <a:pt x="67310" y="0"/>
                    <a:pt x="106680" y="6350"/>
                    <a:pt x="106680" y="6350"/>
                  </a:cubicBezTo>
                </a:path>
              </a:pathLst>
            </a:custGeom>
            <a:solidFill>
              <a:srgbClr val="0D3056"/>
            </a:solidFill>
            <a:ln cap="sq">
              <a:noFill/>
              <a:prstDash val="solid"/>
              <a:miter/>
            </a:ln>
          </p:spPr>
        </p:sp>
      </p:grpSp>
      <p:grpSp>
        <p:nvGrpSpPr>
          <p:cNvPr name="Group 49" id="49"/>
          <p:cNvGrpSpPr/>
          <p:nvPr/>
        </p:nvGrpSpPr>
        <p:grpSpPr>
          <a:xfrm rot="0">
            <a:off x="0" y="5082562"/>
            <a:ext cx="5514117" cy="5327910"/>
            <a:chOff x="0" y="0"/>
            <a:chExt cx="7352156" cy="7103880"/>
          </a:xfrm>
        </p:grpSpPr>
        <p:sp>
          <p:nvSpPr>
            <p:cNvPr name="Freeform 50" id="50"/>
            <p:cNvSpPr/>
            <p:nvPr/>
          </p:nvSpPr>
          <p:spPr>
            <a:xfrm flipH="false" flipV="false" rot="0">
              <a:off x="0" y="0"/>
              <a:ext cx="7352156" cy="7103880"/>
            </a:xfrm>
            <a:custGeom>
              <a:avLst/>
              <a:gdLst/>
              <a:ahLst/>
              <a:cxnLst/>
              <a:rect r="r" b="b" t="t" l="l"/>
              <a:pathLst>
                <a:path h="7103880" w="7352156">
                  <a:moveTo>
                    <a:pt x="0" y="0"/>
                  </a:moveTo>
                  <a:lnTo>
                    <a:pt x="7352156" y="0"/>
                  </a:lnTo>
                  <a:lnTo>
                    <a:pt x="7352156" y="7103880"/>
                  </a:lnTo>
                  <a:lnTo>
                    <a:pt x="0" y="7103880"/>
                  </a:lnTo>
                  <a:lnTo>
                    <a:pt x="0" y="0"/>
                  </a:lnTo>
                  <a:close/>
                </a:path>
              </a:pathLst>
            </a:custGeom>
            <a:blipFill>
              <a:blip r:embed="rId3"/>
              <a:stretch>
                <a:fillRect l="0" t="0" r="0" b="0"/>
              </a:stretch>
            </a:blipFill>
          </p:spPr>
        </p:sp>
        <p:grpSp>
          <p:nvGrpSpPr>
            <p:cNvPr name="Group 51" id="51"/>
            <p:cNvGrpSpPr/>
            <p:nvPr/>
          </p:nvGrpSpPr>
          <p:grpSpPr>
            <a:xfrm rot="0">
              <a:off x="807720" y="5760691"/>
              <a:ext cx="681990" cy="505460"/>
              <a:chOff x="0" y="0"/>
              <a:chExt cx="681990" cy="505460"/>
            </a:xfrm>
          </p:grpSpPr>
          <p:sp>
            <p:nvSpPr>
              <p:cNvPr name="Freeform 52" id="52"/>
              <p:cNvSpPr/>
              <p:nvPr/>
            </p:nvSpPr>
            <p:spPr>
              <a:xfrm flipH="false" flipV="false" rot="0">
                <a:off x="44450" y="46990"/>
                <a:ext cx="588010" cy="411480"/>
              </a:xfrm>
              <a:custGeom>
                <a:avLst/>
                <a:gdLst/>
                <a:ahLst/>
                <a:cxnLst/>
                <a:rect r="r" b="b" t="t" l="l"/>
                <a:pathLst>
                  <a:path h="411480" w="588010">
                    <a:moveTo>
                      <a:pt x="125730" y="17780"/>
                    </a:moveTo>
                    <a:cubicBezTo>
                      <a:pt x="580390" y="280670"/>
                      <a:pt x="584200" y="293370"/>
                      <a:pt x="586740" y="311150"/>
                    </a:cubicBezTo>
                    <a:cubicBezTo>
                      <a:pt x="588010" y="327660"/>
                      <a:pt x="584200" y="349250"/>
                      <a:pt x="575310" y="364490"/>
                    </a:cubicBezTo>
                    <a:cubicBezTo>
                      <a:pt x="567690" y="379730"/>
                      <a:pt x="551180" y="394970"/>
                      <a:pt x="534670" y="401320"/>
                    </a:cubicBezTo>
                    <a:cubicBezTo>
                      <a:pt x="519430" y="407670"/>
                      <a:pt x="497840" y="411480"/>
                      <a:pt x="480060" y="405130"/>
                    </a:cubicBezTo>
                    <a:cubicBezTo>
                      <a:pt x="458470" y="398780"/>
                      <a:pt x="429260" y="372110"/>
                      <a:pt x="420370" y="351790"/>
                    </a:cubicBezTo>
                    <a:cubicBezTo>
                      <a:pt x="412750" y="335280"/>
                      <a:pt x="412750" y="313690"/>
                      <a:pt x="417830" y="297180"/>
                    </a:cubicBezTo>
                    <a:cubicBezTo>
                      <a:pt x="424180" y="280670"/>
                      <a:pt x="434340" y="261620"/>
                      <a:pt x="450850" y="252730"/>
                    </a:cubicBezTo>
                    <a:cubicBezTo>
                      <a:pt x="469900" y="240030"/>
                      <a:pt x="509270" y="234950"/>
                      <a:pt x="530860" y="241300"/>
                    </a:cubicBezTo>
                    <a:cubicBezTo>
                      <a:pt x="548640" y="246380"/>
                      <a:pt x="563880" y="261620"/>
                      <a:pt x="574040" y="275590"/>
                    </a:cubicBezTo>
                    <a:cubicBezTo>
                      <a:pt x="582930" y="290830"/>
                      <a:pt x="588010" y="312420"/>
                      <a:pt x="586740" y="328930"/>
                    </a:cubicBezTo>
                    <a:cubicBezTo>
                      <a:pt x="585470" y="346710"/>
                      <a:pt x="577850" y="367030"/>
                      <a:pt x="565150" y="379730"/>
                    </a:cubicBezTo>
                    <a:cubicBezTo>
                      <a:pt x="548640" y="394970"/>
                      <a:pt x="514350" y="406400"/>
                      <a:pt x="488950" y="407670"/>
                    </a:cubicBezTo>
                    <a:cubicBezTo>
                      <a:pt x="466090" y="407670"/>
                      <a:pt x="450850" y="400050"/>
                      <a:pt x="419100" y="386080"/>
                    </a:cubicBezTo>
                    <a:cubicBezTo>
                      <a:pt x="344170" y="351790"/>
                      <a:pt x="114300" y="208280"/>
                      <a:pt x="52070" y="157480"/>
                    </a:cubicBezTo>
                    <a:cubicBezTo>
                      <a:pt x="27940" y="137160"/>
                      <a:pt x="13970" y="129540"/>
                      <a:pt x="6350" y="110490"/>
                    </a:cubicBezTo>
                    <a:cubicBezTo>
                      <a:pt x="0" y="90170"/>
                      <a:pt x="1270" y="55880"/>
                      <a:pt x="11430" y="38100"/>
                    </a:cubicBezTo>
                    <a:cubicBezTo>
                      <a:pt x="19050" y="22860"/>
                      <a:pt x="36830" y="8890"/>
                      <a:pt x="54610" y="3810"/>
                    </a:cubicBezTo>
                    <a:cubicBezTo>
                      <a:pt x="73660" y="0"/>
                      <a:pt x="125730" y="17780"/>
                      <a:pt x="125730" y="17780"/>
                    </a:cubicBezTo>
                  </a:path>
                </a:pathLst>
              </a:custGeom>
              <a:solidFill>
                <a:srgbClr val="295BBE"/>
              </a:solidFill>
              <a:ln cap="sq">
                <a:noFill/>
                <a:prstDash val="solid"/>
                <a:miter/>
              </a:ln>
            </p:spPr>
          </p:sp>
        </p:grpSp>
        <p:grpSp>
          <p:nvGrpSpPr>
            <p:cNvPr name="Group 53" id="53"/>
            <p:cNvGrpSpPr/>
            <p:nvPr/>
          </p:nvGrpSpPr>
          <p:grpSpPr>
            <a:xfrm rot="0">
              <a:off x="1225550" y="6001991"/>
              <a:ext cx="811530" cy="515620"/>
              <a:chOff x="0" y="0"/>
              <a:chExt cx="811530" cy="515620"/>
            </a:xfrm>
          </p:grpSpPr>
          <p:sp>
            <p:nvSpPr>
              <p:cNvPr name="Freeform 54" id="54"/>
              <p:cNvSpPr/>
              <p:nvPr/>
            </p:nvSpPr>
            <p:spPr>
              <a:xfrm flipH="false" flipV="false" rot="0">
                <a:off x="48260" y="50800"/>
                <a:ext cx="713740" cy="415290"/>
              </a:xfrm>
              <a:custGeom>
                <a:avLst/>
                <a:gdLst/>
                <a:ahLst/>
                <a:cxnLst/>
                <a:rect r="r" b="b" t="t" l="l"/>
                <a:pathLst>
                  <a:path h="415290" w="713740">
                    <a:moveTo>
                      <a:pt x="130810" y="19050"/>
                    </a:moveTo>
                    <a:cubicBezTo>
                      <a:pt x="297180" y="134620"/>
                      <a:pt x="400050" y="184150"/>
                      <a:pt x="459740" y="208280"/>
                    </a:cubicBezTo>
                    <a:cubicBezTo>
                      <a:pt x="496570" y="223520"/>
                      <a:pt x="529590" y="241300"/>
                      <a:pt x="554990" y="238760"/>
                    </a:cubicBezTo>
                    <a:cubicBezTo>
                      <a:pt x="574040" y="234950"/>
                      <a:pt x="582930" y="210820"/>
                      <a:pt x="601980" y="207010"/>
                    </a:cubicBezTo>
                    <a:cubicBezTo>
                      <a:pt x="624840" y="203200"/>
                      <a:pt x="664210" y="209550"/>
                      <a:pt x="681990" y="226060"/>
                    </a:cubicBezTo>
                    <a:cubicBezTo>
                      <a:pt x="699770" y="241300"/>
                      <a:pt x="713740" y="278130"/>
                      <a:pt x="711200" y="302260"/>
                    </a:cubicBezTo>
                    <a:cubicBezTo>
                      <a:pt x="708660" y="326390"/>
                      <a:pt x="685800" y="359410"/>
                      <a:pt x="664210" y="369570"/>
                    </a:cubicBezTo>
                    <a:cubicBezTo>
                      <a:pt x="642620" y="381000"/>
                      <a:pt x="603250" y="378460"/>
                      <a:pt x="582930" y="369570"/>
                    </a:cubicBezTo>
                    <a:cubicBezTo>
                      <a:pt x="565150" y="361950"/>
                      <a:pt x="551180" y="345440"/>
                      <a:pt x="544830" y="327660"/>
                    </a:cubicBezTo>
                    <a:cubicBezTo>
                      <a:pt x="537210" y="306070"/>
                      <a:pt x="537210" y="266700"/>
                      <a:pt x="549910" y="246380"/>
                    </a:cubicBezTo>
                    <a:cubicBezTo>
                      <a:pt x="562610" y="226060"/>
                      <a:pt x="598170" y="207010"/>
                      <a:pt x="621030" y="204470"/>
                    </a:cubicBezTo>
                    <a:cubicBezTo>
                      <a:pt x="638810" y="201930"/>
                      <a:pt x="660400" y="209550"/>
                      <a:pt x="674370" y="219710"/>
                    </a:cubicBezTo>
                    <a:cubicBezTo>
                      <a:pt x="688340" y="229870"/>
                      <a:pt x="703580" y="246380"/>
                      <a:pt x="707390" y="265430"/>
                    </a:cubicBezTo>
                    <a:cubicBezTo>
                      <a:pt x="712470" y="287020"/>
                      <a:pt x="709930" y="325120"/>
                      <a:pt x="693420" y="345440"/>
                    </a:cubicBezTo>
                    <a:cubicBezTo>
                      <a:pt x="673100" y="372110"/>
                      <a:pt x="615950" y="384810"/>
                      <a:pt x="579120" y="396240"/>
                    </a:cubicBezTo>
                    <a:cubicBezTo>
                      <a:pt x="547370" y="406400"/>
                      <a:pt x="515620" y="415290"/>
                      <a:pt x="486410" y="412750"/>
                    </a:cubicBezTo>
                    <a:cubicBezTo>
                      <a:pt x="459740" y="411480"/>
                      <a:pt x="434340" y="401320"/>
                      <a:pt x="410210" y="388620"/>
                    </a:cubicBezTo>
                    <a:cubicBezTo>
                      <a:pt x="384810" y="374650"/>
                      <a:pt x="370840" y="351790"/>
                      <a:pt x="340360" y="331470"/>
                    </a:cubicBezTo>
                    <a:cubicBezTo>
                      <a:pt x="288290" y="298450"/>
                      <a:pt x="176530" y="261620"/>
                      <a:pt x="118110" y="220980"/>
                    </a:cubicBezTo>
                    <a:cubicBezTo>
                      <a:pt x="74930" y="189230"/>
                      <a:pt x="31750" y="151130"/>
                      <a:pt x="15240" y="120650"/>
                    </a:cubicBezTo>
                    <a:cubicBezTo>
                      <a:pt x="3810" y="101600"/>
                      <a:pt x="0" y="83820"/>
                      <a:pt x="2540" y="67310"/>
                    </a:cubicBezTo>
                    <a:cubicBezTo>
                      <a:pt x="5080" y="49530"/>
                      <a:pt x="15240" y="29210"/>
                      <a:pt x="27940" y="19050"/>
                    </a:cubicBezTo>
                    <a:cubicBezTo>
                      <a:pt x="41910" y="7620"/>
                      <a:pt x="62230" y="0"/>
                      <a:pt x="80010" y="0"/>
                    </a:cubicBezTo>
                    <a:cubicBezTo>
                      <a:pt x="96520" y="0"/>
                      <a:pt x="130810" y="19050"/>
                      <a:pt x="130810" y="19050"/>
                    </a:cubicBezTo>
                  </a:path>
                </a:pathLst>
              </a:custGeom>
              <a:solidFill>
                <a:srgbClr val="295BBE"/>
              </a:solidFill>
              <a:ln cap="sq">
                <a:noFill/>
                <a:prstDash val="solid"/>
                <a:miter/>
              </a:ln>
            </p:spPr>
          </p:sp>
        </p:grpSp>
        <p:grpSp>
          <p:nvGrpSpPr>
            <p:cNvPr name="Group 55" id="55"/>
            <p:cNvGrpSpPr/>
            <p:nvPr/>
          </p:nvGrpSpPr>
          <p:grpSpPr>
            <a:xfrm rot="0">
              <a:off x="1838960" y="5195541"/>
              <a:ext cx="2023110" cy="1346200"/>
              <a:chOff x="0" y="0"/>
              <a:chExt cx="2023110" cy="1346200"/>
            </a:xfrm>
          </p:grpSpPr>
          <p:sp>
            <p:nvSpPr>
              <p:cNvPr name="Freeform 56" id="56"/>
              <p:cNvSpPr/>
              <p:nvPr/>
            </p:nvSpPr>
            <p:spPr>
              <a:xfrm flipH="false" flipV="false" rot="0">
                <a:off x="46990" y="46990"/>
                <a:ext cx="1929130" cy="1256030"/>
              </a:xfrm>
              <a:custGeom>
                <a:avLst/>
                <a:gdLst/>
                <a:ahLst/>
                <a:cxnLst/>
                <a:rect r="r" b="b" t="t" l="l"/>
                <a:pathLst>
                  <a:path h="1256030" w="1929130">
                    <a:moveTo>
                      <a:pt x="1896110" y="135890"/>
                    </a:moveTo>
                    <a:cubicBezTo>
                      <a:pt x="1651000" y="340360"/>
                      <a:pt x="1521460" y="431800"/>
                      <a:pt x="1395730" y="518160"/>
                    </a:cubicBezTo>
                    <a:cubicBezTo>
                      <a:pt x="1250950" y="615950"/>
                      <a:pt x="995680" y="795020"/>
                      <a:pt x="922020" y="825500"/>
                    </a:cubicBezTo>
                    <a:cubicBezTo>
                      <a:pt x="901700" y="834390"/>
                      <a:pt x="894080" y="835660"/>
                      <a:pt x="880110" y="835660"/>
                    </a:cubicBezTo>
                    <a:cubicBezTo>
                      <a:pt x="867410" y="835660"/>
                      <a:pt x="852170" y="830580"/>
                      <a:pt x="839470" y="824230"/>
                    </a:cubicBezTo>
                    <a:cubicBezTo>
                      <a:pt x="828040" y="817880"/>
                      <a:pt x="815340" y="808990"/>
                      <a:pt x="808990" y="796290"/>
                    </a:cubicBezTo>
                    <a:cubicBezTo>
                      <a:pt x="798830" y="781050"/>
                      <a:pt x="791210" y="754380"/>
                      <a:pt x="793750" y="735330"/>
                    </a:cubicBezTo>
                    <a:cubicBezTo>
                      <a:pt x="796290" y="716280"/>
                      <a:pt x="807720" y="692150"/>
                      <a:pt x="824230" y="679450"/>
                    </a:cubicBezTo>
                    <a:cubicBezTo>
                      <a:pt x="842010" y="666750"/>
                      <a:pt x="863600" y="675640"/>
                      <a:pt x="899160" y="661670"/>
                    </a:cubicBezTo>
                    <a:cubicBezTo>
                      <a:pt x="994410" y="624840"/>
                      <a:pt x="1248410" y="459740"/>
                      <a:pt x="1409700" y="378460"/>
                    </a:cubicBezTo>
                    <a:cubicBezTo>
                      <a:pt x="1550670" y="307340"/>
                      <a:pt x="1737360" y="212090"/>
                      <a:pt x="1813560" y="194310"/>
                    </a:cubicBezTo>
                    <a:cubicBezTo>
                      <a:pt x="1840230" y="187960"/>
                      <a:pt x="1855470" y="187960"/>
                      <a:pt x="1871980" y="194310"/>
                    </a:cubicBezTo>
                    <a:cubicBezTo>
                      <a:pt x="1889760" y="200660"/>
                      <a:pt x="1908810" y="215900"/>
                      <a:pt x="1916430" y="232410"/>
                    </a:cubicBezTo>
                    <a:cubicBezTo>
                      <a:pt x="1925320" y="248920"/>
                      <a:pt x="1929130" y="273050"/>
                      <a:pt x="1925320" y="290830"/>
                    </a:cubicBezTo>
                    <a:cubicBezTo>
                      <a:pt x="1920240" y="308610"/>
                      <a:pt x="1911350" y="327660"/>
                      <a:pt x="1892300" y="340360"/>
                    </a:cubicBezTo>
                    <a:cubicBezTo>
                      <a:pt x="1855470" y="363220"/>
                      <a:pt x="1747520" y="358140"/>
                      <a:pt x="1695450" y="373380"/>
                    </a:cubicBezTo>
                    <a:cubicBezTo>
                      <a:pt x="1659890" y="383540"/>
                      <a:pt x="1651000" y="387350"/>
                      <a:pt x="1607820" y="408940"/>
                    </a:cubicBezTo>
                    <a:cubicBezTo>
                      <a:pt x="1461770" y="485140"/>
                      <a:pt x="933450" y="853440"/>
                      <a:pt x="707390" y="976630"/>
                    </a:cubicBezTo>
                    <a:cubicBezTo>
                      <a:pt x="579120" y="1047750"/>
                      <a:pt x="458470" y="1087120"/>
                      <a:pt x="393700" y="1126490"/>
                    </a:cubicBezTo>
                    <a:cubicBezTo>
                      <a:pt x="361950" y="1145540"/>
                      <a:pt x="345440" y="1158240"/>
                      <a:pt x="326390" y="1177290"/>
                    </a:cubicBezTo>
                    <a:cubicBezTo>
                      <a:pt x="307340" y="1196340"/>
                      <a:pt x="299720" y="1229360"/>
                      <a:pt x="279400" y="1240790"/>
                    </a:cubicBezTo>
                    <a:cubicBezTo>
                      <a:pt x="259080" y="1252220"/>
                      <a:pt x="223520" y="1256030"/>
                      <a:pt x="201930" y="1248410"/>
                    </a:cubicBezTo>
                    <a:cubicBezTo>
                      <a:pt x="177800" y="1239520"/>
                      <a:pt x="148590" y="1214120"/>
                      <a:pt x="142240" y="1189990"/>
                    </a:cubicBezTo>
                    <a:cubicBezTo>
                      <a:pt x="135890" y="1164590"/>
                      <a:pt x="151130" y="1126490"/>
                      <a:pt x="173990" y="1094740"/>
                    </a:cubicBezTo>
                    <a:cubicBezTo>
                      <a:pt x="210820" y="1045210"/>
                      <a:pt x="302260" y="1005840"/>
                      <a:pt x="375920" y="948690"/>
                    </a:cubicBezTo>
                    <a:cubicBezTo>
                      <a:pt x="471170" y="875030"/>
                      <a:pt x="626110" y="717550"/>
                      <a:pt x="694690" y="685800"/>
                    </a:cubicBezTo>
                    <a:cubicBezTo>
                      <a:pt x="721360" y="673100"/>
                      <a:pt x="739140" y="673100"/>
                      <a:pt x="756920" y="674370"/>
                    </a:cubicBezTo>
                    <a:cubicBezTo>
                      <a:pt x="772160" y="676910"/>
                      <a:pt x="784860" y="684530"/>
                      <a:pt x="796290" y="693420"/>
                    </a:cubicBezTo>
                    <a:cubicBezTo>
                      <a:pt x="806450" y="702310"/>
                      <a:pt x="816610" y="715010"/>
                      <a:pt x="821690" y="727710"/>
                    </a:cubicBezTo>
                    <a:cubicBezTo>
                      <a:pt x="828040" y="740410"/>
                      <a:pt x="830580" y="755650"/>
                      <a:pt x="829310" y="769620"/>
                    </a:cubicBezTo>
                    <a:cubicBezTo>
                      <a:pt x="828040" y="783590"/>
                      <a:pt x="822960" y="798830"/>
                      <a:pt x="815340" y="810260"/>
                    </a:cubicBezTo>
                    <a:cubicBezTo>
                      <a:pt x="808990" y="822960"/>
                      <a:pt x="798830" y="834390"/>
                      <a:pt x="784860" y="840740"/>
                    </a:cubicBezTo>
                    <a:cubicBezTo>
                      <a:pt x="765810" y="849630"/>
                      <a:pt x="727710" y="834390"/>
                      <a:pt x="702310" y="844550"/>
                    </a:cubicBezTo>
                    <a:cubicBezTo>
                      <a:pt x="675640" y="854710"/>
                      <a:pt x="666750" y="880110"/>
                      <a:pt x="632460" y="904240"/>
                    </a:cubicBezTo>
                    <a:cubicBezTo>
                      <a:pt x="560070" y="953770"/>
                      <a:pt x="341630" y="1069340"/>
                      <a:pt x="260350" y="1102360"/>
                    </a:cubicBezTo>
                    <a:cubicBezTo>
                      <a:pt x="223520" y="1117600"/>
                      <a:pt x="196850" y="1113790"/>
                      <a:pt x="175260" y="1127760"/>
                    </a:cubicBezTo>
                    <a:cubicBezTo>
                      <a:pt x="157480" y="1137920"/>
                      <a:pt x="151130" y="1160780"/>
                      <a:pt x="134620" y="1169670"/>
                    </a:cubicBezTo>
                    <a:cubicBezTo>
                      <a:pt x="119380" y="1177290"/>
                      <a:pt x="96520" y="1181100"/>
                      <a:pt x="77470" y="1177290"/>
                    </a:cubicBezTo>
                    <a:cubicBezTo>
                      <a:pt x="59690" y="1174750"/>
                      <a:pt x="39370" y="1163320"/>
                      <a:pt x="26670" y="1150620"/>
                    </a:cubicBezTo>
                    <a:cubicBezTo>
                      <a:pt x="15240" y="1136650"/>
                      <a:pt x="3810" y="1117600"/>
                      <a:pt x="3810" y="1097280"/>
                    </a:cubicBezTo>
                    <a:cubicBezTo>
                      <a:pt x="2540" y="1074420"/>
                      <a:pt x="16510" y="1035050"/>
                      <a:pt x="35560" y="1019810"/>
                    </a:cubicBezTo>
                    <a:cubicBezTo>
                      <a:pt x="54610" y="1003300"/>
                      <a:pt x="95250" y="994410"/>
                      <a:pt x="118110" y="1002030"/>
                    </a:cubicBezTo>
                    <a:cubicBezTo>
                      <a:pt x="142240" y="1008380"/>
                      <a:pt x="170180" y="1038860"/>
                      <a:pt x="179070" y="1060450"/>
                    </a:cubicBezTo>
                    <a:cubicBezTo>
                      <a:pt x="186690" y="1078230"/>
                      <a:pt x="186690" y="1101090"/>
                      <a:pt x="179070" y="1118870"/>
                    </a:cubicBezTo>
                    <a:cubicBezTo>
                      <a:pt x="168910" y="1140460"/>
                      <a:pt x="138430" y="1168400"/>
                      <a:pt x="116840" y="1176020"/>
                    </a:cubicBezTo>
                    <a:cubicBezTo>
                      <a:pt x="99060" y="1182370"/>
                      <a:pt x="76200" y="1181100"/>
                      <a:pt x="59690" y="1172210"/>
                    </a:cubicBezTo>
                    <a:cubicBezTo>
                      <a:pt x="38100" y="1162050"/>
                      <a:pt x="11430" y="1130300"/>
                      <a:pt x="5080" y="1107440"/>
                    </a:cubicBezTo>
                    <a:cubicBezTo>
                      <a:pt x="0" y="1088390"/>
                      <a:pt x="2540" y="1068070"/>
                      <a:pt x="11430" y="1050290"/>
                    </a:cubicBezTo>
                    <a:cubicBezTo>
                      <a:pt x="24130" y="1026160"/>
                      <a:pt x="48260" y="1008380"/>
                      <a:pt x="88900" y="981710"/>
                    </a:cubicBezTo>
                    <a:cubicBezTo>
                      <a:pt x="189230" y="913130"/>
                      <a:pt x="541020" y="726440"/>
                      <a:pt x="660400" y="692150"/>
                    </a:cubicBezTo>
                    <a:cubicBezTo>
                      <a:pt x="711200" y="676910"/>
                      <a:pt x="773430" y="680720"/>
                      <a:pt x="773430" y="680720"/>
                    </a:cubicBezTo>
                    <a:cubicBezTo>
                      <a:pt x="773430" y="679450"/>
                      <a:pt x="694690" y="688340"/>
                      <a:pt x="694690" y="685800"/>
                    </a:cubicBezTo>
                    <a:cubicBezTo>
                      <a:pt x="693420" y="683260"/>
                      <a:pt x="720090" y="673100"/>
                      <a:pt x="735330" y="673100"/>
                    </a:cubicBezTo>
                    <a:cubicBezTo>
                      <a:pt x="753110" y="673100"/>
                      <a:pt x="781050" y="681990"/>
                      <a:pt x="796290" y="693420"/>
                    </a:cubicBezTo>
                    <a:cubicBezTo>
                      <a:pt x="807720" y="702310"/>
                      <a:pt x="816610" y="715010"/>
                      <a:pt x="821690" y="727710"/>
                    </a:cubicBezTo>
                    <a:cubicBezTo>
                      <a:pt x="828040" y="740410"/>
                      <a:pt x="831850" y="754380"/>
                      <a:pt x="829310" y="769620"/>
                    </a:cubicBezTo>
                    <a:cubicBezTo>
                      <a:pt x="826770" y="787400"/>
                      <a:pt x="820420" y="803910"/>
                      <a:pt x="802640" y="828040"/>
                    </a:cubicBezTo>
                    <a:cubicBezTo>
                      <a:pt x="756920" y="885190"/>
                      <a:pt x="591820" y="1007110"/>
                      <a:pt x="497840" y="1079500"/>
                    </a:cubicBezTo>
                    <a:cubicBezTo>
                      <a:pt x="420370" y="1137920"/>
                      <a:pt x="295910" y="1245870"/>
                      <a:pt x="279400" y="1233170"/>
                    </a:cubicBezTo>
                    <a:cubicBezTo>
                      <a:pt x="269240" y="1225550"/>
                      <a:pt x="314960" y="1167130"/>
                      <a:pt x="309880" y="1141730"/>
                    </a:cubicBezTo>
                    <a:cubicBezTo>
                      <a:pt x="303530" y="1118870"/>
                      <a:pt x="275590" y="1093470"/>
                      <a:pt x="254000" y="1085850"/>
                    </a:cubicBezTo>
                    <a:cubicBezTo>
                      <a:pt x="232410" y="1078230"/>
                      <a:pt x="181610" y="1106170"/>
                      <a:pt x="177800" y="1097280"/>
                    </a:cubicBezTo>
                    <a:cubicBezTo>
                      <a:pt x="172720" y="1088390"/>
                      <a:pt x="215900" y="1045210"/>
                      <a:pt x="238760" y="1024890"/>
                    </a:cubicBezTo>
                    <a:cubicBezTo>
                      <a:pt x="260350" y="1005840"/>
                      <a:pt x="278130" y="995680"/>
                      <a:pt x="311150" y="977900"/>
                    </a:cubicBezTo>
                    <a:cubicBezTo>
                      <a:pt x="373380" y="946150"/>
                      <a:pt x="485140" y="909320"/>
                      <a:pt x="585470" y="857250"/>
                    </a:cubicBezTo>
                    <a:cubicBezTo>
                      <a:pt x="718820" y="788670"/>
                      <a:pt x="887730" y="680720"/>
                      <a:pt x="1035050" y="586740"/>
                    </a:cubicBezTo>
                    <a:cubicBezTo>
                      <a:pt x="1182370" y="494030"/>
                      <a:pt x="1367790" y="356870"/>
                      <a:pt x="1470660" y="295910"/>
                    </a:cubicBezTo>
                    <a:cubicBezTo>
                      <a:pt x="1525270" y="264160"/>
                      <a:pt x="1557020" y="246380"/>
                      <a:pt x="1600200" y="229870"/>
                    </a:cubicBezTo>
                    <a:cubicBezTo>
                      <a:pt x="1638300" y="214630"/>
                      <a:pt x="1671320" y="205740"/>
                      <a:pt x="1713230" y="199390"/>
                    </a:cubicBezTo>
                    <a:cubicBezTo>
                      <a:pt x="1761490" y="191770"/>
                      <a:pt x="1840230" y="184150"/>
                      <a:pt x="1871980" y="194310"/>
                    </a:cubicBezTo>
                    <a:cubicBezTo>
                      <a:pt x="1888490" y="198120"/>
                      <a:pt x="1896110" y="207010"/>
                      <a:pt x="1905000" y="215900"/>
                    </a:cubicBezTo>
                    <a:cubicBezTo>
                      <a:pt x="1913890" y="226060"/>
                      <a:pt x="1921510" y="238760"/>
                      <a:pt x="1924050" y="251460"/>
                    </a:cubicBezTo>
                    <a:cubicBezTo>
                      <a:pt x="1927860" y="264160"/>
                      <a:pt x="1929130" y="278130"/>
                      <a:pt x="1925320" y="290830"/>
                    </a:cubicBezTo>
                    <a:cubicBezTo>
                      <a:pt x="1920240" y="307340"/>
                      <a:pt x="1913890" y="322580"/>
                      <a:pt x="1892300" y="340360"/>
                    </a:cubicBezTo>
                    <a:cubicBezTo>
                      <a:pt x="1833880" y="389890"/>
                      <a:pt x="1621790" y="453390"/>
                      <a:pt x="1485900" y="520700"/>
                    </a:cubicBezTo>
                    <a:cubicBezTo>
                      <a:pt x="1343660" y="593090"/>
                      <a:pt x="1168400" y="706120"/>
                      <a:pt x="1060450" y="760730"/>
                    </a:cubicBezTo>
                    <a:cubicBezTo>
                      <a:pt x="995680" y="793750"/>
                      <a:pt x="938530" y="825500"/>
                      <a:pt x="901700" y="833120"/>
                    </a:cubicBezTo>
                    <a:cubicBezTo>
                      <a:pt x="883920" y="836930"/>
                      <a:pt x="872490" y="835660"/>
                      <a:pt x="859790" y="833120"/>
                    </a:cubicBezTo>
                    <a:cubicBezTo>
                      <a:pt x="845820" y="829310"/>
                      <a:pt x="831850" y="821690"/>
                      <a:pt x="821690" y="812800"/>
                    </a:cubicBezTo>
                    <a:cubicBezTo>
                      <a:pt x="811530" y="802640"/>
                      <a:pt x="803910" y="789940"/>
                      <a:pt x="798830" y="777240"/>
                    </a:cubicBezTo>
                    <a:cubicBezTo>
                      <a:pt x="793750" y="764540"/>
                      <a:pt x="789940" y="750570"/>
                      <a:pt x="793750" y="735330"/>
                    </a:cubicBezTo>
                    <a:cubicBezTo>
                      <a:pt x="800100" y="715010"/>
                      <a:pt x="812800" y="694690"/>
                      <a:pt x="840740" y="668020"/>
                    </a:cubicBezTo>
                    <a:cubicBezTo>
                      <a:pt x="911860" y="598170"/>
                      <a:pt x="1144270" y="478790"/>
                      <a:pt x="1300480" y="373380"/>
                    </a:cubicBezTo>
                    <a:cubicBezTo>
                      <a:pt x="1465580" y="261620"/>
                      <a:pt x="1718310" y="48260"/>
                      <a:pt x="1804670" y="12700"/>
                    </a:cubicBezTo>
                    <a:cubicBezTo>
                      <a:pt x="1830070" y="2540"/>
                      <a:pt x="1841500" y="0"/>
                      <a:pt x="1858010" y="3810"/>
                    </a:cubicBezTo>
                    <a:cubicBezTo>
                      <a:pt x="1874520" y="7620"/>
                      <a:pt x="1894840" y="19050"/>
                      <a:pt x="1905000" y="33020"/>
                    </a:cubicBezTo>
                    <a:cubicBezTo>
                      <a:pt x="1915160" y="46990"/>
                      <a:pt x="1921510" y="68580"/>
                      <a:pt x="1920240" y="86360"/>
                    </a:cubicBezTo>
                    <a:cubicBezTo>
                      <a:pt x="1918970" y="102870"/>
                      <a:pt x="1896110" y="135890"/>
                      <a:pt x="1896110" y="135890"/>
                    </a:cubicBezTo>
                  </a:path>
                </a:pathLst>
              </a:custGeom>
              <a:solidFill>
                <a:srgbClr val="295BBE"/>
              </a:solidFill>
              <a:ln cap="sq">
                <a:noFill/>
                <a:prstDash val="solid"/>
                <a:miter/>
              </a:ln>
            </p:spPr>
          </p:sp>
        </p:grpSp>
        <p:grpSp>
          <p:nvGrpSpPr>
            <p:cNvPr name="Group 57" id="57"/>
            <p:cNvGrpSpPr/>
            <p:nvPr/>
          </p:nvGrpSpPr>
          <p:grpSpPr>
            <a:xfrm rot="0">
              <a:off x="2376170" y="5214591"/>
              <a:ext cx="1485900" cy="965200"/>
              <a:chOff x="0" y="0"/>
              <a:chExt cx="1485900" cy="965200"/>
            </a:xfrm>
          </p:grpSpPr>
          <p:sp>
            <p:nvSpPr>
              <p:cNvPr name="Freeform 58" id="58"/>
              <p:cNvSpPr/>
              <p:nvPr/>
            </p:nvSpPr>
            <p:spPr>
              <a:xfrm flipH="false" flipV="false" rot="0">
                <a:off x="49530" y="48260"/>
                <a:ext cx="1388110" cy="871220"/>
              </a:xfrm>
              <a:custGeom>
                <a:avLst/>
                <a:gdLst/>
                <a:ahLst/>
                <a:cxnLst/>
                <a:rect r="r" b="b" t="t" l="l"/>
                <a:pathLst>
                  <a:path h="871220" w="1388110">
                    <a:moveTo>
                      <a:pt x="19050" y="741680"/>
                    </a:moveTo>
                    <a:cubicBezTo>
                      <a:pt x="138430" y="636270"/>
                      <a:pt x="161290" y="633730"/>
                      <a:pt x="187960" y="615950"/>
                    </a:cubicBezTo>
                    <a:cubicBezTo>
                      <a:pt x="224790" y="593090"/>
                      <a:pt x="261620" y="553720"/>
                      <a:pt x="312420" y="516890"/>
                    </a:cubicBezTo>
                    <a:cubicBezTo>
                      <a:pt x="386080" y="463550"/>
                      <a:pt x="476250" y="401320"/>
                      <a:pt x="589280" y="336550"/>
                    </a:cubicBezTo>
                    <a:cubicBezTo>
                      <a:pt x="753110" y="242570"/>
                      <a:pt x="1099820" y="72390"/>
                      <a:pt x="1209040" y="27940"/>
                    </a:cubicBezTo>
                    <a:cubicBezTo>
                      <a:pt x="1247140" y="12700"/>
                      <a:pt x="1263650" y="3810"/>
                      <a:pt x="1287780" y="2540"/>
                    </a:cubicBezTo>
                    <a:cubicBezTo>
                      <a:pt x="1308100" y="2540"/>
                      <a:pt x="1328420" y="5080"/>
                      <a:pt x="1343660" y="17780"/>
                    </a:cubicBezTo>
                    <a:cubicBezTo>
                      <a:pt x="1362710" y="31750"/>
                      <a:pt x="1383030" y="68580"/>
                      <a:pt x="1384300" y="91440"/>
                    </a:cubicBezTo>
                    <a:cubicBezTo>
                      <a:pt x="1386840" y="110490"/>
                      <a:pt x="1380490" y="132080"/>
                      <a:pt x="1367790" y="146050"/>
                    </a:cubicBezTo>
                    <a:cubicBezTo>
                      <a:pt x="1352550" y="163830"/>
                      <a:pt x="1315720" y="184150"/>
                      <a:pt x="1291590" y="182880"/>
                    </a:cubicBezTo>
                    <a:cubicBezTo>
                      <a:pt x="1266190" y="182880"/>
                      <a:pt x="1231900" y="160020"/>
                      <a:pt x="1217930" y="140970"/>
                    </a:cubicBezTo>
                    <a:cubicBezTo>
                      <a:pt x="1206500" y="125730"/>
                      <a:pt x="1201420" y="104140"/>
                      <a:pt x="1205230" y="85090"/>
                    </a:cubicBezTo>
                    <a:cubicBezTo>
                      <a:pt x="1209040" y="62230"/>
                      <a:pt x="1231900" y="26670"/>
                      <a:pt x="1250950" y="13970"/>
                    </a:cubicBezTo>
                    <a:cubicBezTo>
                      <a:pt x="1267460" y="3810"/>
                      <a:pt x="1289050" y="0"/>
                      <a:pt x="1308100" y="3810"/>
                    </a:cubicBezTo>
                    <a:cubicBezTo>
                      <a:pt x="1330960" y="8890"/>
                      <a:pt x="1363980" y="33020"/>
                      <a:pt x="1375410" y="53340"/>
                    </a:cubicBezTo>
                    <a:cubicBezTo>
                      <a:pt x="1385570" y="69850"/>
                      <a:pt x="1388110" y="92710"/>
                      <a:pt x="1383030" y="110490"/>
                    </a:cubicBezTo>
                    <a:cubicBezTo>
                      <a:pt x="1376680" y="133350"/>
                      <a:pt x="1357630" y="154940"/>
                      <a:pt x="1329690" y="176530"/>
                    </a:cubicBezTo>
                    <a:cubicBezTo>
                      <a:pt x="1275080" y="217170"/>
                      <a:pt x="1148080" y="252730"/>
                      <a:pt x="1052830" y="298450"/>
                    </a:cubicBezTo>
                    <a:cubicBezTo>
                      <a:pt x="948690" y="349250"/>
                      <a:pt x="802640" y="436880"/>
                      <a:pt x="727710" y="467360"/>
                    </a:cubicBezTo>
                    <a:cubicBezTo>
                      <a:pt x="690880" y="483870"/>
                      <a:pt x="665480" y="481330"/>
                      <a:pt x="641350" y="496570"/>
                    </a:cubicBezTo>
                    <a:cubicBezTo>
                      <a:pt x="617220" y="510540"/>
                      <a:pt x="609600" y="533400"/>
                      <a:pt x="581660" y="553720"/>
                    </a:cubicBezTo>
                    <a:cubicBezTo>
                      <a:pt x="534670" y="590550"/>
                      <a:pt x="439420" y="633730"/>
                      <a:pt x="370840" y="676910"/>
                    </a:cubicBezTo>
                    <a:cubicBezTo>
                      <a:pt x="300990" y="720090"/>
                      <a:pt x="212090" y="774700"/>
                      <a:pt x="165100" y="811530"/>
                    </a:cubicBezTo>
                    <a:cubicBezTo>
                      <a:pt x="139700" y="831850"/>
                      <a:pt x="128270" y="855980"/>
                      <a:pt x="107950" y="864870"/>
                    </a:cubicBezTo>
                    <a:cubicBezTo>
                      <a:pt x="90170" y="871220"/>
                      <a:pt x="68580" y="871220"/>
                      <a:pt x="53340" y="866140"/>
                    </a:cubicBezTo>
                    <a:cubicBezTo>
                      <a:pt x="36830" y="859790"/>
                      <a:pt x="19050" y="843280"/>
                      <a:pt x="10160" y="830580"/>
                    </a:cubicBezTo>
                    <a:cubicBezTo>
                      <a:pt x="3810" y="819150"/>
                      <a:pt x="0" y="807720"/>
                      <a:pt x="1270" y="793750"/>
                    </a:cubicBezTo>
                    <a:cubicBezTo>
                      <a:pt x="1270" y="778510"/>
                      <a:pt x="19050" y="741680"/>
                      <a:pt x="19050" y="741680"/>
                    </a:cubicBezTo>
                  </a:path>
                </a:pathLst>
              </a:custGeom>
              <a:solidFill>
                <a:srgbClr val="295BBE"/>
              </a:solidFill>
              <a:ln cap="sq">
                <a:noFill/>
                <a:prstDash val="solid"/>
                <a:miter/>
              </a:ln>
            </p:spPr>
          </p:sp>
        </p:grpSp>
        <p:grpSp>
          <p:nvGrpSpPr>
            <p:cNvPr name="Group 59" id="59"/>
            <p:cNvGrpSpPr/>
            <p:nvPr/>
          </p:nvGrpSpPr>
          <p:grpSpPr>
            <a:xfrm rot="0">
              <a:off x="2141220" y="5720051"/>
              <a:ext cx="800100" cy="579120"/>
              <a:chOff x="0" y="0"/>
              <a:chExt cx="800100" cy="579120"/>
            </a:xfrm>
          </p:grpSpPr>
          <p:sp>
            <p:nvSpPr>
              <p:cNvPr name="Freeform 60" id="60"/>
              <p:cNvSpPr/>
              <p:nvPr/>
            </p:nvSpPr>
            <p:spPr>
              <a:xfrm flipH="false" flipV="false" rot="0">
                <a:off x="49530" y="45720"/>
                <a:ext cx="701040" cy="487680"/>
              </a:xfrm>
              <a:custGeom>
                <a:avLst/>
                <a:gdLst/>
                <a:ahLst/>
                <a:cxnLst/>
                <a:rect r="r" b="b" t="t" l="l"/>
                <a:pathLst>
                  <a:path h="487680" w="701040">
                    <a:moveTo>
                      <a:pt x="21590" y="354330"/>
                    </a:moveTo>
                    <a:cubicBezTo>
                      <a:pt x="389890" y="97790"/>
                      <a:pt x="482600" y="46990"/>
                      <a:pt x="535940" y="24130"/>
                    </a:cubicBezTo>
                    <a:cubicBezTo>
                      <a:pt x="562610" y="12700"/>
                      <a:pt x="579120" y="6350"/>
                      <a:pt x="600710" y="5080"/>
                    </a:cubicBezTo>
                    <a:cubicBezTo>
                      <a:pt x="619760" y="3810"/>
                      <a:pt x="640080" y="6350"/>
                      <a:pt x="655320" y="15240"/>
                    </a:cubicBezTo>
                    <a:cubicBezTo>
                      <a:pt x="670560" y="24130"/>
                      <a:pt x="685800" y="41910"/>
                      <a:pt x="692150" y="57150"/>
                    </a:cubicBezTo>
                    <a:cubicBezTo>
                      <a:pt x="698500" y="73660"/>
                      <a:pt x="701040" y="96520"/>
                      <a:pt x="695960" y="113030"/>
                    </a:cubicBezTo>
                    <a:cubicBezTo>
                      <a:pt x="692150" y="130810"/>
                      <a:pt x="679450" y="148590"/>
                      <a:pt x="665480" y="160020"/>
                    </a:cubicBezTo>
                    <a:cubicBezTo>
                      <a:pt x="651510" y="171450"/>
                      <a:pt x="632460" y="180340"/>
                      <a:pt x="613410" y="179070"/>
                    </a:cubicBezTo>
                    <a:cubicBezTo>
                      <a:pt x="590550" y="177800"/>
                      <a:pt x="553720" y="161290"/>
                      <a:pt x="539750" y="142240"/>
                    </a:cubicBezTo>
                    <a:cubicBezTo>
                      <a:pt x="527050" y="121920"/>
                      <a:pt x="521970" y="83820"/>
                      <a:pt x="529590" y="60960"/>
                    </a:cubicBezTo>
                    <a:cubicBezTo>
                      <a:pt x="538480" y="38100"/>
                      <a:pt x="570230" y="13970"/>
                      <a:pt x="591820" y="6350"/>
                    </a:cubicBezTo>
                    <a:cubicBezTo>
                      <a:pt x="609600" y="0"/>
                      <a:pt x="631190" y="3810"/>
                      <a:pt x="646430" y="11430"/>
                    </a:cubicBezTo>
                    <a:cubicBezTo>
                      <a:pt x="662940" y="19050"/>
                      <a:pt x="679450" y="33020"/>
                      <a:pt x="688340" y="49530"/>
                    </a:cubicBezTo>
                    <a:cubicBezTo>
                      <a:pt x="697230" y="64770"/>
                      <a:pt x="701040" y="86360"/>
                      <a:pt x="698500" y="104140"/>
                    </a:cubicBezTo>
                    <a:cubicBezTo>
                      <a:pt x="695960" y="121920"/>
                      <a:pt x="690880" y="135890"/>
                      <a:pt x="673100" y="153670"/>
                    </a:cubicBezTo>
                    <a:cubicBezTo>
                      <a:pt x="628650" y="198120"/>
                      <a:pt x="463550" y="250190"/>
                      <a:pt x="367030" y="306070"/>
                    </a:cubicBezTo>
                    <a:cubicBezTo>
                      <a:pt x="274320" y="359410"/>
                      <a:pt x="160020" y="464820"/>
                      <a:pt x="102870" y="481330"/>
                    </a:cubicBezTo>
                    <a:cubicBezTo>
                      <a:pt x="80010" y="487680"/>
                      <a:pt x="63500" y="485140"/>
                      <a:pt x="48260" y="480060"/>
                    </a:cubicBezTo>
                    <a:cubicBezTo>
                      <a:pt x="35560" y="474980"/>
                      <a:pt x="26670" y="468630"/>
                      <a:pt x="19050" y="457200"/>
                    </a:cubicBezTo>
                    <a:cubicBezTo>
                      <a:pt x="8890" y="444500"/>
                      <a:pt x="0" y="422910"/>
                      <a:pt x="1270" y="405130"/>
                    </a:cubicBezTo>
                    <a:cubicBezTo>
                      <a:pt x="1270" y="388620"/>
                      <a:pt x="21590" y="354330"/>
                      <a:pt x="21590" y="354330"/>
                    </a:cubicBezTo>
                  </a:path>
                </a:pathLst>
              </a:custGeom>
              <a:solidFill>
                <a:srgbClr val="295BBE"/>
              </a:solidFill>
              <a:ln cap="sq">
                <a:noFill/>
                <a:prstDash val="solid"/>
                <a:miter/>
              </a:ln>
            </p:spPr>
          </p:sp>
        </p:grpSp>
        <p:grpSp>
          <p:nvGrpSpPr>
            <p:cNvPr name="Group 61" id="61"/>
            <p:cNvGrpSpPr/>
            <p:nvPr/>
          </p:nvGrpSpPr>
          <p:grpSpPr>
            <a:xfrm rot="0">
              <a:off x="1062990" y="5881341"/>
              <a:ext cx="784860" cy="506730"/>
              <a:chOff x="0" y="0"/>
              <a:chExt cx="784860" cy="506730"/>
            </a:xfrm>
          </p:grpSpPr>
          <p:sp>
            <p:nvSpPr>
              <p:cNvPr name="Freeform 62" id="62"/>
              <p:cNvSpPr/>
              <p:nvPr/>
            </p:nvSpPr>
            <p:spPr>
              <a:xfrm flipH="false" flipV="false" rot="0">
                <a:off x="48260" y="50800"/>
                <a:ext cx="689610" cy="406400"/>
              </a:xfrm>
              <a:custGeom>
                <a:avLst/>
                <a:gdLst/>
                <a:ahLst/>
                <a:cxnLst/>
                <a:rect r="r" b="b" t="t" l="l"/>
                <a:pathLst>
                  <a:path h="406400" w="689610">
                    <a:moveTo>
                      <a:pt x="33020" y="0"/>
                    </a:moveTo>
                    <a:cubicBezTo>
                      <a:pt x="345440" y="151130"/>
                      <a:pt x="645160" y="309880"/>
                      <a:pt x="680720" y="361950"/>
                    </a:cubicBezTo>
                    <a:cubicBezTo>
                      <a:pt x="689610" y="374650"/>
                      <a:pt x="689610" y="384810"/>
                      <a:pt x="685800" y="392430"/>
                    </a:cubicBezTo>
                    <a:cubicBezTo>
                      <a:pt x="681990" y="400050"/>
                      <a:pt x="665480" y="406400"/>
                      <a:pt x="657860" y="405130"/>
                    </a:cubicBezTo>
                    <a:cubicBezTo>
                      <a:pt x="651510" y="403860"/>
                      <a:pt x="642620" y="396240"/>
                      <a:pt x="640080" y="389890"/>
                    </a:cubicBezTo>
                    <a:cubicBezTo>
                      <a:pt x="637540" y="383540"/>
                      <a:pt x="637540" y="372110"/>
                      <a:pt x="642620" y="365760"/>
                    </a:cubicBezTo>
                    <a:cubicBezTo>
                      <a:pt x="647700" y="359410"/>
                      <a:pt x="671830" y="355600"/>
                      <a:pt x="678180" y="360680"/>
                    </a:cubicBezTo>
                    <a:cubicBezTo>
                      <a:pt x="685800" y="365760"/>
                      <a:pt x="688340" y="389890"/>
                      <a:pt x="683260" y="397510"/>
                    </a:cubicBezTo>
                    <a:cubicBezTo>
                      <a:pt x="678180" y="403860"/>
                      <a:pt x="668020" y="406400"/>
                      <a:pt x="652780" y="403860"/>
                    </a:cubicBezTo>
                    <a:cubicBezTo>
                      <a:pt x="589280" y="393700"/>
                      <a:pt x="309880" y="187960"/>
                      <a:pt x="190500" y="125730"/>
                    </a:cubicBezTo>
                    <a:cubicBezTo>
                      <a:pt x="119380" y="88900"/>
                      <a:pt x="38100" y="72390"/>
                      <a:pt x="15240" y="46990"/>
                    </a:cubicBezTo>
                    <a:cubicBezTo>
                      <a:pt x="5080" y="36830"/>
                      <a:pt x="0" y="24130"/>
                      <a:pt x="2540" y="16510"/>
                    </a:cubicBezTo>
                    <a:cubicBezTo>
                      <a:pt x="6350" y="7620"/>
                      <a:pt x="33020" y="0"/>
                      <a:pt x="33020" y="0"/>
                    </a:cubicBezTo>
                  </a:path>
                </a:pathLst>
              </a:custGeom>
              <a:solidFill>
                <a:srgbClr val="295BBE"/>
              </a:solidFill>
              <a:ln cap="sq">
                <a:noFill/>
                <a:prstDash val="solid"/>
                <a:miter/>
              </a:ln>
            </p:spPr>
          </p:sp>
        </p:grpSp>
        <p:grpSp>
          <p:nvGrpSpPr>
            <p:cNvPr name="Group 63" id="63"/>
            <p:cNvGrpSpPr/>
            <p:nvPr/>
          </p:nvGrpSpPr>
          <p:grpSpPr>
            <a:xfrm rot="0">
              <a:off x="1780540" y="5932141"/>
              <a:ext cx="627380" cy="455930"/>
              <a:chOff x="0" y="0"/>
              <a:chExt cx="627380" cy="455930"/>
            </a:xfrm>
          </p:grpSpPr>
          <p:sp>
            <p:nvSpPr>
              <p:cNvPr name="Freeform 64" id="64"/>
              <p:cNvSpPr/>
              <p:nvPr/>
            </p:nvSpPr>
            <p:spPr>
              <a:xfrm flipH="false" flipV="false" rot="0">
                <a:off x="45720" y="49530"/>
                <a:ext cx="533400" cy="358140"/>
              </a:xfrm>
              <a:custGeom>
                <a:avLst/>
                <a:gdLst/>
                <a:ahLst/>
                <a:cxnLst/>
                <a:rect r="r" b="b" t="t" l="l"/>
                <a:pathLst>
                  <a:path h="358140" w="533400">
                    <a:moveTo>
                      <a:pt x="5080" y="313690"/>
                    </a:moveTo>
                    <a:cubicBezTo>
                      <a:pt x="140970" y="199390"/>
                      <a:pt x="264160" y="127000"/>
                      <a:pt x="340360" y="83820"/>
                    </a:cubicBezTo>
                    <a:cubicBezTo>
                      <a:pt x="398780" y="50800"/>
                      <a:pt x="468630" y="3810"/>
                      <a:pt x="500380" y="1270"/>
                    </a:cubicBezTo>
                    <a:cubicBezTo>
                      <a:pt x="513080" y="1270"/>
                      <a:pt x="523240" y="5080"/>
                      <a:pt x="528320" y="11430"/>
                    </a:cubicBezTo>
                    <a:cubicBezTo>
                      <a:pt x="532130" y="16510"/>
                      <a:pt x="533400" y="27940"/>
                      <a:pt x="530860" y="34290"/>
                    </a:cubicBezTo>
                    <a:cubicBezTo>
                      <a:pt x="528320" y="41910"/>
                      <a:pt x="516890" y="50800"/>
                      <a:pt x="509270" y="52070"/>
                    </a:cubicBezTo>
                    <a:cubicBezTo>
                      <a:pt x="502920" y="52070"/>
                      <a:pt x="492760" y="48260"/>
                      <a:pt x="487680" y="41910"/>
                    </a:cubicBezTo>
                    <a:cubicBezTo>
                      <a:pt x="482600" y="36830"/>
                      <a:pt x="480060" y="25400"/>
                      <a:pt x="482600" y="19050"/>
                    </a:cubicBezTo>
                    <a:cubicBezTo>
                      <a:pt x="485140" y="11430"/>
                      <a:pt x="499110" y="1270"/>
                      <a:pt x="506730" y="1270"/>
                    </a:cubicBezTo>
                    <a:cubicBezTo>
                      <a:pt x="514350" y="0"/>
                      <a:pt x="524510" y="6350"/>
                      <a:pt x="528320" y="12700"/>
                    </a:cubicBezTo>
                    <a:cubicBezTo>
                      <a:pt x="532130" y="19050"/>
                      <a:pt x="532130" y="36830"/>
                      <a:pt x="525780" y="43180"/>
                    </a:cubicBezTo>
                    <a:cubicBezTo>
                      <a:pt x="520700" y="49530"/>
                      <a:pt x="496570" y="49530"/>
                      <a:pt x="488950" y="44450"/>
                    </a:cubicBezTo>
                    <a:cubicBezTo>
                      <a:pt x="483870" y="40640"/>
                      <a:pt x="481330" y="29210"/>
                      <a:pt x="482600" y="21590"/>
                    </a:cubicBezTo>
                    <a:cubicBezTo>
                      <a:pt x="482600" y="15240"/>
                      <a:pt x="488950" y="6350"/>
                      <a:pt x="495300" y="3810"/>
                    </a:cubicBezTo>
                    <a:cubicBezTo>
                      <a:pt x="502920" y="1270"/>
                      <a:pt x="523240" y="5080"/>
                      <a:pt x="528320" y="11430"/>
                    </a:cubicBezTo>
                    <a:cubicBezTo>
                      <a:pt x="532130" y="19050"/>
                      <a:pt x="529590" y="35560"/>
                      <a:pt x="519430" y="48260"/>
                    </a:cubicBezTo>
                    <a:cubicBezTo>
                      <a:pt x="491490" y="85090"/>
                      <a:pt x="339090" y="135890"/>
                      <a:pt x="261620" y="182880"/>
                    </a:cubicBezTo>
                    <a:cubicBezTo>
                      <a:pt x="193040" y="223520"/>
                      <a:pt x="114300" y="278130"/>
                      <a:pt x="74930" y="311150"/>
                    </a:cubicBezTo>
                    <a:cubicBezTo>
                      <a:pt x="55880" y="327660"/>
                      <a:pt x="46990" y="350520"/>
                      <a:pt x="34290" y="354330"/>
                    </a:cubicBezTo>
                    <a:cubicBezTo>
                      <a:pt x="24130" y="358140"/>
                      <a:pt x="10160" y="354330"/>
                      <a:pt x="5080" y="347980"/>
                    </a:cubicBezTo>
                    <a:cubicBezTo>
                      <a:pt x="0" y="341630"/>
                      <a:pt x="5080" y="313690"/>
                      <a:pt x="5080" y="313690"/>
                    </a:cubicBezTo>
                  </a:path>
                </a:pathLst>
              </a:custGeom>
              <a:solidFill>
                <a:srgbClr val="295BBE"/>
              </a:solidFill>
              <a:ln cap="sq">
                <a:noFill/>
                <a:prstDash val="solid"/>
                <a:miter/>
              </a:ln>
            </p:spPr>
          </p:sp>
        </p:grpSp>
        <p:grpSp>
          <p:nvGrpSpPr>
            <p:cNvPr name="Group 65" id="65"/>
            <p:cNvGrpSpPr/>
            <p:nvPr/>
          </p:nvGrpSpPr>
          <p:grpSpPr>
            <a:xfrm rot="0">
              <a:off x="2259330" y="5547331"/>
              <a:ext cx="835660" cy="535940"/>
              <a:chOff x="0" y="0"/>
              <a:chExt cx="835660" cy="535940"/>
            </a:xfrm>
          </p:grpSpPr>
          <p:sp>
            <p:nvSpPr>
              <p:cNvPr name="Freeform 66" id="66"/>
              <p:cNvSpPr/>
              <p:nvPr/>
            </p:nvSpPr>
            <p:spPr>
              <a:xfrm flipH="false" flipV="false" rot="0">
                <a:off x="46990" y="49530"/>
                <a:ext cx="739140" cy="435610"/>
              </a:xfrm>
              <a:custGeom>
                <a:avLst/>
                <a:gdLst/>
                <a:ahLst/>
                <a:cxnLst/>
                <a:rect r="r" b="b" t="t" l="l"/>
                <a:pathLst>
                  <a:path h="435610" w="739140">
                    <a:moveTo>
                      <a:pt x="12700" y="389890"/>
                    </a:moveTo>
                    <a:cubicBezTo>
                      <a:pt x="246380" y="265430"/>
                      <a:pt x="299720" y="217170"/>
                      <a:pt x="349250" y="190500"/>
                    </a:cubicBezTo>
                    <a:cubicBezTo>
                      <a:pt x="388620" y="170180"/>
                      <a:pt x="420370" y="165100"/>
                      <a:pt x="461010" y="144780"/>
                    </a:cubicBezTo>
                    <a:cubicBezTo>
                      <a:pt x="513080" y="116840"/>
                      <a:pt x="582930" y="60960"/>
                      <a:pt x="631190" y="35560"/>
                    </a:cubicBezTo>
                    <a:cubicBezTo>
                      <a:pt x="662940" y="19050"/>
                      <a:pt x="695960" y="0"/>
                      <a:pt x="713740" y="1270"/>
                    </a:cubicBezTo>
                    <a:cubicBezTo>
                      <a:pt x="722630" y="2540"/>
                      <a:pt x="731520" y="6350"/>
                      <a:pt x="734060" y="12700"/>
                    </a:cubicBezTo>
                    <a:cubicBezTo>
                      <a:pt x="737870" y="20320"/>
                      <a:pt x="736600" y="38100"/>
                      <a:pt x="731520" y="44450"/>
                    </a:cubicBezTo>
                    <a:cubicBezTo>
                      <a:pt x="726440" y="49530"/>
                      <a:pt x="708660" y="52070"/>
                      <a:pt x="701040" y="49530"/>
                    </a:cubicBezTo>
                    <a:cubicBezTo>
                      <a:pt x="694690" y="46990"/>
                      <a:pt x="688340" y="36830"/>
                      <a:pt x="687070" y="29210"/>
                    </a:cubicBezTo>
                    <a:cubicBezTo>
                      <a:pt x="687070" y="22860"/>
                      <a:pt x="690880" y="12700"/>
                      <a:pt x="695960" y="7620"/>
                    </a:cubicBezTo>
                    <a:cubicBezTo>
                      <a:pt x="701040" y="2540"/>
                      <a:pt x="712470" y="0"/>
                      <a:pt x="718820" y="2540"/>
                    </a:cubicBezTo>
                    <a:cubicBezTo>
                      <a:pt x="726440" y="5080"/>
                      <a:pt x="737870" y="17780"/>
                      <a:pt x="737870" y="26670"/>
                    </a:cubicBezTo>
                    <a:cubicBezTo>
                      <a:pt x="739140" y="33020"/>
                      <a:pt x="736600" y="38100"/>
                      <a:pt x="727710" y="46990"/>
                    </a:cubicBezTo>
                    <a:cubicBezTo>
                      <a:pt x="675640" y="101600"/>
                      <a:pt x="116840" y="430530"/>
                      <a:pt x="35560" y="435610"/>
                    </a:cubicBezTo>
                    <a:cubicBezTo>
                      <a:pt x="19050" y="435610"/>
                      <a:pt x="7620" y="429260"/>
                      <a:pt x="3810" y="422910"/>
                    </a:cubicBezTo>
                    <a:cubicBezTo>
                      <a:pt x="0" y="415290"/>
                      <a:pt x="12700" y="389890"/>
                      <a:pt x="12700" y="389890"/>
                    </a:cubicBezTo>
                  </a:path>
                </a:pathLst>
              </a:custGeom>
              <a:solidFill>
                <a:srgbClr val="295BBE"/>
              </a:solidFill>
              <a:ln cap="sq">
                <a:noFill/>
                <a:prstDash val="solid"/>
                <a:miter/>
              </a:ln>
            </p:spPr>
          </p:sp>
        </p:grpSp>
        <p:grpSp>
          <p:nvGrpSpPr>
            <p:cNvPr name="Group 67" id="67"/>
            <p:cNvGrpSpPr/>
            <p:nvPr/>
          </p:nvGrpSpPr>
          <p:grpSpPr>
            <a:xfrm rot="0">
              <a:off x="2659380" y="5196811"/>
              <a:ext cx="1137920" cy="720090"/>
              <a:chOff x="0" y="0"/>
              <a:chExt cx="1137920" cy="720090"/>
            </a:xfrm>
          </p:grpSpPr>
          <p:sp>
            <p:nvSpPr>
              <p:cNvPr name="Freeform 68" id="68"/>
              <p:cNvSpPr/>
              <p:nvPr/>
            </p:nvSpPr>
            <p:spPr>
              <a:xfrm flipH="false" flipV="false" rot="0">
                <a:off x="48260" y="48260"/>
                <a:ext cx="1041400" cy="622300"/>
              </a:xfrm>
              <a:custGeom>
                <a:avLst/>
                <a:gdLst/>
                <a:ahLst/>
                <a:cxnLst/>
                <a:rect r="r" b="b" t="t" l="l"/>
                <a:pathLst>
                  <a:path h="622300" w="1041400">
                    <a:moveTo>
                      <a:pt x="1026160" y="50800"/>
                    </a:moveTo>
                    <a:cubicBezTo>
                      <a:pt x="717550" y="171450"/>
                      <a:pt x="651510" y="227330"/>
                      <a:pt x="594360" y="257810"/>
                    </a:cubicBezTo>
                    <a:cubicBezTo>
                      <a:pt x="552450" y="280670"/>
                      <a:pt x="529590" y="283210"/>
                      <a:pt x="480060" y="311150"/>
                    </a:cubicBezTo>
                    <a:cubicBezTo>
                      <a:pt x="378460" y="369570"/>
                      <a:pt x="88900" y="609600"/>
                      <a:pt x="33020" y="619760"/>
                    </a:cubicBezTo>
                    <a:cubicBezTo>
                      <a:pt x="21590" y="622300"/>
                      <a:pt x="15240" y="618490"/>
                      <a:pt x="10160" y="613410"/>
                    </a:cubicBezTo>
                    <a:cubicBezTo>
                      <a:pt x="5080" y="609600"/>
                      <a:pt x="1270" y="598170"/>
                      <a:pt x="2540" y="591820"/>
                    </a:cubicBezTo>
                    <a:cubicBezTo>
                      <a:pt x="2540" y="584200"/>
                      <a:pt x="8890" y="575310"/>
                      <a:pt x="16510" y="572770"/>
                    </a:cubicBezTo>
                    <a:cubicBezTo>
                      <a:pt x="24130" y="568960"/>
                      <a:pt x="40640" y="572770"/>
                      <a:pt x="45720" y="577850"/>
                    </a:cubicBezTo>
                    <a:cubicBezTo>
                      <a:pt x="50800" y="582930"/>
                      <a:pt x="54610" y="594360"/>
                      <a:pt x="52070" y="601980"/>
                    </a:cubicBezTo>
                    <a:cubicBezTo>
                      <a:pt x="49530" y="609600"/>
                      <a:pt x="35560" y="621030"/>
                      <a:pt x="27940" y="621030"/>
                    </a:cubicBezTo>
                    <a:cubicBezTo>
                      <a:pt x="19050" y="621030"/>
                      <a:pt x="5080" y="609600"/>
                      <a:pt x="2540" y="601980"/>
                    </a:cubicBezTo>
                    <a:cubicBezTo>
                      <a:pt x="0" y="595630"/>
                      <a:pt x="1270" y="588010"/>
                      <a:pt x="7620" y="579120"/>
                    </a:cubicBezTo>
                    <a:cubicBezTo>
                      <a:pt x="25400" y="549910"/>
                      <a:pt x="133350" y="477520"/>
                      <a:pt x="187960" y="443230"/>
                    </a:cubicBezTo>
                    <a:cubicBezTo>
                      <a:pt x="228600" y="416560"/>
                      <a:pt x="259080" y="408940"/>
                      <a:pt x="299720" y="383540"/>
                    </a:cubicBezTo>
                    <a:cubicBezTo>
                      <a:pt x="351790" y="350520"/>
                      <a:pt x="420370" y="285750"/>
                      <a:pt x="469900" y="256540"/>
                    </a:cubicBezTo>
                    <a:cubicBezTo>
                      <a:pt x="505460" y="237490"/>
                      <a:pt x="528320" y="236220"/>
                      <a:pt x="565150" y="217170"/>
                    </a:cubicBezTo>
                    <a:cubicBezTo>
                      <a:pt x="619760" y="187960"/>
                      <a:pt x="693420" y="127000"/>
                      <a:pt x="765810" y="91440"/>
                    </a:cubicBezTo>
                    <a:cubicBezTo>
                      <a:pt x="840740" y="54610"/>
                      <a:pt x="967740" y="0"/>
                      <a:pt x="1008380" y="2540"/>
                    </a:cubicBezTo>
                    <a:cubicBezTo>
                      <a:pt x="1023620" y="3810"/>
                      <a:pt x="1035050" y="11430"/>
                      <a:pt x="1038860" y="19050"/>
                    </a:cubicBezTo>
                    <a:cubicBezTo>
                      <a:pt x="1041400" y="27940"/>
                      <a:pt x="1026160" y="50800"/>
                      <a:pt x="1026160" y="50800"/>
                    </a:cubicBezTo>
                  </a:path>
                </a:pathLst>
              </a:custGeom>
              <a:solidFill>
                <a:srgbClr val="295BBE"/>
              </a:solidFill>
              <a:ln cap="sq">
                <a:noFill/>
                <a:prstDash val="solid"/>
                <a:miter/>
              </a:ln>
            </p:spPr>
          </p:sp>
        </p:grpSp>
        <p:grpSp>
          <p:nvGrpSpPr>
            <p:cNvPr name="Group 69" id="69"/>
            <p:cNvGrpSpPr/>
            <p:nvPr/>
          </p:nvGrpSpPr>
          <p:grpSpPr>
            <a:xfrm rot="0">
              <a:off x="4603750" y="6328381"/>
              <a:ext cx="918210" cy="598170"/>
              <a:chOff x="0" y="0"/>
              <a:chExt cx="918210" cy="598170"/>
            </a:xfrm>
          </p:grpSpPr>
          <p:sp>
            <p:nvSpPr>
              <p:cNvPr name="Freeform 70" id="70"/>
              <p:cNvSpPr/>
              <p:nvPr/>
            </p:nvSpPr>
            <p:spPr>
              <a:xfrm flipH="false" flipV="false" rot="0">
                <a:off x="48260" y="45720"/>
                <a:ext cx="824230" cy="502920"/>
              </a:xfrm>
              <a:custGeom>
                <a:avLst/>
                <a:gdLst/>
                <a:ahLst/>
                <a:cxnLst/>
                <a:rect r="r" b="b" t="t" l="l"/>
                <a:pathLst>
                  <a:path h="502920" w="824230">
                    <a:moveTo>
                      <a:pt x="59690" y="350520"/>
                    </a:moveTo>
                    <a:cubicBezTo>
                      <a:pt x="288290" y="257810"/>
                      <a:pt x="515620" y="90170"/>
                      <a:pt x="608330" y="44450"/>
                    </a:cubicBezTo>
                    <a:cubicBezTo>
                      <a:pt x="650240" y="24130"/>
                      <a:pt x="676910" y="13970"/>
                      <a:pt x="704850" y="8890"/>
                    </a:cubicBezTo>
                    <a:cubicBezTo>
                      <a:pt x="725170" y="5080"/>
                      <a:pt x="742950" y="2540"/>
                      <a:pt x="760730" y="7620"/>
                    </a:cubicBezTo>
                    <a:cubicBezTo>
                      <a:pt x="777240" y="12700"/>
                      <a:pt x="795020" y="24130"/>
                      <a:pt x="805180" y="40640"/>
                    </a:cubicBezTo>
                    <a:cubicBezTo>
                      <a:pt x="816610" y="59690"/>
                      <a:pt x="824230" y="99060"/>
                      <a:pt x="815340" y="121920"/>
                    </a:cubicBezTo>
                    <a:cubicBezTo>
                      <a:pt x="806450" y="143510"/>
                      <a:pt x="775970" y="168910"/>
                      <a:pt x="754380" y="175260"/>
                    </a:cubicBezTo>
                    <a:cubicBezTo>
                      <a:pt x="736600" y="181610"/>
                      <a:pt x="715010" y="177800"/>
                      <a:pt x="698500" y="170180"/>
                    </a:cubicBezTo>
                    <a:cubicBezTo>
                      <a:pt x="681990" y="163830"/>
                      <a:pt x="665480" y="148590"/>
                      <a:pt x="657860" y="133350"/>
                    </a:cubicBezTo>
                    <a:cubicBezTo>
                      <a:pt x="648970" y="116840"/>
                      <a:pt x="645160" y="95250"/>
                      <a:pt x="647700" y="77470"/>
                    </a:cubicBezTo>
                    <a:cubicBezTo>
                      <a:pt x="650240" y="60960"/>
                      <a:pt x="657860" y="40640"/>
                      <a:pt x="673100" y="27940"/>
                    </a:cubicBezTo>
                    <a:cubicBezTo>
                      <a:pt x="689610" y="13970"/>
                      <a:pt x="727710" y="0"/>
                      <a:pt x="750570" y="5080"/>
                    </a:cubicBezTo>
                    <a:cubicBezTo>
                      <a:pt x="774700" y="10160"/>
                      <a:pt x="803910" y="36830"/>
                      <a:pt x="814070" y="57150"/>
                    </a:cubicBezTo>
                    <a:cubicBezTo>
                      <a:pt x="822960" y="73660"/>
                      <a:pt x="822960" y="95250"/>
                      <a:pt x="817880" y="113030"/>
                    </a:cubicBezTo>
                    <a:cubicBezTo>
                      <a:pt x="814070" y="129540"/>
                      <a:pt x="803910" y="144780"/>
                      <a:pt x="787400" y="158750"/>
                    </a:cubicBezTo>
                    <a:cubicBezTo>
                      <a:pt x="760730" y="181610"/>
                      <a:pt x="701040" y="190500"/>
                      <a:pt x="657860" y="213360"/>
                    </a:cubicBezTo>
                    <a:cubicBezTo>
                      <a:pt x="610870" y="238760"/>
                      <a:pt x="558800" y="287020"/>
                      <a:pt x="518160" y="306070"/>
                    </a:cubicBezTo>
                    <a:cubicBezTo>
                      <a:pt x="491490" y="320040"/>
                      <a:pt x="474980" y="317500"/>
                      <a:pt x="445770" y="331470"/>
                    </a:cubicBezTo>
                    <a:cubicBezTo>
                      <a:pt x="392430" y="356870"/>
                      <a:pt x="295910" y="434340"/>
                      <a:pt x="231140" y="462280"/>
                    </a:cubicBezTo>
                    <a:cubicBezTo>
                      <a:pt x="182880" y="483870"/>
                      <a:pt x="134620" y="497840"/>
                      <a:pt x="99060" y="500380"/>
                    </a:cubicBezTo>
                    <a:cubicBezTo>
                      <a:pt x="77470" y="502920"/>
                      <a:pt x="58420" y="501650"/>
                      <a:pt x="44450" y="495300"/>
                    </a:cubicBezTo>
                    <a:cubicBezTo>
                      <a:pt x="33020" y="490220"/>
                      <a:pt x="22860" y="482600"/>
                      <a:pt x="16510" y="471170"/>
                    </a:cubicBezTo>
                    <a:cubicBezTo>
                      <a:pt x="7620" y="457200"/>
                      <a:pt x="0" y="434340"/>
                      <a:pt x="2540" y="417830"/>
                    </a:cubicBezTo>
                    <a:cubicBezTo>
                      <a:pt x="3810" y="400050"/>
                      <a:pt x="16510" y="379730"/>
                      <a:pt x="26670" y="368300"/>
                    </a:cubicBezTo>
                    <a:cubicBezTo>
                      <a:pt x="35560" y="359410"/>
                      <a:pt x="59690" y="350520"/>
                      <a:pt x="59690" y="350520"/>
                    </a:cubicBezTo>
                  </a:path>
                </a:pathLst>
              </a:custGeom>
              <a:solidFill>
                <a:srgbClr val="295BBE"/>
              </a:solidFill>
              <a:ln cap="sq">
                <a:noFill/>
                <a:prstDash val="solid"/>
                <a:miter/>
              </a:ln>
            </p:spPr>
          </p:sp>
        </p:grpSp>
        <p:grpSp>
          <p:nvGrpSpPr>
            <p:cNvPr name="Group 71" id="71"/>
            <p:cNvGrpSpPr/>
            <p:nvPr/>
          </p:nvGrpSpPr>
          <p:grpSpPr>
            <a:xfrm rot="0">
              <a:off x="5278120" y="5687031"/>
              <a:ext cx="1421130" cy="886460"/>
              <a:chOff x="0" y="0"/>
              <a:chExt cx="1421130" cy="886460"/>
            </a:xfrm>
          </p:grpSpPr>
          <p:sp>
            <p:nvSpPr>
              <p:cNvPr name="Freeform 72" id="72"/>
              <p:cNvSpPr/>
              <p:nvPr/>
            </p:nvSpPr>
            <p:spPr>
              <a:xfrm flipH="false" flipV="false" rot="0">
                <a:off x="44450" y="48260"/>
                <a:ext cx="1327150" cy="791210"/>
              </a:xfrm>
              <a:custGeom>
                <a:avLst/>
                <a:gdLst/>
                <a:ahLst/>
                <a:cxnLst/>
                <a:rect r="r" b="b" t="t" l="l"/>
                <a:pathLst>
                  <a:path h="791210" w="1327150">
                    <a:moveTo>
                      <a:pt x="41910" y="642620"/>
                    </a:moveTo>
                    <a:cubicBezTo>
                      <a:pt x="629920" y="300990"/>
                      <a:pt x="1089660" y="31750"/>
                      <a:pt x="1209040" y="6350"/>
                    </a:cubicBezTo>
                    <a:cubicBezTo>
                      <a:pt x="1240790" y="0"/>
                      <a:pt x="1254760" y="2540"/>
                      <a:pt x="1272540" y="11430"/>
                    </a:cubicBezTo>
                    <a:cubicBezTo>
                      <a:pt x="1290320" y="19050"/>
                      <a:pt x="1309370" y="38100"/>
                      <a:pt x="1318260" y="57150"/>
                    </a:cubicBezTo>
                    <a:cubicBezTo>
                      <a:pt x="1325880" y="74930"/>
                      <a:pt x="1327150" y="101600"/>
                      <a:pt x="1320800" y="120650"/>
                    </a:cubicBezTo>
                    <a:cubicBezTo>
                      <a:pt x="1315720" y="139700"/>
                      <a:pt x="1301750" y="165100"/>
                      <a:pt x="1281430" y="171450"/>
                    </a:cubicBezTo>
                    <a:cubicBezTo>
                      <a:pt x="1252220" y="180340"/>
                      <a:pt x="1165860" y="152400"/>
                      <a:pt x="1149350" y="124460"/>
                    </a:cubicBezTo>
                    <a:cubicBezTo>
                      <a:pt x="1136650" y="104140"/>
                      <a:pt x="1149350" y="60960"/>
                      <a:pt x="1160780" y="40640"/>
                    </a:cubicBezTo>
                    <a:cubicBezTo>
                      <a:pt x="1170940" y="24130"/>
                      <a:pt x="1188720" y="11430"/>
                      <a:pt x="1207770" y="6350"/>
                    </a:cubicBezTo>
                    <a:cubicBezTo>
                      <a:pt x="1230630" y="1270"/>
                      <a:pt x="1272540" y="8890"/>
                      <a:pt x="1291590" y="22860"/>
                    </a:cubicBezTo>
                    <a:cubicBezTo>
                      <a:pt x="1308100" y="33020"/>
                      <a:pt x="1318260" y="53340"/>
                      <a:pt x="1323340" y="71120"/>
                    </a:cubicBezTo>
                    <a:cubicBezTo>
                      <a:pt x="1327150" y="88900"/>
                      <a:pt x="1327150" y="111760"/>
                      <a:pt x="1318260" y="129540"/>
                    </a:cubicBezTo>
                    <a:cubicBezTo>
                      <a:pt x="1306830" y="149860"/>
                      <a:pt x="1276350" y="177800"/>
                      <a:pt x="1252220" y="182880"/>
                    </a:cubicBezTo>
                    <a:cubicBezTo>
                      <a:pt x="1228090" y="186690"/>
                      <a:pt x="1188720" y="175260"/>
                      <a:pt x="1170940" y="157480"/>
                    </a:cubicBezTo>
                    <a:cubicBezTo>
                      <a:pt x="1153160" y="139700"/>
                      <a:pt x="1141730" y="101600"/>
                      <a:pt x="1145540" y="76200"/>
                    </a:cubicBezTo>
                    <a:cubicBezTo>
                      <a:pt x="1150620" y="52070"/>
                      <a:pt x="1176020" y="20320"/>
                      <a:pt x="1198880" y="10160"/>
                    </a:cubicBezTo>
                    <a:cubicBezTo>
                      <a:pt x="1221740" y="0"/>
                      <a:pt x="1264920" y="8890"/>
                      <a:pt x="1283970" y="16510"/>
                    </a:cubicBezTo>
                    <a:cubicBezTo>
                      <a:pt x="1294130" y="21590"/>
                      <a:pt x="1306830" y="33020"/>
                      <a:pt x="1305560" y="36830"/>
                    </a:cubicBezTo>
                    <a:cubicBezTo>
                      <a:pt x="1303020" y="43180"/>
                      <a:pt x="1188720" y="22860"/>
                      <a:pt x="1188720" y="15240"/>
                    </a:cubicBezTo>
                    <a:cubicBezTo>
                      <a:pt x="1188720" y="11430"/>
                      <a:pt x="1215390" y="3810"/>
                      <a:pt x="1229360" y="2540"/>
                    </a:cubicBezTo>
                    <a:cubicBezTo>
                      <a:pt x="1243330" y="2540"/>
                      <a:pt x="1259840" y="5080"/>
                      <a:pt x="1272540" y="11430"/>
                    </a:cubicBezTo>
                    <a:cubicBezTo>
                      <a:pt x="1285240" y="16510"/>
                      <a:pt x="1297940" y="25400"/>
                      <a:pt x="1306830" y="38100"/>
                    </a:cubicBezTo>
                    <a:cubicBezTo>
                      <a:pt x="1316990" y="53340"/>
                      <a:pt x="1327150" y="78740"/>
                      <a:pt x="1325880" y="99060"/>
                    </a:cubicBezTo>
                    <a:cubicBezTo>
                      <a:pt x="1324610" y="119380"/>
                      <a:pt x="1308100" y="146050"/>
                      <a:pt x="1299210" y="157480"/>
                    </a:cubicBezTo>
                    <a:cubicBezTo>
                      <a:pt x="1292860" y="165100"/>
                      <a:pt x="1287780" y="170180"/>
                      <a:pt x="1281430" y="171450"/>
                    </a:cubicBezTo>
                    <a:cubicBezTo>
                      <a:pt x="1275080" y="171450"/>
                      <a:pt x="1267460" y="158750"/>
                      <a:pt x="1258570" y="160020"/>
                    </a:cubicBezTo>
                    <a:cubicBezTo>
                      <a:pt x="1242060" y="163830"/>
                      <a:pt x="1233170" y="200660"/>
                      <a:pt x="1197610" y="227330"/>
                    </a:cubicBezTo>
                    <a:cubicBezTo>
                      <a:pt x="1094740" y="304800"/>
                      <a:pt x="695960" y="468630"/>
                      <a:pt x="496570" y="572770"/>
                    </a:cubicBezTo>
                    <a:cubicBezTo>
                      <a:pt x="344170" y="650240"/>
                      <a:pt x="171450" y="772160"/>
                      <a:pt x="99060" y="787400"/>
                    </a:cubicBezTo>
                    <a:cubicBezTo>
                      <a:pt x="73660" y="791210"/>
                      <a:pt x="59690" y="788670"/>
                      <a:pt x="44450" y="781050"/>
                    </a:cubicBezTo>
                    <a:cubicBezTo>
                      <a:pt x="29210" y="773430"/>
                      <a:pt x="12700" y="755650"/>
                      <a:pt x="6350" y="740410"/>
                    </a:cubicBezTo>
                    <a:cubicBezTo>
                      <a:pt x="0" y="723900"/>
                      <a:pt x="0" y="701040"/>
                      <a:pt x="6350" y="684530"/>
                    </a:cubicBezTo>
                    <a:cubicBezTo>
                      <a:pt x="11430" y="668020"/>
                      <a:pt x="41910" y="642620"/>
                      <a:pt x="41910" y="642620"/>
                    </a:cubicBezTo>
                  </a:path>
                </a:pathLst>
              </a:custGeom>
              <a:solidFill>
                <a:srgbClr val="295BBE"/>
              </a:solidFill>
              <a:ln cap="sq">
                <a:noFill/>
                <a:prstDash val="solid"/>
                <a:miter/>
              </a:ln>
            </p:spPr>
          </p:sp>
        </p:grpSp>
        <p:grpSp>
          <p:nvGrpSpPr>
            <p:cNvPr name="Group 73" id="73"/>
            <p:cNvGrpSpPr/>
            <p:nvPr/>
          </p:nvGrpSpPr>
          <p:grpSpPr>
            <a:xfrm rot="0">
              <a:off x="5965190" y="5443191"/>
              <a:ext cx="1013460" cy="769620"/>
              <a:chOff x="0" y="0"/>
              <a:chExt cx="1013460" cy="769620"/>
            </a:xfrm>
          </p:grpSpPr>
          <p:sp>
            <p:nvSpPr>
              <p:cNvPr name="Freeform 74" id="74"/>
              <p:cNvSpPr/>
              <p:nvPr/>
            </p:nvSpPr>
            <p:spPr>
              <a:xfrm flipH="false" flipV="false" rot="0">
                <a:off x="49530" y="44450"/>
                <a:ext cx="914400" cy="681990"/>
              </a:xfrm>
              <a:custGeom>
                <a:avLst/>
                <a:gdLst/>
                <a:ahLst/>
                <a:cxnLst/>
                <a:rect r="r" b="b" t="t" l="l"/>
                <a:pathLst>
                  <a:path h="681990" w="914400">
                    <a:moveTo>
                      <a:pt x="890270" y="134620"/>
                    </a:moveTo>
                    <a:cubicBezTo>
                      <a:pt x="599440" y="370840"/>
                      <a:pt x="213360" y="647700"/>
                      <a:pt x="115570" y="674370"/>
                    </a:cubicBezTo>
                    <a:cubicBezTo>
                      <a:pt x="87630" y="681990"/>
                      <a:pt x="74930" y="678180"/>
                      <a:pt x="58420" y="670560"/>
                    </a:cubicBezTo>
                    <a:cubicBezTo>
                      <a:pt x="41910" y="664210"/>
                      <a:pt x="24130" y="650240"/>
                      <a:pt x="15240" y="633730"/>
                    </a:cubicBezTo>
                    <a:cubicBezTo>
                      <a:pt x="5080" y="618490"/>
                      <a:pt x="0" y="595630"/>
                      <a:pt x="2540" y="577850"/>
                    </a:cubicBezTo>
                    <a:cubicBezTo>
                      <a:pt x="3810" y="560070"/>
                      <a:pt x="11430" y="539750"/>
                      <a:pt x="26670" y="525780"/>
                    </a:cubicBezTo>
                    <a:cubicBezTo>
                      <a:pt x="43180" y="510540"/>
                      <a:pt x="81280" y="495300"/>
                      <a:pt x="105410" y="499110"/>
                    </a:cubicBezTo>
                    <a:cubicBezTo>
                      <a:pt x="130810" y="502920"/>
                      <a:pt x="162560" y="528320"/>
                      <a:pt x="172720" y="549910"/>
                    </a:cubicBezTo>
                    <a:cubicBezTo>
                      <a:pt x="182880" y="572770"/>
                      <a:pt x="179070" y="613410"/>
                      <a:pt x="167640" y="633730"/>
                    </a:cubicBezTo>
                    <a:cubicBezTo>
                      <a:pt x="160020" y="651510"/>
                      <a:pt x="143510" y="665480"/>
                      <a:pt x="124460" y="670560"/>
                    </a:cubicBezTo>
                    <a:cubicBezTo>
                      <a:pt x="102870" y="678180"/>
                      <a:pt x="62230" y="675640"/>
                      <a:pt x="40640" y="661670"/>
                    </a:cubicBezTo>
                    <a:cubicBezTo>
                      <a:pt x="20320" y="647700"/>
                      <a:pt x="3810" y="610870"/>
                      <a:pt x="1270" y="588010"/>
                    </a:cubicBezTo>
                    <a:cubicBezTo>
                      <a:pt x="0" y="568960"/>
                      <a:pt x="7620" y="552450"/>
                      <a:pt x="20320" y="533400"/>
                    </a:cubicBezTo>
                    <a:cubicBezTo>
                      <a:pt x="40640" y="502920"/>
                      <a:pt x="82550" y="476250"/>
                      <a:pt x="138430" y="438150"/>
                    </a:cubicBezTo>
                    <a:cubicBezTo>
                      <a:pt x="254000" y="355600"/>
                      <a:pt x="586740" y="179070"/>
                      <a:pt x="701040" y="99060"/>
                    </a:cubicBezTo>
                    <a:cubicBezTo>
                      <a:pt x="754380" y="60960"/>
                      <a:pt x="779780" y="16510"/>
                      <a:pt x="812800" y="6350"/>
                    </a:cubicBezTo>
                    <a:cubicBezTo>
                      <a:pt x="833120" y="0"/>
                      <a:pt x="852170" y="2540"/>
                      <a:pt x="867410" y="10160"/>
                    </a:cubicBezTo>
                    <a:cubicBezTo>
                      <a:pt x="882650" y="16510"/>
                      <a:pt x="899160" y="34290"/>
                      <a:pt x="906780" y="48260"/>
                    </a:cubicBezTo>
                    <a:cubicBezTo>
                      <a:pt x="911860" y="59690"/>
                      <a:pt x="914400" y="72390"/>
                      <a:pt x="913130" y="85090"/>
                    </a:cubicBezTo>
                    <a:cubicBezTo>
                      <a:pt x="910590" y="100330"/>
                      <a:pt x="890270" y="134620"/>
                      <a:pt x="890270" y="134620"/>
                    </a:cubicBezTo>
                  </a:path>
                </a:pathLst>
              </a:custGeom>
              <a:solidFill>
                <a:srgbClr val="295BBE"/>
              </a:solidFill>
              <a:ln cap="sq">
                <a:noFill/>
                <a:prstDash val="solid"/>
                <a:miter/>
              </a:ln>
            </p:spPr>
          </p:sp>
        </p:grpSp>
        <p:grpSp>
          <p:nvGrpSpPr>
            <p:cNvPr name="Group 75" id="75"/>
            <p:cNvGrpSpPr/>
            <p:nvPr/>
          </p:nvGrpSpPr>
          <p:grpSpPr>
            <a:xfrm rot="0">
              <a:off x="5285740" y="6079461"/>
              <a:ext cx="646430" cy="492760"/>
              <a:chOff x="0" y="0"/>
              <a:chExt cx="646430" cy="492760"/>
            </a:xfrm>
          </p:grpSpPr>
          <p:sp>
            <p:nvSpPr>
              <p:cNvPr name="Freeform 76" id="76"/>
              <p:cNvSpPr/>
              <p:nvPr/>
            </p:nvSpPr>
            <p:spPr>
              <a:xfrm flipH="false" flipV="false" rot="0">
                <a:off x="45720" y="45720"/>
                <a:ext cx="553720" cy="401320"/>
              </a:xfrm>
              <a:custGeom>
                <a:avLst/>
                <a:gdLst/>
                <a:ahLst/>
                <a:cxnLst/>
                <a:rect r="r" b="b" t="t" l="l"/>
                <a:pathLst>
                  <a:path h="401320" w="553720">
                    <a:moveTo>
                      <a:pt x="38100" y="255270"/>
                    </a:moveTo>
                    <a:cubicBezTo>
                      <a:pt x="474980" y="0"/>
                      <a:pt x="487680" y="5080"/>
                      <a:pt x="502920" y="12700"/>
                    </a:cubicBezTo>
                    <a:cubicBezTo>
                      <a:pt x="519430" y="20320"/>
                      <a:pt x="534670" y="34290"/>
                      <a:pt x="542290" y="50800"/>
                    </a:cubicBezTo>
                    <a:cubicBezTo>
                      <a:pt x="549910" y="71120"/>
                      <a:pt x="548640" y="110490"/>
                      <a:pt x="539750" y="130810"/>
                    </a:cubicBezTo>
                    <a:cubicBezTo>
                      <a:pt x="532130" y="147320"/>
                      <a:pt x="515620" y="160020"/>
                      <a:pt x="499110" y="167640"/>
                    </a:cubicBezTo>
                    <a:cubicBezTo>
                      <a:pt x="483870" y="173990"/>
                      <a:pt x="462280" y="177800"/>
                      <a:pt x="444500" y="171450"/>
                    </a:cubicBezTo>
                    <a:cubicBezTo>
                      <a:pt x="424180" y="163830"/>
                      <a:pt x="393700" y="139700"/>
                      <a:pt x="386080" y="118110"/>
                    </a:cubicBezTo>
                    <a:cubicBezTo>
                      <a:pt x="377190" y="96520"/>
                      <a:pt x="384810" y="58420"/>
                      <a:pt x="396240" y="39370"/>
                    </a:cubicBezTo>
                    <a:cubicBezTo>
                      <a:pt x="406400" y="22860"/>
                      <a:pt x="424180" y="12700"/>
                      <a:pt x="440690" y="7620"/>
                    </a:cubicBezTo>
                    <a:cubicBezTo>
                      <a:pt x="457200" y="2540"/>
                      <a:pt x="478790" y="1270"/>
                      <a:pt x="495300" y="8890"/>
                    </a:cubicBezTo>
                    <a:cubicBezTo>
                      <a:pt x="515620" y="17780"/>
                      <a:pt x="541020" y="46990"/>
                      <a:pt x="548640" y="68580"/>
                    </a:cubicBezTo>
                    <a:cubicBezTo>
                      <a:pt x="553720" y="85090"/>
                      <a:pt x="551180" y="106680"/>
                      <a:pt x="543560" y="121920"/>
                    </a:cubicBezTo>
                    <a:cubicBezTo>
                      <a:pt x="537210" y="138430"/>
                      <a:pt x="528320" y="146050"/>
                      <a:pt x="508000" y="162560"/>
                    </a:cubicBezTo>
                    <a:cubicBezTo>
                      <a:pt x="447040" y="212090"/>
                      <a:pt x="175260" y="377190"/>
                      <a:pt x="101600" y="394970"/>
                    </a:cubicBezTo>
                    <a:cubicBezTo>
                      <a:pt x="76200" y="401320"/>
                      <a:pt x="62230" y="398780"/>
                      <a:pt x="46990" y="392430"/>
                    </a:cubicBezTo>
                    <a:cubicBezTo>
                      <a:pt x="31750" y="384810"/>
                      <a:pt x="15240" y="369570"/>
                      <a:pt x="7620" y="353060"/>
                    </a:cubicBezTo>
                    <a:cubicBezTo>
                      <a:pt x="1270" y="337820"/>
                      <a:pt x="0" y="314960"/>
                      <a:pt x="5080" y="298450"/>
                    </a:cubicBezTo>
                    <a:cubicBezTo>
                      <a:pt x="8890" y="283210"/>
                      <a:pt x="38100" y="255270"/>
                      <a:pt x="38100" y="255270"/>
                    </a:cubicBezTo>
                  </a:path>
                </a:pathLst>
              </a:custGeom>
              <a:solidFill>
                <a:srgbClr val="295BBE"/>
              </a:solidFill>
              <a:ln cap="sq">
                <a:noFill/>
                <a:prstDash val="solid"/>
                <a:miter/>
              </a:ln>
            </p:spPr>
          </p:sp>
        </p:grpSp>
        <p:grpSp>
          <p:nvGrpSpPr>
            <p:cNvPr name="Group 77" id="77"/>
            <p:cNvGrpSpPr/>
            <p:nvPr/>
          </p:nvGrpSpPr>
          <p:grpSpPr>
            <a:xfrm rot="0">
              <a:off x="3788410" y="6301711"/>
              <a:ext cx="1113790" cy="637540"/>
              <a:chOff x="0" y="0"/>
              <a:chExt cx="1113790" cy="637540"/>
            </a:xfrm>
          </p:grpSpPr>
          <p:sp>
            <p:nvSpPr>
              <p:cNvPr name="Freeform 78" id="78"/>
              <p:cNvSpPr/>
              <p:nvPr/>
            </p:nvSpPr>
            <p:spPr>
              <a:xfrm flipH="false" flipV="false" rot="0">
                <a:off x="50800" y="48260"/>
                <a:ext cx="1016000" cy="549910"/>
              </a:xfrm>
              <a:custGeom>
                <a:avLst/>
                <a:gdLst/>
                <a:ahLst/>
                <a:cxnLst/>
                <a:rect r="r" b="b" t="t" l="l"/>
                <a:pathLst>
                  <a:path h="549910" w="1016000">
                    <a:moveTo>
                      <a:pt x="120650" y="15240"/>
                    </a:moveTo>
                    <a:cubicBezTo>
                      <a:pt x="429260" y="185420"/>
                      <a:pt x="462280" y="217170"/>
                      <a:pt x="515620" y="247650"/>
                    </a:cubicBezTo>
                    <a:cubicBezTo>
                      <a:pt x="577850" y="283210"/>
                      <a:pt x="656590" y="330200"/>
                      <a:pt x="726440" y="347980"/>
                    </a:cubicBezTo>
                    <a:cubicBezTo>
                      <a:pt x="791210" y="364490"/>
                      <a:pt x="877570" y="349250"/>
                      <a:pt x="922020" y="358140"/>
                    </a:cubicBezTo>
                    <a:cubicBezTo>
                      <a:pt x="946150" y="361950"/>
                      <a:pt x="962660" y="363220"/>
                      <a:pt x="976630" y="375920"/>
                    </a:cubicBezTo>
                    <a:cubicBezTo>
                      <a:pt x="994410" y="392430"/>
                      <a:pt x="1013460" y="427990"/>
                      <a:pt x="1012190" y="453390"/>
                    </a:cubicBezTo>
                    <a:cubicBezTo>
                      <a:pt x="1010920" y="477520"/>
                      <a:pt x="988060" y="511810"/>
                      <a:pt x="969010" y="525780"/>
                    </a:cubicBezTo>
                    <a:cubicBezTo>
                      <a:pt x="953770" y="535940"/>
                      <a:pt x="930910" y="539750"/>
                      <a:pt x="913130" y="537210"/>
                    </a:cubicBezTo>
                    <a:cubicBezTo>
                      <a:pt x="894080" y="535940"/>
                      <a:pt x="873760" y="528320"/>
                      <a:pt x="861060" y="513080"/>
                    </a:cubicBezTo>
                    <a:cubicBezTo>
                      <a:pt x="844550" y="496570"/>
                      <a:pt x="831850" y="457200"/>
                      <a:pt x="833120" y="433070"/>
                    </a:cubicBezTo>
                    <a:cubicBezTo>
                      <a:pt x="835660" y="414020"/>
                      <a:pt x="847090" y="394970"/>
                      <a:pt x="861060" y="382270"/>
                    </a:cubicBezTo>
                    <a:cubicBezTo>
                      <a:pt x="873760" y="369570"/>
                      <a:pt x="892810" y="359410"/>
                      <a:pt x="913130" y="358140"/>
                    </a:cubicBezTo>
                    <a:cubicBezTo>
                      <a:pt x="935990" y="358140"/>
                      <a:pt x="975360" y="370840"/>
                      <a:pt x="990600" y="389890"/>
                    </a:cubicBezTo>
                    <a:cubicBezTo>
                      <a:pt x="1007110" y="408940"/>
                      <a:pt x="1016000" y="448310"/>
                      <a:pt x="1009650" y="472440"/>
                    </a:cubicBezTo>
                    <a:cubicBezTo>
                      <a:pt x="1002030" y="496570"/>
                      <a:pt x="979170" y="520700"/>
                      <a:pt x="951230" y="533400"/>
                    </a:cubicBezTo>
                    <a:cubicBezTo>
                      <a:pt x="913130" y="549910"/>
                      <a:pt x="844550" y="543560"/>
                      <a:pt x="791210" y="537210"/>
                    </a:cubicBezTo>
                    <a:cubicBezTo>
                      <a:pt x="737870" y="532130"/>
                      <a:pt x="670560" y="516890"/>
                      <a:pt x="629920" y="499110"/>
                    </a:cubicBezTo>
                    <a:cubicBezTo>
                      <a:pt x="603250" y="487680"/>
                      <a:pt x="594360" y="469900"/>
                      <a:pt x="567690" y="455930"/>
                    </a:cubicBezTo>
                    <a:cubicBezTo>
                      <a:pt x="530860" y="434340"/>
                      <a:pt x="480060" y="424180"/>
                      <a:pt x="421640" y="392430"/>
                    </a:cubicBezTo>
                    <a:cubicBezTo>
                      <a:pt x="318770" y="337820"/>
                      <a:pt x="68580" y="190500"/>
                      <a:pt x="20320" y="130810"/>
                    </a:cubicBezTo>
                    <a:cubicBezTo>
                      <a:pt x="3810" y="110490"/>
                      <a:pt x="0" y="96520"/>
                      <a:pt x="0" y="78740"/>
                    </a:cubicBezTo>
                    <a:cubicBezTo>
                      <a:pt x="0" y="62230"/>
                      <a:pt x="7620" y="40640"/>
                      <a:pt x="19050" y="27940"/>
                    </a:cubicBezTo>
                    <a:cubicBezTo>
                      <a:pt x="30480" y="15240"/>
                      <a:pt x="50800" y="3810"/>
                      <a:pt x="67310" y="2540"/>
                    </a:cubicBezTo>
                    <a:cubicBezTo>
                      <a:pt x="85090" y="0"/>
                      <a:pt x="120650" y="15240"/>
                      <a:pt x="120650" y="15240"/>
                    </a:cubicBezTo>
                  </a:path>
                </a:pathLst>
              </a:custGeom>
              <a:solidFill>
                <a:srgbClr val="295BBE"/>
              </a:solidFill>
              <a:ln cap="sq">
                <a:noFill/>
                <a:prstDash val="solid"/>
                <a:miter/>
              </a:ln>
            </p:spPr>
          </p:sp>
        </p:grpSp>
        <p:grpSp>
          <p:nvGrpSpPr>
            <p:cNvPr name="Group 79" id="79"/>
            <p:cNvGrpSpPr/>
            <p:nvPr/>
          </p:nvGrpSpPr>
          <p:grpSpPr>
            <a:xfrm rot="0">
              <a:off x="3676650" y="6245831"/>
              <a:ext cx="421640" cy="370840"/>
              <a:chOff x="0" y="0"/>
              <a:chExt cx="421640" cy="370840"/>
            </a:xfrm>
          </p:grpSpPr>
          <p:sp>
            <p:nvSpPr>
              <p:cNvPr name="Freeform 80" id="80"/>
              <p:cNvSpPr/>
              <p:nvPr/>
            </p:nvSpPr>
            <p:spPr>
              <a:xfrm flipH="false" flipV="false" rot="0">
                <a:off x="49530" y="46990"/>
                <a:ext cx="325120" cy="274320"/>
              </a:xfrm>
              <a:custGeom>
                <a:avLst/>
                <a:gdLst/>
                <a:ahLst/>
                <a:cxnLst/>
                <a:rect r="r" b="b" t="t" l="l"/>
                <a:pathLst>
                  <a:path h="274320" w="325120">
                    <a:moveTo>
                      <a:pt x="115570" y="11430"/>
                    </a:moveTo>
                    <a:cubicBezTo>
                      <a:pt x="256540" y="87630"/>
                      <a:pt x="299720" y="127000"/>
                      <a:pt x="313690" y="154940"/>
                    </a:cubicBezTo>
                    <a:cubicBezTo>
                      <a:pt x="322580" y="172720"/>
                      <a:pt x="323850" y="190500"/>
                      <a:pt x="321310" y="207010"/>
                    </a:cubicBezTo>
                    <a:cubicBezTo>
                      <a:pt x="317500" y="222250"/>
                      <a:pt x="308610" y="241300"/>
                      <a:pt x="295910" y="251460"/>
                    </a:cubicBezTo>
                    <a:cubicBezTo>
                      <a:pt x="284480" y="262890"/>
                      <a:pt x="265430" y="271780"/>
                      <a:pt x="248920" y="273050"/>
                    </a:cubicBezTo>
                    <a:cubicBezTo>
                      <a:pt x="232410" y="274320"/>
                      <a:pt x="212090" y="271780"/>
                      <a:pt x="198120" y="261620"/>
                    </a:cubicBezTo>
                    <a:cubicBezTo>
                      <a:pt x="180340" y="248920"/>
                      <a:pt x="160020" y="217170"/>
                      <a:pt x="160020" y="195580"/>
                    </a:cubicBezTo>
                    <a:cubicBezTo>
                      <a:pt x="158750" y="172720"/>
                      <a:pt x="173990" y="139700"/>
                      <a:pt x="193040" y="127000"/>
                    </a:cubicBezTo>
                    <a:cubicBezTo>
                      <a:pt x="210820" y="113030"/>
                      <a:pt x="246380" y="107950"/>
                      <a:pt x="267970" y="115570"/>
                    </a:cubicBezTo>
                    <a:cubicBezTo>
                      <a:pt x="289560" y="123190"/>
                      <a:pt x="313690" y="149860"/>
                      <a:pt x="320040" y="171450"/>
                    </a:cubicBezTo>
                    <a:cubicBezTo>
                      <a:pt x="325120" y="193040"/>
                      <a:pt x="316230" y="228600"/>
                      <a:pt x="302260" y="245110"/>
                    </a:cubicBezTo>
                    <a:cubicBezTo>
                      <a:pt x="287020" y="262890"/>
                      <a:pt x="251460" y="273050"/>
                      <a:pt x="231140" y="273050"/>
                    </a:cubicBezTo>
                    <a:cubicBezTo>
                      <a:pt x="213360" y="271780"/>
                      <a:pt x="198120" y="261620"/>
                      <a:pt x="184150" y="250190"/>
                    </a:cubicBezTo>
                    <a:cubicBezTo>
                      <a:pt x="168910" y="237490"/>
                      <a:pt x="166370" y="212090"/>
                      <a:pt x="147320" y="195580"/>
                    </a:cubicBezTo>
                    <a:cubicBezTo>
                      <a:pt x="120650" y="172720"/>
                      <a:pt x="49530" y="160020"/>
                      <a:pt x="25400" y="137160"/>
                    </a:cubicBezTo>
                    <a:cubicBezTo>
                      <a:pt x="11430" y="121920"/>
                      <a:pt x="2540" y="104140"/>
                      <a:pt x="1270" y="87630"/>
                    </a:cubicBezTo>
                    <a:cubicBezTo>
                      <a:pt x="0" y="71120"/>
                      <a:pt x="5080" y="48260"/>
                      <a:pt x="15240" y="34290"/>
                    </a:cubicBezTo>
                    <a:cubicBezTo>
                      <a:pt x="25400" y="20320"/>
                      <a:pt x="44450" y="7620"/>
                      <a:pt x="60960" y="3810"/>
                    </a:cubicBezTo>
                    <a:cubicBezTo>
                      <a:pt x="77470" y="0"/>
                      <a:pt x="115570" y="11430"/>
                      <a:pt x="115570" y="11430"/>
                    </a:cubicBezTo>
                  </a:path>
                </a:pathLst>
              </a:custGeom>
              <a:solidFill>
                <a:srgbClr val="295BBE"/>
              </a:solidFill>
              <a:ln cap="sq">
                <a:noFill/>
                <a:prstDash val="solid"/>
                <a:miter/>
              </a:ln>
            </p:spPr>
          </p:sp>
        </p:grpSp>
        <p:grpSp>
          <p:nvGrpSpPr>
            <p:cNvPr name="Group 81" id="81"/>
            <p:cNvGrpSpPr/>
            <p:nvPr/>
          </p:nvGrpSpPr>
          <p:grpSpPr>
            <a:xfrm rot="0">
              <a:off x="3751580" y="6281391"/>
              <a:ext cx="251460" cy="246380"/>
              <a:chOff x="0" y="0"/>
              <a:chExt cx="251460" cy="246380"/>
            </a:xfrm>
          </p:grpSpPr>
          <p:sp>
            <p:nvSpPr>
              <p:cNvPr name="Freeform 82" id="82"/>
              <p:cNvSpPr/>
              <p:nvPr/>
            </p:nvSpPr>
            <p:spPr>
              <a:xfrm flipH="false" flipV="false" rot="0">
                <a:off x="50800" y="49530"/>
                <a:ext cx="148590" cy="151130"/>
              </a:xfrm>
              <a:custGeom>
                <a:avLst/>
                <a:gdLst/>
                <a:ahLst/>
                <a:cxnLst/>
                <a:rect r="r" b="b" t="t" l="l"/>
                <a:pathLst>
                  <a:path h="151130" w="148590">
                    <a:moveTo>
                      <a:pt x="148590" y="53340"/>
                    </a:moveTo>
                    <a:cubicBezTo>
                      <a:pt x="129540" y="134620"/>
                      <a:pt x="120650" y="140970"/>
                      <a:pt x="107950" y="144780"/>
                    </a:cubicBezTo>
                    <a:cubicBezTo>
                      <a:pt x="90170" y="151130"/>
                      <a:pt x="53340" y="148590"/>
                      <a:pt x="36830" y="140970"/>
                    </a:cubicBezTo>
                    <a:cubicBezTo>
                      <a:pt x="25400" y="135890"/>
                      <a:pt x="17780" y="125730"/>
                      <a:pt x="11430" y="115570"/>
                    </a:cubicBezTo>
                    <a:cubicBezTo>
                      <a:pt x="5080" y="105410"/>
                      <a:pt x="0" y="93980"/>
                      <a:pt x="0" y="80010"/>
                    </a:cubicBezTo>
                    <a:cubicBezTo>
                      <a:pt x="1270" y="62230"/>
                      <a:pt x="16510" y="29210"/>
                      <a:pt x="29210" y="15240"/>
                    </a:cubicBezTo>
                    <a:cubicBezTo>
                      <a:pt x="39370" y="6350"/>
                      <a:pt x="49530" y="1270"/>
                      <a:pt x="62230" y="1270"/>
                    </a:cubicBezTo>
                    <a:cubicBezTo>
                      <a:pt x="81280" y="0"/>
                      <a:pt x="130810" y="21590"/>
                      <a:pt x="130810" y="21590"/>
                    </a:cubicBezTo>
                  </a:path>
                </a:pathLst>
              </a:custGeom>
              <a:solidFill>
                <a:srgbClr val="295BBE"/>
              </a:solidFill>
              <a:ln cap="sq">
                <a:noFill/>
                <a:prstDash val="solid"/>
                <a:miter/>
              </a:ln>
            </p:spPr>
          </p:sp>
        </p:grpSp>
        <p:grpSp>
          <p:nvGrpSpPr>
            <p:cNvPr name="Group 83" id="83"/>
            <p:cNvGrpSpPr/>
            <p:nvPr/>
          </p:nvGrpSpPr>
          <p:grpSpPr>
            <a:xfrm rot="0">
              <a:off x="4319270" y="3834101"/>
              <a:ext cx="810260" cy="869950"/>
              <a:chOff x="0" y="0"/>
              <a:chExt cx="810260" cy="869950"/>
            </a:xfrm>
          </p:grpSpPr>
          <p:sp>
            <p:nvSpPr>
              <p:cNvPr name="Freeform 84" id="84"/>
              <p:cNvSpPr/>
              <p:nvPr/>
            </p:nvSpPr>
            <p:spPr>
              <a:xfrm flipH="false" flipV="false" rot="0">
                <a:off x="48260" y="44450"/>
                <a:ext cx="718820" cy="778510"/>
              </a:xfrm>
              <a:custGeom>
                <a:avLst/>
                <a:gdLst/>
                <a:ahLst/>
                <a:cxnLst/>
                <a:rect r="r" b="b" t="t" l="l"/>
                <a:pathLst>
                  <a:path h="778510" w="718820">
                    <a:moveTo>
                      <a:pt x="670560" y="152400"/>
                    </a:moveTo>
                    <a:cubicBezTo>
                      <a:pt x="228600" y="359410"/>
                      <a:pt x="146050" y="410210"/>
                      <a:pt x="149860" y="419100"/>
                    </a:cubicBezTo>
                    <a:cubicBezTo>
                      <a:pt x="152400" y="425450"/>
                      <a:pt x="203200" y="403860"/>
                      <a:pt x="228600" y="407670"/>
                    </a:cubicBezTo>
                    <a:cubicBezTo>
                      <a:pt x="254000" y="410210"/>
                      <a:pt x="271780" y="421640"/>
                      <a:pt x="300990" y="436880"/>
                    </a:cubicBezTo>
                    <a:cubicBezTo>
                      <a:pt x="354330" y="466090"/>
                      <a:pt x="450850" y="553720"/>
                      <a:pt x="510540" y="576580"/>
                    </a:cubicBezTo>
                    <a:cubicBezTo>
                      <a:pt x="551180" y="593090"/>
                      <a:pt x="591820" y="586740"/>
                      <a:pt x="617220" y="595630"/>
                    </a:cubicBezTo>
                    <a:cubicBezTo>
                      <a:pt x="633730" y="600710"/>
                      <a:pt x="645160" y="605790"/>
                      <a:pt x="655320" y="615950"/>
                    </a:cubicBezTo>
                    <a:cubicBezTo>
                      <a:pt x="666750" y="624840"/>
                      <a:pt x="675640" y="637540"/>
                      <a:pt x="680720" y="651510"/>
                    </a:cubicBezTo>
                    <a:cubicBezTo>
                      <a:pt x="685800" y="664210"/>
                      <a:pt x="688340" y="679450"/>
                      <a:pt x="685800" y="694690"/>
                    </a:cubicBezTo>
                    <a:cubicBezTo>
                      <a:pt x="681990" y="712470"/>
                      <a:pt x="670560" y="737870"/>
                      <a:pt x="655320" y="751840"/>
                    </a:cubicBezTo>
                    <a:cubicBezTo>
                      <a:pt x="641350" y="764540"/>
                      <a:pt x="595630" y="774700"/>
                      <a:pt x="595630" y="773430"/>
                    </a:cubicBezTo>
                    <a:cubicBezTo>
                      <a:pt x="594360" y="772160"/>
                      <a:pt x="669290" y="732790"/>
                      <a:pt x="670560" y="735330"/>
                    </a:cubicBezTo>
                    <a:cubicBezTo>
                      <a:pt x="670560" y="736600"/>
                      <a:pt x="642620" y="764540"/>
                      <a:pt x="623570" y="769620"/>
                    </a:cubicBezTo>
                    <a:cubicBezTo>
                      <a:pt x="600710" y="774700"/>
                      <a:pt x="560070" y="770890"/>
                      <a:pt x="539750" y="754380"/>
                    </a:cubicBezTo>
                    <a:cubicBezTo>
                      <a:pt x="520700" y="739140"/>
                      <a:pt x="502920" y="702310"/>
                      <a:pt x="505460" y="676910"/>
                    </a:cubicBezTo>
                    <a:cubicBezTo>
                      <a:pt x="506730" y="652780"/>
                      <a:pt x="528320" y="617220"/>
                      <a:pt x="549910" y="604520"/>
                    </a:cubicBezTo>
                    <a:cubicBezTo>
                      <a:pt x="571500" y="591820"/>
                      <a:pt x="612140" y="593090"/>
                      <a:pt x="635000" y="600710"/>
                    </a:cubicBezTo>
                    <a:cubicBezTo>
                      <a:pt x="652780" y="608330"/>
                      <a:pt x="668020" y="624840"/>
                      <a:pt x="676910" y="641350"/>
                    </a:cubicBezTo>
                    <a:cubicBezTo>
                      <a:pt x="684530" y="657860"/>
                      <a:pt x="689610" y="680720"/>
                      <a:pt x="684530" y="698500"/>
                    </a:cubicBezTo>
                    <a:cubicBezTo>
                      <a:pt x="679450" y="721360"/>
                      <a:pt x="655320" y="755650"/>
                      <a:pt x="632460" y="765810"/>
                    </a:cubicBezTo>
                    <a:cubicBezTo>
                      <a:pt x="609600" y="775970"/>
                      <a:pt x="568960" y="773430"/>
                      <a:pt x="547370" y="760730"/>
                    </a:cubicBezTo>
                    <a:cubicBezTo>
                      <a:pt x="527050" y="746760"/>
                      <a:pt x="509270" y="706120"/>
                      <a:pt x="505460" y="687070"/>
                    </a:cubicBezTo>
                    <a:cubicBezTo>
                      <a:pt x="502920" y="675640"/>
                      <a:pt x="502920" y="668020"/>
                      <a:pt x="508000" y="657860"/>
                    </a:cubicBezTo>
                    <a:cubicBezTo>
                      <a:pt x="519430" y="638810"/>
                      <a:pt x="570230" y="598170"/>
                      <a:pt x="595630" y="593090"/>
                    </a:cubicBezTo>
                    <a:cubicBezTo>
                      <a:pt x="610870" y="589280"/>
                      <a:pt x="624840" y="596900"/>
                      <a:pt x="637540" y="603250"/>
                    </a:cubicBezTo>
                    <a:cubicBezTo>
                      <a:pt x="650240" y="609600"/>
                      <a:pt x="662940" y="619760"/>
                      <a:pt x="670560" y="631190"/>
                    </a:cubicBezTo>
                    <a:cubicBezTo>
                      <a:pt x="678180" y="643890"/>
                      <a:pt x="684530" y="657860"/>
                      <a:pt x="685800" y="671830"/>
                    </a:cubicBezTo>
                    <a:cubicBezTo>
                      <a:pt x="687070" y="685800"/>
                      <a:pt x="685800" y="702310"/>
                      <a:pt x="680720" y="715010"/>
                    </a:cubicBezTo>
                    <a:cubicBezTo>
                      <a:pt x="675640" y="728980"/>
                      <a:pt x="668020" y="741680"/>
                      <a:pt x="655320" y="751840"/>
                    </a:cubicBezTo>
                    <a:cubicBezTo>
                      <a:pt x="641350" y="762000"/>
                      <a:pt x="619760" y="770890"/>
                      <a:pt x="595630" y="773430"/>
                    </a:cubicBezTo>
                    <a:cubicBezTo>
                      <a:pt x="560070" y="778510"/>
                      <a:pt x="508000" y="774700"/>
                      <a:pt x="459740" y="755650"/>
                    </a:cubicBezTo>
                    <a:cubicBezTo>
                      <a:pt x="392430" y="731520"/>
                      <a:pt x="307340" y="651510"/>
                      <a:pt x="240030" y="613410"/>
                    </a:cubicBezTo>
                    <a:cubicBezTo>
                      <a:pt x="186690" y="581660"/>
                      <a:pt x="130810" y="563880"/>
                      <a:pt x="92710" y="537210"/>
                    </a:cubicBezTo>
                    <a:cubicBezTo>
                      <a:pt x="64770" y="516890"/>
                      <a:pt x="44450" y="499110"/>
                      <a:pt x="29210" y="474980"/>
                    </a:cubicBezTo>
                    <a:cubicBezTo>
                      <a:pt x="15240" y="453390"/>
                      <a:pt x="5080" y="427990"/>
                      <a:pt x="2540" y="402590"/>
                    </a:cubicBezTo>
                    <a:cubicBezTo>
                      <a:pt x="0" y="377190"/>
                      <a:pt x="0" y="349250"/>
                      <a:pt x="16510" y="322580"/>
                    </a:cubicBezTo>
                    <a:cubicBezTo>
                      <a:pt x="40640" y="281940"/>
                      <a:pt x="129540" y="231140"/>
                      <a:pt x="171450" y="201930"/>
                    </a:cubicBezTo>
                    <a:cubicBezTo>
                      <a:pt x="199390" y="182880"/>
                      <a:pt x="208280" y="175260"/>
                      <a:pt x="241300" y="157480"/>
                    </a:cubicBezTo>
                    <a:cubicBezTo>
                      <a:pt x="314960" y="120650"/>
                      <a:pt x="538480" y="24130"/>
                      <a:pt x="608330" y="8890"/>
                    </a:cubicBezTo>
                    <a:cubicBezTo>
                      <a:pt x="633730" y="2540"/>
                      <a:pt x="647700" y="0"/>
                      <a:pt x="664210" y="6350"/>
                    </a:cubicBezTo>
                    <a:cubicBezTo>
                      <a:pt x="680720" y="11430"/>
                      <a:pt x="698500" y="24130"/>
                      <a:pt x="707390" y="40640"/>
                    </a:cubicBezTo>
                    <a:cubicBezTo>
                      <a:pt x="716280" y="58420"/>
                      <a:pt x="718820" y="93980"/>
                      <a:pt x="711200" y="113030"/>
                    </a:cubicBezTo>
                    <a:cubicBezTo>
                      <a:pt x="704850" y="129540"/>
                      <a:pt x="670560" y="152400"/>
                      <a:pt x="670560" y="152400"/>
                    </a:cubicBezTo>
                  </a:path>
                </a:pathLst>
              </a:custGeom>
              <a:solidFill>
                <a:srgbClr val="295BBE"/>
              </a:solidFill>
              <a:ln cap="sq">
                <a:noFill/>
                <a:prstDash val="solid"/>
                <a:miter/>
              </a:ln>
            </p:spPr>
          </p:sp>
        </p:grpSp>
        <p:grpSp>
          <p:nvGrpSpPr>
            <p:cNvPr name="Group 85" id="85"/>
            <p:cNvGrpSpPr/>
            <p:nvPr/>
          </p:nvGrpSpPr>
          <p:grpSpPr>
            <a:xfrm rot="0">
              <a:off x="4927600" y="3761711"/>
              <a:ext cx="1103630" cy="565150"/>
              <a:chOff x="0" y="0"/>
              <a:chExt cx="1103630" cy="565150"/>
            </a:xfrm>
          </p:grpSpPr>
          <p:sp>
            <p:nvSpPr>
              <p:cNvPr name="Freeform 86" id="86"/>
              <p:cNvSpPr/>
              <p:nvPr/>
            </p:nvSpPr>
            <p:spPr>
              <a:xfrm flipH="false" flipV="false" rot="0">
                <a:off x="46990" y="45720"/>
                <a:ext cx="1010920" cy="474980"/>
              </a:xfrm>
              <a:custGeom>
                <a:avLst/>
                <a:gdLst/>
                <a:ahLst/>
                <a:cxnLst/>
                <a:rect r="r" b="b" t="t" l="l"/>
                <a:pathLst>
                  <a:path h="474980" w="1010920">
                    <a:moveTo>
                      <a:pt x="967740" y="312420"/>
                    </a:moveTo>
                    <a:cubicBezTo>
                      <a:pt x="716280" y="438150"/>
                      <a:pt x="651510" y="461010"/>
                      <a:pt x="610870" y="467360"/>
                    </a:cubicBezTo>
                    <a:cubicBezTo>
                      <a:pt x="585470" y="471170"/>
                      <a:pt x="566420" y="473710"/>
                      <a:pt x="548640" y="466090"/>
                    </a:cubicBezTo>
                    <a:cubicBezTo>
                      <a:pt x="530860" y="459740"/>
                      <a:pt x="513080" y="440690"/>
                      <a:pt x="505460" y="425450"/>
                    </a:cubicBezTo>
                    <a:cubicBezTo>
                      <a:pt x="497840" y="412750"/>
                      <a:pt x="496570" y="398780"/>
                      <a:pt x="496570" y="386080"/>
                    </a:cubicBezTo>
                    <a:cubicBezTo>
                      <a:pt x="496570" y="372110"/>
                      <a:pt x="501650" y="358140"/>
                      <a:pt x="508000" y="346710"/>
                    </a:cubicBezTo>
                    <a:cubicBezTo>
                      <a:pt x="514350" y="335280"/>
                      <a:pt x="521970" y="328930"/>
                      <a:pt x="534670" y="317500"/>
                    </a:cubicBezTo>
                    <a:cubicBezTo>
                      <a:pt x="565150" y="292100"/>
                      <a:pt x="635000" y="242570"/>
                      <a:pt x="688340" y="209550"/>
                    </a:cubicBezTo>
                    <a:cubicBezTo>
                      <a:pt x="742950" y="175260"/>
                      <a:pt x="821690" y="132080"/>
                      <a:pt x="859790" y="115570"/>
                    </a:cubicBezTo>
                    <a:cubicBezTo>
                      <a:pt x="877570" y="109220"/>
                      <a:pt x="885190" y="104140"/>
                      <a:pt x="900430" y="104140"/>
                    </a:cubicBezTo>
                    <a:cubicBezTo>
                      <a:pt x="918210" y="105410"/>
                      <a:pt x="944880" y="114300"/>
                      <a:pt x="960120" y="124460"/>
                    </a:cubicBezTo>
                    <a:cubicBezTo>
                      <a:pt x="971550" y="133350"/>
                      <a:pt x="979170" y="146050"/>
                      <a:pt x="984250" y="158750"/>
                    </a:cubicBezTo>
                    <a:cubicBezTo>
                      <a:pt x="990600" y="171450"/>
                      <a:pt x="993140" y="185420"/>
                      <a:pt x="991870" y="200660"/>
                    </a:cubicBezTo>
                    <a:cubicBezTo>
                      <a:pt x="988060" y="218440"/>
                      <a:pt x="981710" y="246380"/>
                      <a:pt x="963930" y="256540"/>
                    </a:cubicBezTo>
                    <a:cubicBezTo>
                      <a:pt x="941070" y="270510"/>
                      <a:pt x="876300" y="240030"/>
                      <a:pt x="850900" y="255270"/>
                    </a:cubicBezTo>
                    <a:cubicBezTo>
                      <a:pt x="830580" y="267970"/>
                      <a:pt x="835660" y="303530"/>
                      <a:pt x="814070" y="322580"/>
                    </a:cubicBezTo>
                    <a:cubicBezTo>
                      <a:pt x="783590" y="351790"/>
                      <a:pt x="717550" y="375920"/>
                      <a:pt x="664210" y="387350"/>
                    </a:cubicBezTo>
                    <a:cubicBezTo>
                      <a:pt x="608330" y="398780"/>
                      <a:pt x="552450" y="405130"/>
                      <a:pt x="483870" y="389890"/>
                    </a:cubicBezTo>
                    <a:cubicBezTo>
                      <a:pt x="381000" y="367030"/>
                      <a:pt x="196850" y="260350"/>
                      <a:pt x="115570" y="213360"/>
                    </a:cubicBezTo>
                    <a:cubicBezTo>
                      <a:pt x="72390" y="189230"/>
                      <a:pt x="39370" y="173990"/>
                      <a:pt x="21590" y="149860"/>
                    </a:cubicBezTo>
                    <a:cubicBezTo>
                      <a:pt x="8890" y="132080"/>
                      <a:pt x="2540" y="111760"/>
                      <a:pt x="3810" y="93980"/>
                    </a:cubicBezTo>
                    <a:cubicBezTo>
                      <a:pt x="3810" y="74930"/>
                      <a:pt x="11430" y="53340"/>
                      <a:pt x="21590" y="38100"/>
                    </a:cubicBezTo>
                    <a:cubicBezTo>
                      <a:pt x="33020" y="22860"/>
                      <a:pt x="53340" y="10160"/>
                      <a:pt x="71120" y="5080"/>
                    </a:cubicBezTo>
                    <a:cubicBezTo>
                      <a:pt x="88900" y="0"/>
                      <a:pt x="111760" y="0"/>
                      <a:pt x="129540" y="8890"/>
                    </a:cubicBezTo>
                    <a:cubicBezTo>
                      <a:pt x="151130" y="19050"/>
                      <a:pt x="177800" y="52070"/>
                      <a:pt x="185420" y="74930"/>
                    </a:cubicBezTo>
                    <a:cubicBezTo>
                      <a:pt x="190500" y="92710"/>
                      <a:pt x="187960" y="115570"/>
                      <a:pt x="179070" y="133350"/>
                    </a:cubicBezTo>
                    <a:cubicBezTo>
                      <a:pt x="166370" y="153670"/>
                      <a:pt x="134620" y="180340"/>
                      <a:pt x="110490" y="185420"/>
                    </a:cubicBezTo>
                    <a:cubicBezTo>
                      <a:pt x="85090" y="189230"/>
                      <a:pt x="45720" y="175260"/>
                      <a:pt x="27940" y="157480"/>
                    </a:cubicBezTo>
                    <a:cubicBezTo>
                      <a:pt x="11430" y="138430"/>
                      <a:pt x="0" y="99060"/>
                      <a:pt x="5080" y="73660"/>
                    </a:cubicBezTo>
                    <a:cubicBezTo>
                      <a:pt x="11430" y="49530"/>
                      <a:pt x="39370" y="19050"/>
                      <a:pt x="60960" y="8890"/>
                    </a:cubicBezTo>
                    <a:cubicBezTo>
                      <a:pt x="78740" y="0"/>
                      <a:pt x="92710" y="0"/>
                      <a:pt x="120650" y="5080"/>
                    </a:cubicBezTo>
                    <a:cubicBezTo>
                      <a:pt x="198120" y="21590"/>
                      <a:pt x="459740" y="198120"/>
                      <a:pt x="546100" y="215900"/>
                    </a:cubicBezTo>
                    <a:cubicBezTo>
                      <a:pt x="580390" y="223520"/>
                      <a:pt x="596900" y="217170"/>
                      <a:pt x="622300" y="212090"/>
                    </a:cubicBezTo>
                    <a:cubicBezTo>
                      <a:pt x="648970" y="208280"/>
                      <a:pt x="670560" y="200660"/>
                      <a:pt x="701040" y="187960"/>
                    </a:cubicBezTo>
                    <a:cubicBezTo>
                      <a:pt x="746760" y="168910"/>
                      <a:pt x="816610" y="111760"/>
                      <a:pt x="863600" y="106680"/>
                    </a:cubicBezTo>
                    <a:cubicBezTo>
                      <a:pt x="897890" y="102870"/>
                      <a:pt x="956310" y="125730"/>
                      <a:pt x="955040" y="129540"/>
                    </a:cubicBezTo>
                    <a:cubicBezTo>
                      <a:pt x="955040" y="133350"/>
                      <a:pt x="843280" y="134620"/>
                      <a:pt x="842010" y="128270"/>
                    </a:cubicBezTo>
                    <a:cubicBezTo>
                      <a:pt x="842010" y="124460"/>
                      <a:pt x="881380" y="105410"/>
                      <a:pt x="900430" y="104140"/>
                    </a:cubicBezTo>
                    <a:cubicBezTo>
                      <a:pt x="919480" y="104140"/>
                      <a:pt x="944880" y="114300"/>
                      <a:pt x="960120" y="124460"/>
                    </a:cubicBezTo>
                    <a:cubicBezTo>
                      <a:pt x="971550" y="133350"/>
                      <a:pt x="979170" y="146050"/>
                      <a:pt x="984250" y="158750"/>
                    </a:cubicBezTo>
                    <a:cubicBezTo>
                      <a:pt x="990600" y="171450"/>
                      <a:pt x="993140" y="185420"/>
                      <a:pt x="991870" y="200660"/>
                    </a:cubicBezTo>
                    <a:cubicBezTo>
                      <a:pt x="988060" y="218440"/>
                      <a:pt x="982980" y="234950"/>
                      <a:pt x="963930" y="256540"/>
                    </a:cubicBezTo>
                    <a:cubicBezTo>
                      <a:pt x="914400" y="311150"/>
                      <a:pt x="679450" y="449580"/>
                      <a:pt x="608330" y="468630"/>
                    </a:cubicBezTo>
                    <a:cubicBezTo>
                      <a:pt x="581660" y="474980"/>
                      <a:pt x="565150" y="472440"/>
                      <a:pt x="548640" y="466090"/>
                    </a:cubicBezTo>
                    <a:cubicBezTo>
                      <a:pt x="535940" y="462280"/>
                      <a:pt x="524510" y="452120"/>
                      <a:pt x="516890" y="441960"/>
                    </a:cubicBezTo>
                    <a:cubicBezTo>
                      <a:pt x="508000" y="431800"/>
                      <a:pt x="501650" y="419100"/>
                      <a:pt x="499110" y="406400"/>
                    </a:cubicBezTo>
                    <a:cubicBezTo>
                      <a:pt x="495300" y="393700"/>
                      <a:pt x="496570" y="378460"/>
                      <a:pt x="500380" y="365760"/>
                    </a:cubicBezTo>
                    <a:cubicBezTo>
                      <a:pt x="502920" y="353060"/>
                      <a:pt x="505460" y="342900"/>
                      <a:pt x="519430" y="330200"/>
                    </a:cubicBezTo>
                    <a:cubicBezTo>
                      <a:pt x="554990" y="300990"/>
                      <a:pt x="699770" y="269240"/>
                      <a:pt x="767080" y="240030"/>
                    </a:cubicBezTo>
                    <a:cubicBezTo>
                      <a:pt x="817880" y="217170"/>
                      <a:pt x="861060" y="184150"/>
                      <a:pt x="896620" y="173990"/>
                    </a:cubicBezTo>
                    <a:cubicBezTo>
                      <a:pt x="918210" y="166370"/>
                      <a:pt x="934720" y="162560"/>
                      <a:pt x="951230" y="167640"/>
                    </a:cubicBezTo>
                    <a:cubicBezTo>
                      <a:pt x="967740" y="171450"/>
                      <a:pt x="988060" y="184150"/>
                      <a:pt x="996950" y="199390"/>
                    </a:cubicBezTo>
                    <a:cubicBezTo>
                      <a:pt x="1007110" y="217170"/>
                      <a:pt x="1010920" y="251460"/>
                      <a:pt x="1004570" y="271780"/>
                    </a:cubicBezTo>
                    <a:cubicBezTo>
                      <a:pt x="999490" y="288290"/>
                      <a:pt x="967740" y="312420"/>
                      <a:pt x="967740" y="312420"/>
                    </a:cubicBezTo>
                  </a:path>
                </a:pathLst>
              </a:custGeom>
              <a:solidFill>
                <a:srgbClr val="295BBE"/>
              </a:solidFill>
              <a:ln cap="sq">
                <a:noFill/>
                <a:prstDash val="solid"/>
                <a:miter/>
              </a:ln>
            </p:spPr>
          </p:sp>
        </p:grpSp>
        <p:grpSp>
          <p:nvGrpSpPr>
            <p:cNvPr name="Group 87" id="87"/>
            <p:cNvGrpSpPr/>
            <p:nvPr/>
          </p:nvGrpSpPr>
          <p:grpSpPr>
            <a:xfrm rot="0">
              <a:off x="4734560" y="3721071"/>
              <a:ext cx="1036320" cy="529590"/>
              <a:chOff x="0" y="0"/>
              <a:chExt cx="1036320" cy="529590"/>
            </a:xfrm>
          </p:grpSpPr>
          <p:sp>
            <p:nvSpPr>
              <p:cNvPr name="Freeform 88" id="88"/>
              <p:cNvSpPr/>
              <p:nvPr/>
            </p:nvSpPr>
            <p:spPr>
              <a:xfrm flipH="false" flipV="false" rot="0">
                <a:off x="45720" y="49530"/>
                <a:ext cx="942340" cy="433070"/>
              </a:xfrm>
              <a:custGeom>
                <a:avLst/>
                <a:gdLst/>
                <a:ahLst/>
                <a:cxnLst/>
                <a:rect r="r" b="b" t="t" l="l"/>
                <a:pathLst>
                  <a:path h="433070" w="942340">
                    <a:moveTo>
                      <a:pt x="96520" y="1270"/>
                    </a:moveTo>
                    <a:cubicBezTo>
                      <a:pt x="227330" y="34290"/>
                      <a:pt x="252730" y="16510"/>
                      <a:pt x="283210" y="17780"/>
                    </a:cubicBezTo>
                    <a:cubicBezTo>
                      <a:pt x="317500" y="17780"/>
                      <a:pt x="347980" y="26670"/>
                      <a:pt x="394970" y="41910"/>
                    </a:cubicBezTo>
                    <a:cubicBezTo>
                      <a:pt x="483870" y="72390"/>
                      <a:pt x="695960" y="162560"/>
                      <a:pt x="767080" y="209550"/>
                    </a:cubicBezTo>
                    <a:cubicBezTo>
                      <a:pt x="800100" y="231140"/>
                      <a:pt x="807720" y="259080"/>
                      <a:pt x="831850" y="267970"/>
                    </a:cubicBezTo>
                    <a:cubicBezTo>
                      <a:pt x="852170" y="275590"/>
                      <a:pt x="880110" y="256540"/>
                      <a:pt x="897890" y="266700"/>
                    </a:cubicBezTo>
                    <a:cubicBezTo>
                      <a:pt x="916940" y="276860"/>
                      <a:pt x="937260" y="316230"/>
                      <a:pt x="939800" y="339090"/>
                    </a:cubicBezTo>
                    <a:cubicBezTo>
                      <a:pt x="942340" y="358140"/>
                      <a:pt x="933450" y="378460"/>
                      <a:pt x="923290" y="393700"/>
                    </a:cubicBezTo>
                    <a:cubicBezTo>
                      <a:pt x="913130" y="408940"/>
                      <a:pt x="896620" y="422910"/>
                      <a:pt x="877570" y="427990"/>
                    </a:cubicBezTo>
                    <a:cubicBezTo>
                      <a:pt x="854710" y="433070"/>
                      <a:pt x="814070" y="425450"/>
                      <a:pt x="795020" y="412750"/>
                    </a:cubicBezTo>
                    <a:cubicBezTo>
                      <a:pt x="778510" y="402590"/>
                      <a:pt x="768350" y="382270"/>
                      <a:pt x="763270" y="365760"/>
                    </a:cubicBezTo>
                    <a:cubicBezTo>
                      <a:pt x="758190" y="347980"/>
                      <a:pt x="760730" y="325120"/>
                      <a:pt x="767080" y="308610"/>
                    </a:cubicBezTo>
                    <a:cubicBezTo>
                      <a:pt x="774700" y="292100"/>
                      <a:pt x="788670" y="274320"/>
                      <a:pt x="805180" y="265430"/>
                    </a:cubicBezTo>
                    <a:cubicBezTo>
                      <a:pt x="820420" y="256540"/>
                      <a:pt x="842010" y="250190"/>
                      <a:pt x="861060" y="254000"/>
                    </a:cubicBezTo>
                    <a:cubicBezTo>
                      <a:pt x="883920" y="257810"/>
                      <a:pt x="916940" y="281940"/>
                      <a:pt x="929640" y="300990"/>
                    </a:cubicBezTo>
                    <a:cubicBezTo>
                      <a:pt x="939800" y="317500"/>
                      <a:pt x="941070" y="340360"/>
                      <a:pt x="938530" y="358140"/>
                    </a:cubicBezTo>
                    <a:cubicBezTo>
                      <a:pt x="934720" y="375920"/>
                      <a:pt x="925830" y="396240"/>
                      <a:pt x="910590" y="408940"/>
                    </a:cubicBezTo>
                    <a:cubicBezTo>
                      <a:pt x="892810" y="422910"/>
                      <a:pt x="867410" y="433070"/>
                      <a:pt x="829310" y="429260"/>
                    </a:cubicBezTo>
                    <a:cubicBezTo>
                      <a:pt x="731520" y="420370"/>
                      <a:pt x="463550" y="232410"/>
                      <a:pt x="316230" y="186690"/>
                    </a:cubicBezTo>
                    <a:cubicBezTo>
                      <a:pt x="213360" y="154940"/>
                      <a:pt x="88900" y="170180"/>
                      <a:pt x="41910" y="144780"/>
                    </a:cubicBezTo>
                    <a:cubicBezTo>
                      <a:pt x="21590" y="133350"/>
                      <a:pt x="11430" y="119380"/>
                      <a:pt x="5080" y="104140"/>
                    </a:cubicBezTo>
                    <a:cubicBezTo>
                      <a:pt x="0" y="87630"/>
                      <a:pt x="0" y="64770"/>
                      <a:pt x="6350" y="49530"/>
                    </a:cubicBezTo>
                    <a:cubicBezTo>
                      <a:pt x="11430" y="33020"/>
                      <a:pt x="26670" y="16510"/>
                      <a:pt x="41910" y="7620"/>
                    </a:cubicBezTo>
                    <a:cubicBezTo>
                      <a:pt x="57150" y="0"/>
                      <a:pt x="96520" y="1270"/>
                      <a:pt x="96520" y="1270"/>
                    </a:cubicBezTo>
                  </a:path>
                </a:pathLst>
              </a:custGeom>
              <a:solidFill>
                <a:srgbClr val="295BBE"/>
              </a:solidFill>
              <a:ln cap="sq">
                <a:noFill/>
                <a:prstDash val="solid"/>
                <a:miter/>
              </a:ln>
            </p:spPr>
          </p:sp>
        </p:grpSp>
        <p:grpSp>
          <p:nvGrpSpPr>
            <p:cNvPr name="Group 89" id="89"/>
            <p:cNvGrpSpPr/>
            <p:nvPr/>
          </p:nvGrpSpPr>
          <p:grpSpPr>
            <a:xfrm rot="0">
              <a:off x="4780280" y="3705831"/>
              <a:ext cx="539750" cy="224790"/>
              <a:chOff x="0" y="0"/>
              <a:chExt cx="539750" cy="224790"/>
            </a:xfrm>
          </p:grpSpPr>
          <p:sp>
            <p:nvSpPr>
              <p:cNvPr name="Freeform 90" id="90"/>
              <p:cNvSpPr/>
              <p:nvPr/>
            </p:nvSpPr>
            <p:spPr>
              <a:xfrm flipH="false" flipV="false" rot="0">
                <a:off x="49530" y="50800"/>
                <a:ext cx="441960" cy="127000"/>
              </a:xfrm>
              <a:custGeom>
                <a:avLst/>
                <a:gdLst/>
                <a:ahLst/>
                <a:cxnLst/>
                <a:rect r="r" b="b" t="t" l="l"/>
                <a:pathLst>
                  <a:path h="127000" w="441960">
                    <a:moveTo>
                      <a:pt x="31750" y="0"/>
                    </a:moveTo>
                    <a:cubicBezTo>
                      <a:pt x="246380" y="21590"/>
                      <a:pt x="339090" y="31750"/>
                      <a:pt x="384810" y="52070"/>
                    </a:cubicBezTo>
                    <a:cubicBezTo>
                      <a:pt x="410210" y="62230"/>
                      <a:pt x="435610" y="77470"/>
                      <a:pt x="439420" y="91440"/>
                    </a:cubicBezTo>
                    <a:cubicBezTo>
                      <a:pt x="441960" y="100330"/>
                      <a:pt x="434340" y="115570"/>
                      <a:pt x="426720" y="119380"/>
                    </a:cubicBezTo>
                    <a:cubicBezTo>
                      <a:pt x="420370" y="123190"/>
                      <a:pt x="402590" y="120650"/>
                      <a:pt x="396240" y="115570"/>
                    </a:cubicBezTo>
                    <a:cubicBezTo>
                      <a:pt x="391160" y="110490"/>
                      <a:pt x="387350" y="99060"/>
                      <a:pt x="389890" y="92710"/>
                    </a:cubicBezTo>
                    <a:cubicBezTo>
                      <a:pt x="391160" y="85090"/>
                      <a:pt x="403860" y="73660"/>
                      <a:pt x="412750" y="72390"/>
                    </a:cubicBezTo>
                    <a:cubicBezTo>
                      <a:pt x="419100" y="71120"/>
                      <a:pt x="429260" y="76200"/>
                      <a:pt x="434340" y="81280"/>
                    </a:cubicBezTo>
                    <a:cubicBezTo>
                      <a:pt x="438150" y="86360"/>
                      <a:pt x="441960" y="97790"/>
                      <a:pt x="439420" y="104140"/>
                    </a:cubicBezTo>
                    <a:cubicBezTo>
                      <a:pt x="435610" y="111760"/>
                      <a:pt x="426720" y="120650"/>
                      <a:pt x="414020" y="123190"/>
                    </a:cubicBezTo>
                    <a:cubicBezTo>
                      <a:pt x="388620" y="127000"/>
                      <a:pt x="339090" y="91440"/>
                      <a:pt x="289560" y="80010"/>
                    </a:cubicBezTo>
                    <a:cubicBezTo>
                      <a:pt x="217170" y="64770"/>
                      <a:pt x="58420" y="71120"/>
                      <a:pt x="21590" y="49530"/>
                    </a:cubicBezTo>
                    <a:cubicBezTo>
                      <a:pt x="7620" y="41910"/>
                      <a:pt x="0" y="30480"/>
                      <a:pt x="1270" y="22860"/>
                    </a:cubicBezTo>
                    <a:cubicBezTo>
                      <a:pt x="2540" y="13970"/>
                      <a:pt x="31750" y="0"/>
                      <a:pt x="31750" y="0"/>
                    </a:cubicBezTo>
                  </a:path>
                </a:pathLst>
              </a:custGeom>
              <a:solidFill>
                <a:srgbClr val="295BBE"/>
              </a:solidFill>
              <a:ln cap="sq">
                <a:noFill/>
                <a:prstDash val="solid"/>
                <a:miter/>
              </a:ln>
            </p:spPr>
          </p:sp>
        </p:grpSp>
        <p:grpSp>
          <p:nvGrpSpPr>
            <p:cNvPr name="Group 91" id="91"/>
            <p:cNvGrpSpPr/>
            <p:nvPr/>
          </p:nvGrpSpPr>
          <p:grpSpPr>
            <a:xfrm rot="0">
              <a:off x="4451350" y="3442941"/>
              <a:ext cx="388620" cy="320040"/>
              <a:chOff x="0" y="0"/>
              <a:chExt cx="388620" cy="320040"/>
            </a:xfrm>
          </p:grpSpPr>
          <p:sp>
            <p:nvSpPr>
              <p:cNvPr name="Freeform 92" id="92"/>
              <p:cNvSpPr/>
              <p:nvPr/>
            </p:nvSpPr>
            <p:spPr>
              <a:xfrm flipH="false" flipV="false" rot="0">
                <a:off x="49530" y="49530"/>
                <a:ext cx="292100" cy="226060"/>
              </a:xfrm>
              <a:custGeom>
                <a:avLst/>
                <a:gdLst/>
                <a:ahLst/>
                <a:cxnLst/>
                <a:rect r="r" b="b" t="t" l="l"/>
                <a:pathLst>
                  <a:path h="226060" w="292100">
                    <a:moveTo>
                      <a:pt x="113030" y="10160"/>
                    </a:moveTo>
                    <a:cubicBezTo>
                      <a:pt x="273050" y="90170"/>
                      <a:pt x="281940" y="106680"/>
                      <a:pt x="287020" y="121920"/>
                    </a:cubicBezTo>
                    <a:cubicBezTo>
                      <a:pt x="289560" y="134620"/>
                      <a:pt x="289560" y="147320"/>
                      <a:pt x="285750" y="160020"/>
                    </a:cubicBezTo>
                    <a:cubicBezTo>
                      <a:pt x="280670" y="176530"/>
                      <a:pt x="267970" y="196850"/>
                      <a:pt x="252730" y="207010"/>
                    </a:cubicBezTo>
                    <a:cubicBezTo>
                      <a:pt x="233680" y="217170"/>
                      <a:pt x="195580" y="226060"/>
                      <a:pt x="177800" y="213360"/>
                    </a:cubicBezTo>
                    <a:cubicBezTo>
                      <a:pt x="154940" y="198120"/>
                      <a:pt x="138430" y="114300"/>
                      <a:pt x="143510" y="91440"/>
                    </a:cubicBezTo>
                    <a:cubicBezTo>
                      <a:pt x="146050" y="82550"/>
                      <a:pt x="153670" y="78740"/>
                      <a:pt x="162560" y="73660"/>
                    </a:cubicBezTo>
                    <a:cubicBezTo>
                      <a:pt x="173990" y="67310"/>
                      <a:pt x="195580" y="58420"/>
                      <a:pt x="212090" y="59690"/>
                    </a:cubicBezTo>
                    <a:cubicBezTo>
                      <a:pt x="227330" y="60960"/>
                      <a:pt x="247650" y="66040"/>
                      <a:pt x="259080" y="78740"/>
                    </a:cubicBezTo>
                    <a:cubicBezTo>
                      <a:pt x="274320" y="92710"/>
                      <a:pt x="289560" y="125730"/>
                      <a:pt x="288290" y="147320"/>
                    </a:cubicBezTo>
                    <a:cubicBezTo>
                      <a:pt x="285750" y="170180"/>
                      <a:pt x="264160" y="198120"/>
                      <a:pt x="246380" y="209550"/>
                    </a:cubicBezTo>
                    <a:cubicBezTo>
                      <a:pt x="232410" y="219710"/>
                      <a:pt x="212090" y="220980"/>
                      <a:pt x="195580" y="218440"/>
                    </a:cubicBezTo>
                    <a:cubicBezTo>
                      <a:pt x="180340" y="215900"/>
                      <a:pt x="161290" y="208280"/>
                      <a:pt x="151130" y="195580"/>
                    </a:cubicBezTo>
                    <a:cubicBezTo>
                      <a:pt x="137160" y="179070"/>
                      <a:pt x="125730" y="144780"/>
                      <a:pt x="129540" y="123190"/>
                    </a:cubicBezTo>
                    <a:cubicBezTo>
                      <a:pt x="134620" y="101600"/>
                      <a:pt x="157480" y="73660"/>
                      <a:pt x="177800" y="66040"/>
                    </a:cubicBezTo>
                    <a:cubicBezTo>
                      <a:pt x="198120" y="57150"/>
                      <a:pt x="234950" y="63500"/>
                      <a:pt x="252730" y="72390"/>
                    </a:cubicBezTo>
                    <a:cubicBezTo>
                      <a:pt x="267970" y="81280"/>
                      <a:pt x="278130" y="97790"/>
                      <a:pt x="284480" y="113030"/>
                    </a:cubicBezTo>
                    <a:cubicBezTo>
                      <a:pt x="289560" y="128270"/>
                      <a:pt x="288290" y="163830"/>
                      <a:pt x="284480" y="165100"/>
                    </a:cubicBezTo>
                    <a:cubicBezTo>
                      <a:pt x="278130" y="166370"/>
                      <a:pt x="233680" y="69850"/>
                      <a:pt x="238760" y="66040"/>
                    </a:cubicBezTo>
                    <a:cubicBezTo>
                      <a:pt x="240030" y="63500"/>
                      <a:pt x="248920" y="69850"/>
                      <a:pt x="255270" y="74930"/>
                    </a:cubicBezTo>
                    <a:cubicBezTo>
                      <a:pt x="262890" y="81280"/>
                      <a:pt x="274320" y="91440"/>
                      <a:pt x="279400" y="104140"/>
                    </a:cubicBezTo>
                    <a:cubicBezTo>
                      <a:pt x="285750" y="119380"/>
                      <a:pt x="292100" y="143510"/>
                      <a:pt x="285750" y="160020"/>
                    </a:cubicBezTo>
                    <a:cubicBezTo>
                      <a:pt x="279400" y="180340"/>
                      <a:pt x="256540" y="207010"/>
                      <a:pt x="234950" y="214630"/>
                    </a:cubicBezTo>
                    <a:cubicBezTo>
                      <a:pt x="210820" y="224790"/>
                      <a:pt x="173990" y="217170"/>
                      <a:pt x="143510" y="207010"/>
                    </a:cubicBezTo>
                    <a:cubicBezTo>
                      <a:pt x="105410" y="194310"/>
                      <a:pt x="50800" y="161290"/>
                      <a:pt x="27940" y="137160"/>
                    </a:cubicBezTo>
                    <a:cubicBezTo>
                      <a:pt x="12700" y="121920"/>
                      <a:pt x="2540" y="106680"/>
                      <a:pt x="1270" y="90170"/>
                    </a:cubicBezTo>
                    <a:cubicBezTo>
                      <a:pt x="0" y="69850"/>
                      <a:pt x="11430" y="36830"/>
                      <a:pt x="25400" y="21590"/>
                    </a:cubicBezTo>
                    <a:cubicBezTo>
                      <a:pt x="38100" y="8890"/>
                      <a:pt x="60960" y="2540"/>
                      <a:pt x="76200" y="1270"/>
                    </a:cubicBezTo>
                    <a:cubicBezTo>
                      <a:pt x="88900" y="0"/>
                      <a:pt x="113030" y="10160"/>
                      <a:pt x="113030" y="10160"/>
                    </a:cubicBezTo>
                  </a:path>
                </a:pathLst>
              </a:custGeom>
              <a:solidFill>
                <a:srgbClr val="FFFFFF"/>
              </a:solidFill>
              <a:ln cap="sq">
                <a:noFill/>
                <a:prstDash val="solid"/>
                <a:miter/>
              </a:ln>
            </p:spPr>
          </p:sp>
        </p:grpSp>
        <p:grpSp>
          <p:nvGrpSpPr>
            <p:cNvPr name="Group 93" id="93"/>
            <p:cNvGrpSpPr/>
            <p:nvPr/>
          </p:nvGrpSpPr>
          <p:grpSpPr>
            <a:xfrm rot="0">
              <a:off x="4602480" y="3583911"/>
              <a:ext cx="359410" cy="198120"/>
              <a:chOff x="0" y="0"/>
              <a:chExt cx="359410" cy="198120"/>
            </a:xfrm>
          </p:grpSpPr>
          <p:sp>
            <p:nvSpPr>
              <p:cNvPr name="Freeform 94" id="94"/>
              <p:cNvSpPr/>
              <p:nvPr/>
            </p:nvSpPr>
            <p:spPr>
              <a:xfrm flipH="false" flipV="false" rot="0">
                <a:off x="48260" y="50800"/>
                <a:ext cx="260350" cy="104140"/>
              </a:xfrm>
              <a:custGeom>
                <a:avLst/>
                <a:gdLst/>
                <a:ahLst/>
                <a:cxnLst/>
                <a:rect r="r" b="b" t="t" l="l"/>
                <a:pathLst>
                  <a:path h="104140" w="260350">
                    <a:moveTo>
                      <a:pt x="34290" y="0"/>
                    </a:moveTo>
                    <a:cubicBezTo>
                      <a:pt x="194310" y="52070"/>
                      <a:pt x="236220" y="41910"/>
                      <a:pt x="250190" y="52070"/>
                    </a:cubicBezTo>
                    <a:cubicBezTo>
                      <a:pt x="257810" y="57150"/>
                      <a:pt x="260350" y="66040"/>
                      <a:pt x="260350" y="73660"/>
                    </a:cubicBezTo>
                    <a:cubicBezTo>
                      <a:pt x="259080" y="81280"/>
                      <a:pt x="247650" y="93980"/>
                      <a:pt x="240030" y="96520"/>
                    </a:cubicBezTo>
                    <a:cubicBezTo>
                      <a:pt x="233680" y="99060"/>
                      <a:pt x="222250" y="95250"/>
                      <a:pt x="217170" y="90170"/>
                    </a:cubicBezTo>
                    <a:cubicBezTo>
                      <a:pt x="212090" y="85090"/>
                      <a:pt x="208280" y="74930"/>
                      <a:pt x="209550" y="67310"/>
                    </a:cubicBezTo>
                    <a:cubicBezTo>
                      <a:pt x="210820" y="60960"/>
                      <a:pt x="217170" y="52070"/>
                      <a:pt x="223520" y="49530"/>
                    </a:cubicBezTo>
                    <a:cubicBezTo>
                      <a:pt x="229870" y="45720"/>
                      <a:pt x="241300" y="45720"/>
                      <a:pt x="247650" y="50800"/>
                    </a:cubicBezTo>
                    <a:cubicBezTo>
                      <a:pt x="254000" y="54610"/>
                      <a:pt x="260350" y="71120"/>
                      <a:pt x="259080" y="78740"/>
                    </a:cubicBezTo>
                    <a:cubicBezTo>
                      <a:pt x="257810" y="86360"/>
                      <a:pt x="251460" y="92710"/>
                      <a:pt x="242570" y="96520"/>
                    </a:cubicBezTo>
                    <a:cubicBezTo>
                      <a:pt x="223520" y="104140"/>
                      <a:pt x="175260" y="99060"/>
                      <a:pt x="139700" y="91440"/>
                    </a:cubicBezTo>
                    <a:cubicBezTo>
                      <a:pt x="97790" y="82550"/>
                      <a:pt x="24130" y="62230"/>
                      <a:pt x="7620" y="41910"/>
                    </a:cubicBezTo>
                    <a:cubicBezTo>
                      <a:pt x="1270" y="33020"/>
                      <a:pt x="0" y="21590"/>
                      <a:pt x="2540" y="13970"/>
                    </a:cubicBezTo>
                    <a:cubicBezTo>
                      <a:pt x="7620" y="6350"/>
                      <a:pt x="34290" y="0"/>
                      <a:pt x="34290" y="0"/>
                    </a:cubicBezTo>
                  </a:path>
                </a:pathLst>
              </a:custGeom>
              <a:solidFill>
                <a:srgbClr val="FFFFFF"/>
              </a:solidFill>
              <a:ln cap="sq">
                <a:noFill/>
                <a:prstDash val="solid"/>
                <a:miter/>
              </a:ln>
            </p:spPr>
          </p:sp>
        </p:grpSp>
        <p:grpSp>
          <p:nvGrpSpPr>
            <p:cNvPr name="Group 95" id="95"/>
            <p:cNvGrpSpPr/>
            <p:nvPr/>
          </p:nvGrpSpPr>
          <p:grpSpPr>
            <a:xfrm rot="0">
              <a:off x="4555490" y="3415001"/>
              <a:ext cx="259080" cy="267970"/>
              <a:chOff x="0" y="0"/>
              <a:chExt cx="259080" cy="267970"/>
            </a:xfrm>
          </p:grpSpPr>
          <p:sp>
            <p:nvSpPr>
              <p:cNvPr name="Freeform 96" id="96"/>
              <p:cNvSpPr/>
              <p:nvPr/>
            </p:nvSpPr>
            <p:spPr>
              <a:xfrm flipH="false" flipV="false" rot="0">
                <a:off x="45720" y="49530"/>
                <a:ext cx="162560" cy="171450"/>
              </a:xfrm>
              <a:custGeom>
                <a:avLst/>
                <a:gdLst/>
                <a:ahLst/>
                <a:cxnLst/>
                <a:rect r="r" b="b" t="t" l="l"/>
                <a:pathLst>
                  <a:path h="171450" w="162560">
                    <a:moveTo>
                      <a:pt x="46990" y="41910"/>
                    </a:moveTo>
                    <a:cubicBezTo>
                      <a:pt x="146050" y="144780"/>
                      <a:pt x="144780" y="157480"/>
                      <a:pt x="139700" y="162560"/>
                    </a:cubicBezTo>
                    <a:cubicBezTo>
                      <a:pt x="133350" y="168910"/>
                      <a:pt x="119380" y="171450"/>
                      <a:pt x="106680" y="167640"/>
                    </a:cubicBezTo>
                    <a:cubicBezTo>
                      <a:pt x="81280" y="158750"/>
                      <a:pt x="31750" y="100330"/>
                      <a:pt x="16510" y="73660"/>
                    </a:cubicBezTo>
                    <a:cubicBezTo>
                      <a:pt x="7620" y="59690"/>
                      <a:pt x="0" y="43180"/>
                      <a:pt x="5080" y="35560"/>
                    </a:cubicBezTo>
                    <a:cubicBezTo>
                      <a:pt x="8890" y="26670"/>
                      <a:pt x="27940" y="21590"/>
                      <a:pt x="40640" y="24130"/>
                    </a:cubicBezTo>
                    <a:cubicBezTo>
                      <a:pt x="66040" y="29210"/>
                      <a:pt x="119380" y="76200"/>
                      <a:pt x="130810" y="97790"/>
                    </a:cubicBezTo>
                    <a:cubicBezTo>
                      <a:pt x="137160" y="109220"/>
                      <a:pt x="138430" y="124460"/>
                      <a:pt x="133350" y="130810"/>
                    </a:cubicBezTo>
                    <a:cubicBezTo>
                      <a:pt x="128270" y="138430"/>
                      <a:pt x="113030" y="142240"/>
                      <a:pt x="100330" y="138430"/>
                    </a:cubicBezTo>
                    <a:cubicBezTo>
                      <a:pt x="78740" y="132080"/>
                      <a:pt x="31750" y="87630"/>
                      <a:pt x="22860" y="66040"/>
                    </a:cubicBezTo>
                    <a:cubicBezTo>
                      <a:pt x="17780" y="53340"/>
                      <a:pt x="17780" y="38100"/>
                      <a:pt x="22860" y="31750"/>
                    </a:cubicBezTo>
                    <a:cubicBezTo>
                      <a:pt x="27940" y="25400"/>
                      <a:pt x="39370" y="22860"/>
                      <a:pt x="50800" y="25400"/>
                    </a:cubicBezTo>
                    <a:cubicBezTo>
                      <a:pt x="73660" y="30480"/>
                      <a:pt x="130810" y="73660"/>
                      <a:pt x="139700" y="93980"/>
                    </a:cubicBezTo>
                    <a:cubicBezTo>
                      <a:pt x="144780" y="104140"/>
                      <a:pt x="142240" y="116840"/>
                      <a:pt x="137160" y="123190"/>
                    </a:cubicBezTo>
                    <a:cubicBezTo>
                      <a:pt x="132080" y="129540"/>
                      <a:pt x="116840" y="132080"/>
                      <a:pt x="104140" y="128270"/>
                    </a:cubicBezTo>
                    <a:cubicBezTo>
                      <a:pt x="78740" y="120650"/>
                      <a:pt x="21590" y="68580"/>
                      <a:pt x="10160" y="44450"/>
                    </a:cubicBezTo>
                    <a:cubicBezTo>
                      <a:pt x="3810" y="33020"/>
                      <a:pt x="3810" y="17780"/>
                      <a:pt x="8890" y="11430"/>
                    </a:cubicBezTo>
                    <a:cubicBezTo>
                      <a:pt x="13970" y="3810"/>
                      <a:pt x="29210" y="0"/>
                      <a:pt x="41910" y="1270"/>
                    </a:cubicBezTo>
                    <a:cubicBezTo>
                      <a:pt x="63500" y="3810"/>
                      <a:pt x="100330" y="27940"/>
                      <a:pt x="120650" y="45720"/>
                    </a:cubicBezTo>
                    <a:cubicBezTo>
                      <a:pt x="138430" y="62230"/>
                      <a:pt x="160020" y="86360"/>
                      <a:pt x="161290" y="101600"/>
                    </a:cubicBezTo>
                    <a:cubicBezTo>
                      <a:pt x="162560" y="111760"/>
                      <a:pt x="154940" y="124460"/>
                      <a:pt x="148590" y="129540"/>
                    </a:cubicBezTo>
                    <a:cubicBezTo>
                      <a:pt x="142240" y="133350"/>
                      <a:pt x="130810" y="132080"/>
                      <a:pt x="124460" y="129540"/>
                    </a:cubicBezTo>
                    <a:cubicBezTo>
                      <a:pt x="118110" y="125730"/>
                      <a:pt x="111760" y="115570"/>
                      <a:pt x="111760" y="109220"/>
                    </a:cubicBezTo>
                    <a:cubicBezTo>
                      <a:pt x="110490" y="101600"/>
                      <a:pt x="115570" y="91440"/>
                      <a:pt x="120650" y="87630"/>
                    </a:cubicBezTo>
                    <a:cubicBezTo>
                      <a:pt x="125730" y="82550"/>
                      <a:pt x="137160" y="80010"/>
                      <a:pt x="143510" y="82550"/>
                    </a:cubicBezTo>
                    <a:cubicBezTo>
                      <a:pt x="151130" y="83820"/>
                      <a:pt x="158750" y="92710"/>
                      <a:pt x="161290" y="99060"/>
                    </a:cubicBezTo>
                    <a:cubicBezTo>
                      <a:pt x="162560" y="105410"/>
                      <a:pt x="161290" y="116840"/>
                      <a:pt x="156210" y="121920"/>
                    </a:cubicBezTo>
                    <a:cubicBezTo>
                      <a:pt x="151130" y="128270"/>
                      <a:pt x="138430" y="133350"/>
                      <a:pt x="127000" y="129540"/>
                    </a:cubicBezTo>
                    <a:cubicBezTo>
                      <a:pt x="104140" y="124460"/>
                      <a:pt x="66040" y="57150"/>
                      <a:pt x="43180" y="46990"/>
                    </a:cubicBezTo>
                    <a:cubicBezTo>
                      <a:pt x="30480" y="40640"/>
                      <a:pt x="15240" y="50800"/>
                      <a:pt x="10160" y="44450"/>
                    </a:cubicBezTo>
                    <a:cubicBezTo>
                      <a:pt x="3810" y="39370"/>
                      <a:pt x="2540" y="17780"/>
                      <a:pt x="8890" y="11430"/>
                    </a:cubicBezTo>
                    <a:cubicBezTo>
                      <a:pt x="13970" y="5080"/>
                      <a:pt x="29210" y="1270"/>
                      <a:pt x="41910" y="5080"/>
                    </a:cubicBezTo>
                    <a:cubicBezTo>
                      <a:pt x="67310" y="12700"/>
                      <a:pt x="137160" y="76200"/>
                      <a:pt x="142240" y="100330"/>
                    </a:cubicBezTo>
                    <a:cubicBezTo>
                      <a:pt x="144780" y="110490"/>
                      <a:pt x="139700" y="123190"/>
                      <a:pt x="133350" y="127000"/>
                    </a:cubicBezTo>
                    <a:cubicBezTo>
                      <a:pt x="127000" y="132080"/>
                      <a:pt x="115570" y="132080"/>
                      <a:pt x="104140" y="128270"/>
                    </a:cubicBezTo>
                    <a:cubicBezTo>
                      <a:pt x="82550" y="120650"/>
                      <a:pt x="31750" y="85090"/>
                      <a:pt x="22860" y="66040"/>
                    </a:cubicBezTo>
                    <a:cubicBezTo>
                      <a:pt x="16510" y="54610"/>
                      <a:pt x="17780" y="38100"/>
                      <a:pt x="22860" y="31750"/>
                    </a:cubicBezTo>
                    <a:cubicBezTo>
                      <a:pt x="29210" y="25400"/>
                      <a:pt x="44450" y="24130"/>
                      <a:pt x="57150" y="27940"/>
                    </a:cubicBezTo>
                    <a:cubicBezTo>
                      <a:pt x="78740" y="35560"/>
                      <a:pt x="125730" y="81280"/>
                      <a:pt x="134620" y="102870"/>
                    </a:cubicBezTo>
                    <a:cubicBezTo>
                      <a:pt x="138430" y="113030"/>
                      <a:pt x="138430" y="125730"/>
                      <a:pt x="133350" y="130810"/>
                    </a:cubicBezTo>
                    <a:cubicBezTo>
                      <a:pt x="128270" y="138430"/>
                      <a:pt x="113030" y="140970"/>
                      <a:pt x="100330" y="138430"/>
                    </a:cubicBezTo>
                    <a:cubicBezTo>
                      <a:pt x="76200" y="132080"/>
                      <a:pt x="16510" y="78740"/>
                      <a:pt x="6350" y="58420"/>
                    </a:cubicBezTo>
                    <a:cubicBezTo>
                      <a:pt x="1270" y="49530"/>
                      <a:pt x="1270" y="40640"/>
                      <a:pt x="5080" y="35560"/>
                    </a:cubicBezTo>
                    <a:cubicBezTo>
                      <a:pt x="10160" y="27940"/>
                      <a:pt x="27940" y="20320"/>
                      <a:pt x="40640" y="24130"/>
                    </a:cubicBezTo>
                    <a:cubicBezTo>
                      <a:pt x="68580" y="31750"/>
                      <a:pt x="134620" y="106680"/>
                      <a:pt x="142240" y="134620"/>
                    </a:cubicBezTo>
                    <a:cubicBezTo>
                      <a:pt x="146050" y="147320"/>
                      <a:pt x="142240" y="161290"/>
                      <a:pt x="134620" y="166370"/>
                    </a:cubicBezTo>
                    <a:cubicBezTo>
                      <a:pt x="129540" y="171450"/>
                      <a:pt x="118110" y="171450"/>
                      <a:pt x="106680" y="167640"/>
                    </a:cubicBezTo>
                    <a:cubicBezTo>
                      <a:pt x="81280" y="157480"/>
                      <a:pt x="15240" y="97790"/>
                      <a:pt x="8890" y="73660"/>
                    </a:cubicBezTo>
                    <a:cubicBezTo>
                      <a:pt x="5080" y="60960"/>
                      <a:pt x="11430" y="45720"/>
                      <a:pt x="17780" y="40640"/>
                    </a:cubicBezTo>
                    <a:cubicBezTo>
                      <a:pt x="24130" y="36830"/>
                      <a:pt x="46990" y="41910"/>
                      <a:pt x="46990" y="41910"/>
                    </a:cubicBezTo>
                  </a:path>
                </a:pathLst>
              </a:custGeom>
              <a:solidFill>
                <a:srgbClr val="FFFFFF"/>
              </a:solidFill>
              <a:ln cap="sq">
                <a:noFill/>
                <a:prstDash val="solid"/>
                <a:miter/>
              </a:ln>
            </p:spPr>
          </p:sp>
        </p:grpSp>
        <p:grpSp>
          <p:nvGrpSpPr>
            <p:cNvPr name="Group 97" id="97"/>
            <p:cNvGrpSpPr/>
            <p:nvPr/>
          </p:nvGrpSpPr>
          <p:grpSpPr>
            <a:xfrm rot="0">
              <a:off x="4693920" y="3604231"/>
              <a:ext cx="325120" cy="194310"/>
              <a:chOff x="0" y="0"/>
              <a:chExt cx="325120" cy="194310"/>
            </a:xfrm>
          </p:grpSpPr>
          <p:sp>
            <p:nvSpPr>
              <p:cNvPr name="Freeform 98" id="98"/>
              <p:cNvSpPr/>
              <p:nvPr/>
            </p:nvSpPr>
            <p:spPr>
              <a:xfrm flipH="false" flipV="false" rot="0">
                <a:off x="46990" y="49530"/>
                <a:ext cx="228600" cy="102870"/>
              </a:xfrm>
              <a:custGeom>
                <a:avLst/>
                <a:gdLst/>
                <a:ahLst/>
                <a:cxnLst/>
                <a:rect r="r" b="b" t="t" l="l"/>
                <a:pathLst>
                  <a:path h="102870" w="228600">
                    <a:moveTo>
                      <a:pt x="38100" y="1270"/>
                    </a:moveTo>
                    <a:cubicBezTo>
                      <a:pt x="154940" y="48260"/>
                      <a:pt x="212090" y="41910"/>
                      <a:pt x="223520" y="54610"/>
                    </a:cubicBezTo>
                    <a:cubicBezTo>
                      <a:pt x="228600" y="60960"/>
                      <a:pt x="228600" y="72390"/>
                      <a:pt x="224790" y="78740"/>
                    </a:cubicBezTo>
                    <a:cubicBezTo>
                      <a:pt x="222250" y="85090"/>
                      <a:pt x="213360" y="92710"/>
                      <a:pt x="207010" y="92710"/>
                    </a:cubicBezTo>
                    <a:cubicBezTo>
                      <a:pt x="198120" y="92710"/>
                      <a:pt x="179070" y="80010"/>
                      <a:pt x="176530" y="71120"/>
                    </a:cubicBezTo>
                    <a:cubicBezTo>
                      <a:pt x="175260" y="64770"/>
                      <a:pt x="180340" y="53340"/>
                      <a:pt x="185420" y="49530"/>
                    </a:cubicBezTo>
                    <a:cubicBezTo>
                      <a:pt x="190500" y="44450"/>
                      <a:pt x="201930" y="40640"/>
                      <a:pt x="208280" y="43180"/>
                    </a:cubicBezTo>
                    <a:cubicBezTo>
                      <a:pt x="215900" y="45720"/>
                      <a:pt x="227330" y="59690"/>
                      <a:pt x="227330" y="67310"/>
                    </a:cubicBezTo>
                    <a:cubicBezTo>
                      <a:pt x="227330" y="76200"/>
                      <a:pt x="219710" y="87630"/>
                      <a:pt x="209550" y="92710"/>
                    </a:cubicBezTo>
                    <a:cubicBezTo>
                      <a:pt x="185420" y="102870"/>
                      <a:pt x="111760" y="86360"/>
                      <a:pt x="74930" y="74930"/>
                    </a:cubicBezTo>
                    <a:cubicBezTo>
                      <a:pt x="46990" y="64770"/>
                      <a:pt x="11430" y="49530"/>
                      <a:pt x="3810" y="34290"/>
                    </a:cubicBezTo>
                    <a:cubicBezTo>
                      <a:pt x="0" y="25400"/>
                      <a:pt x="3810" y="11430"/>
                      <a:pt x="8890" y="6350"/>
                    </a:cubicBezTo>
                    <a:cubicBezTo>
                      <a:pt x="15240" y="0"/>
                      <a:pt x="38100" y="1270"/>
                      <a:pt x="38100" y="1270"/>
                    </a:cubicBezTo>
                  </a:path>
                </a:pathLst>
              </a:custGeom>
              <a:solidFill>
                <a:srgbClr val="FFFFFF"/>
              </a:solidFill>
              <a:ln cap="sq">
                <a:noFill/>
                <a:prstDash val="solid"/>
                <a:miter/>
              </a:ln>
            </p:spPr>
          </p:sp>
        </p:grpSp>
        <p:grpSp>
          <p:nvGrpSpPr>
            <p:cNvPr name="Group 99" id="99"/>
            <p:cNvGrpSpPr/>
            <p:nvPr/>
          </p:nvGrpSpPr>
          <p:grpSpPr>
            <a:xfrm rot="0">
              <a:off x="5163820" y="3768061"/>
              <a:ext cx="557530" cy="344170"/>
              <a:chOff x="0" y="0"/>
              <a:chExt cx="557530" cy="344170"/>
            </a:xfrm>
          </p:grpSpPr>
          <p:sp>
            <p:nvSpPr>
              <p:cNvPr name="Freeform 100" id="100"/>
              <p:cNvSpPr/>
              <p:nvPr/>
            </p:nvSpPr>
            <p:spPr>
              <a:xfrm flipH="false" flipV="false" rot="0">
                <a:off x="46990" y="50800"/>
                <a:ext cx="461010" cy="251460"/>
              </a:xfrm>
              <a:custGeom>
                <a:avLst/>
                <a:gdLst/>
                <a:ahLst/>
                <a:cxnLst/>
                <a:rect r="r" b="b" t="t" l="l"/>
                <a:pathLst>
                  <a:path h="251460" w="461010">
                    <a:moveTo>
                      <a:pt x="57150" y="31750"/>
                    </a:moveTo>
                    <a:cubicBezTo>
                      <a:pt x="157480" y="133350"/>
                      <a:pt x="154940" y="144780"/>
                      <a:pt x="149860" y="151130"/>
                    </a:cubicBezTo>
                    <a:cubicBezTo>
                      <a:pt x="144780" y="157480"/>
                      <a:pt x="133350" y="160020"/>
                      <a:pt x="121920" y="158750"/>
                    </a:cubicBezTo>
                    <a:cubicBezTo>
                      <a:pt x="95250" y="153670"/>
                      <a:pt x="20320" y="101600"/>
                      <a:pt x="8890" y="76200"/>
                    </a:cubicBezTo>
                    <a:cubicBezTo>
                      <a:pt x="2540" y="62230"/>
                      <a:pt x="3810" y="44450"/>
                      <a:pt x="11430" y="36830"/>
                    </a:cubicBezTo>
                    <a:cubicBezTo>
                      <a:pt x="21590" y="27940"/>
                      <a:pt x="53340" y="31750"/>
                      <a:pt x="73660" y="38100"/>
                    </a:cubicBezTo>
                    <a:cubicBezTo>
                      <a:pt x="97790" y="45720"/>
                      <a:pt x="134620" y="71120"/>
                      <a:pt x="144780" y="87630"/>
                    </a:cubicBezTo>
                    <a:cubicBezTo>
                      <a:pt x="149860" y="97790"/>
                      <a:pt x="152400" y="111760"/>
                      <a:pt x="147320" y="119380"/>
                    </a:cubicBezTo>
                    <a:cubicBezTo>
                      <a:pt x="143510" y="125730"/>
                      <a:pt x="128270" y="132080"/>
                      <a:pt x="115570" y="129540"/>
                    </a:cubicBezTo>
                    <a:cubicBezTo>
                      <a:pt x="93980" y="125730"/>
                      <a:pt x="46990" y="78740"/>
                      <a:pt x="34290" y="60960"/>
                    </a:cubicBezTo>
                    <a:cubicBezTo>
                      <a:pt x="29210" y="52070"/>
                      <a:pt x="25400" y="45720"/>
                      <a:pt x="26670" y="39370"/>
                    </a:cubicBezTo>
                    <a:cubicBezTo>
                      <a:pt x="27940" y="31750"/>
                      <a:pt x="34290" y="22860"/>
                      <a:pt x="40640" y="19050"/>
                    </a:cubicBezTo>
                    <a:cubicBezTo>
                      <a:pt x="46990" y="16510"/>
                      <a:pt x="54610" y="16510"/>
                      <a:pt x="63500" y="20320"/>
                    </a:cubicBezTo>
                    <a:cubicBezTo>
                      <a:pt x="78740" y="24130"/>
                      <a:pt x="101600" y="41910"/>
                      <a:pt x="119380" y="57150"/>
                    </a:cubicBezTo>
                    <a:cubicBezTo>
                      <a:pt x="140970" y="74930"/>
                      <a:pt x="176530" y="105410"/>
                      <a:pt x="182880" y="124460"/>
                    </a:cubicBezTo>
                    <a:cubicBezTo>
                      <a:pt x="186690" y="134620"/>
                      <a:pt x="184150" y="146050"/>
                      <a:pt x="180340" y="152400"/>
                    </a:cubicBezTo>
                    <a:cubicBezTo>
                      <a:pt x="175260" y="158750"/>
                      <a:pt x="166370" y="162560"/>
                      <a:pt x="157480" y="161290"/>
                    </a:cubicBezTo>
                    <a:cubicBezTo>
                      <a:pt x="142240" y="160020"/>
                      <a:pt x="116840" y="137160"/>
                      <a:pt x="93980" y="119380"/>
                    </a:cubicBezTo>
                    <a:cubicBezTo>
                      <a:pt x="66040" y="97790"/>
                      <a:pt x="13970" y="62230"/>
                      <a:pt x="3810" y="40640"/>
                    </a:cubicBezTo>
                    <a:cubicBezTo>
                      <a:pt x="0" y="30480"/>
                      <a:pt x="1270" y="21590"/>
                      <a:pt x="5080" y="15240"/>
                    </a:cubicBezTo>
                    <a:cubicBezTo>
                      <a:pt x="8890" y="7620"/>
                      <a:pt x="17780" y="1270"/>
                      <a:pt x="26670" y="0"/>
                    </a:cubicBezTo>
                    <a:cubicBezTo>
                      <a:pt x="39370" y="0"/>
                      <a:pt x="58420" y="11430"/>
                      <a:pt x="76200" y="24130"/>
                    </a:cubicBezTo>
                    <a:cubicBezTo>
                      <a:pt x="104140" y="43180"/>
                      <a:pt x="137160" y="88900"/>
                      <a:pt x="171450" y="114300"/>
                    </a:cubicBezTo>
                    <a:cubicBezTo>
                      <a:pt x="204470" y="138430"/>
                      <a:pt x="247650" y="160020"/>
                      <a:pt x="278130" y="172720"/>
                    </a:cubicBezTo>
                    <a:cubicBezTo>
                      <a:pt x="298450" y="182880"/>
                      <a:pt x="312420" y="187960"/>
                      <a:pt x="335280" y="191770"/>
                    </a:cubicBezTo>
                    <a:cubicBezTo>
                      <a:pt x="365760" y="198120"/>
                      <a:pt x="433070" y="182880"/>
                      <a:pt x="449580" y="195580"/>
                    </a:cubicBezTo>
                    <a:cubicBezTo>
                      <a:pt x="458470" y="203200"/>
                      <a:pt x="461010" y="218440"/>
                      <a:pt x="458470" y="226060"/>
                    </a:cubicBezTo>
                    <a:cubicBezTo>
                      <a:pt x="455930" y="232410"/>
                      <a:pt x="447040" y="241300"/>
                      <a:pt x="440690" y="241300"/>
                    </a:cubicBezTo>
                    <a:cubicBezTo>
                      <a:pt x="431800" y="241300"/>
                      <a:pt x="412750" y="228600"/>
                      <a:pt x="410210" y="220980"/>
                    </a:cubicBezTo>
                    <a:cubicBezTo>
                      <a:pt x="407670" y="213360"/>
                      <a:pt x="412750" y="203200"/>
                      <a:pt x="417830" y="198120"/>
                    </a:cubicBezTo>
                    <a:cubicBezTo>
                      <a:pt x="422910" y="193040"/>
                      <a:pt x="433070" y="189230"/>
                      <a:pt x="440690" y="191770"/>
                    </a:cubicBezTo>
                    <a:cubicBezTo>
                      <a:pt x="448310" y="194310"/>
                      <a:pt x="459740" y="207010"/>
                      <a:pt x="459740" y="214630"/>
                    </a:cubicBezTo>
                    <a:cubicBezTo>
                      <a:pt x="461010" y="223520"/>
                      <a:pt x="453390" y="234950"/>
                      <a:pt x="443230" y="240030"/>
                    </a:cubicBezTo>
                    <a:cubicBezTo>
                      <a:pt x="422910" y="251460"/>
                      <a:pt x="360680" y="246380"/>
                      <a:pt x="330200" y="242570"/>
                    </a:cubicBezTo>
                    <a:cubicBezTo>
                      <a:pt x="308610" y="240030"/>
                      <a:pt x="297180" y="236220"/>
                      <a:pt x="275590" y="227330"/>
                    </a:cubicBezTo>
                    <a:cubicBezTo>
                      <a:pt x="241300" y="213360"/>
                      <a:pt x="186690" y="181610"/>
                      <a:pt x="149860" y="156210"/>
                    </a:cubicBezTo>
                    <a:cubicBezTo>
                      <a:pt x="118110" y="133350"/>
                      <a:pt x="86360" y="106680"/>
                      <a:pt x="64770" y="86360"/>
                    </a:cubicBezTo>
                    <a:cubicBezTo>
                      <a:pt x="49530" y="71120"/>
                      <a:pt x="27940" y="54610"/>
                      <a:pt x="29210" y="44450"/>
                    </a:cubicBezTo>
                    <a:cubicBezTo>
                      <a:pt x="29210" y="34290"/>
                      <a:pt x="45720" y="21590"/>
                      <a:pt x="58420" y="22860"/>
                    </a:cubicBezTo>
                    <a:cubicBezTo>
                      <a:pt x="86360" y="24130"/>
                      <a:pt x="170180" y="100330"/>
                      <a:pt x="182880" y="124460"/>
                    </a:cubicBezTo>
                    <a:cubicBezTo>
                      <a:pt x="186690" y="133350"/>
                      <a:pt x="186690" y="142240"/>
                      <a:pt x="182880" y="147320"/>
                    </a:cubicBezTo>
                    <a:cubicBezTo>
                      <a:pt x="177800" y="154940"/>
                      <a:pt x="161290" y="161290"/>
                      <a:pt x="146050" y="157480"/>
                    </a:cubicBezTo>
                    <a:cubicBezTo>
                      <a:pt x="118110" y="151130"/>
                      <a:pt x="48260" y="87630"/>
                      <a:pt x="34290" y="60960"/>
                    </a:cubicBezTo>
                    <a:cubicBezTo>
                      <a:pt x="27940" y="48260"/>
                      <a:pt x="26670" y="34290"/>
                      <a:pt x="30480" y="27940"/>
                    </a:cubicBezTo>
                    <a:cubicBezTo>
                      <a:pt x="35560" y="20320"/>
                      <a:pt x="50800" y="16510"/>
                      <a:pt x="63500" y="20320"/>
                    </a:cubicBezTo>
                    <a:cubicBezTo>
                      <a:pt x="86360" y="25400"/>
                      <a:pt x="134620" y="69850"/>
                      <a:pt x="146050" y="90170"/>
                    </a:cubicBezTo>
                    <a:cubicBezTo>
                      <a:pt x="151130" y="100330"/>
                      <a:pt x="152400" y="111760"/>
                      <a:pt x="147320" y="119380"/>
                    </a:cubicBezTo>
                    <a:cubicBezTo>
                      <a:pt x="143510" y="125730"/>
                      <a:pt x="128270" y="132080"/>
                      <a:pt x="115570" y="129540"/>
                    </a:cubicBezTo>
                    <a:cubicBezTo>
                      <a:pt x="95250" y="125730"/>
                      <a:pt x="43180" y="88900"/>
                      <a:pt x="38100" y="71120"/>
                    </a:cubicBezTo>
                    <a:cubicBezTo>
                      <a:pt x="35560" y="63500"/>
                      <a:pt x="40640" y="49530"/>
                      <a:pt x="48260" y="46990"/>
                    </a:cubicBezTo>
                    <a:cubicBezTo>
                      <a:pt x="63500" y="43180"/>
                      <a:pt x="154940" y="114300"/>
                      <a:pt x="156210" y="134620"/>
                    </a:cubicBezTo>
                    <a:cubicBezTo>
                      <a:pt x="156210" y="144780"/>
                      <a:pt x="138430" y="158750"/>
                      <a:pt x="127000" y="160020"/>
                    </a:cubicBezTo>
                    <a:cubicBezTo>
                      <a:pt x="113030" y="160020"/>
                      <a:pt x="91440" y="135890"/>
                      <a:pt x="74930" y="120650"/>
                    </a:cubicBezTo>
                    <a:cubicBezTo>
                      <a:pt x="54610" y="101600"/>
                      <a:pt x="16510" y="71120"/>
                      <a:pt x="15240" y="53340"/>
                    </a:cubicBezTo>
                    <a:cubicBezTo>
                      <a:pt x="13970" y="43180"/>
                      <a:pt x="21590" y="31750"/>
                      <a:pt x="29210" y="27940"/>
                    </a:cubicBezTo>
                    <a:cubicBezTo>
                      <a:pt x="35560" y="24130"/>
                      <a:pt x="57150" y="31750"/>
                      <a:pt x="57150" y="31750"/>
                    </a:cubicBezTo>
                  </a:path>
                </a:pathLst>
              </a:custGeom>
              <a:solidFill>
                <a:srgbClr val="295BBE"/>
              </a:solidFill>
              <a:ln cap="sq">
                <a:noFill/>
                <a:prstDash val="solid"/>
                <a:miter/>
              </a:ln>
            </p:spPr>
          </p:sp>
        </p:grpSp>
        <p:grpSp>
          <p:nvGrpSpPr>
            <p:cNvPr name="Group 101" id="101"/>
            <p:cNvGrpSpPr/>
            <p:nvPr/>
          </p:nvGrpSpPr>
          <p:grpSpPr>
            <a:xfrm rot="0">
              <a:off x="5447030" y="3933161"/>
              <a:ext cx="297180" cy="181610"/>
              <a:chOff x="0" y="0"/>
              <a:chExt cx="297180" cy="181610"/>
            </a:xfrm>
          </p:grpSpPr>
          <p:sp>
            <p:nvSpPr>
              <p:cNvPr name="Freeform 102" id="102"/>
              <p:cNvSpPr/>
              <p:nvPr/>
            </p:nvSpPr>
            <p:spPr>
              <a:xfrm flipH="false" flipV="false" rot="0">
                <a:off x="46990" y="50800"/>
                <a:ext cx="200660" cy="90170"/>
              </a:xfrm>
              <a:custGeom>
                <a:avLst/>
                <a:gdLst/>
                <a:ahLst/>
                <a:cxnLst/>
                <a:rect r="r" b="b" t="t" l="l"/>
                <a:pathLst>
                  <a:path h="90170" w="200660">
                    <a:moveTo>
                      <a:pt x="29210" y="0"/>
                    </a:moveTo>
                    <a:cubicBezTo>
                      <a:pt x="196850" y="41910"/>
                      <a:pt x="200660" y="54610"/>
                      <a:pt x="198120" y="62230"/>
                    </a:cubicBezTo>
                    <a:cubicBezTo>
                      <a:pt x="195580" y="69850"/>
                      <a:pt x="180340" y="81280"/>
                      <a:pt x="172720" y="80010"/>
                    </a:cubicBezTo>
                    <a:cubicBezTo>
                      <a:pt x="163830" y="78740"/>
                      <a:pt x="147320" y="60960"/>
                      <a:pt x="148590" y="52070"/>
                    </a:cubicBezTo>
                    <a:cubicBezTo>
                      <a:pt x="148590" y="44450"/>
                      <a:pt x="168910" y="29210"/>
                      <a:pt x="177800" y="29210"/>
                    </a:cubicBezTo>
                    <a:cubicBezTo>
                      <a:pt x="185420" y="30480"/>
                      <a:pt x="198120" y="43180"/>
                      <a:pt x="199390" y="52070"/>
                    </a:cubicBezTo>
                    <a:cubicBezTo>
                      <a:pt x="199390" y="59690"/>
                      <a:pt x="189230" y="74930"/>
                      <a:pt x="175260" y="80010"/>
                    </a:cubicBezTo>
                    <a:cubicBezTo>
                      <a:pt x="146050" y="90170"/>
                      <a:pt x="33020" y="67310"/>
                      <a:pt x="11430" y="46990"/>
                    </a:cubicBezTo>
                    <a:cubicBezTo>
                      <a:pt x="2540" y="38100"/>
                      <a:pt x="0" y="21590"/>
                      <a:pt x="3810" y="13970"/>
                    </a:cubicBezTo>
                    <a:cubicBezTo>
                      <a:pt x="6350" y="6350"/>
                      <a:pt x="29210" y="0"/>
                      <a:pt x="29210" y="0"/>
                    </a:cubicBezTo>
                  </a:path>
                </a:pathLst>
              </a:custGeom>
              <a:solidFill>
                <a:srgbClr val="295BBE"/>
              </a:solidFill>
              <a:ln cap="sq">
                <a:noFill/>
                <a:prstDash val="solid"/>
                <a:miter/>
              </a:ln>
            </p:spPr>
          </p:sp>
        </p:grpSp>
        <p:grpSp>
          <p:nvGrpSpPr>
            <p:cNvPr name="Group 103" id="103"/>
            <p:cNvGrpSpPr/>
            <p:nvPr/>
          </p:nvGrpSpPr>
          <p:grpSpPr>
            <a:xfrm rot="0">
              <a:off x="4751070" y="3707101"/>
              <a:ext cx="351790" cy="232410"/>
              <a:chOff x="0" y="0"/>
              <a:chExt cx="351790" cy="232410"/>
            </a:xfrm>
          </p:grpSpPr>
          <p:sp>
            <p:nvSpPr>
              <p:cNvPr name="Freeform 104" id="104"/>
              <p:cNvSpPr/>
              <p:nvPr/>
            </p:nvSpPr>
            <p:spPr>
              <a:xfrm flipH="false" flipV="false" rot="0">
                <a:off x="46990" y="50800"/>
                <a:ext cx="256540" cy="132080"/>
              </a:xfrm>
              <a:custGeom>
                <a:avLst/>
                <a:gdLst/>
                <a:ahLst/>
                <a:cxnLst/>
                <a:rect r="r" b="b" t="t" l="l"/>
                <a:pathLst>
                  <a:path h="132080" w="256540">
                    <a:moveTo>
                      <a:pt x="35560" y="0"/>
                    </a:moveTo>
                    <a:cubicBezTo>
                      <a:pt x="251460" y="93980"/>
                      <a:pt x="255270" y="109220"/>
                      <a:pt x="251460" y="116840"/>
                    </a:cubicBezTo>
                    <a:cubicBezTo>
                      <a:pt x="247650" y="124460"/>
                      <a:pt x="231140" y="132080"/>
                      <a:pt x="223520" y="129540"/>
                    </a:cubicBezTo>
                    <a:cubicBezTo>
                      <a:pt x="214630" y="127000"/>
                      <a:pt x="204470" y="105410"/>
                      <a:pt x="205740" y="97790"/>
                    </a:cubicBezTo>
                    <a:cubicBezTo>
                      <a:pt x="205740" y="90170"/>
                      <a:pt x="214630" y="82550"/>
                      <a:pt x="222250" y="80010"/>
                    </a:cubicBezTo>
                    <a:cubicBezTo>
                      <a:pt x="228600" y="78740"/>
                      <a:pt x="240030" y="80010"/>
                      <a:pt x="245110" y="85090"/>
                    </a:cubicBezTo>
                    <a:cubicBezTo>
                      <a:pt x="251460" y="90170"/>
                      <a:pt x="256540" y="107950"/>
                      <a:pt x="252730" y="114300"/>
                    </a:cubicBezTo>
                    <a:cubicBezTo>
                      <a:pt x="248920" y="121920"/>
                      <a:pt x="234950" y="127000"/>
                      <a:pt x="218440" y="127000"/>
                    </a:cubicBezTo>
                    <a:cubicBezTo>
                      <a:pt x="177800" y="127000"/>
                      <a:pt x="36830" y="72390"/>
                      <a:pt x="11430" y="44450"/>
                    </a:cubicBezTo>
                    <a:cubicBezTo>
                      <a:pt x="2540" y="33020"/>
                      <a:pt x="0" y="19050"/>
                      <a:pt x="3810" y="11430"/>
                    </a:cubicBezTo>
                    <a:cubicBezTo>
                      <a:pt x="7620" y="3810"/>
                      <a:pt x="35560" y="0"/>
                      <a:pt x="35560" y="0"/>
                    </a:cubicBezTo>
                  </a:path>
                </a:pathLst>
              </a:custGeom>
              <a:solidFill>
                <a:srgbClr val="295BBE"/>
              </a:solidFill>
              <a:ln cap="sq">
                <a:noFill/>
                <a:prstDash val="solid"/>
                <a:miter/>
              </a:ln>
            </p:spPr>
          </p:sp>
        </p:grpSp>
        <p:grpSp>
          <p:nvGrpSpPr>
            <p:cNvPr name="Group 105" id="105"/>
            <p:cNvGrpSpPr/>
            <p:nvPr/>
          </p:nvGrpSpPr>
          <p:grpSpPr>
            <a:xfrm rot="0">
              <a:off x="5143500" y="3757901"/>
              <a:ext cx="148590" cy="144780"/>
              <a:chOff x="0" y="0"/>
              <a:chExt cx="148590" cy="144780"/>
            </a:xfrm>
          </p:grpSpPr>
          <p:sp>
            <p:nvSpPr>
              <p:cNvPr name="Freeform 106" id="106"/>
              <p:cNvSpPr/>
              <p:nvPr/>
            </p:nvSpPr>
            <p:spPr>
              <a:xfrm flipH="false" flipV="false" rot="0">
                <a:off x="45720" y="45720"/>
                <a:ext cx="50800" cy="52070"/>
              </a:xfrm>
              <a:custGeom>
                <a:avLst/>
                <a:gdLst/>
                <a:ahLst/>
                <a:cxnLst/>
                <a:rect r="r" b="b" t="t" l="l"/>
                <a:pathLst>
                  <a:path h="52070" w="50800">
                    <a:moveTo>
                      <a:pt x="50800" y="17780"/>
                    </a:moveTo>
                    <a:cubicBezTo>
                      <a:pt x="29210" y="52070"/>
                      <a:pt x="8890" y="45720"/>
                      <a:pt x="5080" y="38100"/>
                    </a:cubicBezTo>
                    <a:cubicBezTo>
                      <a:pt x="0" y="30480"/>
                      <a:pt x="3810" y="10160"/>
                      <a:pt x="10160" y="5080"/>
                    </a:cubicBezTo>
                    <a:cubicBezTo>
                      <a:pt x="17780" y="0"/>
                      <a:pt x="44450" y="7620"/>
                      <a:pt x="44450" y="7620"/>
                    </a:cubicBezTo>
                  </a:path>
                </a:pathLst>
              </a:custGeom>
              <a:solidFill>
                <a:srgbClr val="295BBE"/>
              </a:solidFill>
              <a:ln cap="sq">
                <a:noFill/>
                <a:prstDash val="solid"/>
                <a:miter/>
              </a:ln>
            </p:spPr>
          </p:sp>
        </p:grpSp>
        <p:grpSp>
          <p:nvGrpSpPr>
            <p:cNvPr name="Group 107" id="107"/>
            <p:cNvGrpSpPr/>
            <p:nvPr/>
          </p:nvGrpSpPr>
          <p:grpSpPr>
            <a:xfrm rot="0">
              <a:off x="5163820" y="3776951"/>
              <a:ext cx="148590" cy="144780"/>
              <a:chOff x="0" y="0"/>
              <a:chExt cx="148590" cy="144780"/>
            </a:xfrm>
          </p:grpSpPr>
          <p:sp>
            <p:nvSpPr>
              <p:cNvPr name="Freeform 108" id="108"/>
              <p:cNvSpPr/>
              <p:nvPr/>
            </p:nvSpPr>
            <p:spPr>
              <a:xfrm flipH="false" flipV="false" rot="0">
                <a:off x="45720" y="45720"/>
                <a:ext cx="50800" cy="50800"/>
              </a:xfrm>
              <a:custGeom>
                <a:avLst/>
                <a:gdLst/>
                <a:ahLst/>
                <a:cxnLst/>
                <a:rect r="r" b="b" t="t" l="l"/>
                <a:pathLst>
                  <a:path h="50800" w="50800">
                    <a:moveTo>
                      <a:pt x="50800" y="16510"/>
                    </a:moveTo>
                    <a:cubicBezTo>
                      <a:pt x="29210" y="50800"/>
                      <a:pt x="8890" y="44450"/>
                      <a:pt x="5080" y="38100"/>
                    </a:cubicBezTo>
                    <a:cubicBezTo>
                      <a:pt x="0" y="30480"/>
                      <a:pt x="3810" y="10160"/>
                      <a:pt x="10160" y="5080"/>
                    </a:cubicBezTo>
                    <a:cubicBezTo>
                      <a:pt x="17780" y="0"/>
                      <a:pt x="44450" y="6350"/>
                      <a:pt x="44450" y="6350"/>
                    </a:cubicBezTo>
                  </a:path>
                </a:pathLst>
              </a:custGeom>
              <a:solidFill>
                <a:srgbClr val="295BBE"/>
              </a:solidFill>
              <a:ln cap="sq">
                <a:noFill/>
                <a:prstDash val="solid"/>
                <a:miter/>
              </a:ln>
            </p:spPr>
          </p:sp>
        </p:grpSp>
        <p:grpSp>
          <p:nvGrpSpPr>
            <p:cNvPr name="Group 109" id="109"/>
            <p:cNvGrpSpPr/>
            <p:nvPr/>
          </p:nvGrpSpPr>
          <p:grpSpPr>
            <a:xfrm rot="0">
              <a:off x="5601970" y="3834101"/>
              <a:ext cx="314960" cy="233680"/>
              <a:chOff x="0" y="0"/>
              <a:chExt cx="314960" cy="233680"/>
            </a:xfrm>
          </p:grpSpPr>
          <p:sp>
            <p:nvSpPr>
              <p:cNvPr name="Freeform 110" id="110"/>
              <p:cNvSpPr/>
              <p:nvPr/>
            </p:nvSpPr>
            <p:spPr>
              <a:xfrm flipH="false" flipV="false" rot="0">
                <a:off x="48260" y="49530"/>
                <a:ext cx="217170" cy="134620"/>
              </a:xfrm>
              <a:custGeom>
                <a:avLst/>
                <a:gdLst/>
                <a:ahLst/>
                <a:cxnLst/>
                <a:rect r="r" b="b" t="t" l="l"/>
                <a:pathLst>
                  <a:path h="134620" w="217170">
                    <a:moveTo>
                      <a:pt x="20320" y="82550"/>
                    </a:moveTo>
                    <a:cubicBezTo>
                      <a:pt x="125730" y="48260"/>
                      <a:pt x="163830" y="1270"/>
                      <a:pt x="185420" y="1270"/>
                    </a:cubicBezTo>
                    <a:cubicBezTo>
                      <a:pt x="198120" y="1270"/>
                      <a:pt x="213360" y="15240"/>
                      <a:pt x="215900" y="22860"/>
                    </a:cubicBezTo>
                    <a:cubicBezTo>
                      <a:pt x="217170" y="30480"/>
                      <a:pt x="207010" y="46990"/>
                      <a:pt x="199390" y="49530"/>
                    </a:cubicBezTo>
                    <a:cubicBezTo>
                      <a:pt x="191770" y="52070"/>
                      <a:pt x="168910" y="43180"/>
                      <a:pt x="166370" y="34290"/>
                    </a:cubicBezTo>
                    <a:cubicBezTo>
                      <a:pt x="163830" y="26670"/>
                      <a:pt x="175260" y="3810"/>
                      <a:pt x="182880" y="1270"/>
                    </a:cubicBezTo>
                    <a:cubicBezTo>
                      <a:pt x="191770" y="0"/>
                      <a:pt x="213360" y="11430"/>
                      <a:pt x="214630" y="20320"/>
                    </a:cubicBezTo>
                    <a:cubicBezTo>
                      <a:pt x="217170" y="36830"/>
                      <a:pt x="165100" y="80010"/>
                      <a:pt x="133350" y="97790"/>
                    </a:cubicBezTo>
                    <a:cubicBezTo>
                      <a:pt x="102870" y="116840"/>
                      <a:pt x="54610" y="134620"/>
                      <a:pt x="31750" y="132080"/>
                    </a:cubicBezTo>
                    <a:cubicBezTo>
                      <a:pt x="19050" y="130810"/>
                      <a:pt x="3810" y="124460"/>
                      <a:pt x="2540" y="116840"/>
                    </a:cubicBezTo>
                    <a:cubicBezTo>
                      <a:pt x="0" y="107950"/>
                      <a:pt x="20320" y="82550"/>
                      <a:pt x="20320" y="82550"/>
                    </a:cubicBezTo>
                  </a:path>
                </a:pathLst>
              </a:custGeom>
              <a:solidFill>
                <a:srgbClr val="295BBE"/>
              </a:solidFill>
              <a:ln cap="sq">
                <a:noFill/>
                <a:prstDash val="solid"/>
                <a:miter/>
              </a:ln>
            </p:spPr>
          </p:sp>
        </p:grpSp>
        <p:grpSp>
          <p:nvGrpSpPr>
            <p:cNvPr name="Group 111" id="111"/>
            <p:cNvGrpSpPr/>
            <p:nvPr/>
          </p:nvGrpSpPr>
          <p:grpSpPr>
            <a:xfrm rot="0">
              <a:off x="591820" y="5312381"/>
              <a:ext cx="845820" cy="601980"/>
              <a:chOff x="0" y="0"/>
              <a:chExt cx="845820" cy="601980"/>
            </a:xfrm>
          </p:grpSpPr>
          <p:sp>
            <p:nvSpPr>
              <p:cNvPr name="Freeform 112" id="112"/>
              <p:cNvSpPr/>
              <p:nvPr/>
            </p:nvSpPr>
            <p:spPr>
              <a:xfrm flipH="false" flipV="false" rot="0">
                <a:off x="49530" y="45720"/>
                <a:ext cx="748030" cy="510540"/>
              </a:xfrm>
              <a:custGeom>
                <a:avLst/>
                <a:gdLst/>
                <a:ahLst/>
                <a:cxnLst/>
                <a:rect r="r" b="b" t="t" l="l"/>
                <a:pathLst>
                  <a:path h="510540" w="748030">
                    <a:moveTo>
                      <a:pt x="633730" y="500380"/>
                    </a:moveTo>
                    <a:cubicBezTo>
                      <a:pt x="393700" y="388620"/>
                      <a:pt x="73660" y="210820"/>
                      <a:pt x="20320" y="143510"/>
                    </a:cubicBezTo>
                    <a:cubicBezTo>
                      <a:pt x="3810" y="123190"/>
                      <a:pt x="1270" y="107950"/>
                      <a:pt x="1270" y="90170"/>
                    </a:cubicBezTo>
                    <a:cubicBezTo>
                      <a:pt x="1270" y="72390"/>
                      <a:pt x="8890" y="52070"/>
                      <a:pt x="20320" y="36830"/>
                    </a:cubicBezTo>
                    <a:cubicBezTo>
                      <a:pt x="30480" y="22860"/>
                      <a:pt x="49530" y="10160"/>
                      <a:pt x="66040" y="5080"/>
                    </a:cubicBezTo>
                    <a:cubicBezTo>
                      <a:pt x="83820" y="1270"/>
                      <a:pt x="105410" y="2540"/>
                      <a:pt x="121920" y="8890"/>
                    </a:cubicBezTo>
                    <a:cubicBezTo>
                      <a:pt x="138430" y="15240"/>
                      <a:pt x="157480" y="27940"/>
                      <a:pt x="165100" y="44450"/>
                    </a:cubicBezTo>
                    <a:cubicBezTo>
                      <a:pt x="175260" y="66040"/>
                      <a:pt x="180340" y="105410"/>
                      <a:pt x="170180" y="127000"/>
                    </a:cubicBezTo>
                    <a:cubicBezTo>
                      <a:pt x="160020" y="149860"/>
                      <a:pt x="128270" y="173990"/>
                      <a:pt x="104140" y="177800"/>
                    </a:cubicBezTo>
                    <a:cubicBezTo>
                      <a:pt x="80010" y="181610"/>
                      <a:pt x="43180" y="166370"/>
                      <a:pt x="26670" y="151130"/>
                    </a:cubicBezTo>
                    <a:cubicBezTo>
                      <a:pt x="11430" y="138430"/>
                      <a:pt x="3810" y="118110"/>
                      <a:pt x="2540" y="100330"/>
                    </a:cubicBezTo>
                    <a:cubicBezTo>
                      <a:pt x="0" y="82550"/>
                      <a:pt x="5080" y="60960"/>
                      <a:pt x="13970" y="45720"/>
                    </a:cubicBezTo>
                    <a:cubicBezTo>
                      <a:pt x="24130" y="30480"/>
                      <a:pt x="40640" y="15240"/>
                      <a:pt x="57150" y="8890"/>
                    </a:cubicBezTo>
                    <a:cubicBezTo>
                      <a:pt x="73660" y="2540"/>
                      <a:pt x="88900" y="0"/>
                      <a:pt x="113030" y="5080"/>
                    </a:cubicBezTo>
                    <a:cubicBezTo>
                      <a:pt x="170180" y="19050"/>
                      <a:pt x="297180" y="105410"/>
                      <a:pt x="379730" y="158750"/>
                    </a:cubicBezTo>
                    <a:cubicBezTo>
                      <a:pt x="455930" y="207010"/>
                      <a:pt x="528320" y="273050"/>
                      <a:pt x="591820" y="309880"/>
                    </a:cubicBezTo>
                    <a:cubicBezTo>
                      <a:pt x="638810" y="337820"/>
                      <a:pt x="693420" y="347980"/>
                      <a:pt x="718820" y="372110"/>
                    </a:cubicBezTo>
                    <a:cubicBezTo>
                      <a:pt x="734060" y="386080"/>
                      <a:pt x="742950" y="402590"/>
                      <a:pt x="745490" y="420370"/>
                    </a:cubicBezTo>
                    <a:cubicBezTo>
                      <a:pt x="748030" y="436880"/>
                      <a:pt x="742950" y="459740"/>
                      <a:pt x="732790" y="473710"/>
                    </a:cubicBezTo>
                    <a:cubicBezTo>
                      <a:pt x="723900" y="487680"/>
                      <a:pt x="704850" y="501650"/>
                      <a:pt x="688340" y="505460"/>
                    </a:cubicBezTo>
                    <a:cubicBezTo>
                      <a:pt x="671830" y="510540"/>
                      <a:pt x="633730" y="500380"/>
                      <a:pt x="633730" y="500380"/>
                    </a:cubicBezTo>
                  </a:path>
                </a:pathLst>
              </a:custGeom>
              <a:solidFill>
                <a:srgbClr val="0D3056"/>
              </a:solidFill>
              <a:ln cap="sq">
                <a:noFill/>
                <a:prstDash val="solid"/>
                <a:miter/>
              </a:ln>
            </p:spPr>
          </p:sp>
        </p:grpSp>
        <p:grpSp>
          <p:nvGrpSpPr>
            <p:cNvPr name="Group 113" id="113"/>
            <p:cNvGrpSpPr/>
            <p:nvPr/>
          </p:nvGrpSpPr>
          <p:grpSpPr>
            <a:xfrm rot="0">
              <a:off x="474980" y="5504151"/>
              <a:ext cx="937260" cy="640080"/>
              <a:chOff x="0" y="0"/>
              <a:chExt cx="937260" cy="640080"/>
            </a:xfrm>
          </p:grpSpPr>
          <p:sp>
            <p:nvSpPr>
              <p:cNvPr name="Freeform 114" id="114"/>
              <p:cNvSpPr/>
              <p:nvPr/>
            </p:nvSpPr>
            <p:spPr>
              <a:xfrm flipH="false" flipV="false" rot="0">
                <a:off x="46990" y="50800"/>
                <a:ext cx="840740" cy="542290"/>
              </a:xfrm>
              <a:custGeom>
                <a:avLst/>
                <a:gdLst/>
                <a:ahLst/>
                <a:cxnLst/>
                <a:rect r="r" b="b" t="t" l="l"/>
                <a:pathLst>
                  <a:path h="542290" w="840740">
                    <a:moveTo>
                      <a:pt x="609600" y="349250"/>
                    </a:moveTo>
                    <a:cubicBezTo>
                      <a:pt x="821690" y="502920"/>
                      <a:pt x="807720" y="520700"/>
                      <a:pt x="797560" y="521970"/>
                    </a:cubicBezTo>
                    <a:cubicBezTo>
                      <a:pt x="779780" y="524510"/>
                      <a:pt x="749300" y="480060"/>
                      <a:pt x="718820" y="462280"/>
                    </a:cubicBezTo>
                    <a:cubicBezTo>
                      <a:pt x="680720" y="439420"/>
                      <a:pt x="622300" y="425450"/>
                      <a:pt x="582930" y="402590"/>
                    </a:cubicBezTo>
                    <a:cubicBezTo>
                      <a:pt x="547370" y="382270"/>
                      <a:pt x="525780" y="354330"/>
                      <a:pt x="490220" y="331470"/>
                    </a:cubicBezTo>
                    <a:cubicBezTo>
                      <a:pt x="449580" y="306070"/>
                      <a:pt x="377190" y="281940"/>
                      <a:pt x="347980" y="256540"/>
                    </a:cubicBezTo>
                    <a:cubicBezTo>
                      <a:pt x="330200" y="241300"/>
                      <a:pt x="314960" y="224790"/>
                      <a:pt x="314960" y="210820"/>
                    </a:cubicBezTo>
                    <a:cubicBezTo>
                      <a:pt x="313690" y="199390"/>
                      <a:pt x="322580" y="184150"/>
                      <a:pt x="330200" y="180340"/>
                    </a:cubicBezTo>
                    <a:cubicBezTo>
                      <a:pt x="337820" y="177800"/>
                      <a:pt x="356870" y="182880"/>
                      <a:pt x="358140" y="187960"/>
                    </a:cubicBezTo>
                    <a:cubicBezTo>
                      <a:pt x="359410" y="194310"/>
                      <a:pt x="326390" y="223520"/>
                      <a:pt x="320040" y="220980"/>
                    </a:cubicBezTo>
                    <a:cubicBezTo>
                      <a:pt x="314960" y="219710"/>
                      <a:pt x="312420" y="199390"/>
                      <a:pt x="316230" y="193040"/>
                    </a:cubicBezTo>
                    <a:cubicBezTo>
                      <a:pt x="320040" y="185420"/>
                      <a:pt x="331470" y="179070"/>
                      <a:pt x="341630" y="179070"/>
                    </a:cubicBezTo>
                    <a:cubicBezTo>
                      <a:pt x="363220" y="179070"/>
                      <a:pt x="394970" y="203200"/>
                      <a:pt x="430530" y="226060"/>
                    </a:cubicBezTo>
                    <a:cubicBezTo>
                      <a:pt x="490220" y="262890"/>
                      <a:pt x="636270" y="354330"/>
                      <a:pt x="657860" y="392430"/>
                    </a:cubicBezTo>
                    <a:cubicBezTo>
                      <a:pt x="665480" y="405130"/>
                      <a:pt x="666750" y="419100"/>
                      <a:pt x="661670" y="425450"/>
                    </a:cubicBezTo>
                    <a:cubicBezTo>
                      <a:pt x="656590" y="433070"/>
                      <a:pt x="643890" y="435610"/>
                      <a:pt x="628650" y="434340"/>
                    </a:cubicBezTo>
                    <a:cubicBezTo>
                      <a:pt x="585470" y="426720"/>
                      <a:pt x="454660" y="330200"/>
                      <a:pt x="391160" y="285750"/>
                    </a:cubicBezTo>
                    <a:cubicBezTo>
                      <a:pt x="347980" y="254000"/>
                      <a:pt x="330200" y="228600"/>
                      <a:pt x="284480" y="198120"/>
                    </a:cubicBezTo>
                    <a:cubicBezTo>
                      <a:pt x="215900" y="151130"/>
                      <a:pt x="40640" y="85090"/>
                      <a:pt x="12700" y="45720"/>
                    </a:cubicBezTo>
                    <a:cubicBezTo>
                      <a:pt x="2540" y="33020"/>
                      <a:pt x="0" y="16510"/>
                      <a:pt x="5080" y="10160"/>
                    </a:cubicBezTo>
                    <a:cubicBezTo>
                      <a:pt x="10160" y="2540"/>
                      <a:pt x="34290" y="0"/>
                      <a:pt x="41910" y="5080"/>
                    </a:cubicBezTo>
                    <a:cubicBezTo>
                      <a:pt x="48260" y="10160"/>
                      <a:pt x="50800" y="35560"/>
                      <a:pt x="44450" y="41910"/>
                    </a:cubicBezTo>
                    <a:cubicBezTo>
                      <a:pt x="39370" y="48260"/>
                      <a:pt x="13970" y="48260"/>
                      <a:pt x="7620" y="43180"/>
                    </a:cubicBezTo>
                    <a:cubicBezTo>
                      <a:pt x="1270" y="38100"/>
                      <a:pt x="0" y="19050"/>
                      <a:pt x="3810" y="12700"/>
                    </a:cubicBezTo>
                    <a:cubicBezTo>
                      <a:pt x="7620" y="5080"/>
                      <a:pt x="17780" y="0"/>
                      <a:pt x="31750" y="0"/>
                    </a:cubicBezTo>
                    <a:cubicBezTo>
                      <a:pt x="74930" y="2540"/>
                      <a:pt x="215900" y="92710"/>
                      <a:pt x="298450" y="146050"/>
                    </a:cubicBezTo>
                    <a:cubicBezTo>
                      <a:pt x="374650" y="195580"/>
                      <a:pt x="447040" y="262890"/>
                      <a:pt x="513080" y="307340"/>
                    </a:cubicBezTo>
                    <a:cubicBezTo>
                      <a:pt x="565150" y="341630"/>
                      <a:pt x="641350" y="365760"/>
                      <a:pt x="657860" y="392430"/>
                    </a:cubicBezTo>
                    <a:cubicBezTo>
                      <a:pt x="665480" y="403860"/>
                      <a:pt x="666750" y="419100"/>
                      <a:pt x="661670" y="425450"/>
                    </a:cubicBezTo>
                    <a:cubicBezTo>
                      <a:pt x="656590" y="433070"/>
                      <a:pt x="643890" y="436880"/>
                      <a:pt x="628650" y="434340"/>
                    </a:cubicBezTo>
                    <a:cubicBezTo>
                      <a:pt x="588010" y="425450"/>
                      <a:pt x="473710" y="312420"/>
                      <a:pt x="415290" y="275590"/>
                    </a:cubicBezTo>
                    <a:cubicBezTo>
                      <a:pt x="378460" y="251460"/>
                      <a:pt x="330200" y="241300"/>
                      <a:pt x="320040" y="220980"/>
                    </a:cubicBezTo>
                    <a:cubicBezTo>
                      <a:pt x="313690" y="209550"/>
                      <a:pt x="317500" y="189230"/>
                      <a:pt x="325120" y="184150"/>
                    </a:cubicBezTo>
                    <a:cubicBezTo>
                      <a:pt x="331470" y="179070"/>
                      <a:pt x="356870" y="182880"/>
                      <a:pt x="358140" y="187960"/>
                    </a:cubicBezTo>
                    <a:cubicBezTo>
                      <a:pt x="359410" y="194310"/>
                      <a:pt x="326390" y="223520"/>
                      <a:pt x="320040" y="220980"/>
                    </a:cubicBezTo>
                    <a:cubicBezTo>
                      <a:pt x="314960" y="219710"/>
                      <a:pt x="312420" y="205740"/>
                      <a:pt x="314960" y="198120"/>
                    </a:cubicBezTo>
                    <a:cubicBezTo>
                      <a:pt x="317500" y="190500"/>
                      <a:pt x="325120" y="180340"/>
                      <a:pt x="336550" y="179070"/>
                    </a:cubicBezTo>
                    <a:cubicBezTo>
                      <a:pt x="374650" y="176530"/>
                      <a:pt x="513080" y="304800"/>
                      <a:pt x="591820" y="349250"/>
                    </a:cubicBezTo>
                    <a:cubicBezTo>
                      <a:pt x="652780" y="384810"/>
                      <a:pt x="720090" y="400050"/>
                      <a:pt x="763270" y="431800"/>
                    </a:cubicBezTo>
                    <a:cubicBezTo>
                      <a:pt x="796290" y="455930"/>
                      <a:pt x="834390" y="491490"/>
                      <a:pt x="838200" y="511810"/>
                    </a:cubicBezTo>
                    <a:cubicBezTo>
                      <a:pt x="840740" y="521970"/>
                      <a:pt x="834390" y="533400"/>
                      <a:pt x="828040" y="538480"/>
                    </a:cubicBezTo>
                    <a:cubicBezTo>
                      <a:pt x="821690" y="542290"/>
                      <a:pt x="811530" y="541020"/>
                      <a:pt x="797560" y="535940"/>
                    </a:cubicBezTo>
                    <a:cubicBezTo>
                      <a:pt x="755650" y="521970"/>
                      <a:pt x="604520" y="426720"/>
                      <a:pt x="582930" y="391160"/>
                    </a:cubicBezTo>
                    <a:cubicBezTo>
                      <a:pt x="574040" y="378460"/>
                      <a:pt x="572770" y="364490"/>
                      <a:pt x="577850" y="358140"/>
                    </a:cubicBezTo>
                    <a:cubicBezTo>
                      <a:pt x="582930" y="350520"/>
                      <a:pt x="609600" y="349250"/>
                      <a:pt x="609600" y="349250"/>
                    </a:cubicBezTo>
                  </a:path>
                </a:pathLst>
              </a:custGeom>
              <a:solidFill>
                <a:srgbClr val="295BBE"/>
              </a:solidFill>
              <a:ln cap="sq">
                <a:noFill/>
                <a:prstDash val="solid"/>
                <a:miter/>
              </a:ln>
            </p:spPr>
          </p:sp>
        </p:grpSp>
        <p:grpSp>
          <p:nvGrpSpPr>
            <p:cNvPr name="Group 115" id="115"/>
            <p:cNvGrpSpPr/>
            <p:nvPr/>
          </p:nvGrpSpPr>
          <p:grpSpPr>
            <a:xfrm rot="0">
              <a:off x="1038860" y="5836891"/>
              <a:ext cx="679450" cy="478790"/>
              <a:chOff x="0" y="0"/>
              <a:chExt cx="679450" cy="478790"/>
            </a:xfrm>
          </p:grpSpPr>
          <p:sp>
            <p:nvSpPr>
              <p:cNvPr name="Freeform 116" id="116"/>
              <p:cNvSpPr/>
              <p:nvPr/>
            </p:nvSpPr>
            <p:spPr>
              <a:xfrm flipH="false" flipV="false" rot="0">
                <a:off x="45720" y="50800"/>
                <a:ext cx="589280" cy="379730"/>
              </a:xfrm>
              <a:custGeom>
                <a:avLst/>
                <a:gdLst/>
                <a:ahLst/>
                <a:cxnLst/>
                <a:rect r="r" b="b" t="t" l="l"/>
                <a:pathLst>
                  <a:path h="379730" w="589280">
                    <a:moveTo>
                      <a:pt x="38100" y="0"/>
                    </a:moveTo>
                    <a:cubicBezTo>
                      <a:pt x="397510" y="237490"/>
                      <a:pt x="561340" y="297180"/>
                      <a:pt x="582930" y="336550"/>
                    </a:cubicBezTo>
                    <a:cubicBezTo>
                      <a:pt x="589280" y="350520"/>
                      <a:pt x="585470" y="367030"/>
                      <a:pt x="579120" y="373380"/>
                    </a:cubicBezTo>
                    <a:cubicBezTo>
                      <a:pt x="574040" y="378460"/>
                      <a:pt x="554990" y="379730"/>
                      <a:pt x="548640" y="374650"/>
                    </a:cubicBezTo>
                    <a:cubicBezTo>
                      <a:pt x="542290" y="368300"/>
                      <a:pt x="538480" y="344170"/>
                      <a:pt x="543560" y="337820"/>
                    </a:cubicBezTo>
                    <a:cubicBezTo>
                      <a:pt x="548640" y="331470"/>
                      <a:pt x="574040" y="328930"/>
                      <a:pt x="580390" y="334010"/>
                    </a:cubicBezTo>
                    <a:cubicBezTo>
                      <a:pt x="586740" y="340360"/>
                      <a:pt x="586740" y="364490"/>
                      <a:pt x="581660" y="372110"/>
                    </a:cubicBezTo>
                    <a:cubicBezTo>
                      <a:pt x="576580" y="377190"/>
                      <a:pt x="565150" y="378460"/>
                      <a:pt x="551180" y="375920"/>
                    </a:cubicBezTo>
                    <a:cubicBezTo>
                      <a:pt x="505460" y="367030"/>
                      <a:pt x="372110" y="281940"/>
                      <a:pt x="283210" y="227330"/>
                    </a:cubicBezTo>
                    <a:cubicBezTo>
                      <a:pt x="190500" y="170180"/>
                      <a:pt x="34290" y="82550"/>
                      <a:pt x="8890" y="40640"/>
                    </a:cubicBezTo>
                    <a:cubicBezTo>
                      <a:pt x="1270" y="27940"/>
                      <a:pt x="0" y="13970"/>
                      <a:pt x="5080" y="7620"/>
                    </a:cubicBezTo>
                    <a:cubicBezTo>
                      <a:pt x="10160" y="0"/>
                      <a:pt x="38100" y="0"/>
                      <a:pt x="38100" y="0"/>
                    </a:cubicBezTo>
                  </a:path>
                </a:pathLst>
              </a:custGeom>
              <a:solidFill>
                <a:srgbClr val="295BBE"/>
              </a:solidFill>
              <a:ln cap="sq">
                <a:noFill/>
                <a:prstDash val="solid"/>
                <a:miter/>
              </a:ln>
            </p:spPr>
          </p:sp>
        </p:grpSp>
        <p:grpSp>
          <p:nvGrpSpPr>
            <p:cNvPr name="Group 117" id="117"/>
            <p:cNvGrpSpPr/>
            <p:nvPr/>
          </p:nvGrpSpPr>
          <p:grpSpPr>
            <a:xfrm rot="0">
              <a:off x="1664970" y="6111211"/>
              <a:ext cx="419100" cy="257810"/>
              <a:chOff x="0" y="0"/>
              <a:chExt cx="419100" cy="257810"/>
            </a:xfrm>
          </p:grpSpPr>
          <p:sp>
            <p:nvSpPr>
              <p:cNvPr name="Freeform 118" id="118"/>
              <p:cNvSpPr/>
              <p:nvPr/>
            </p:nvSpPr>
            <p:spPr>
              <a:xfrm flipH="false" flipV="false" rot="0">
                <a:off x="48260" y="48260"/>
                <a:ext cx="322580" cy="171450"/>
              </a:xfrm>
              <a:custGeom>
                <a:avLst/>
                <a:gdLst/>
                <a:ahLst/>
                <a:cxnLst/>
                <a:rect r="r" b="b" t="t" l="l"/>
                <a:pathLst>
                  <a:path h="171450" w="322580">
                    <a:moveTo>
                      <a:pt x="26670" y="107950"/>
                    </a:moveTo>
                    <a:cubicBezTo>
                      <a:pt x="170180" y="93980"/>
                      <a:pt x="200660" y="36830"/>
                      <a:pt x="231140" y="20320"/>
                    </a:cubicBezTo>
                    <a:cubicBezTo>
                      <a:pt x="252730" y="7620"/>
                      <a:pt x="278130" y="0"/>
                      <a:pt x="293370" y="2540"/>
                    </a:cubicBezTo>
                    <a:cubicBezTo>
                      <a:pt x="304800" y="3810"/>
                      <a:pt x="316230" y="11430"/>
                      <a:pt x="318770" y="19050"/>
                    </a:cubicBezTo>
                    <a:cubicBezTo>
                      <a:pt x="322580" y="25400"/>
                      <a:pt x="320040" y="36830"/>
                      <a:pt x="316230" y="41910"/>
                    </a:cubicBezTo>
                    <a:cubicBezTo>
                      <a:pt x="311150" y="48260"/>
                      <a:pt x="300990" y="53340"/>
                      <a:pt x="294640" y="53340"/>
                    </a:cubicBezTo>
                    <a:cubicBezTo>
                      <a:pt x="287020" y="52070"/>
                      <a:pt x="276860" y="46990"/>
                      <a:pt x="274320" y="40640"/>
                    </a:cubicBezTo>
                    <a:cubicBezTo>
                      <a:pt x="270510" y="33020"/>
                      <a:pt x="271780" y="16510"/>
                      <a:pt x="276860" y="10160"/>
                    </a:cubicBezTo>
                    <a:cubicBezTo>
                      <a:pt x="280670" y="5080"/>
                      <a:pt x="292100" y="1270"/>
                      <a:pt x="299720" y="2540"/>
                    </a:cubicBezTo>
                    <a:cubicBezTo>
                      <a:pt x="306070" y="3810"/>
                      <a:pt x="316230" y="10160"/>
                      <a:pt x="318770" y="16510"/>
                    </a:cubicBezTo>
                    <a:cubicBezTo>
                      <a:pt x="321310" y="24130"/>
                      <a:pt x="318770" y="38100"/>
                      <a:pt x="312420" y="46990"/>
                    </a:cubicBezTo>
                    <a:cubicBezTo>
                      <a:pt x="302260" y="58420"/>
                      <a:pt x="271780" y="59690"/>
                      <a:pt x="248920" y="72390"/>
                    </a:cubicBezTo>
                    <a:cubicBezTo>
                      <a:pt x="215900" y="91440"/>
                      <a:pt x="181610" y="144780"/>
                      <a:pt x="142240" y="158750"/>
                    </a:cubicBezTo>
                    <a:cubicBezTo>
                      <a:pt x="104140" y="171450"/>
                      <a:pt x="34290" y="168910"/>
                      <a:pt x="15240" y="154940"/>
                    </a:cubicBezTo>
                    <a:cubicBezTo>
                      <a:pt x="5080" y="148590"/>
                      <a:pt x="0" y="132080"/>
                      <a:pt x="2540" y="123190"/>
                    </a:cubicBezTo>
                    <a:cubicBezTo>
                      <a:pt x="5080" y="116840"/>
                      <a:pt x="26670" y="107950"/>
                      <a:pt x="26670" y="107950"/>
                    </a:cubicBezTo>
                  </a:path>
                </a:pathLst>
              </a:custGeom>
              <a:solidFill>
                <a:srgbClr val="295BBE"/>
              </a:solidFill>
              <a:ln cap="sq">
                <a:noFill/>
                <a:prstDash val="solid"/>
                <a:miter/>
              </a:ln>
            </p:spPr>
          </p:sp>
        </p:grpSp>
        <p:grpSp>
          <p:nvGrpSpPr>
            <p:cNvPr name="Group 119" id="119"/>
            <p:cNvGrpSpPr/>
            <p:nvPr/>
          </p:nvGrpSpPr>
          <p:grpSpPr>
            <a:xfrm rot="0">
              <a:off x="2984500" y="5285711"/>
              <a:ext cx="572770" cy="383540"/>
              <a:chOff x="0" y="0"/>
              <a:chExt cx="572770" cy="383540"/>
            </a:xfrm>
          </p:grpSpPr>
          <p:sp>
            <p:nvSpPr>
              <p:cNvPr name="Freeform 120" id="120"/>
              <p:cNvSpPr/>
              <p:nvPr/>
            </p:nvSpPr>
            <p:spPr>
              <a:xfrm flipH="false" flipV="false" rot="0">
                <a:off x="46990" y="45720"/>
                <a:ext cx="473710" cy="288290"/>
              </a:xfrm>
              <a:custGeom>
                <a:avLst/>
                <a:gdLst/>
                <a:ahLst/>
                <a:cxnLst/>
                <a:rect r="r" b="b" t="t" l="l"/>
                <a:pathLst>
                  <a:path h="288290" w="473710">
                    <a:moveTo>
                      <a:pt x="12700" y="240030"/>
                    </a:moveTo>
                    <a:cubicBezTo>
                      <a:pt x="111760" y="161290"/>
                      <a:pt x="165100" y="149860"/>
                      <a:pt x="213360" y="125730"/>
                    </a:cubicBezTo>
                    <a:cubicBezTo>
                      <a:pt x="271780" y="96520"/>
                      <a:pt x="355600" y="33020"/>
                      <a:pt x="402590" y="16510"/>
                    </a:cubicBezTo>
                    <a:cubicBezTo>
                      <a:pt x="426720" y="7620"/>
                      <a:pt x="450850" y="0"/>
                      <a:pt x="462280" y="6350"/>
                    </a:cubicBezTo>
                    <a:cubicBezTo>
                      <a:pt x="469900" y="8890"/>
                      <a:pt x="473710" y="19050"/>
                      <a:pt x="473710" y="26670"/>
                    </a:cubicBezTo>
                    <a:cubicBezTo>
                      <a:pt x="473710" y="34290"/>
                      <a:pt x="469900" y="44450"/>
                      <a:pt x="463550" y="48260"/>
                    </a:cubicBezTo>
                    <a:cubicBezTo>
                      <a:pt x="454660" y="52070"/>
                      <a:pt x="431800" y="48260"/>
                      <a:pt x="426720" y="40640"/>
                    </a:cubicBezTo>
                    <a:cubicBezTo>
                      <a:pt x="422910" y="33020"/>
                      <a:pt x="429260" y="10160"/>
                      <a:pt x="435610" y="5080"/>
                    </a:cubicBezTo>
                    <a:cubicBezTo>
                      <a:pt x="443230" y="0"/>
                      <a:pt x="461010" y="3810"/>
                      <a:pt x="466090" y="8890"/>
                    </a:cubicBezTo>
                    <a:cubicBezTo>
                      <a:pt x="472440" y="16510"/>
                      <a:pt x="473710" y="33020"/>
                      <a:pt x="464820" y="45720"/>
                    </a:cubicBezTo>
                    <a:cubicBezTo>
                      <a:pt x="435610" y="91440"/>
                      <a:pt x="170180" y="182880"/>
                      <a:pt x="100330" y="229870"/>
                    </a:cubicBezTo>
                    <a:cubicBezTo>
                      <a:pt x="67310" y="251460"/>
                      <a:pt x="53340" y="283210"/>
                      <a:pt x="34290" y="285750"/>
                    </a:cubicBezTo>
                    <a:cubicBezTo>
                      <a:pt x="22860" y="288290"/>
                      <a:pt x="7620" y="280670"/>
                      <a:pt x="3810" y="273050"/>
                    </a:cubicBezTo>
                    <a:cubicBezTo>
                      <a:pt x="0" y="264160"/>
                      <a:pt x="12700" y="240030"/>
                      <a:pt x="12700" y="240030"/>
                    </a:cubicBezTo>
                  </a:path>
                </a:pathLst>
              </a:custGeom>
              <a:solidFill>
                <a:srgbClr val="295BBE"/>
              </a:solidFill>
              <a:ln cap="sq">
                <a:noFill/>
                <a:prstDash val="solid"/>
                <a:miter/>
              </a:ln>
            </p:spPr>
          </p:sp>
        </p:grpSp>
        <p:grpSp>
          <p:nvGrpSpPr>
            <p:cNvPr name="Group 121" id="121"/>
            <p:cNvGrpSpPr/>
            <p:nvPr/>
          </p:nvGrpSpPr>
          <p:grpSpPr>
            <a:xfrm rot="0">
              <a:off x="467360" y="5514311"/>
              <a:ext cx="582930" cy="604520"/>
              <a:chOff x="0" y="0"/>
              <a:chExt cx="582930" cy="604520"/>
            </a:xfrm>
          </p:grpSpPr>
          <p:sp>
            <p:nvSpPr>
              <p:cNvPr name="Freeform 122" id="122"/>
              <p:cNvSpPr/>
              <p:nvPr/>
            </p:nvSpPr>
            <p:spPr>
              <a:xfrm flipH="false" flipV="false" rot="0">
                <a:off x="45720" y="49530"/>
                <a:ext cx="487680" cy="508000"/>
              </a:xfrm>
              <a:custGeom>
                <a:avLst/>
                <a:gdLst/>
                <a:ahLst/>
                <a:cxnLst/>
                <a:rect r="r" b="b" t="t" l="l"/>
                <a:pathLst>
                  <a:path h="508000" w="487680">
                    <a:moveTo>
                      <a:pt x="38100" y="153670"/>
                    </a:moveTo>
                    <a:cubicBezTo>
                      <a:pt x="414020" y="427990"/>
                      <a:pt x="445770" y="454660"/>
                      <a:pt x="449580" y="474980"/>
                    </a:cubicBezTo>
                    <a:cubicBezTo>
                      <a:pt x="452120" y="486410"/>
                      <a:pt x="447040" y="497840"/>
                      <a:pt x="440690" y="502920"/>
                    </a:cubicBezTo>
                    <a:cubicBezTo>
                      <a:pt x="434340" y="508000"/>
                      <a:pt x="424180" y="508000"/>
                      <a:pt x="411480" y="504190"/>
                    </a:cubicBezTo>
                    <a:cubicBezTo>
                      <a:pt x="364490" y="487680"/>
                      <a:pt x="189230" y="336550"/>
                      <a:pt x="129540" y="273050"/>
                    </a:cubicBezTo>
                    <a:cubicBezTo>
                      <a:pt x="96520" y="236220"/>
                      <a:pt x="68580" y="198120"/>
                      <a:pt x="62230" y="173990"/>
                    </a:cubicBezTo>
                    <a:cubicBezTo>
                      <a:pt x="59690" y="162560"/>
                      <a:pt x="59690" y="151130"/>
                      <a:pt x="64770" y="146050"/>
                    </a:cubicBezTo>
                    <a:cubicBezTo>
                      <a:pt x="69850" y="139700"/>
                      <a:pt x="81280" y="137160"/>
                      <a:pt x="92710" y="137160"/>
                    </a:cubicBezTo>
                    <a:cubicBezTo>
                      <a:pt x="111760" y="138430"/>
                      <a:pt x="138430" y="153670"/>
                      <a:pt x="165100" y="167640"/>
                    </a:cubicBezTo>
                    <a:cubicBezTo>
                      <a:pt x="207010" y="189230"/>
                      <a:pt x="266700" y="227330"/>
                      <a:pt x="313690" y="259080"/>
                    </a:cubicBezTo>
                    <a:cubicBezTo>
                      <a:pt x="356870" y="289560"/>
                      <a:pt x="403860" y="323850"/>
                      <a:pt x="434340" y="356870"/>
                    </a:cubicBezTo>
                    <a:cubicBezTo>
                      <a:pt x="457200" y="381000"/>
                      <a:pt x="487680" y="414020"/>
                      <a:pt x="486410" y="431800"/>
                    </a:cubicBezTo>
                    <a:cubicBezTo>
                      <a:pt x="485140" y="443230"/>
                      <a:pt x="472440" y="453390"/>
                      <a:pt x="462280" y="455930"/>
                    </a:cubicBezTo>
                    <a:cubicBezTo>
                      <a:pt x="448310" y="459740"/>
                      <a:pt x="434340" y="454660"/>
                      <a:pt x="410210" y="445770"/>
                    </a:cubicBezTo>
                    <a:cubicBezTo>
                      <a:pt x="345440" y="419100"/>
                      <a:pt x="100330" y="264160"/>
                      <a:pt x="69850" y="226060"/>
                    </a:cubicBezTo>
                    <a:cubicBezTo>
                      <a:pt x="62230" y="215900"/>
                      <a:pt x="60960" y="210820"/>
                      <a:pt x="62230" y="203200"/>
                    </a:cubicBezTo>
                    <a:cubicBezTo>
                      <a:pt x="63500" y="196850"/>
                      <a:pt x="68580" y="187960"/>
                      <a:pt x="76200" y="184150"/>
                    </a:cubicBezTo>
                    <a:cubicBezTo>
                      <a:pt x="88900" y="179070"/>
                      <a:pt x="114300" y="185420"/>
                      <a:pt x="139700" y="195580"/>
                    </a:cubicBezTo>
                    <a:cubicBezTo>
                      <a:pt x="185420" y="214630"/>
                      <a:pt x="300990" y="290830"/>
                      <a:pt x="317500" y="323850"/>
                    </a:cubicBezTo>
                    <a:cubicBezTo>
                      <a:pt x="323850" y="336550"/>
                      <a:pt x="323850" y="351790"/>
                      <a:pt x="318770" y="358140"/>
                    </a:cubicBezTo>
                    <a:cubicBezTo>
                      <a:pt x="312420" y="364490"/>
                      <a:pt x="287020" y="365760"/>
                      <a:pt x="284480" y="361950"/>
                    </a:cubicBezTo>
                    <a:cubicBezTo>
                      <a:pt x="281940" y="356870"/>
                      <a:pt x="306070" y="320040"/>
                      <a:pt x="312420" y="320040"/>
                    </a:cubicBezTo>
                    <a:cubicBezTo>
                      <a:pt x="317500" y="321310"/>
                      <a:pt x="325120" y="339090"/>
                      <a:pt x="323850" y="346710"/>
                    </a:cubicBezTo>
                    <a:cubicBezTo>
                      <a:pt x="322580" y="354330"/>
                      <a:pt x="314960" y="361950"/>
                      <a:pt x="308610" y="364490"/>
                    </a:cubicBezTo>
                    <a:cubicBezTo>
                      <a:pt x="300990" y="367030"/>
                      <a:pt x="294640" y="367030"/>
                      <a:pt x="284480" y="361950"/>
                    </a:cubicBezTo>
                    <a:cubicBezTo>
                      <a:pt x="250190" y="347980"/>
                      <a:pt x="118110" y="232410"/>
                      <a:pt x="100330" y="200660"/>
                    </a:cubicBezTo>
                    <a:cubicBezTo>
                      <a:pt x="95250" y="190500"/>
                      <a:pt x="95250" y="182880"/>
                      <a:pt x="97790" y="176530"/>
                    </a:cubicBezTo>
                    <a:cubicBezTo>
                      <a:pt x="99060" y="170180"/>
                      <a:pt x="105410" y="162560"/>
                      <a:pt x="114300" y="160020"/>
                    </a:cubicBezTo>
                    <a:cubicBezTo>
                      <a:pt x="129540" y="156210"/>
                      <a:pt x="157480" y="166370"/>
                      <a:pt x="185420" y="180340"/>
                    </a:cubicBezTo>
                    <a:cubicBezTo>
                      <a:pt x="236220" y="203200"/>
                      <a:pt x="344170" y="276860"/>
                      <a:pt x="381000" y="314960"/>
                    </a:cubicBezTo>
                    <a:cubicBezTo>
                      <a:pt x="398780" y="334010"/>
                      <a:pt x="415290" y="355600"/>
                      <a:pt x="414020" y="367030"/>
                    </a:cubicBezTo>
                    <a:cubicBezTo>
                      <a:pt x="412750" y="374650"/>
                      <a:pt x="403860" y="382270"/>
                      <a:pt x="397510" y="384810"/>
                    </a:cubicBezTo>
                    <a:cubicBezTo>
                      <a:pt x="391160" y="386080"/>
                      <a:pt x="384810" y="384810"/>
                      <a:pt x="374650" y="381000"/>
                    </a:cubicBezTo>
                    <a:cubicBezTo>
                      <a:pt x="328930" y="360680"/>
                      <a:pt x="102870" y="193040"/>
                      <a:pt x="72390" y="147320"/>
                    </a:cubicBezTo>
                    <a:cubicBezTo>
                      <a:pt x="64770" y="133350"/>
                      <a:pt x="62230" y="121920"/>
                      <a:pt x="64770" y="114300"/>
                    </a:cubicBezTo>
                    <a:cubicBezTo>
                      <a:pt x="68580" y="107950"/>
                      <a:pt x="78740" y="101600"/>
                      <a:pt x="91440" y="101600"/>
                    </a:cubicBezTo>
                    <a:cubicBezTo>
                      <a:pt x="121920" y="100330"/>
                      <a:pt x="200660" y="140970"/>
                      <a:pt x="255270" y="167640"/>
                    </a:cubicBezTo>
                    <a:cubicBezTo>
                      <a:pt x="316230" y="198120"/>
                      <a:pt x="414020" y="251460"/>
                      <a:pt x="436880" y="276860"/>
                    </a:cubicBezTo>
                    <a:cubicBezTo>
                      <a:pt x="444500" y="285750"/>
                      <a:pt x="447040" y="290830"/>
                      <a:pt x="445770" y="298450"/>
                    </a:cubicBezTo>
                    <a:cubicBezTo>
                      <a:pt x="444500" y="306070"/>
                      <a:pt x="433070" y="318770"/>
                      <a:pt x="421640" y="321310"/>
                    </a:cubicBezTo>
                    <a:cubicBezTo>
                      <a:pt x="405130" y="326390"/>
                      <a:pt x="378460" y="314960"/>
                      <a:pt x="349250" y="302260"/>
                    </a:cubicBezTo>
                    <a:cubicBezTo>
                      <a:pt x="300990" y="281940"/>
                      <a:pt x="186690" y="220980"/>
                      <a:pt x="165100" y="193040"/>
                    </a:cubicBezTo>
                    <a:cubicBezTo>
                      <a:pt x="156210" y="182880"/>
                      <a:pt x="153670" y="172720"/>
                      <a:pt x="156210" y="165100"/>
                    </a:cubicBezTo>
                    <a:cubicBezTo>
                      <a:pt x="158750" y="157480"/>
                      <a:pt x="172720" y="149860"/>
                      <a:pt x="184150" y="147320"/>
                    </a:cubicBezTo>
                    <a:cubicBezTo>
                      <a:pt x="201930" y="146050"/>
                      <a:pt x="229870" y="158750"/>
                      <a:pt x="251460" y="170180"/>
                    </a:cubicBezTo>
                    <a:cubicBezTo>
                      <a:pt x="278130" y="182880"/>
                      <a:pt x="323850" y="207010"/>
                      <a:pt x="328930" y="224790"/>
                    </a:cubicBezTo>
                    <a:cubicBezTo>
                      <a:pt x="332740" y="234950"/>
                      <a:pt x="326390" y="247650"/>
                      <a:pt x="320040" y="252730"/>
                    </a:cubicBezTo>
                    <a:cubicBezTo>
                      <a:pt x="313690" y="256540"/>
                      <a:pt x="304800" y="257810"/>
                      <a:pt x="292100" y="254000"/>
                    </a:cubicBezTo>
                    <a:cubicBezTo>
                      <a:pt x="246380" y="238760"/>
                      <a:pt x="55880" y="86360"/>
                      <a:pt x="29210" y="45720"/>
                    </a:cubicBezTo>
                    <a:cubicBezTo>
                      <a:pt x="21590" y="34290"/>
                      <a:pt x="19050" y="25400"/>
                      <a:pt x="21590" y="17780"/>
                    </a:cubicBezTo>
                    <a:cubicBezTo>
                      <a:pt x="22860" y="11430"/>
                      <a:pt x="30480" y="2540"/>
                      <a:pt x="38100" y="1270"/>
                    </a:cubicBezTo>
                    <a:cubicBezTo>
                      <a:pt x="52070" y="0"/>
                      <a:pt x="73660" y="15240"/>
                      <a:pt x="97790" y="30480"/>
                    </a:cubicBezTo>
                    <a:cubicBezTo>
                      <a:pt x="143510" y="60960"/>
                      <a:pt x="232410" y="135890"/>
                      <a:pt x="284480" y="186690"/>
                    </a:cubicBezTo>
                    <a:cubicBezTo>
                      <a:pt x="327660" y="229870"/>
                      <a:pt x="381000" y="284480"/>
                      <a:pt x="392430" y="312420"/>
                    </a:cubicBezTo>
                    <a:cubicBezTo>
                      <a:pt x="397510" y="323850"/>
                      <a:pt x="398780" y="335280"/>
                      <a:pt x="393700" y="341630"/>
                    </a:cubicBezTo>
                    <a:cubicBezTo>
                      <a:pt x="389890" y="347980"/>
                      <a:pt x="377190" y="353060"/>
                      <a:pt x="361950" y="351790"/>
                    </a:cubicBezTo>
                    <a:cubicBezTo>
                      <a:pt x="309880" y="342900"/>
                      <a:pt x="86360" y="181610"/>
                      <a:pt x="38100" y="128270"/>
                    </a:cubicBezTo>
                    <a:cubicBezTo>
                      <a:pt x="20320" y="107950"/>
                      <a:pt x="6350" y="87630"/>
                      <a:pt x="10160" y="77470"/>
                    </a:cubicBezTo>
                    <a:cubicBezTo>
                      <a:pt x="12700" y="68580"/>
                      <a:pt x="26670" y="63500"/>
                      <a:pt x="41910" y="63500"/>
                    </a:cubicBezTo>
                    <a:cubicBezTo>
                      <a:pt x="78740" y="62230"/>
                      <a:pt x="208280" y="109220"/>
                      <a:pt x="241300" y="133350"/>
                    </a:cubicBezTo>
                    <a:cubicBezTo>
                      <a:pt x="256540" y="144780"/>
                      <a:pt x="269240" y="157480"/>
                      <a:pt x="267970" y="166370"/>
                    </a:cubicBezTo>
                    <a:cubicBezTo>
                      <a:pt x="266700" y="175260"/>
                      <a:pt x="251460" y="186690"/>
                      <a:pt x="236220" y="187960"/>
                    </a:cubicBezTo>
                    <a:cubicBezTo>
                      <a:pt x="200660" y="193040"/>
                      <a:pt x="77470" y="138430"/>
                      <a:pt x="49530" y="116840"/>
                    </a:cubicBezTo>
                    <a:cubicBezTo>
                      <a:pt x="39370" y="107950"/>
                      <a:pt x="31750" y="100330"/>
                      <a:pt x="33020" y="92710"/>
                    </a:cubicBezTo>
                    <a:cubicBezTo>
                      <a:pt x="33020" y="83820"/>
                      <a:pt x="46990" y="68580"/>
                      <a:pt x="60960" y="67310"/>
                    </a:cubicBezTo>
                    <a:cubicBezTo>
                      <a:pt x="86360" y="63500"/>
                      <a:pt x="146050" y="101600"/>
                      <a:pt x="182880" y="127000"/>
                    </a:cubicBezTo>
                    <a:cubicBezTo>
                      <a:pt x="219710" y="151130"/>
                      <a:pt x="269240" y="191770"/>
                      <a:pt x="279400" y="215900"/>
                    </a:cubicBezTo>
                    <a:cubicBezTo>
                      <a:pt x="284480" y="226060"/>
                      <a:pt x="284480" y="237490"/>
                      <a:pt x="279400" y="243840"/>
                    </a:cubicBezTo>
                    <a:cubicBezTo>
                      <a:pt x="275590" y="251460"/>
                      <a:pt x="264160" y="255270"/>
                      <a:pt x="252730" y="255270"/>
                    </a:cubicBezTo>
                    <a:cubicBezTo>
                      <a:pt x="232410" y="254000"/>
                      <a:pt x="200660" y="231140"/>
                      <a:pt x="170180" y="212090"/>
                    </a:cubicBezTo>
                    <a:cubicBezTo>
                      <a:pt x="128270" y="186690"/>
                      <a:pt x="40640" y="134620"/>
                      <a:pt x="25400" y="104140"/>
                    </a:cubicBezTo>
                    <a:cubicBezTo>
                      <a:pt x="17780" y="90170"/>
                      <a:pt x="19050" y="73660"/>
                      <a:pt x="24130" y="67310"/>
                    </a:cubicBezTo>
                    <a:cubicBezTo>
                      <a:pt x="29210" y="60960"/>
                      <a:pt x="48260" y="59690"/>
                      <a:pt x="54610" y="63500"/>
                    </a:cubicBezTo>
                    <a:cubicBezTo>
                      <a:pt x="60960" y="66040"/>
                      <a:pt x="67310" y="76200"/>
                      <a:pt x="67310" y="83820"/>
                    </a:cubicBezTo>
                    <a:cubicBezTo>
                      <a:pt x="68580" y="90170"/>
                      <a:pt x="63500" y="101600"/>
                      <a:pt x="58420" y="105410"/>
                    </a:cubicBezTo>
                    <a:cubicBezTo>
                      <a:pt x="49530" y="109220"/>
                      <a:pt x="27940" y="106680"/>
                      <a:pt x="21590" y="100330"/>
                    </a:cubicBezTo>
                    <a:cubicBezTo>
                      <a:pt x="16510" y="95250"/>
                      <a:pt x="15240" y="82550"/>
                      <a:pt x="19050" y="76200"/>
                    </a:cubicBezTo>
                    <a:cubicBezTo>
                      <a:pt x="21590" y="68580"/>
                      <a:pt x="31750" y="59690"/>
                      <a:pt x="44450" y="59690"/>
                    </a:cubicBezTo>
                    <a:cubicBezTo>
                      <a:pt x="83820" y="60960"/>
                      <a:pt x="260350" y="180340"/>
                      <a:pt x="279400" y="215900"/>
                    </a:cubicBezTo>
                    <a:cubicBezTo>
                      <a:pt x="285750" y="227330"/>
                      <a:pt x="284480" y="237490"/>
                      <a:pt x="279400" y="243840"/>
                    </a:cubicBezTo>
                    <a:cubicBezTo>
                      <a:pt x="275590" y="251460"/>
                      <a:pt x="264160" y="256540"/>
                      <a:pt x="252730" y="255270"/>
                    </a:cubicBezTo>
                    <a:cubicBezTo>
                      <a:pt x="229870" y="250190"/>
                      <a:pt x="190500" y="193040"/>
                      <a:pt x="156210" y="168910"/>
                    </a:cubicBezTo>
                    <a:cubicBezTo>
                      <a:pt x="121920" y="146050"/>
                      <a:pt x="60960" y="130810"/>
                      <a:pt x="44450" y="113030"/>
                    </a:cubicBezTo>
                    <a:cubicBezTo>
                      <a:pt x="36830" y="106680"/>
                      <a:pt x="31750" y="100330"/>
                      <a:pt x="33020" y="92710"/>
                    </a:cubicBezTo>
                    <a:cubicBezTo>
                      <a:pt x="34290" y="83820"/>
                      <a:pt x="45720" y="69850"/>
                      <a:pt x="60960" y="67310"/>
                    </a:cubicBezTo>
                    <a:cubicBezTo>
                      <a:pt x="95250" y="60960"/>
                      <a:pt x="228600" y="115570"/>
                      <a:pt x="254000" y="140970"/>
                    </a:cubicBezTo>
                    <a:cubicBezTo>
                      <a:pt x="264160" y="151130"/>
                      <a:pt x="269240" y="165100"/>
                      <a:pt x="266700" y="172720"/>
                    </a:cubicBezTo>
                    <a:cubicBezTo>
                      <a:pt x="262890" y="180340"/>
                      <a:pt x="250190" y="187960"/>
                      <a:pt x="236220" y="187960"/>
                    </a:cubicBezTo>
                    <a:cubicBezTo>
                      <a:pt x="200660" y="189230"/>
                      <a:pt x="67310" y="130810"/>
                      <a:pt x="45720" y="102870"/>
                    </a:cubicBezTo>
                    <a:cubicBezTo>
                      <a:pt x="38100" y="92710"/>
                      <a:pt x="36830" y="73660"/>
                      <a:pt x="40640" y="71120"/>
                    </a:cubicBezTo>
                    <a:cubicBezTo>
                      <a:pt x="44450" y="68580"/>
                      <a:pt x="53340" y="77470"/>
                      <a:pt x="66040" y="86360"/>
                    </a:cubicBezTo>
                    <a:cubicBezTo>
                      <a:pt x="113030" y="116840"/>
                      <a:pt x="365760" y="276860"/>
                      <a:pt x="392430" y="312420"/>
                    </a:cubicBezTo>
                    <a:cubicBezTo>
                      <a:pt x="397510" y="320040"/>
                      <a:pt x="398780" y="323850"/>
                      <a:pt x="397510" y="330200"/>
                    </a:cubicBezTo>
                    <a:cubicBezTo>
                      <a:pt x="396240" y="336550"/>
                      <a:pt x="387350" y="349250"/>
                      <a:pt x="379730" y="351790"/>
                    </a:cubicBezTo>
                    <a:cubicBezTo>
                      <a:pt x="373380" y="354330"/>
                      <a:pt x="367030" y="353060"/>
                      <a:pt x="356870" y="347980"/>
                    </a:cubicBezTo>
                    <a:cubicBezTo>
                      <a:pt x="327660" y="332740"/>
                      <a:pt x="269240" y="242570"/>
                      <a:pt x="217170" y="193040"/>
                    </a:cubicBezTo>
                    <a:cubicBezTo>
                      <a:pt x="161290" y="140970"/>
                      <a:pt x="49530" y="81280"/>
                      <a:pt x="29210" y="45720"/>
                    </a:cubicBezTo>
                    <a:cubicBezTo>
                      <a:pt x="21590" y="33020"/>
                      <a:pt x="19050" y="19050"/>
                      <a:pt x="24130" y="12700"/>
                    </a:cubicBezTo>
                    <a:cubicBezTo>
                      <a:pt x="29210" y="5080"/>
                      <a:pt x="41910" y="0"/>
                      <a:pt x="57150" y="3810"/>
                    </a:cubicBezTo>
                    <a:cubicBezTo>
                      <a:pt x="104140" y="12700"/>
                      <a:pt x="307340" y="180340"/>
                      <a:pt x="326390" y="219710"/>
                    </a:cubicBezTo>
                    <a:cubicBezTo>
                      <a:pt x="332740" y="229870"/>
                      <a:pt x="331470" y="236220"/>
                      <a:pt x="327660" y="242570"/>
                    </a:cubicBezTo>
                    <a:cubicBezTo>
                      <a:pt x="323850" y="250190"/>
                      <a:pt x="314960" y="257810"/>
                      <a:pt x="303530" y="257810"/>
                    </a:cubicBezTo>
                    <a:cubicBezTo>
                      <a:pt x="279400" y="257810"/>
                      <a:pt x="219710" y="199390"/>
                      <a:pt x="194310" y="193040"/>
                    </a:cubicBezTo>
                    <a:cubicBezTo>
                      <a:pt x="181610" y="189230"/>
                      <a:pt x="170180" y="198120"/>
                      <a:pt x="165100" y="193040"/>
                    </a:cubicBezTo>
                    <a:cubicBezTo>
                      <a:pt x="158750" y="187960"/>
                      <a:pt x="153670" y="166370"/>
                      <a:pt x="158750" y="160020"/>
                    </a:cubicBezTo>
                    <a:cubicBezTo>
                      <a:pt x="162560" y="152400"/>
                      <a:pt x="176530" y="147320"/>
                      <a:pt x="190500" y="149860"/>
                    </a:cubicBezTo>
                    <a:cubicBezTo>
                      <a:pt x="219710" y="153670"/>
                      <a:pt x="280670" y="210820"/>
                      <a:pt x="323850" y="232410"/>
                    </a:cubicBezTo>
                    <a:cubicBezTo>
                      <a:pt x="360680" y="251460"/>
                      <a:pt x="412750" y="257810"/>
                      <a:pt x="431800" y="273050"/>
                    </a:cubicBezTo>
                    <a:cubicBezTo>
                      <a:pt x="440690" y="280670"/>
                      <a:pt x="445770" y="290830"/>
                      <a:pt x="445770" y="298450"/>
                    </a:cubicBezTo>
                    <a:cubicBezTo>
                      <a:pt x="445770" y="304800"/>
                      <a:pt x="439420" y="314960"/>
                      <a:pt x="434340" y="318770"/>
                    </a:cubicBezTo>
                    <a:cubicBezTo>
                      <a:pt x="427990" y="321310"/>
                      <a:pt x="421640" y="322580"/>
                      <a:pt x="410210" y="320040"/>
                    </a:cubicBezTo>
                    <a:cubicBezTo>
                      <a:pt x="370840" y="309880"/>
                      <a:pt x="228600" y="207010"/>
                      <a:pt x="165100" y="177800"/>
                    </a:cubicBezTo>
                    <a:cubicBezTo>
                      <a:pt x="128270" y="161290"/>
                      <a:pt x="87630" y="161290"/>
                      <a:pt x="72390" y="147320"/>
                    </a:cubicBezTo>
                    <a:cubicBezTo>
                      <a:pt x="64770" y="139700"/>
                      <a:pt x="60960" y="128270"/>
                      <a:pt x="63500" y="120650"/>
                    </a:cubicBezTo>
                    <a:cubicBezTo>
                      <a:pt x="66040" y="111760"/>
                      <a:pt x="77470" y="101600"/>
                      <a:pt x="91440" y="101600"/>
                    </a:cubicBezTo>
                    <a:cubicBezTo>
                      <a:pt x="139700" y="102870"/>
                      <a:pt x="383540" y="303530"/>
                      <a:pt x="408940" y="344170"/>
                    </a:cubicBezTo>
                    <a:cubicBezTo>
                      <a:pt x="415290" y="354330"/>
                      <a:pt x="416560" y="361950"/>
                      <a:pt x="414020" y="367030"/>
                    </a:cubicBezTo>
                    <a:cubicBezTo>
                      <a:pt x="410210" y="375920"/>
                      <a:pt x="394970" y="384810"/>
                      <a:pt x="379730" y="383540"/>
                    </a:cubicBezTo>
                    <a:cubicBezTo>
                      <a:pt x="344170" y="379730"/>
                      <a:pt x="267970" y="288290"/>
                      <a:pt x="217170" y="257810"/>
                    </a:cubicBezTo>
                    <a:cubicBezTo>
                      <a:pt x="177800" y="233680"/>
                      <a:pt x="120650" y="224790"/>
                      <a:pt x="105410" y="204470"/>
                    </a:cubicBezTo>
                    <a:cubicBezTo>
                      <a:pt x="97790" y="194310"/>
                      <a:pt x="95250" y="179070"/>
                      <a:pt x="100330" y="171450"/>
                    </a:cubicBezTo>
                    <a:cubicBezTo>
                      <a:pt x="104140" y="163830"/>
                      <a:pt x="118110" y="158750"/>
                      <a:pt x="132080" y="162560"/>
                    </a:cubicBezTo>
                    <a:cubicBezTo>
                      <a:pt x="170180" y="170180"/>
                      <a:pt x="302260" y="285750"/>
                      <a:pt x="317500" y="323850"/>
                    </a:cubicBezTo>
                    <a:cubicBezTo>
                      <a:pt x="323850" y="339090"/>
                      <a:pt x="320040" y="355600"/>
                      <a:pt x="313690" y="361950"/>
                    </a:cubicBezTo>
                    <a:cubicBezTo>
                      <a:pt x="307340" y="367030"/>
                      <a:pt x="287020" y="367030"/>
                      <a:pt x="284480" y="361950"/>
                    </a:cubicBezTo>
                    <a:cubicBezTo>
                      <a:pt x="280670" y="356870"/>
                      <a:pt x="307340" y="318770"/>
                      <a:pt x="313690" y="320040"/>
                    </a:cubicBezTo>
                    <a:cubicBezTo>
                      <a:pt x="318770" y="321310"/>
                      <a:pt x="325120" y="345440"/>
                      <a:pt x="321310" y="353060"/>
                    </a:cubicBezTo>
                    <a:cubicBezTo>
                      <a:pt x="317500" y="359410"/>
                      <a:pt x="303530" y="367030"/>
                      <a:pt x="290830" y="364490"/>
                    </a:cubicBezTo>
                    <a:cubicBezTo>
                      <a:pt x="264160" y="360680"/>
                      <a:pt x="220980" y="306070"/>
                      <a:pt x="182880" y="281940"/>
                    </a:cubicBezTo>
                    <a:cubicBezTo>
                      <a:pt x="146050" y="257810"/>
                      <a:pt x="77470" y="242570"/>
                      <a:pt x="66040" y="220980"/>
                    </a:cubicBezTo>
                    <a:cubicBezTo>
                      <a:pt x="60960" y="210820"/>
                      <a:pt x="64770" y="193040"/>
                      <a:pt x="71120" y="187960"/>
                    </a:cubicBezTo>
                    <a:cubicBezTo>
                      <a:pt x="77470" y="182880"/>
                      <a:pt x="86360" y="181610"/>
                      <a:pt x="100330" y="185420"/>
                    </a:cubicBezTo>
                    <a:cubicBezTo>
                      <a:pt x="139700" y="195580"/>
                      <a:pt x="255270" y="297180"/>
                      <a:pt x="321310" y="337820"/>
                    </a:cubicBezTo>
                    <a:cubicBezTo>
                      <a:pt x="372110" y="368300"/>
                      <a:pt x="457200" y="393700"/>
                      <a:pt x="459740" y="412750"/>
                    </a:cubicBezTo>
                    <a:cubicBezTo>
                      <a:pt x="462280" y="422910"/>
                      <a:pt x="449580" y="436880"/>
                      <a:pt x="438150" y="436880"/>
                    </a:cubicBezTo>
                    <a:cubicBezTo>
                      <a:pt x="410210" y="439420"/>
                      <a:pt x="342900" y="342900"/>
                      <a:pt x="284480" y="300990"/>
                    </a:cubicBezTo>
                    <a:cubicBezTo>
                      <a:pt x="219710" y="254000"/>
                      <a:pt x="77470" y="208280"/>
                      <a:pt x="62230" y="173990"/>
                    </a:cubicBezTo>
                    <a:cubicBezTo>
                      <a:pt x="57150" y="162560"/>
                      <a:pt x="63500" y="147320"/>
                      <a:pt x="69850" y="140970"/>
                    </a:cubicBezTo>
                    <a:cubicBezTo>
                      <a:pt x="74930" y="135890"/>
                      <a:pt x="87630" y="135890"/>
                      <a:pt x="97790" y="140970"/>
                    </a:cubicBezTo>
                    <a:cubicBezTo>
                      <a:pt x="118110" y="149860"/>
                      <a:pt x="132080" y="199390"/>
                      <a:pt x="165100" y="236220"/>
                    </a:cubicBezTo>
                    <a:cubicBezTo>
                      <a:pt x="223520" y="299720"/>
                      <a:pt x="419100" y="421640"/>
                      <a:pt x="443230" y="464820"/>
                    </a:cubicBezTo>
                    <a:cubicBezTo>
                      <a:pt x="450850" y="477520"/>
                      <a:pt x="452120" y="486410"/>
                      <a:pt x="448310" y="494030"/>
                    </a:cubicBezTo>
                    <a:cubicBezTo>
                      <a:pt x="443230" y="500380"/>
                      <a:pt x="426720" y="506730"/>
                      <a:pt x="411480" y="504190"/>
                    </a:cubicBezTo>
                    <a:cubicBezTo>
                      <a:pt x="374650" y="495300"/>
                      <a:pt x="312420" y="406400"/>
                      <a:pt x="251460" y="359410"/>
                    </a:cubicBezTo>
                    <a:cubicBezTo>
                      <a:pt x="180340" y="303530"/>
                      <a:pt x="33020" y="234950"/>
                      <a:pt x="8890" y="194310"/>
                    </a:cubicBezTo>
                    <a:cubicBezTo>
                      <a:pt x="0" y="180340"/>
                      <a:pt x="0" y="163830"/>
                      <a:pt x="5080" y="157480"/>
                    </a:cubicBezTo>
                    <a:cubicBezTo>
                      <a:pt x="10160" y="151130"/>
                      <a:pt x="38100" y="153670"/>
                      <a:pt x="38100" y="153670"/>
                    </a:cubicBezTo>
                  </a:path>
                </a:pathLst>
              </a:custGeom>
              <a:solidFill>
                <a:srgbClr val="295BBE"/>
              </a:solidFill>
              <a:ln cap="sq">
                <a:noFill/>
                <a:prstDash val="solid"/>
                <a:miter/>
              </a:ln>
            </p:spPr>
          </p:sp>
        </p:grpSp>
        <p:grpSp>
          <p:nvGrpSpPr>
            <p:cNvPr name="Group 123" id="123"/>
            <p:cNvGrpSpPr/>
            <p:nvPr/>
          </p:nvGrpSpPr>
          <p:grpSpPr>
            <a:xfrm rot="0">
              <a:off x="317500" y="4978371"/>
              <a:ext cx="477520" cy="341630"/>
              <a:chOff x="0" y="0"/>
              <a:chExt cx="477520" cy="341630"/>
            </a:xfrm>
          </p:grpSpPr>
          <p:sp>
            <p:nvSpPr>
              <p:cNvPr name="Freeform 124" id="124"/>
              <p:cNvSpPr/>
              <p:nvPr/>
            </p:nvSpPr>
            <p:spPr>
              <a:xfrm flipH="false" flipV="false" rot="0">
                <a:off x="49530" y="39370"/>
                <a:ext cx="378460" cy="256540"/>
              </a:xfrm>
              <a:custGeom>
                <a:avLst/>
                <a:gdLst/>
                <a:ahLst/>
                <a:cxnLst/>
                <a:rect r="r" b="b" t="t" l="l"/>
                <a:pathLst>
                  <a:path h="256540" w="378460">
                    <a:moveTo>
                      <a:pt x="355600" y="60960"/>
                    </a:moveTo>
                    <a:cubicBezTo>
                      <a:pt x="255270" y="74930"/>
                      <a:pt x="229870" y="74930"/>
                      <a:pt x="217170" y="67310"/>
                    </a:cubicBezTo>
                    <a:cubicBezTo>
                      <a:pt x="208280" y="62230"/>
                      <a:pt x="199390" y="52070"/>
                      <a:pt x="199390" y="44450"/>
                    </a:cubicBezTo>
                    <a:cubicBezTo>
                      <a:pt x="199390" y="35560"/>
                      <a:pt x="204470" y="22860"/>
                      <a:pt x="214630" y="19050"/>
                    </a:cubicBezTo>
                    <a:cubicBezTo>
                      <a:pt x="238760" y="12700"/>
                      <a:pt x="346710" y="59690"/>
                      <a:pt x="365760" y="83820"/>
                    </a:cubicBezTo>
                    <a:cubicBezTo>
                      <a:pt x="374650" y="95250"/>
                      <a:pt x="378460" y="114300"/>
                      <a:pt x="370840" y="121920"/>
                    </a:cubicBezTo>
                    <a:cubicBezTo>
                      <a:pt x="360680" y="133350"/>
                      <a:pt x="293370" y="113030"/>
                      <a:pt x="278130" y="124460"/>
                    </a:cubicBezTo>
                    <a:cubicBezTo>
                      <a:pt x="269240" y="130810"/>
                      <a:pt x="273050" y="143510"/>
                      <a:pt x="266700" y="152400"/>
                    </a:cubicBezTo>
                    <a:cubicBezTo>
                      <a:pt x="259080" y="161290"/>
                      <a:pt x="250190" y="165100"/>
                      <a:pt x="234950" y="173990"/>
                    </a:cubicBezTo>
                    <a:cubicBezTo>
                      <a:pt x="196850" y="193040"/>
                      <a:pt x="66040" y="256540"/>
                      <a:pt x="30480" y="251460"/>
                    </a:cubicBezTo>
                    <a:cubicBezTo>
                      <a:pt x="15240" y="248920"/>
                      <a:pt x="2540" y="236220"/>
                      <a:pt x="1270" y="227330"/>
                    </a:cubicBezTo>
                    <a:cubicBezTo>
                      <a:pt x="0" y="219710"/>
                      <a:pt x="10160" y="204470"/>
                      <a:pt x="17780" y="201930"/>
                    </a:cubicBezTo>
                    <a:cubicBezTo>
                      <a:pt x="26670" y="199390"/>
                      <a:pt x="48260" y="210820"/>
                      <a:pt x="50800" y="218440"/>
                    </a:cubicBezTo>
                    <a:cubicBezTo>
                      <a:pt x="53340" y="226060"/>
                      <a:pt x="40640" y="247650"/>
                      <a:pt x="33020" y="250190"/>
                    </a:cubicBezTo>
                    <a:cubicBezTo>
                      <a:pt x="25400" y="252730"/>
                      <a:pt x="8890" y="245110"/>
                      <a:pt x="3810" y="238760"/>
                    </a:cubicBezTo>
                    <a:cubicBezTo>
                      <a:pt x="0" y="231140"/>
                      <a:pt x="1270" y="218440"/>
                      <a:pt x="8890" y="208280"/>
                    </a:cubicBezTo>
                    <a:cubicBezTo>
                      <a:pt x="30480" y="179070"/>
                      <a:pt x="200660" y="147320"/>
                      <a:pt x="220980" y="120650"/>
                    </a:cubicBezTo>
                    <a:cubicBezTo>
                      <a:pt x="227330" y="111760"/>
                      <a:pt x="219710" y="101600"/>
                      <a:pt x="223520" y="93980"/>
                    </a:cubicBezTo>
                    <a:cubicBezTo>
                      <a:pt x="228600" y="85090"/>
                      <a:pt x="240030" y="76200"/>
                      <a:pt x="255270" y="72390"/>
                    </a:cubicBezTo>
                    <a:cubicBezTo>
                      <a:pt x="279400" y="66040"/>
                      <a:pt x="341630" y="72390"/>
                      <a:pt x="359410" y="81280"/>
                    </a:cubicBezTo>
                    <a:cubicBezTo>
                      <a:pt x="369570" y="86360"/>
                      <a:pt x="374650" y="91440"/>
                      <a:pt x="375920" y="99060"/>
                    </a:cubicBezTo>
                    <a:cubicBezTo>
                      <a:pt x="378460" y="105410"/>
                      <a:pt x="375920" y="116840"/>
                      <a:pt x="370840" y="121920"/>
                    </a:cubicBezTo>
                    <a:cubicBezTo>
                      <a:pt x="367030" y="127000"/>
                      <a:pt x="358140" y="130810"/>
                      <a:pt x="349250" y="130810"/>
                    </a:cubicBezTo>
                    <a:cubicBezTo>
                      <a:pt x="340360" y="130810"/>
                      <a:pt x="331470" y="125730"/>
                      <a:pt x="318770" y="120650"/>
                    </a:cubicBezTo>
                    <a:cubicBezTo>
                      <a:pt x="293370" y="109220"/>
                      <a:pt x="228600" y="81280"/>
                      <a:pt x="212090" y="64770"/>
                    </a:cubicBezTo>
                    <a:cubicBezTo>
                      <a:pt x="204470" y="57150"/>
                      <a:pt x="199390" y="50800"/>
                      <a:pt x="199390" y="44450"/>
                    </a:cubicBezTo>
                    <a:cubicBezTo>
                      <a:pt x="199390" y="36830"/>
                      <a:pt x="204470" y="25400"/>
                      <a:pt x="214630" y="19050"/>
                    </a:cubicBezTo>
                    <a:cubicBezTo>
                      <a:pt x="237490" y="6350"/>
                      <a:pt x="331470" y="0"/>
                      <a:pt x="355600" y="11430"/>
                    </a:cubicBezTo>
                    <a:cubicBezTo>
                      <a:pt x="368300" y="17780"/>
                      <a:pt x="375920" y="31750"/>
                      <a:pt x="374650" y="39370"/>
                    </a:cubicBezTo>
                    <a:cubicBezTo>
                      <a:pt x="374650" y="46990"/>
                      <a:pt x="355600" y="60960"/>
                      <a:pt x="355600" y="60960"/>
                    </a:cubicBezTo>
                  </a:path>
                </a:pathLst>
              </a:custGeom>
              <a:solidFill>
                <a:srgbClr val="295BBE"/>
              </a:solidFill>
              <a:ln cap="sq">
                <a:noFill/>
                <a:prstDash val="solid"/>
                <a:miter/>
              </a:ln>
            </p:spPr>
          </p:sp>
        </p:grpSp>
        <p:grpSp>
          <p:nvGrpSpPr>
            <p:cNvPr name="Group 125" id="125"/>
            <p:cNvGrpSpPr/>
            <p:nvPr/>
          </p:nvGrpSpPr>
          <p:grpSpPr>
            <a:xfrm rot="0">
              <a:off x="4258310" y="6779231"/>
              <a:ext cx="698500" cy="207010"/>
              <a:chOff x="0" y="0"/>
              <a:chExt cx="698500" cy="207010"/>
            </a:xfrm>
          </p:grpSpPr>
          <p:sp>
            <p:nvSpPr>
              <p:cNvPr name="Freeform 126" id="126"/>
              <p:cNvSpPr/>
              <p:nvPr/>
            </p:nvSpPr>
            <p:spPr>
              <a:xfrm flipH="false" flipV="false" rot="0">
                <a:off x="48260" y="49530"/>
                <a:ext cx="600710" cy="119380"/>
              </a:xfrm>
              <a:custGeom>
                <a:avLst/>
                <a:gdLst/>
                <a:ahLst/>
                <a:cxnLst/>
                <a:rect r="r" b="b" t="t" l="l"/>
                <a:pathLst>
                  <a:path h="119380" w="600710">
                    <a:moveTo>
                      <a:pt x="247650" y="7620"/>
                    </a:moveTo>
                    <a:cubicBezTo>
                      <a:pt x="427990" y="55880"/>
                      <a:pt x="431800" y="63500"/>
                      <a:pt x="431800" y="69850"/>
                    </a:cubicBezTo>
                    <a:cubicBezTo>
                      <a:pt x="431800" y="77470"/>
                      <a:pt x="425450" y="88900"/>
                      <a:pt x="416560" y="93980"/>
                    </a:cubicBezTo>
                    <a:cubicBezTo>
                      <a:pt x="402590" y="104140"/>
                      <a:pt x="375920" y="104140"/>
                      <a:pt x="341630" y="106680"/>
                    </a:cubicBezTo>
                    <a:cubicBezTo>
                      <a:pt x="273050" y="111760"/>
                      <a:pt x="68580" y="119380"/>
                      <a:pt x="25400" y="106680"/>
                    </a:cubicBezTo>
                    <a:cubicBezTo>
                      <a:pt x="12700" y="101600"/>
                      <a:pt x="6350" y="97790"/>
                      <a:pt x="2540" y="90170"/>
                    </a:cubicBezTo>
                    <a:cubicBezTo>
                      <a:pt x="0" y="82550"/>
                      <a:pt x="1270" y="67310"/>
                      <a:pt x="8890" y="58420"/>
                    </a:cubicBezTo>
                    <a:cubicBezTo>
                      <a:pt x="19050" y="46990"/>
                      <a:pt x="43180" y="43180"/>
                      <a:pt x="71120" y="36830"/>
                    </a:cubicBezTo>
                    <a:cubicBezTo>
                      <a:pt x="120650" y="24130"/>
                      <a:pt x="224790" y="12700"/>
                      <a:pt x="289560" y="7620"/>
                    </a:cubicBezTo>
                    <a:cubicBezTo>
                      <a:pt x="341630" y="2540"/>
                      <a:pt x="384810" y="0"/>
                      <a:pt x="430530" y="1270"/>
                    </a:cubicBezTo>
                    <a:cubicBezTo>
                      <a:pt x="472440" y="3810"/>
                      <a:pt x="529590" y="21590"/>
                      <a:pt x="553720" y="17780"/>
                    </a:cubicBezTo>
                    <a:cubicBezTo>
                      <a:pt x="563880" y="16510"/>
                      <a:pt x="567690" y="6350"/>
                      <a:pt x="574040" y="7620"/>
                    </a:cubicBezTo>
                    <a:cubicBezTo>
                      <a:pt x="582930" y="7620"/>
                      <a:pt x="596900" y="17780"/>
                      <a:pt x="599440" y="26670"/>
                    </a:cubicBezTo>
                    <a:cubicBezTo>
                      <a:pt x="600710" y="34290"/>
                      <a:pt x="594360" y="50800"/>
                      <a:pt x="586740" y="54610"/>
                    </a:cubicBezTo>
                    <a:cubicBezTo>
                      <a:pt x="579120" y="58420"/>
                      <a:pt x="556260" y="50800"/>
                      <a:pt x="551180" y="44450"/>
                    </a:cubicBezTo>
                    <a:cubicBezTo>
                      <a:pt x="547370" y="38100"/>
                      <a:pt x="548640" y="26670"/>
                      <a:pt x="552450" y="20320"/>
                    </a:cubicBezTo>
                    <a:cubicBezTo>
                      <a:pt x="554990" y="13970"/>
                      <a:pt x="565150" y="7620"/>
                      <a:pt x="571500" y="7620"/>
                    </a:cubicBezTo>
                    <a:cubicBezTo>
                      <a:pt x="579120" y="6350"/>
                      <a:pt x="589280" y="10160"/>
                      <a:pt x="594360" y="16510"/>
                    </a:cubicBezTo>
                    <a:cubicBezTo>
                      <a:pt x="598170" y="22860"/>
                      <a:pt x="600710" y="39370"/>
                      <a:pt x="595630" y="46990"/>
                    </a:cubicBezTo>
                    <a:cubicBezTo>
                      <a:pt x="586740" y="58420"/>
                      <a:pt x="554990" y="57150"/>
                      <a:pt x="523240" y="59690"/>
                    </a:cubicBezTo>
                    <a:cubicBezTo>
                      <a:pt x="469900" y="63500"/>
                      <a:pt x="373380" y="52070"/>
                      <a:pt x="295910" y="57150"/>
                    </a:cubicBezTo>
                    <a:cubicBezTo>
                      <a:pt x="210820" y="63500"/>
                      <a:pt x="60960" y="115570"/>
                      <a:pt x="33020" y="93980"/>
                    </a:cubicBezTo>
                    <a:cubicBezTo>
                      <a:pt x="21590" y="86360"/>
                      <a:pt x="17780" y="66040"/>
                      <a:pt x="26670" y="55880"/>
                    </a:cubicBezTo>
                    <a:cubicBezTo>
                      <a:pt x="53340" y="24130"/>
                      <a:pt x="369570" y="25400"/>
                      <a:pt x="414020" y="46990"/>
                    </a:cubicBezTo>
                    <a:cubicBezTo>
                      <a:pt x="426720" y="53340"/>
                      <a:pt x="431800" y="62230"/>
                      <a:pt x="431800" y="69850"/>
                    </a:cubicBezTo>
                    <a:cubicBezTo>
                      <a:pt x="431800" y="77470"/>
                      <a:pt x="426720" y="90170"/>
                      <a:pt x="416560" y="93980"/>
                    </a:cubicBezTo>
                    <a:cubicBezTo>
                      <a:pt x="389890" y="105410"/>
                      <a:pt x="260350" y="76200"/>
                      <a:pt x="233680" y="55880"/>
                    </a:cubicBezTo>
                    <a:cubicBezTo>
                      <a:pt x="222250" y="46990"/>
                      <a:pt x="217170" y="34290"/>
                      <a:pt x="218440" y="25400"/>
                    </a:cubicBezTo>
                    <a:cubicBezTo>
                      <a:pt x="220980" y="17780"/>
                      <a:pt x="247650" y="7620"/>
                      <a:pt x="247650" y="7620"/>
                    </a:cubicBezTo>
                  </a:path>
                </a:pathLst>
              </a:custGeom>
              <a:solidFill>
                <a:srgbClr val="295BBE"/>
              </a:solidFill>
              <a:ln cap="sq">
                <a:noFill/>
                <a:prstDash val="solid"/>
                <a:miter/>
              </a:ln>
            </p:spPr>
          </p:sp>
        </p:grpSp>
      </p:grpSp>
    </p:spTree>
  </p:cSld>
  <p:clrMapOvr>
    <a:masterClrMapping/>
  </p:clrMapOvr>
  <p:transition spd="slow">
    <p:push dir="l"/>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975627" y="-7049808"/>
            <a:ext cx="26688371" cy="20725487"/>
            <a:chOff x="0" y="0"/>
            <a:chExt cx="1046649" cy="812800"/>
          </a:xfrm>
        </p:grpSpPr>
        <p:sp>
          <p:nvSpPr>
            <p:cNvPr name="Freeform 3" id="3"/>
            <p:cNvSpPr/>
            <p:nvPr/>
          </p:nvSpPr>
          <p:spPr>
            <a:xfrm flipH="false" flipV="false" rot="0">
              <a:off x="0" y="0"/>
              <a:ext cx="1046649" cy="812800"/>
            </a:xfrm>
            <a:custGeom>
              <a:avLst/>
              <a:gdLst/>
              <a:ahLst/>
              <a:cxnLst/>
              <a:rect r="r" b="b" t="t" l="l"/>
              <a:pathLst>
                <a:path h="812800" w="1046649">
                  <a:moveTo>
                    <a:pt x="523324" y="0"/>
                  </a:moveTo>
                  <a:cubicBezTo>
                    <a:pt x="234300" y="0"/>
                    <a:pt x="0" y="181951"/>
                    <a:pt x="0" y="406400"/>
                  </a:cubicBezTo>
                  <a:cubicBezTo>
                    <a:pt x="0" y="630849"/>
                    <a:pt x="234300" y="812800"/>
                    <a:pt x="523324" y="812800"/>
                  </a:cubicBezTo>
                  <a:cubicBezTo>
                    <a:pt x="812349" y="812800"/>
                    <a:pt x="1046649" y="630849"/>
                    <a:pt x="1046649" y="406400"/>
                  </a:cubicBezTo>
                  <a:cubicBezTo>
                    <a:pt x="1046649" y="181951"/>
                    <a:pt x="812349" y="0"/>
                    <a:pt x="523324" y="0"/>
                  </a:cubicBezTo>
                  <a:close/>
                </a:path>
              </a:pathLst>
            </a:custGeom>
            <a:solidFill>
              <a:srgbClr val="295BBE"/>
            </a:solidFill>
          </p:spPr>
        </p:sp>
        <p:sp>
          <p:nvSpPr>
            <p:cNvPr name="TextBox 4" id="4"/>
            <p:cNvSpPr txBox="true"/>
            <p:nvPr/>
          </p:nvSpPr>
          <p:spPr>
            <a:xfrm>
              <a:off x="98123" y="76200"/>
              <a:ext cx="850402" cy="660400"/>
            </a:xfrm>
            <a:prstGeom prst="rect">
              <a:avLst/>
            </a:prstGeom>
          </p:spPr>
          <p:txBody>
            <a:bodyPr anchor="ctr" rtlCol="false" tIns="50800" lIns="50800" bIns="50800" rIns="50800"/>
            <a:lstStyle/>
            <a:p>
              <a:pPr algn="ctr">
                <a:lnSpc>
                  <a:spcPts val="1917"/>
                </a:lnSpc>
              </a:pPr>
            </a:p>
          </p:txBody>
        </p:sp>
      </p:grpSp>
      <p:grpSp>
        <p:nvGrpSpPr>
          <p:cNvPr name="Group 5" id="5"/>
          <p:cNvGrpSpPr/>
          <p:nvPr/>
        </p:nvGrpSpPr>
        <p:grpSpPr>
          <a:xfrm rot="0">
            <a:off x="9596504" y="4777160"/>
            <a:ext cx="383261" cy="382909"/>
            <a:chOff x="0" y="0"/>
            <a:chExt cx="813546" cy="812800"/>
          </a:xfrm>
        </p:grpSpPr>
        <p:sp>
          <p:nvSpPr>
            <p:cNvPr name="Freeform 6" id="6"/>
            <p:cNvSpPr/>
            <p:nvPr/>
          </p:nvSpPr>
          <p:spPr>
            <a:xfrm flipH="false" flipV="false" rot="0">
              <a:off x="0" y="0"/>
              <a:ext cx="813546" cy="812800"/>
            </a:xfrm>
            <a:custGeom>
              <a:avLst/>
              <a:gdLst/>
              <a:ahLst/>
              <a:cxnLst/>
              <a:rect r="r" b="b" t="t" l="l"/>
              <a:pathLst>
                <a:path h="812800" w="813546">
                  <a:moveTo>
                    <a:pt x="406773" y="0"/>
                  </a:moveTo>
                  <a:cubicBezTo>
                    <a:pt x="182119" y="0"/>
                    <a:pt x="0" y="181951"/>
                    <a:pt x="0" y="406400"/>
                  </a:cubicBezTo>
                  <a:cubicBezTo>
                    <a:pt x="0" y="630849"/>
                    <a:pt x="182119" y="812800"/>
                    <a:pt x="406773" y="812800"/>
                  </a:cubicBezTo>
                  <a:cubicBezTo>
                    <a:pt x="631428" y="812800"/>
                    <a:pt x="813546" y="630849"/>
                    <a:pt x="813546" y="406400"/>
                  </a:cubicBezTo>
                  <a:cubicBezTo>
                    <a:pt x="813546" y="181951"/>
                    <a:pt x="631428" y="0"/>
                    <a:pt x="406773" y="0"/>
                  </a:cubicBezTo>
                  <a:close/>
                </a:path>
              </a:pathLst>
            </a:custGeom>
            <a:solidFill>
              <a:srgbClr val="FFFFFF"/>
            </a:solidFill>
            <a:ln cap="sq">
              <a:noFill/>
              <a:prstDash val="solid"/>
              <a:miter/>
            </a:ln>
          </p:spPr>
        </p:sp>
        <p:sp>
          <p:nvSpPr>
            <p:cNvPr name="TextBox 7" id="7"/>
            <p:cNvSpPr txBox="true"/>
            <p:nvPr/>
          </p:nvSpPr>
          <p:spPr>
            <a:xfrm>
              <a:off x="76270" y="76200"/>
              <a:ext cx="661006" cy="660400"/>
            </a:xfrm>
            <a:prstGeom prst="rect">
              <a:avLst/>
            </a:prstGeom>
          </p:spPr>
          <p:txBody>
            <a:bodyPr anchor="ctr" rtlCol="false" tIns="50800" lIns="50800" bIns="50800" rIns="50800"/>
            <a:lstStyle/>
            <a:p>
              <a:pPr algn="just">
                <a:lnSpc>
                  <a:spcPts val="1917"/>
                </a:lnSpc>
              </a:pPr>
            </a:p>
          </p:txBody>
        </p:sp>
      </p:grpSp>
      <p:grpSp>
        <p:nvGrpSpPr>
          <p:cNvPr name="Group 8" id="8"/>
          <p:cNvGrpSpPr/>
          <p:nvPr/>
        </p:nvGrpSpPr>
        <p:grpSpPr>
          <a:xfrm rot="0">
            <a:off x="9596504" y="6792133"/>
            <a:ext cx="383261" cy="382909"/>
            <a:chOff x="0" y="0"/>
            <a:chExt cx="813546" cy="812800"/>
          </a:xfrm>
        </p:grpSpPr>
        <p:sp>
          <p:nvSpPr>
            <p:cNvPr name="Freeform 9" id="9"/>
            <p:cNvSpPr/>
            <p:nvPr/>
          </p:nvSpPr>
          <p:spPr>
            <a:xfrm flipH="false" flipV="false" rot="0">
              <a:off x="0" y="0"/>
              <a:ext cx="813546" cy="812800"/>
            </a:xfrm>
            <a:custGeom>
              <a:avLst/>
              <a:gdLst/>
              <a:ahLst/>
              <a:cxnLst/>
              <a:rect r="r" b="b" t="t" l="l"/>
              <a:pathLst>
                <a:path h="812800" w="813546">
                  <a:moveTo>
                    <a:pt x="406773" y="0"/>
                  </a:moveTo>
                  <a:cubicBezTo>
                    <a:pt x="182119" y="0"/>
                    <a:pt x="0" y="181951"/>
                    <a:pt x="0" y="406400"/>
                  </a:cubicBezTo>
                  <a:cubicBezTo>
                    <a:pt x="0" y="630849"/>
                    <a:pt x="182119" y="812800"/>
                    <a:pt x="406773" y="812800"/>
                  </a:cubicBezTo>
                  <a:cubicBezTo>
                    <a:pt x="631428" y="812800"/>
                    <a:pt x="813546" y="630849"/>
                    <a:pt x="813546" y="406400"/>
                  </a:cubicBezTo>
                  <a:cubicBezTo>
                    <a:pt x="813546" y="181951"/>
                    <a:pt x="631428" y="0"/>
                    <a:pt x="406773" y="0"/>
                  </a:cubicBezTo>
                  <a:close/>
                </a:path>
              </a:pathLst>
            </a:custGeom>
            <a:solidFill>
              <a:srgbClr val="FFFFFF"/>
            </a:solidFill>
            <a:ln cap="sq">
              <a:noFill/>
              <a:prstDash val="solid"/>
              <a:miter/>
            </a:ln>
          </p:spPr>
        </p:sp>
        <p:sp>
          <p:nvSpPr>
            <p:cNvPr name="TextBox 10" id="10"/>
            <p:cNvSpPr txBox="true"/>
            <p:nvPr/>
          </p:nvSpPr>
          <p:spPr>
            <a:xfrm>
              <a:off x="76270" y="76200"/>
              <a:ext cx="661006" cy="660400"/>
            </a:xfrm>
            <a:prstGeom prst="rect">
              <a:avLst/>
            </a:prstGeom>
          </p:spPr>
          <p:txBody>
            <a:bodyPr anchor="ctr" rtlCol="false" tIns="50800" lIns="50800" bIns="50800" rIns="50800"/>
            <a:lstStyle/>
            <a:p>
              <a:pPr algn="just">
                <a:lnSpc>
                  <a:spcPts val="1917"/>
                </a:lnSpc>
              </a:pPr>
            </a:p>
          </p:txBody>
        </p:sp>
      </p:grpSp>
      <p:sp>
        <p:nvSpPr>
          <p:cNvPr name="TextBox 11" id="11"/>
          <p:cNvSpPr txBox="true"/>
          <p:nvPr/>
        </p:nvSpPr>
        <p:spPr>
          <a:xfrm rot="5400000">
            <a:off x="17336912" y="9029381"/>
            <a:ext cx="936679" cy="272173"/>
          </a:xfrm>
          <a:prstGeom prst="rect">
            <a:avLst/>
          </a:prstGeom>
        </p:spPr>
        <p:txBody>
          <a:bodyPr anchor="t" rtlCol="false" tIns="0" lIns="0" bIns="0" rIns="0">
            <a:spAutoFit/>
          </a:bodyPr>
          <a:lstStyle/>
          <a:p>
            <a:pPr algn="l">
              <a:lnSpc>
                <a:spcPts val="1934"/>
              </a:lnSpc>
              <a:spcBef>
                <a:spcPct val="0"/>
              </a:spcBef>
            </a:pPr>
            <a:r>
              <a:rPr lang="en-US" sz="1791">
                <a:solidFill>
                  <a:srgbClr val="FFFFFF"/>
                </a:solidFill>
                <a:latin typeface="Poppins"/>
                <a:ea typeface="Poppins"/>
                <a:cs typeface="Poppins"/>
                <a:sym typeface="Poppins"/>
              </a:rPr>
              <a:t>page 7</a:t>
            </a:r>
          </a:p>
        </p:txBody>
      </p:sp>
      <p:sp>
        <p:nvSpPr>
          <p:cNvPr name="Freeform 12" id="12"/>
          <p:cNvSpPr/>
          <p:nvPr/>
        </p:nvSpPr>
        <p:spPr>
          <a:xfrm flipH="false" flipV="false" rot="0">
            <a:off x="8852370" y="2972325"/>
            <a:ext cx="9309294" cy="6661482"/>
          </a:xfrm>
          <a:custGeom>
            <a:avLst/>
            <a:gdLst/>
            <a:ahLst/>
            <a:cxnLst/>
            <a:rect r="r" b="b" t="t" l="l"/>
            <a:pathLst>
              <a:path h="6661482" w="9309294">
                <a:moveTo>
                  <a:pt x="0" y="0"/>
                </a:moveTo>
                <a:lnTo>
                  <a:pt x="9309294" y="0"/>
                </a:lnTo>
                <a:lnTo>
                  <a:pt x="9309294" y="6661482"/>
                </a:lnTo>
                <a:lnTo>
                  <a:pt x="0" y="6661482"/>
                </a:lnTo>
                <a:lnTo>
                  <a:pt x="0" y="0"/>
                </a:lnTo>
                <a:close/>
              </a:path>
            </a:pathLst>
          </a:custGeom>
          <a:blipFill>
            <a:blip r:embed="rId3"/>
            <a:stretch>
              <a:fillRect l="-255" t="0" r="0" b="0"/>
            </a:stretch>
          </a:blipFill>
        </p:spPr>
      </p:sp>
      <p:sp>
        <p:nvSpPr>
          <p:cNvPr name="Freeform 13" id="13"/>
          <p:cNvSpPr/>
          <p:nvPr/>
        </p:nvSpPr>
        <p:spPr>
          <a:xfrm flipH="false" flipV="false" rot="0">
            <a:off x="512496" y="2972325"/>
            <a:ext cx="7887617" cy="6661482"/>
          </a:xfrm>
          <a:custGeom>
            <a:avLst/>
            <a:gdLst/>
            <a:ahLst/>
            <a:cxnLst/>
            <a:rect r="r" b="b" t="t" l="l"/>
            <a:pathLst>
              <a:path h="6661482" w="7887617">
                <a:moveTo>
                  <a:pt x="0" y="0"/>
                </a:moveTo>
                <a:lnTo>
                  <a:pt x="7887617" y="0"/>
                </a:lnTo>
                <a:lnTo>
                  <a:pt x="7887617" y="6661482"/>
                </a:lnTo>
                <a:lnTo>
                  <a:pt x="0" y="6661482"/>
                </a:lnTo>
                <a:lnTo>
                  <a:pt x="0" y="0"/>
                </a:lnTo>
                <a:close/>
              </a:path>
            </a:pathLst>
          </a:custGeom>
          <a:blipFill>
            <a:blip r:embed="rId4"/>
            <a:stretch>
              <a:fillRect l="0" t="0" r="-243" b="0"/>
            </a:stretch>
          </a:blipFill>
        </p:spPr>
      </p:sp>
      <p:grpSp>
        <p:nvGrpSpPr>
          <p:cNvPr name="Group 14" id="14"/>
          <p:cNvGrpSpPr/>
          <p:nvPr/>
        </p:nvGrpSpPr>
        <p:grpSpPr>
          <a:xfrm rot="0">
            <a:off x="7942198" y="2972325"/>
            <a:ext cx="987811" cy="6661482"/>
            <a:chOff x="0" y="0"/>
            <a:chExt cx="260164" cy="1754464"/>
          </a:xfrm>
        </p:grpSpPr>
        <p:sp>
          <p:nvSpPr>
            <p:cNvPr name="Freeform 15" id="15"/>
            <p:cNvSpPr/>
            <p:nvPr/>
          </p:nvSpPr>
          <p:spPr>
            <a:xfrm flipH="false" flipV="false" rot="0">
              <a:off x="0" y="0"/>
              <a:ext cx="260164" cy="1754464"/>
            </a:xfrm>
            <a:custGeom>
              <a:avLst/>
              <a:gdLst/>
              <a:ahLst/>
              <a:cxnLst/>
              <a:rect r="r" b="b" t="t" l="l"/>
              <a:pathLst>
                <a:path h="1754464" w="260164">
                  <a:moveTo>
                    <a:pt x="0" y="0"/>
                  </a:moveTo>
                  <a:lnTo>
                    <a:pt x="260164" y="0"/>
                  </a:lnTo>
                  <a:lnTo>
                    <a:pt x="260164" y="1754464"/>
                  </a:lnTo>
                  <a:lnTo>
                    <a:pt x="0" y="1754464"/>
                  </a:lnTo>
                  <a:close/>
                </a:path>
              </a:pathLst>
            </a:custGeom>
            <a:solidFill>
              <a:srgbClr val="FFFFFF"/>
            </a:solidFill>
          </p:spPr>
        </p:sp>
        <p:sp>
          <p:nvSpPr>
            <p:cNvPr name="TextBox 16" id="16"/>
            <p:cNvSpPr txBox="true"/>
            <p:nvPr/>
          </p:nvSpPr>
          <p:spPr>
            <a:xfrm>
              <a:off x="0" y="0"/>
              <a:ext cx="260164" cy="1754464"/>
            </a:xfrm>
            <a:prstGeom prst="rect">
              <a:avLst/>
            </a:prstGeom>
          </p:spPr>
          <p:txBody>
            <a:bodyPr anchor="ctr" rtlCol="false" tIns="50800" lIns="50800" bIns="50800" rIns="50800"/>
            <a:lstStyle/>
            <a:p>
              <a:pPr algn="ctr">
                <a:lnSpc>
                  <a:spcPts val="1917"/>
                </a:lnSpc>
              </a:pPr>
            </a:p>
          </p:txBody>
        </p:sp>
      </p:grpSp>
      <p:grpSp>
        <p:nvGrpSpPr>
          <p:cNvPr name="Group 17" id="17"/>
          <p:cNvGrpSpPr/>
          <p:nvPr/>
        </p:nvGrpSpPr>
        <p:grpSpPr>
          <a:xfrm rot="0">
            <a:off x="18033688" y="2972325"/>
            <a:ext cx="1115787" cy="6661482"/>
            <a:chOff x="0" y="0"/>
            <a:chExt cx="293870" cy="1754464"/>
          </a:xfrm>
        </p:grpSpPr>
        <p:sp>
          <p:nvSpPr>
            <p:cNvPr name="Freeform 18" id="18"/>
            <p:cNvSpPr/>
            <p:nvPr/>
          </p:nvSpPr>
          <p:spPr>
            <a:xfrm flipH="false" flipV="false" rot="0">
              <a:off x="0" y="0"/>
              <a:ext cx="293870" cy="1754464"/>
            </a:xfrm>
            <a:custGeom>
              <a:avLst/>
              <a:gdLst/>
              <a:ahLst/>
              <a:cxnLst/>
              <a:rect r="r" b="b" t="t" l="l"/>
              <a:pathLst>
                <a:path h="1754464" w="293870">
                  <a:moveTo>
                    <a:pt x="0" y="0"/>
                  </a:moveTo>
                  <a:lnTo>
                    <a:pt x="293870" y="0"/>
                  </a:lnTo>
                  <a:lnTo>
                    <a:pt x="293870" y="1754464"/>
                  </a:lnTo>
                  <a:lnTo>
                    <a:pt x="0" y="1754464"/>
                  </a:lnTo>
                  <a:close/>
                </a:path>
              </a:pathLst>
            </a:custGeom>
            <a:solidFill>
              <a:srgbClr val="FFFFFF"/>
            </a:solidFill>
          </p:spPr>
        </p:sp>
        <p:sp>
          <p:nvSpPr>
            <p:cNvPr name="TextBox 19" id="19"/>
            <p:cNvSpPr txBox="true"/>
            <p:nvPr/>
          </p:nvSpPr>
          <p:spPr>
            <a:xfrm>
              <a:off x="0" y="0"/>
              <a:ext cx="293870" cy="1754464"/>
            </a:xfrm>
            <a:prstGeom prst="rect">
              <a:avLst/>
            </a:prstGeom>
          </p:spPr>
          <p:txBody>
            <a:bodyPr anchor="ctr" rtlCol="false" tIns="50800" lIns="50800" bIns="50800" rIns="50800"/>
            <a:lstStyle/>
            <a:p>
              <a:pPr algn="ctr">
                <a:lnSpc>
                  <a:spcPts val="1917"/>
                </a:lnSpc>
              </a:pPr>
            </a:p>
          </p:txBody>
        </p:sp>
      </p:grpSp>
      <p:grpSp>
        <p:nvGrpSpPr>
          <p:cNvPr name="Group 20" id="20"/>
          <p:cNvGrpSpPr/>
          <p:nvPr/>
        </p:nvGrpSpPr>
        <p:grpSpPr>
          <a:xfrm rot="0">
            <a:off x="-475314" y="2972325"/>
            <a:ext cx="1094457" cy="6661482"/>
            <a:chOff x="0" y="0"/>
            <a:chExt cx="288252" cy="1754464"/>
          </a:xfrm>
        </p:grpSpPr>
        <p:sp>
          <p:nvSpPr>
            <p:cNvPr name="Freeform 21" id="21"/>
            <p:cNvSpPr/>
            <p:nvPr/>
          </p:nvSpPr>
          <p:spPr>
            <a:xfrm flipH="false" flipV="false" rot="0">
              <a:off x="0" y="0"/>
              <a:ext cx="288252" cy="1754464"/>
            </a:xfrm>
            <a:custGeom>
              <a:avLst/>
              <a:gdLst/>
              <a:ahLst/>
              <a:cxnLst/>
              <a:rect r="r" b="b" t="t" l="l"/>
              <a:pathLst>
                <a:path h="1754464" w="288252">
                  <a:moveTo>
                    <a:pt x="0" y="0"/>
                  </a:moveTo>
                  <a:lnTo>
                    <a:pt x="288252" y="0"/>
                  </a:lnTo>
                  <a:lnTo>
                    <a:pt x="288252" y="1754464"/>
                  </a:lnTo>
                  <a:lnTo>
                    <a:pt x="0" y="1754464"/>
                  </a:lnTo>
                  <a:close/>
                </a:path>
              </a:pathLst>
            </a:custGeom>
            <a:solidFill>
              <a:srgbClr val="FFFFFF"/>
            </a:solidFill>
          </p:spPr>
        </p:sp>
        <p:sp>
          <p:nvSpPr>
            <p:cNvPr name="TextBox 22" id="22"/>
            <p:cNvSpPr txBox="true"/>
            <p:nvPr/>
          </p:nvSpPr>
          <p:spPr>
            <a:xfrm>
              <a:off x="0" y="0"/>
              <a:ext cx="288252" cy="1754464"/>
            </a:xfrm>
            <a:prstGeom prst="rect">
              <a:avLst/>
            </a:prstGeom>
          </p:spPr>
          <p:txBody>
            <a:bodyPr anchor="ctr" rtlCol="false" tIns="50800" lIns="50800" bIns="50800" rIns="50800"/>
            <a:lstStyle/>
            <a:p>
              <a:pPr algn="ctr">
                <a:lnSpc>
                  <a:spcPts val="1917"/>
                </a:lnSpc>
              </a:pPr>
            </a:p>
          </p:txBody>
        </p:sp>
      </p:grpSp>
      <p:sp>
        <p:nvSpPr>
          <p:cNvPr name="TextBox 23" id="23"/>
          <p:cNvSpPr txBox="true"/>
          <p:nvPr/>
        </p:nvSpPr>
        <p:spPr>
          <a:xfrm rot="0">
            <a:off x="3125204" y="9525"/>
            <a:ext cx="12486710" cy="1840503"/>
          </a:xfrm>
          <a:prstGeom prst="rect">
            <a:avLst/>
          </a:prstGeom>
        </p:spPr>
        <p:txBody>
          <a:bodyPr anchor="t" rtlCol="false" tIns="0" lIns="0" bIns="0" rIns="0">
            <a:spAutoFit/>
          </a:bodyPr>
          <a:lstStyle/>
          <a:p>
            <a:pPr algn="ctr">
              <a:lnSpc>
                <a:spcPts val="6904"/>
              </a:lnSpc>
              <a:spcBef>
                <a:spcPct val="0"/>
              </a:spcBef>
            </a:pPr>
            <a:r>
              <a:rPr lang="en-US" b="true" sz="6392">
                <a:solidFill>
                  <a:srgbClr val="000000"/>
                </a:solidFill>
                <a:latin typeface="Poppins Bold"/>
                <a:ea typeface="Poppins Bold"/>
                <a:cs typeface="Poppins Bold"/>
                <a:sym typeface="Poppins Bold"/>
              </a:rPr>
              <a:t>Γραφήματα με Αναλυτικά Νούμερα</a:t>
            </a:r>
          </a:p>
        </p:txBody>
      </p:sp>
      <p:sp>
        <p:nvSpPr>
          <p:cNvPr name="TextBox 24" id="24"/>
          <p:cNvSpPr txBox="true"/>
          <p:nvPr/>
        </p:nvSpPr>
        <p:spPr>
          <a:xfrm rot="0">
            <a:off x="989598" y="2361960"/>
            <a:ext cx="6952600" cy="455493"/>
          </a:xfrm>
          <a:prstGeom prst="rect">
            <a:avLst/>
          </a:prstGeom>
        </p:spPr>
        <p:txBody>
          <a:bodyPr anchor="t" rtlCol="false" tIns="0" lIns="0" bIns="0" rIns="0">
            <a:spAutoFit/>
          </a:bodyPr>
          <a:lstStyle/>
          <a:p>
            <a:pPr algn="l">
              <a:lnSpc>
                <a:spcPts val="3254"/>
              </a:lnSpc>
              <a:spcBef>
                <a:spcPct val="0"/>
              </a:spcBef>
            </a:pPr>
            <a:r>
              <a:rPr lang="en-US" b="true" sz="3012" u="sng">
                <a:solidFill>
                  <a:srgbClr val="000000"/>
                </a:solidFill>
                <a:latin typeface="Poppins Bold"/>
                <a:ea typeface="Poppins Bold"/>
                <a:cs typeface="Poppins Bold"/>
                <a:sym typeface="Poppins Bold"/>
              </a:rPr>
              <a:t>Η ΠΑΓΚΟΣΜΙΑ ΣΠΑΤΑΛΗ ΤΡΟΦΙΜΩΝ</a:t>
            </a:r>
          </a:p>
        </p:txBody>
      </p:sp>
      <p:sp>
        <p:nvSpPr>
          <p:cNvPr name="TextBox 25" id="25"/>
          <p:cNvSpPr txBox="true"/>
          <p:nvPr/>
        </p:nvSpPr>
        <p:spPr>
          <a:xfrm rot="0">
            <a:off x="9144000" y="2361960"/>
            <a:ext cx="8220114" cy="455493"/>
          </a:xfrm>
          <a:prstGeom prst="rect">
            <a:avLst/>
          </a:prstGeom>
        </p:spPr>
        <p:txBody>
          <a:bodyPr anchor="t" rtlCol="false" tIns="0" lIns="0" bIns="0" rIns="0">
            <a:spAutoFit/>
          </a:bodyPr>
          <a:lstStyle/>
          <a:p>
            <a:pPr algn="l">
              <a:lnSpc>
                <a:spcPts val="3254"/>
              </a:lnSpc>
              <a:spcBef>
                <a:spcPct val="0"/>
              </a:spcBef>
            </a:pPr>
            <a:r>
              <a:rPr lang="en-US" b="true" sz="3012" u="sng">
                <a:solidFill>
                  <a:srgbClr val="000000"/>
                </a:solidFill>
                <a:latin typeface="Poppins Bold"/>
                <a:ea typeface="Poppins Bold"/>
                <a:cs typeface="Poppins Bold"/>
                <a:sym typeface="Poppins Bold"/>
              </a:rPr>
              <a:t>Δείκτης Παγκόσμιας Απώλειας Τροφίμων</a:t>
            </a:r>
          </a:p>
        </p:txBody>
      </p:sp>
      <p:sp>
        <p:nvSpPr>
          <p:cNvPr name="TextBox 26" id="26"/>
          <p:cNvSpPr txBox="true"/>
          <p:nvPr/>
        </p:nvSpPr>
        <p:spPr>
          <a:xfrm rot="5400000">
            <a:off x="17469624" y="9325579"/>
            <a:ext cx="936679" cy="265423"/>
          </a:xfrm>
          <a:prstGeom prst="rect">
            <a:avLst/>
          </a:prstGeom>
        </p:spPr>
        <p:txBody>
          <a:bodyPr anchor="t" rtlCol="false" tIns="0" lIns="0" bIns="0" rIns="0">
            <a:spAutoFit/>
          </a:bodyPr>
          <a:lstStyle/>
          <a:p>
            <a:pPr algn="l">
              <a:lnSpc>
                <a:spcPts val="1934"/>
              </a:lnSpc>
              <a:spcBef>
                <a:spcPct val="0"/>
              </a:spcBef>
            </a:pPr>
            <a:r>
              <a:rPr lang="en-US" sz="1791">
                <a:solidFill>
                  <a:srgbClr val="295BBE"/>
                </a:solidFill>
                <a:latin typeface="Poppins"/>
                <a:ea typeface="Poppins"/>
                <a:cs typeface="Poppins"/>
                <a:sym typeface="Poppins"/>
              </a:rPr>
              <a:t>page </a:t>
            </a:r>
            <a:r>
              <a:rPr lang="en-US" sz="1791">
                <a:solidFill>
                  <a:srgbClr val="FFFFFF"/>
                </a:solidFill>
                <a:latin typeface="Poppins"/>
                <a:ea typeface="Poppins"/>
                <a:cs typeface="Poppins"/>
                <a:sym typeface="Poppins"/>
              </a:rPr>
              <a:t>13</a:t>
            </a:r>
          </a:p>
        </p:txBody>
      </p:sp>
    </p:spTree>
  </p:cSld>
  <p:clrMapOvr>
    <a:masterClrMapping/>
  </p:clrMapOvr>
  <p:transition spd="fast">
    <p:wipe dir="l"/>
  </p:transition>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596504" y="4777160"/>
            <a:ext cx="383261" cy="382909"/>
            <a:chOff x="0" y="0"/>
            <a:chExt cx="813546" cy="812800"/>
          </a:xfrm>
        </p:grpSpPr>
        <p:sp>
          <p:nvSpPr>
            <p:cNvPr name="Freeform 3" id="3"/>
            <p:cNvSpPr/>
            <p:nvPr/>
          </p:nvSpPr>
          <p:spPr>
            <a:xfrm flipH="false" flipV="false" rot="0">
              <a:off x="0" y="0"/>
              <a:ext cx="813546" cy="812800"/>
            </a:xfrm>
            <a:custGeom>
              <a:avLst/>
              <a:gdLst/>
              <a:ahLst/>
              <a:cxnLst/>
              <a:rect r="r" b="b" t="t" l="l"/>
              <a:pathLst>
                <a:path h="812800" w="813546">
                  <a:moveTo>
                    <a:pt x="406773" y="0"/>
                  </a:moveTo>
                  <a:cubicBezTo>
                    <a:pt x="182119" y="0"/>
                    <a:pt x="0" y="181951"/>
                    <a:pt x="0" y="406400"/>
                  </a:cubicBezTo>
                  <a:cubicBezTo>
                    <a:pt x="0" y="630849"/>
                    <a:pt x="182119" y="812800"/>
                    <a:pt x="406773" y="812800"/>
                  </a:cubicBezTo>
                  <a:cubicBezTo>
                    <a:pt x="631428" y="812800"/>
                    <a:pt x="813546" y="630849"/>
                    <a:pt x="813546" y="406400"/>
                  </a:cubicBezTo>
                  <a:cubicBezTo>
                    <a:pt x="813546" y="181951"/>
                    <a:pt x="631428" y="0"/>
                    <a:pt x="406773" y="0"/>
                  </a:cubicBezTo>
                  <a:close/>
                </a:path>
              </a:pathLst>
            </a:custGeom>
            <a:solidFill>
              <a:srgbClr val="FFFFFF"/>
            </a:solidFill>
            <a:ln cap="sq">
              <a:noFill/>
              <a:prstDash val="solid"/>
              <a:miter/>
            </a:ln>
          </p:spPr>
        </p:sp>
        <p:sp>
          <p:nvSpPr>
            <p:cNvPr name="TextBox 4" id="4"/>
            <p:cNvSpPr txBox="true"/>
            <p:nvPr/>
          </p:nvSpPr>
          <p:spPr>
            <a:xfrm>
              <a:off x="76270" y="76200"/>
              <a:ext cx="661006" cy="660400"/>
            </a:xfrm>
            <a:prstGeom prst="rect">
              <a:avLst/>
            </a:prstGeom>
          </p:spPr>
          <p:txBody>
            <a:bodyPr anchor="ctr" rtlCol="false" tIns="50800" lIns="50800" bIns="50800" rIns="50800"/>
            <a:lstStyle/>
            <a:p>
              <a:pPr algn="just">
                <a:lnSpc>
                  <a:spcPts val="1917"/>
                </a:lnSpc>
              </a:pPr>
            </a:p>
          </p:txBody>
        </p:sp>
      </p:grpSp>
      <p:grpSp>
        <p:nvGrpSpPr>
          <p:cNvPr name="Group 5" id="5"/>
          <p:cNvGrpSpPr/>
          <p:nvPr/>
        </p:nvGrpSpPr>
        <p:grpSpPr>
          <a:xfrm rot="0">
            <a:off x="9596504" y="6792133"/>
            <a:ext cx="383261" cy="382909"/>
            <a:chOff x="0" y="0"/>
            <a:chExt cx="813546" cy="812800"/>
          </a:xfrm>
        </p:grpSpPr>
        <p:sp>
          <p:nvSpPr>
            <p:cNvPr name="Freeform 6" id="6"/>
            <p:cNvSpPr/>
            <p:nvPr/>
          </p:nvSpPr>
          <p:spPr>
            <a:xfrm flipH="false" flipV="false" rot="0">
              <a:off x="0" y="0"/>
              <a:ext cx="813546" cy="812800"/>
            </a:xfrm>
            <a:custGeom>
              <a:avLst/>
              <a:gdLst/>
              <a:ahLst/>
              <a:cxnLst/>
              <a:rect r="r" b="b" t="t" l="l"/>
              <a:pathLst>
                <a:path h="812800" w="813546">
                  <a:moveTo>
                    <a:pt x="406773" y="0"/>
                  </a:moveTo>
                  <a:cubicBezTo>
                    <a:pt x="182119" y="0"/>
                    <a:pt x="0" y="181951"/>
                    <a:pt x="0" y="406400"/>
                  </a:cubicBezTo>
                  <a:cubicBezTo>
                    <a:pt x="0" y="630849"/>
                    <a:pt x="182119" y="812800"/>
                    <a:pt x="406773" y="812800"/>
                  </a:cubicBezTo>
                  <a:cubicBezTo>
                    <a:pt x="631428" y="812800"/>
                    <a:pt x="813546" y="630849"/>
                    <a:pt x="813546" y="406400"/>
                  </a:cubicBezTo>
                  <a:cubicBezTo>
                    <a:pt x="813546" y="181951"/>
                    <a:pt x="631428" y="0"/>
                    <a:pt x="406773" y="0"/>
                  </a:cubicBezTo>
                  <a:close/>
                </a:path>
              </a:pathLst>
            </a:custGeom>
            <a:solidFill>
              <a:srgbClr val="FFFFFF"/>
            </a:solidFill>
            <a:ln cap="sq">
              <a:noFill/>
              <a:prstDash val="solid"/>
              <a:miter/>
            </a:ln>
          </p:spPr>
        </p:sp>
        <p:sp>
          <p:nvSpPr>
            <p:cNvPr name="TextBox 7" id="7"/>
            <p:cNvSpPr txBox="true"/>
            <p:nvPr/>
          </p:nvSpPr>
          <p:spPr>
            <a:xfrm>
              <a:off x="76270" y="76200"/>
              <a:ext cx="661006" cy="660400"/>
            </a:xfrm>
            <a:prstGeom prst="rect">
              <a:avLst/>
            </a:prstGeom>
          </p:spPr>
          <p:txBody>
            <a:bodyPr anchor="ctr" rtlCol="false" tIns="50800" lIns="50800" bIns="50800" rIns="50800"/>
            <a:lstStyle/>
            <a:p>
              <a:pPr algn="just">
                <a:lnSpc>
                  <a:spcPts val="1917"/>
                </a:lnSpc>
              </a:pPr>
            </a:p>
          </p:txBody>
        </p:sp>
      </p:grpSp>
      <p:sp>
        <p:nvSpPr>
          <p:cNvPr name="AutoShape 8" id="8"/>
          <p:cNvSpPr/>
          <p:nvPr/>
        </p:nvSpPr>
        <p:spPr>
          <a:xfrm>
            <a:off x="606642" y="9548082"/>
            <a:ext cx="1432846" cy="0"/>
          </a:xfrm>
          <a:prstGeom prst="line">
            <a:avLst/>
          </a:prstGeom>
          <a:ln cap="flat" w="171450">
            <a:solidFill>
              <a:srgbClr val="FFFFFF"/>
            </a:solidFill>
            <a:prstDash val="solid"/>
            <a:headEnd type="none" len="sm" w="sm"/>
            <a:tailEnd type="none" len="sm" w="sm"/>
          </a:ln>
        </p:spPr>
      </p:sp>
      <p:sp>
        <p:nvSpPr>
          <p:cNvPr name="AutoShape 9" id="9"/>
          <p:cNvSpPr/>
          <p:nvPr/>
        </p:nvSpPr>
        <p:spPr>
          <a:xfrm>
            <a:off x="16172105" y="942975"/>
            <a:ext cx="1432846" cy="0"/>
          </a:xfrm>
          <a:prstGeom prst="line">
            <a:avLst/>
          </a:prstGeom>
          <a:ln cap="flat" w="171450">
            <a:solidFill>
              <a:srgbClr val="295BBE"/>
            </a:solidFill>
            <a:prstDash val="solid"/>
            <a:headEnd type="none" len="sm" w="sm"/>
            <a:tailEnd type="none" len="sm" w="sm"/>
          </a:ln>
        </p:spPr>
      </p:sp>
      <p:grpSp>
        <p:nvGrpSpPr>
          <p:cNvPr name="Group 10" id="10"/>
          <p:cNvGrpSpPr/>
          <p:nvPr/>
        </p:nvGrpSpPr>
        <p:grpSpPr>
          <a:xfrm rot="-5400000">
            <a:off x="-4295533" y="-2953834"/>
            <a:ext cx="10287000" cy="16194668"/>
            <a:chOff x="0" y="0"/>
            <a:chExt cx="898737" cy="1414869"/>
          </a:xfrm>
        </p:grpSpPr>
        <p:sp>
          <p:nvSpPr>
            <p:cNvPr name="Freeform 11" id="11"/>
            <p:cNvSpPr/>
            <p:nvPr/>
          </p:nvSpPr>
          <p:spPr>
            <a:xfrm flipH="false" flipV="false" rot="0">
              <a:off x="0" y="0"/>
              <a:ext cx="898737" cy="1414869"/>
            </a:xfrm>
            <a:custGeom>
              <a:avLst/>
              <a:gdLst/>
              <a:ahLst/>
              <a:cxnLst/>
              <a:rect r="r" b="b" t="t" l="l"/>
              <a:pathLst>
                <a:path h="1414869" w="898737">
                  <a:moveTo>
                    <a:pt x="449369" y="0"/>
                  </a:moveTo>
                  <a:lnTo>
                    <a:pt x="898737" y="1414869"/>
                  </a:lnTo>
                  <a:lnTo>
                    <a:pt x="0" y="1414869"/>
                  </a:lnTo>
                  <a:lnTo>
                    <a:pt x="449369" y="0"/>
                  </a:lnTo>
                  <a:close/>
                </a:path>
              </a:pathLst>
            </a:custGeom>
            <a:solidFill>
              <a:srgbClr val="295BBE"/>
            </a:solidFill>
          </p:spPr>
        </p:sp>
        <p:sp>
          <p:nvSpPr>
            <p:cNvPr name="TextBox 12" id="12"/>
            <p:cNvSpPr txBox="true"/>
            <p:nvPr/>
          </p:nvSpPr>
          <p:spPr>
            <a:xfrm>
              <a:off x="140428" y="656903"/>
              <a:ext cx="617882" cy="656903"/>
            </a:xfrm>
            <a:prstGeom prst="rect">
              <a:avLst/>
            </a:prstGeom>
          </p:spPr>
          <p:txBody>
            <a:bodyPr anchor="ctr" rtlCol="false" tIns="50800" lIns="50800" bIns="50800" rIns="50800"/>
            <a:lstStyle/>
            <a:p>
              <a:pPr algn="ctr">
                <a:lnSpc>
                  <a:spcPts val="1917"/>
                </a:lnSpc>
              </a:pPr>
            </a:p>
          </p:txBody>
        </p:sp>
      </p:grpSp>
      <p:sp>
        <p:nvSpPr>
          <p:cNvPr name="TextBox 13" id="13"/>
          <p:cNvSpPr txBox="true"/>
          <p:nvPr/>
        </p:nvSpPr>
        <p:spPr>
          <a:xfrm rot="5400000">
            <a:off x="17336912" y="9029381"/>
            <a:ext cx="936679" cy="272173"/>
          </a:xfrm>
          <a:prstGeom prst="rect">
            <a:avLst/>
          </a:prstGeom>
        </p:spPr>
        <p:txBody>
          <a:bodyPr anchor="t" rtlCol="false" tIns="0" lIns="0" bIns="0" rIns="0">
            <a:spAutoFit/>
          </a:bodyPr>
          <a:lstStyle/>
          <a:p>
            <a:pPr algn="l">
              <a:lnSpc>
                <a:spcPts val="1934"/>
              </a:lnSpc>
              <a:spcBef>
                <a:spcPct val="0"/>
              </a:spcBef>
            </a:pPr>
            <a:r>
              <a:rPr lang="en-US" sz="1791">
                <a:solidFill>
                  <a:srgbClr val="FFFFFF"/>
                </a:solidFill>
                <a:latin typeface="Poppins"/>
                <a:ea typeface="Poppins"/>
                <a:cs typeface="Poppins"/>
                <a:sym typeface="Poppins"/>
              </a:rPr>
              <a:t>page 7</a:t>
            </a:r>
          </a:p>
        </p:txBody>
      </p:sp>
      <p:grpSp>
        <p:nvGrpSpPr>
          <p:cNvPr name="Group 14" id="14"/>
          <p:cNvGrpSpPr/>
          <p:nvPr/>
        </p:nvGrpSpPr>
        <p:grpSpPr>
          <a:xfrm rot="-10800000">
            <a:off x="8945301" y="43988"/>
            <a:ext cx="9373165" cy="13019176"/>
            <a:chOff x="0" y="0"/>
            <a:chExt cx="2468652" cy="3428919"/>
          </a:xfrm>
        </p:grpSpPr>
        <p:sp>
          <p:nvSpPr>
            <p:cNvPr name="Freeform 15" id="15"/>
            <p:cNvSpPr/>
            <p:nvPr/>
          </p:nvSpPr>
          <p:spPr>
            <a:xfrm flipH="false" flipV="false" rot="0">
              <a:off x="0" y="0"/>
              <a:ext cx="2468652" cy="3428919"/>
            </a:xfrm>
            <a:custGeom>
              <a:avLst/>
              <a:gdLst/>
              <a:ahLst/>
              <a:cxnLst/>
              <a:rect r="r" b="b" t="t" l="l"/>
              <a:pathLst>
                <a:path h="3428919" w="2468652">
                  <a:moveTo>
                    <a:pt x="0" y="0"/>
                  </a:moveTo>
                  <a:lnTo>
                    <a:pt x="2468652" y="0"/>
                  </a:lnTo>
                  <a:lnTo>
                    <a:pt x="2468652" y="3428919"/>
                  </a:lnTo>
                  <a:lnTo>
                    <a:pt x="0" y="3428919"/>
                  </a:lnTo>
                  <a:close/>
                </a:path>
              </a:pathLst>
            </a:custGeom>
            <a:solidFill>
              <a:srgbClr val="295BBE"/>
            </a:solidFill>
          </p:spPr>
        </p:sp>
        <p:sp>
          <p:nvSpPr>
            <p:cNvPr name="TextBox 16" id="16"/>
            <p:cNvSpPr txBox="true"/>
            <p:nvPr/>
          </p:nvSpPr>
          <p:spPr>
            <a:xfrm>
              <a:off x="0" y="0"/>
              <a:ext cx="2468652" cy="3428919"/>
            </a:xfrm>
            <a:prstGeom prst="rect">
              <a:avLst/>
            </a:prstGeom>
          </p:spPr>
          <p:txBody>
            <a:bodyPr anchor="ctr" rtlCol="false" tIns="50800" lIns="50800" bIns="50800" rIns="50800"/>
            <a:lstStyle/>
            <a:p>
              <a:pPr algn="ctr">
                <a:lnSpc>
                  <a:spcPts val="1917"/>
                </a:lnSpc>
              </a:pPr>
            </a:p>
          </p:txBody>
        </p:sp>
      </p:grpSp>
      <p:grpSp>
        <p:nvGrpSpPr>
          <p:cNvPr name="Group 17" id="17"/>
          <p:cNvGrpSpPr/>
          <p:nvPr/>
        </p:nvGrpSpPr>
        <p:grpSpPr>
          <a:xfrm rot="0">
            <a:off x="8945301" y="-982710"/>
            <a:ext cx="10292128" cy="3932723"/>
            <a:chOff x="0" y="0"/>
            <a:chExt cx="2710684" cy="1035779"/>
          </a:xfrm>
        </p:grpSpPr>
        <p:sp>
          <p:nvSpPr>
            <p:cNvPr name="Freeform 18" id="18"/>
            <p:cNvSpPr/>
            <p:nvPr/>
          </p:nvSpPr>
          <p:spPr>
            <a:xfrm flipH="false" flipV="false" rot="0">
              <a:off x="0" y="0"/>
              <a:ext cx="2710684" cy="1035779"/>
            </a:xfrm>
            <a:custGeom>
              <a:avLst/>
              <a:gdLst/>
              <a:ahLst/>
              <a:cxnLst/>
              <a:rect r="r" b="b" t="t" l="l"/>
              <a:pathLst>
                <a:path h="1035779" w="2710684">
                  <a:moveTo>
                    <a:pt x="0" y="0"/>
                  </a:moveTo>
                  <a:lnTo>
                    <a:pt x="2710684" y="0"/>
                  </a:lnTo>
                  <a:lnTo>
                    <a:pt x="2710684" y="1035779"/>
                  </a:lnTo>
                  <a:lnTo>
                    <a:pt x="0" y="1035779"/>
                  </a:lnTo>
                  <a:close/>
                </a:path>
              </a:pathLst>
            </a:custGeom>
            <a:solidFill>
              <a:srgbClr val="FFFFFF"/>
            </a:solidFill>
          </p:spPr>
        </p:sp>
        <p:sp>
          <p:nvSpPr>
            <p:cNvPr name="TextBox 19" id="19"/>
            <p:cNvSpPr txBox="true"/>
            <p:nvPr/>
          </p:nvSpPr>
          <p:spPr>
            <a:xfrm>
              <a:off x="0" y="0"/>
              <a:ext cx="2710684" cy="1035779"/>
            </a:xfrm>
            <a:prstGeom prst="rect">
              <a:avLst/>
            </a:prstGeom>
          </p:spPr>
          <p:txBody>
            <a:bodyPr anchor="ctr" rtlCol="false" tIns="50800" lIns="50800" bIns="50800" rIns="50800"/>
            <a:lstStyle/>
            <a:p>
              <a:pPr algn="ctr">
                <a:lnSpc>
                  <a:spcPts val="1917"/>
                </a:lnSpc>
              </a:pPr>
            </a:p>
          </p:txBody>
        </p:sp>
      </p:grpSp>
      <p:grpSp>
        <p:nvGrpSpPr>
          <p:cNvPr name="Group 20" id="20"/>
          <p:cNvGrpSpPr/>
          <p:nvPr/>
        </p:nvGrpSpPr>
        <p:grpSpPr>
          <a:xfrm rot="5400000">
            <a:off x="11820824" y="-3040883"/>
            <a:ext cx="10452360" cy="16203405"/>
            <a:chOff x="0" y="0"/>
            <a:chExt cx="913184" cy="1415632"/>
          </a:xfrm>
        </p:grpSpPr>
        <p:sp>
          <p:nvSpPr>
            <p:cNvPr name="Freeform 21" id="21"/>
            <p:cNvSpPr/>
            <p:nvPr/>
          </p:nvSpPr>
          <p:spPr>
            <a:xfrm flipH="false" flipV="false" rot="0">
              <a:off x="0" y="0"/>
              <a:ext cx="913184" cy="1415632"/>
            </a:xfrm>
            <a:custGeom>
              <a:avLst/>
              <a:gdLst/>
              <a:ahLst/>
              <a:cxnLst/>
              <a:rect r="r" b="b" t="t" l="l"/>
              <a:pathLst>
                <a:path h="1415632" w="913184">
                  <a:moveTo>
                    <a:pt x="456592" y="0"/>
                  </a:moveTo>
                  <a:lnTo>
                    <a:pt x="913184" y="1415632"/>
                  </a:lnTo>
                  <a:lnTo>
                    <a:pt x="0" y="1415632"/>
                  </a:lnTo>
                  <a:lnTo>
                    <a:pt x="456592" y="0"/>
                  </a:lnTo>
                  <a:close/>
                </a:path>
              </a:pathLst>
            </a:custGeom>
            <a:solidFill>
              <a:srgbClr val="FFFFFF"/>
            </a:solidFill>
          </p:spPr>
        </p:sp>
        <p:sp>
          <p:nvSpPr>
            <p:cNvPr name="TextBox 22" id="22"/>
            <p:cNvSpPr txBox="true"/>
            <p:nvPr/>
          </p:nvSpPr>
          <p:spPr>
            <a:xfrm>
              <a:off x="142685" y="657258"/>
              <a:ext cx="627814" cy="657258"/>
            </a:xfrm>
            <a:prstGeom prst="rect">
              <a:avLst/>
            </a:prstGeom>
          </p:spPr>
          <p:txBody>
            <a:bodyPr anchor="ctr" rtlCol="false" tIns="50800" lIns="50800" bIns="50800" rIns="50800"/>
            <a:lstStyle/>
            <a:p>
              <a:pPr algn="ctr">
                <a:lnSpc>
                  <a:spcPts val="1917"/>
                </a:lnSpc>
              </a:pPr>
            </a:p>
          </p:txBody>
        </p:sp>
      </p:grpSp>
      <p:grpSp>
        <p:nvGrpSpPr>
          <p:cNvPr name="Group 23" id="23"/>
          <p:cNvGrpSpPr/>
          <p:nvPr/>
        </p:nvGrpSpPr>
        <p:grpSpPr>
          <a:xfrm rot="0">
            <a:off x="-1346826" y="-575571"/>
            <a:ext cx="10292128" cy="3851370"/>
            <a:chOff x="0" y="0"/>
            <a:chExt cx="2710684" cy="1014353"/>
          </a:xfrm>
        </p:grpSpPr>
        <p:sp>
          <p:nvSpPr>
            <p:cNvPr name="Freeform 24" id="24"/>
            <p:cNvSpPr/>
            <p:nvPr/>
          </p:nvSpPr>
          <p:spPr>
            <a:xfrm flipH="false" flipV="false" rot="0">
              <a:off x="0" y="0"/>
              <a:ext cx="2710684" cy="1014353"/>
            </a:xfrm>
            <a:custGeom>
              <a:avLst/>
              <a:gdLst/>
              <a:ahLst/>
              <a:cxnLst/>
              <a:rect r="r" b="b" t="t" l="l"/>
              <a:pathLst>
                <a:path h="1014353" w="2710684">
                  <a:moveTo>
                    <a:pt x="0" y="0"/>
                  </a:moveTo>
                  <a:lnTo>
                    <a:pt x="2710684" y="0"/>
                  </a:lnTo>
                  <a:lnTo>
                    <a:pt x="2710684" y="1014353"/>
                  </a:lnTo>
                  <a:lnTo>
                    <a:pt x="0" y="1014353"/>
                  </a:lnTo>
                  <a:close/>
                </a:path>
              </a:pathLst>
            </a:custGeom>
            <a:solidFill>
              <a:srgbClr val="295BBE"/>
            </a:solidFill>
          </p:spPr>
        </p:sp>
        <p:sp>
          <p:nvSpPr>
            <p:cNvPr name="TextBox 25" id="25"/>
            <p:cNvSpPr txBox="true"/>
            <p:nvPr/>
          </p:nvSpPr>
          <p:spPr>
            <a:xfrm>
              <a:off x="0" y="0"/>
              <a:ext cx="2710684" cy="1014353"/>
            </a:xfrm>
            <a:prstGeom prst="rect">
              <a:avLst/>
            </a:prstGeom>
          </p:spPr>
          <p:txBody>
            <a:bodyPr anchor="ctr" rtlCol="false" tIns="50800" lIns="50800" bIns="50800" rIns="50800"/>
            <a:lstStyle/>
            <a:p>
              <a:pPr algn="ctr">
                <a:lnSpc>
                  <a:spcPts val="1917"/>
                </a:lnSpc>
              </a:pPr>
            </a:p>
          </p:txBody>
        </p:sp>
      </p:grpSp>
      <p:sp>
        <p:nvSpPr>
          <p:cNvPr name="TextBox 26" id="26"/>
          <p:cNvSpPr txBox="true"/>
          <p:nvPr/>
        </p:nvSpPr>
        <p:spPr>
          <a:xfrm rot="0">
            <a:off x="654267" y="3999777"/>
            <a:ext cx="7470426" cy="968838"/>
          </a:xfrm>
          <a:prstGeom prst="rect">
            <a:avLst/>
          </a:prstGeom>
        </p:spPr>
        <p:txBody>
          <a:bodyPr anchor="t" rtlCol="false" tIns="0" lIns="0" bIns="0" rIns="0">
            <a:spAutoFit/>
          </a:bodyPr>
          <a:lstStyle/>
          <a:p>
            <a:pPr algn="l">
              <a:lnSpc>
                <a:spcPts val="2507"/>
              </a:lnSpc>
              <a:spcBef>
                <a:spcPct val="0"/>
              </a:spcBef>
            </a:pPr>
            <a:r>
              <a:rPr lang="en-US" b="true" sz="2322">
                <a:solidFill>
                  <a:srgbClr val="FFFFFF"/>
                </a:solidFill>
                <a:latin typeface="Poppins Bold"/>
                <a:ea typeface="Poppins Bold"/>
                <a:cs typeface="Poppins Bold"/>
                <a:sym typeface="Poppins Bold"/>
              </a:rPr>
              <a:t>Να αναδείξουμε πώς το FreshBox προσφέρει λύσεις στα βασικά προβλήματα της σπατάλης τροφίμων, προάγοντας τη βιώσιμη κατανάλωση.</a:t>
            </a:r>
          </a:p>
        </p:txBody>
      </p:sp>
      <p:sp>
        <p:nvSpPr>
          <p:cNvPr name="TextBox 27" id="27"/>
          <p:cNvSpPr txBox="true"/>
          <p:nvPr/>
        </p:nvSpPr>
        <p:spPr>
          <a:xfrm rot="0">
            <a:off x="481294" y="3433463"/>
            <a:ext cx="1683544" cy="520699"/>
          </a:xfrm>
          <a:prstGeom prst="rect">
            <a:avLst/>
          </a:prstGeom>
        </p:spPr>
        <p:txBody>
          <a:bodyPr anchor="t" rtlCol="false" tIns="0" lIns="0" bIns="0" rIns="0">
            <a:spAutoFit/>
          </a:bodyPr>
          <a:lstStyle/>
          <a:p>
            <a:pPr algn="ctr">
              <a:lnSpc>
                <a:spcPts val="3824"/>
              </a:lnSpc>
              <a:spcBef>
                <a:spcPct val="0"/>
              </a:spcBef>
            </a:pPr>
            <a:r>
              <a:rPr lang="en-US" b="true" sz="3541" u="sng">
                <a:solidFill>
                  <a:srgbClr val="FFFFFF"/>
                </a:solidFill>
                <a:latin typeface="Poppins Bold"/>
                <a:ea typeface="Poppins Bold"/>
                <a:cs typeface="Poppins Bold"/>
                <a:sym typeface="Poppins Bold"/>
              </a:rPr>
              <a:t>Στόχος:</a:t>
            </a:r>
          </a:p>
        </p:txBody>
      </p:sp>
      <p:sp>
        <p:nvSpPr>
          <p:cNvPr name="TextBox 28" id="28"/>
          <p:cNvSpPr txBox="true"/>
          <p:nvPr/>
        </p:nvSpPr>
        <p:spPr>
          <a:xfrm rot="0">
            <a:off x="208745" y="366101"/>
            <a:ext cx="5516107" cy="880080"/>
          </a:xfrm>
          <a:prstGeom prst="rect">
            <a:avLst/>
          </a:prstGeom>
        </p:spPr>
        <p:txBody>
          <a:bodyPr anchor="t" rtlCol="false" tIns="0" lIns="0" bIns="0" rIns="0">
            <a:spAutoFit/>
          </a:bodyPr>
          <a:lstStyle/>
          <a:p>
            <a:pPr algn="ctr">
              <a:lnSpc>
                <a:spcPts val="6342"/>
              </a:lnSpc>
              <a:spcBef>
                <a:spcPct val="0"/>
              </a:spcBef>
            </a:pPr>
            <a:r>
              <a:rPr lang="en-US" sz="5873">
                <a:solidFill>
                  <a:srgbClr val="000000"/>
                </a:solidFill>
                <a:latin typeface="Poppins Light"/>
                <a:ea typeface="Poppins Light"/>
                <a:cs typeface="Poppins Light"/>
                <a:sym typeface="Poppins Light"/>
              </a:rPr>
              <a:t>Συμπεράσματα   </a:t>
            </a:r>
          </a:p>
        </p:txBody>
      </p:sp>
      <p:sp>
        <p:nvSpPr>
          <p:cNvPr name="TextBox 29" id="29"/>
          <p:cNvSpPr txBox="true"/>
          <p:nvPr/>
        </p:nvSpPr>
        <p:spPr>
          <a:xfrm rot="0">
            <a:off x="9883384" y="5116612"/>
            <a:ext cx="6808249" cy="478134"/>
          </a:xfrm>
          <a:prstGeom prst="rect">
            <a:avLst/>
          </a:prstGeom>
        </p:spPr>
        <p:txBody>
          <a:bodyPr anchor="t" rtlCol="false" tIns="0" lIns="0" bIns="0" rIns="0">
            <a:spAutoFit/>
          </a:bodyPr>
          <a:lstStyle/>
          <a:p>
            <a:pPr algn="l">
              <a:lnSpc>
                <a:spcPts val="3508"/>
              </a:lnSpc>
              <a:spcBef>
                <a:spcPct val="0"/>
              </a:spcBef>
            </a:pPr>
            <a:r>
              <a:rPr lang="en-US" b="true" sz="3248">
                <a:solidFill>
                  <a:srgbClr val="000000"/>
                </a:solidFill>
                <a:latin typeface="Poppins Bold"/>
                <a:ea typeface="Poppins Bold"/>
                <a:cs typeface="Poppins Bold"/>
                <a:sym typeface="Poppins Bold"/>
              </a:rPr>
              <a:t>Κάλεσμα για Δράση:</a:t>
            </a:r>
          </a:p>
        </p:txBody>
      </p:sp>
      <p:sp>
        <p:nvSpPr>
          <p:cNvPr name="TextBox 30" id="30"/>
          <p:cNvSpPr txBox="true"/>
          <p:nvPr/>
        </p:nvSpPr>
        <p:spPr>
          <a:xfrm rot="0">
            <a:off x="9883384" y="1038225"/>
            <a:ext cx="5020370" cy="478155"/>
          </a:xfrm>
          <a:prstGeom prst="rect">
            <a:avLst/>
          </a:prstGeom>
        </p:spPr>
        <p:txBody>
          <a:bodyPr anchor="t" rtlCol="false" tIns="0" lIns="0" bIns="0" rIns="0">
            <a:spAutoFit/>
          </a:bodyPr>
          <a:lstStyle/>
          <a:p>
            <a:pPr algn="ctr">
              <a:lnSpc>
                <a:spcPts val="3509"/>
              </a:lnSpc>
              <a:spcBef>
                <a:spcPct val="0"/>
              </a:spcBef>
            </a:pPr>
            <a:r>
              <a:rPr lang="en-US" b="true" sz="3249">
                <a:solidFill>
                  <a:srgbClr val="000000"/>
                </a:solidFill>
                <a:latin typeface="Poppins Bold"/>
                <a:ea typeface="Poppins Bold"/>
                <a:cs typeface="Poppins Bold"/>
                <a:sym typeface="Poppins Bold"/>
              </a:rPr>
              <a:t>Λύσεις από το FreshBox:</a:t>
            </a:r>
          </a:p>
        </p:txBody>
      </p:sp>
      <p:sp>
        <p:nvSpPr>
          <p:cNvPr name="TextBox 31" id="31"/>
          <p:cNvSpPr txBox="true"/>
          <p:nvPr/>
        </p:nvSpPr>
        <p:spPr>
          <a:xfrm rot="0">
            <a:off x="654267" y="6071466"/>
            <a:ext cx="7377193" cy="1283112"/>
          </a:xfrm>
          <a:prstGeom prst="rect">
            <a:avLst/>
          </a:prstGeom>
        </p:spPr>
        <p:txBody>
          <a:bodyPr anchor="t" rtlCol="false" tIns="0" lIns="0" bIns="0" rIns="0">
            <a:spAutoFit/>
          </a:bodyPr>
          <a:lstStyle/>
          <a:p>
            <a:pPr algn="l">
              <a:lnSpc>
                <a:spcPts val="2504"/>
              </a:lnSpc>
              <a:spcBef>
                <a:spcPct val="0"/>
              </a:spcBef>
            </a:pPr>
            <a:r>
              <a:rPr lang="en-US" sz="2318">
                <a:solidFill>
                  <a:srgbClr val="FFFFFF"/>
                </a:solidFill>
                <a:latin typeface="Poppins Light"/>
                <a:ea typeface="Poppins Light"/>
                <a:cs typeface="Poppins Light"/>
                <a:sym typeface="Poppins Light"/>
              </a:rPr>
              <a:t>Η σπατάλη τροφίμων αποτελεί παγκόσμιο πρόβλημα με οικονομικές και περιβαλλοντικές επιπτώσεις, κυρίως λόγω κακής διαχείρισης αποθεμάτων και αχρησιμοποίητων προϊόντων.</a:t>
            </a:r>
          </a:p>
        </p:txBody>
      </p:sp>
      <p:sp>
        <p:nvSpPr>
          <p:cNvPr name="TextBox 32" id="32"/>
          <p:cNvSpPr txBox="true"/>
          <p:nvPr/>
        </p:nvSpPr>
        <p:spPr>
          <a:xfrm rot="0">
            <a:off x="10057949" y="5623322"/>
            <a:ext cx="7147870" cy="1189033"/>
          </a:xfrm>
          <a:prstGeom prst="rect">
            <a:avLst/>
          </a:prstGeom>
        </p:spPr>
        <p:txBody>
          <a:bodyPr anchor="t" rtlCol="false" tIns="0" lIns="0" bIns="0" rIns="0">
            <a:spAutoFit/>
          </a:bodyPr>
          <a:lstStyle/>
          <a:p>
            <a:pPr algn="l">
              <a:lnSpc>
                <a:spcPts val="3087"/>
              </a:lnSpc>
            </a:pPr>
            <a:r>
              <a:rPr lang="en-US" sz="2375">
                <a:solidFill>
                  <a:srgbClr val="000000"/>
                </a:solidFill>
                <a:latin typeface="Poppins Light"/>
                <a:ea typeface="Poppins Light"/>
                <a:cs typeface="Poppins Light"/>
                <a:sym typeface="Poppins Light"/>
              </a:rPr>
              <a:t>Το </a:t>
            </a:r>
            <a:r>
              <a:rPr lang="en-US" sz="2375" b="true">
                <a:solidFill>
                  <a:srgbClr val="000000"/>
                </a:solidFill>
                <a:latin typeface="Poppins Bold"/>
                <a:ea typeface="Poppins Bold"/>
                <a:cs typeface="Poppins Bold"/>
                <a:sym typeface="Poppins Bold"/>
              </a:rPr>
              <a:t>FreshBox </a:t>
            </a:r>
            <a:r>
              <a:rPr lang="en-US" sz="2375">
                <a:solidFill>
                  <a:srgbClr val="000000"/>
                </a:solidFill>
                <a:latin typeface="Poppins Light"/>
                <a:ea typeface="Poppins Light"/>
                <a:cs typeface="Poppins Light"/>
                <a:sym typeface="Poppins Light"/>
              </a:rPr>
              <a:t>βοηθά τους χρήστες να μειώσουν το περιβαλλοντικό τους αποτύπωμα και να διαχειρίζονται πιο συνειδητά τα τρόφιμά τους.</a:t>
            </a:r>
          </a:p>
        </p:txBody>
      </p:sp>
      <p:sp>
        <p:nvSpPr>
          <p:cNvPr name="TextBox 33" id="33"/>
          <p:cNvSpPr txBox="true"/>
          <p:nvPr/>
        </p:nvSpPr>
        <p:spPr>
          <a:xfrm rot="0">
            <a:off x="481294" y="5454390"/>
            <a:ext cx="6752034" cy="520699"/>
          </a:xfrm>
          <a:prstGeom prst="rect">
            <a:avLst/>
          </a:prstGeom>
        </p:spPr>
        <p:txBody>
          <a:bodyPr anchor="t" rtlCol="false" tIns="0" lIns="0" bIns="0" rIns="0">
            <a:spAutoFit/>
          </a:bodyPr>
          <a:lstStyle/>
          <a:p>
            <a:pPr algn="ctr">
              <a:lnSpc>
                <a:spcPts val="3824"/>
              </a:lnSpc>
              <a:spcBef>
                <a:spcPct val="0"/>
              </a:spcBef>
            </a:pPr>
            <a:r>
              <a:rPr lang="en-US" b="true" sz="3541" u="sng">
                <a:solidFill>
                  <a:srgbClr val="FFFFFF"/>
                </a:solidFill>
                <a:latin typeface="Poppins Bold"/>
                <a:ea typeface="Poppins Bold"/>
                <a:cs typeface="Poppins Bold"/>
                <a:sym typeface="Poppins Bold"/>
              </a:rPr>
              <a:t>Περίληψη των Προβλημάτων:</a:t>
            </a:r>
          </a:p>
        </p:txBody>
      </p:sp>
      <p:sp>
        <p:nvSpPr>
          <p:cNvPr name="TextBox 34" id="34"/>
          <p:cNvSpPr txBox="true"/>
          <p:nvPr/>
        </p:nvSpPr>
        <p:spPr>
          <a:xfrm rot="0">
            <a:off x="10057949" y="1574904"/>
            <a:ext cx="7147870" cy="3532183"/>
          </a:xfrm>
          <a:prstGeom prst="rect">
            <a:avLst/>
          </a:prstGeom>
        </p:spPr>
        <p:txBody>
          <a:bodyPr anchor="t" rtlCol="false" tIns="0" lIns="0" bIns="0" rIns="0">
            <a:spAutoFit/>
          </a:bodyPr>
          <a:lstStyle/>
          <a:p>
            <a:pPr algn="l">
              <a:lnSpc>
                <a:spcPts val="3087"/>
              </a:lnSpc>
            </a:pPr>
            <a:r>
              <a:rPr lang="en-US" b="true" sz="2375" u="sng">
                <a:solidFill>
                  <a:srgbClr val="000000"/>
                </a:solidFill>
                <a:latin typeface="Poppins Bold"/>
                <a:ea typeface="Poppins Bold"/>
                <a:cs typeface="Poppins Bold"/>
                <a:sym typeface="Poppins Bold"/>
              </a:rPr>
              <a:t>Έλεγχος Αποθεμάτων:</a:t>
            </a:r>
            <a:r>
              <a:rPr lang="en-US" sz="2375">
                <a:solidFill>
                  <a:srgbClr val="000000"/>
                </a:solidFill>
                <a:latin typeface="Poppins Light"/>
                <a:ea typeface="Poppins Light"/>
                <a:cs typeface="Poppins Light"/>
                <a:sym typeface="Poppins Light"/>
              </a:rPr>
              <a:t> Μείωση υπερβολικών αγορών με παρακολούθηση αποθεμάτων.</a:t>
            </a:r>
          </a:p>
          <a:p>
            <a:pPr algn="l">
              <a:lnSpc>
                <a:spcPts val="3087"/>
              </a:lnSpc>
            </a:pPr>
            <a:r>
              <a:rPr lang="en-US" b="true" sz="2375" u="sng">
                <a:solidFill>
                  <a:srgbClr val="000000"/>
                </a:solidFill>
                <a:latin typeface="Poppins Bold"/>
                <a:ea typeface="Poppins Bold"/>
                <a:cs typeface="Poppins Bold"/>
                <a:sym typeface="Poppins Bold"/>
              </a:rPr>
              <a:t>Ειδοποιήσεις Λήξης</a:t>
            </a:r>
            <a:r>
              <a:rPr lang="en-US" sz="2375">
                <a:solidFill>
                  <a:srgbClr val="000000"/>
                </a:solidFill>
                <a:latin typeface="Poppins Light"/>
                <a:ea typeface="Poppins Light"/>
                <a:cs typeface="Poppins Light"/>
                <a:sym typeface="Poppins Light"/>
              </a:rPr>
              <a:t>: Προειδοποιήσεις για επικείμενες λήξεις, προλαμβάνοντας τη σπατάλη.</a:t>
            </a:r>
          </a:p>
          <a:p>
            <a:pPr algn="l">
              <a:lnSpc>
                <a:spcPts val="3087"/>
              </a:lnSpc>
            </a:pPr>
            <a:r>
              <a:rPr lang="en-US" b="true" sz="2375" u="sng">
                <a:solidFill>
                  <a:srgbClr val="000000"/>
                </a:solidFill>
                <a:latin typeface="Poppins Bold"/>
                <a:ea typeface="Poppins Bold"/>
                <a:cs typeface="Poppins Bold"/>
                <a:sym typeface="Poppins Bold"/>
              </a:rPr>
              <a:t>Προγραμματισμός Γευμάτων:</a:t>
            </a:r>
            <a:r>
              <a:rPr lang="en-US" sz="2375">
                <a:solidFill>
                  <a:srgbClr val="000000"/>
                </a:solidFill>
                <a:latin typeface="Poppins Light"/>
                <a:ea typeface="Poppins Light"/>
                <a:cs typeface="Poppins Light"/>
                <a:sym typeface="Poppins Light"/>
              </a:rPr>
              <a:t> Συνταγές με βάση τα διαθέσιμα τρόφιμα.</a:t>
            </a:r>
          </a:p>
          <a:p>
            <a:pPr algn="l">
              <a:lnSpc>
                <a:spcPts val="3087"/>
              </a:lnSpc>
            </a:pPr>
            <a:r>
              <a:rPr lang="en-US" b="true" sz="2375" u="sng">
                <a:solidFill>
                  <a:srgbClr val="000000"/>
                </a:solidFill>
                <a:latin typeface="Poppins Bold"/>
                <a:ea typeface="Poppins Bold"/>
                <a:cs typeface="Poppins Bold"/>
                <a:sym typeface="Poppins Bold"/>
              </a:rPr>
              <a:t>Αυτόματες Λίστες Αγορών:</a:t>
            </a:r>
            <a:r>
              <a:rPr lang="en-US" sz="2375">
                <a:solidFill>
                  <a:srgbClr val="000000"/>
                </a:solidFill>
                <a:latin typeface="Poppins Light"/>
                <a:ea typeface="Poppins Light"/>
                <a:cs typeface="Poppins Light"/>
                <a:sym typeface="Poppins Light"/>
              </a:rPr>
              <a:t> Δημιουργία λιστών όταν τα αποθέματα είναι χαμηλά.</a:t>
            </a:r>
          </a:p>
          <a:p>
            <a:pPr algn="l">
              <a:lnSpc>
                <a:spcPts val="3087"/>
              </a:lnSpc>
            </a:pPr>
          </a:p>
        </p:txBody>
      </p:sp>
      <p:sp>
        <p:nvSpPr>
          <p:cNvPr name="TextBox 35" id="35"/>
          <p:cNvSpPr txBox="true"/>
          <p:nvPr/>
        </p:nvSpPr>
        <p:spPr>
          <a:xfrm rot="0">
            <a:off x="3910624" y="1144946"/>
            <a:ext cx="4948952" cy="869442"/>
          </a:xfrm>
          <a:prstGeom prst="rect">
            <a:avLst/>
          </a:prstGeom>
        </p:spPr>
        <p:txBody>
          <a:bodyPr anchor="t" rtlCol="false" tIns="0" lIns="0" bIns="0" rIns="0">
            <a:spAutoFit/>
          </a:bodyPr>
          <a:lstStyle/>
          <a:p>
            <a:pPr algn="ctr">
              <a:lnSpc>
                <a:spcPts val="6263"/>
              </a:lnSpc>
              <a:spcBef>
                <a:spcPct val="0"/>
              </a:spcBef>
            </a:pPr>
            <a:r>
              <a:rPr lang="en-US" sz="5799">
                <a:solidFill>
                  <a:srgbClr val="000000"/>
                </a:solidFill>
                <a:latin typeface="Poppins Light"/>
                <a:ea typeface="Poppins Light"/>
                <a:cs typeface="Poppins Light"/>
                <a:sym typeface="Poppins Light"/>
              </a:rPr>
              <a:t>&amp; Συνεισφορά</a:t>
            </a:r>
          </a:p>
        </p:txBody>
      </p:sp>
      <p:sp>
        <p:nvSpPr>
          <p:cNvPr name="TextBox 36" id="36"/>
          <p:cNvSpPr txBox="true"/>
          <p:nvPr/>
        </p:nvSpPr>
        <p:spPr>
          <a:xfrm rot="0">
            <a:off x="1883449" y="1905101"/>
            <a:ext cx="4918829" cy="869442"/>
          </a:xfrm>
          <a:prstGeom prst="rect">
            <a:avLst/>
          </a:prstGeom>
        </p:spPr>
        <p:txBody>
          <a:bodyPr anchor="t" rtlCol="false" tIns="0" lIns="0" bIns="0" rIns="0">
            <a:spAutoFit/>
          </a:bodyPr>
          <a:lstStyle/>
          <a:p>
            <a:pPr algn="ctr">
              <a:lnSpc>
                <a:spcPts val="6263"/>
              </a:lnSpc>
              <a:spcBef>
                <a:spcPct val="0"/>
              </a:spcBef>
            </a:pPr>
            <a:r>
              <a:rPr lang="en-US" sz="5799">
                <a:solidFill>
                  <a:srgbClr val="000000"/>
                </a:solidFill>
                <a:latin typeface="Poppins Light"/>
                <a:ea typeface="Poppins Light"/>
                <a:cs typeface="Poppins Light"/>
                <a:sym typeface="Poppins Light"/>
              </a:rPr>
              <a:t>του </a:t>
            </a:r>
            <a:r>
              <a:rPr lang="en-US" b="true" sz="5799">
                <a:solidFill>
                  <a:srgbClr val="000000"/>
                </a:solidFill>
                <a:latin typeface="Poppins Bold"/>
                <a:ea typeface="Poppins Bold"/>
                <a:cs typeface="Poppins Bold"/>
                <a:sym typeface="Poppins Bold"/>
              </a:rPr>
              <a:t>FreshBox</a:t>
            </a:r>
          </a:p>
        </p:txBody>
      </p:sp>
      <p:grpSp>
        <p:nvGrpSpPr>
          <p:cNvPr name="Group 37" id="37"/>
          <p:cNvGrpSpPr/>
          <p:nvPr/>
        </p:nvGrpSpPr>
        <p:grpSpPr>
          <a:xfrm rot="0">
            <a:off x="9382093" y="1058326"/>
            <a:ext cx="428822" cy="428428"/>
            <a:chOff x="0" y="0"/>
            <a:chExt cx="813546" cy="812800"/>
          </a:xfrm>
        </p:grpSpPr>
        <p:sp>
          <p:nvSpPr>
            <p:cNvPr name="Freeform 38" id="38"/>
            <p:cNvSpPr/>
            <p:nvPr/>
          </p:nvSpPr>
          <p:spPr>
            <a:xfrm flipH="false" flipV="false" rot="0">
              <a:off x="0" y="0"/>
              <a:ext cx="813546" cy="812800"/>
            </a:xfrm>
            <a:custGeom>
              <a:avLst/>
              <a:gdLst/>
              <a:ahLst/>
              <a:cxnLst/>
              <a:rect r="r" b="b" t="t" l="l"/>
              <a:pathLst>
                <a:path h="812800" w="813546">
                  <a:moveTo>
                    <a:pt x="406773" y="0"/>
                  </a:moveTo>
                  <a:cubicBezTo>
                    <a:pt x="182119" y="0"/>
                    <a:pt x="0" y="181951"/>
                    <a:pt x="0" y="406400"/>
                  </a:cubicBezTo>
                  <a:cubicBezTo>
                    <a:pt x="0" y="630849"/>
                    <a:pt x="182119" y="812800"/>
                    <a:pt x="406773" y="812800"/>
                  </a:cubicBezTo>
                  <a:cubicBezTo>
                    <a:pt x="631428" y="812800"/>
                    <a:pt x="813546" y="630849"/>
                    <a:pt x="813546" y="406400"/>
                  </a:cubicBezTo>
                  <a:cubicBezTo>
                    <a:pt x="813546" y="181951"/>
                    <a:pt x="631428" y="0"/>
                    <a:pt x="406773" y="0"/>
                  </a:cubicBezTo>
                  <a:close/>
                </a:path>
              </a:pathLst>
            </a:custGeom>
            <a:solidFill>
              <a:srgbClr val="295BBE"/>
            </a:solidFill>
            <a:ln cap="sq">
              <a:noFill/>
              <a:prstDash val="solid"/>
              <a:miter/>
            </a:ln>
          </p:spPr>
        </p:sp>
        <p:sp>
          <p:nvSpPr>
            <p:cNvPr name="TextBox 39" id="39"/>
            <p:cNvSpPr txBox="true"/>
            <p:nvPr/>
          </p:nvSpPr>
          <p:spPr>
            <a:xfrm>
              <a:off x="76270" y="76200"/>
              <a:ext cx="661006" cy="660400"/>
            </a:xfrm>
            <a:prstGeom prst="rect">
              <a:avLst/>
            </a:prstGeom>
          </p:spPr>
          <p:txBody>
            <a:bodyPr anchor="ctr" rtlCol="false" tIns="50800" lIns="50800" bIns="50800" rIns="50800"/>
            <a:lstStyle/>
            <a:p>
              <a:pPr algn="just">
                <a:lnSpc>
                  <a:spcPts val="1917"/>
                </a:lnSpc>
              </a:pPr>
            </a:p>
          </p:txBody>
        </p:sp>
      </p:grpSp>
      <p:grpSp>
        <p:nvGrpSpPr>
          <p:cNvPr name="Group 40" id="40"/>
          <p:cNvGrpSpPr/>
          <p:nvPr/>
        </p:nvGrpSpPr>
        <p:grpSpPr>
          <a:xfrm rot="0">
            <a:off x="9382093" y="5136703"/>
            <a:ext cx="428822" cy="428428"/>
            <a:chOff x="0" y="0"/>
            <a:chExt cx="813546" cy="812800"/>
          </a:xfrm>
        </p:grpSpPr>
        <p:sp>
          <p:nvSpPr>
            <p:cNvPr name="Freeform 41" id="41"/>
            <p:cNvSpPr/>
            <p:nvPr/>
          </p:nvSpPr>
          <p:spPr>
            <a:xfrm flipH="false" flipV="false" rot="0">
              <a:off x="0" y="0"/>
              <a:ext cx="813546" cy="812800"/>
            </a:xfrm>
            <a:custGeom>
              <a:avLst/>
              <a:gdLst/>
              <a:ahLst/>
              <a:cxnLst/>
              <a:rect r="r" b="b" t="t" l="l"/>
              <a:pathLst>
                <a:path h="812800" w="813546">
                  <a:moveTo>
                    <a:pt x="406773" y="0"/>
                  </a:moveTo>
                  <a:cubicBezTo>
                    <a:pt x="182119" y="0"/>
                    <a:pt x="0" y="181951"/>
                    <a:pt x="0" y="406400"/>
                  </a:cubicBezTo>
                  <a:cubicBezTo>
                    <a:pt x="0" y="630849"/>
                    <a:pt x="182119" y="812800"/>
                    <a:pt x="406773" y="812800"/>
                  </a:cubicBezTo>
                  <a:cubicBezTo>
                    <a:pt x="631428" y="812800"/>
                    <a:pt x="813546" y="630849"/>
                    <a:pt x="813546" y="406400"/>
                  </a:cubicBezTo>
                  <a:cubicBezTo>
                    <a:pt x="813546" y="181951"/>
                    <a:pt x="631428" y="0"/>
                    <a:pt x="406773" y="0"/>
                  </a:cubicBezTo>
                  <a:close/>
                </a:path>
              </a:pathLst>
            </a:custGeom>
            <a:solidFill>
              <a:srgbClr val="295BBE"/>
            </a:solidFill>
            <a:ln cap="sq">
              <a:noFill/>
              <a:prstDash val="solid"/>
              <a:miter/>
            </a:ln>
          </p:spPr>
        </p:sp>
        <p:sp>
          <p:nvSpPr>
            <p:cNvPr name="TextBox 42" id="42"/>
            <p:cNvSpPr txBox="true"/>
            <p:nvPr/>
          </p:nvSpPr>
          <p:spPr>
            <a:xfrm>
              <a:off x="76270" y="76200"/>
              <a:ext cx="661006" cy="660400"/>
            </a:xfrm>
            <a:prstGeom prst="rect">
              <a:avLst/>
            </a:prstGeom>
          </p:spPr>
          <p:txBody>
            <a:bodyPr anchor="ctr" rtlCol="false" tIns="50800" lIns="50800" bIns="50800" rIns="50800"/>
            <a:lstStyle/>
            <a:p>
              <a:pPr algn="just">
                <a:lnSpc>
                  <a:spcPts val="1917"/>
                </a:lnSpc>
              </a:pPr>
            </a:p>
          </p:txBody>
        </p:sp>
      </p:grpSp>
      <p:sp>
        <p:nvSpPr>
          <p:cNvPr name="TextBox 43" id="43"/>
          <p:cNvSpPr txBox="true"/>
          <p:nvPr/>
        </p:nvSpPr>
        <p:spPr>
          <a:xfrm rot="5400000">
            <a:off x="17489312" y="9181781"/>
            <a:ext cx="936679" cy="272173"/>
          </a:xfrm>
          <a:prstGeom prst="rect">
            <a:avLst/>
          </a:prstGeom>
        </p:spPr>
        <p:txBody>
          <a:bodyPr anchor="t" rtlCol="false" tIns="0" lIns="0" bIns="0" rIns="0">
            <a:spAutoFit/>
          </a:bodyPr>
          <a:lstStyle/>
          <a:p>
            <a:pPr algn="l">
              <a:lnSpc>
                <a:spcPts val="1934"/>
              </a:lnSpc>
              <a:spcBef>
                <a:spcPct val="0"/>
              </a:spcBef>
            </a:pPr>
            <a:r>
              <a:rPr lang="en-US" sz="1791">
                <a:solidFill>
                  <a:srgbClr val="FFFFFF"/>
                </a:solidFill>
                <a:latin typeface="Poppins"/>
                <a:ea typeface="Poppins"/>
                <a:cs typeface="Poppins"/>
                <a:sym typeface="Poppins"/>
              </a:rPr>
              <a:t>page 14</a:t>
            </a:r>
          </a:p>
        </p:txBody>
      </p:sp>
    </p:spTree>
  </p:cSld>
  <p:clrMapOvr>
    <a:masterClrMapping/>
  </p:clrMapOvr>
  <p:transition spd="fast">
    <p:wipe dir="l"/>
  </p:transition>
</p:sld>
</file>

<file path=ppt/slides/slide15.xml><?xml version="1.0" encoding="utf-8"?>
<p:sld xmlns:p="http://schemas.openxmlformats.org/presentationml/2006/main" xmlns:a="http://schemas.openxmlformats.org/drawingml/2006/main">
  <p:cSld>
    <p:bg>
      <p:bgPr>
        <a:solidFill>
          <a:srgbClr val="295BBE"/>
        </a:solidFill>
      </p:bgPr>
    </p:bg>
    <p:spTree>
      <p:nvGrpSpPr>
        <p:cNvPr id="1" name=""/>
        <p:cNvGrpSpPr/>
        <p:nvPr/>
      </p:nvGrpSpPr>
      <p:grpSpPr>
        <a:xfrm>
          <a:off x="0" y="0"/>
          <a:ext cx="0" cy="0"/>
          <a:chOff x="0" y="0"/>
          <a:chExt cx="0" cy="0"/>
        </a:xfrm>
      </p:grpSpPr>
      <p:sp>
        <p:nvSpPr>
          <p:cNvPr name="TextBox 2" id="2"/>
          <p:cNvSpPr txBox="true"/>
          <p:nvPr/>
        </p:nvSpPr>
        <p:spPr>
          <a:xfrm rot="5400000">
            <a:off x="17336912" y="9029381"/>
            <a:ext cx="936679" cy="272173"/>
          </a:xfrm>
          <a:prstGeom prst="rect">
            <a:avLst/>
          </a:prstGeom>
        </p:spPr>
        <p:txBody>
          <a:bodyPr anchor="t" rtlCol="false" tIns="0" lIns="0" bIns="0" rIns="0">
            <a:spAutoFit/>
          </a:bodyPr>
          <a:lstStyle/>
          <a:p>
            <a:pPr algn="l">
              <a:lnSpc>
                <a:spcPts val="1934"/>
              </a:lnSpc>
              <a:spcBef>
                <a:spcPct val="0"/>
              </a:spcBef>
            </a:pPr>
            <a:r>
              <a:rPr lang="en-US" sz="1791">
                <a:solidFill>
                  <a:srgbClr val="FFFFFF"/>
                </a:solidFill>
                <a:latin typeface="Poppins"/>
                <a:ea typeface="Poppins"/>
                <a:cs typeface="Poppins"/>
                <a:sym typeface="Poppins"/>
              </a:rPr>
              <a:t>page 15</a:t>
            </a:r>
          </a:p>
        </p:txBody>
      </p:sp>
      <p:sp>
        <p:nvSpPr>
          <p:cNvPr name="TextBox 3" id="3"/>
          <p:cNvSpPr txBox="true"/>
          <p:nvPr/>
        </p:nvSpPr>
        <p:spPr>
          <a:xfrm rot="0">
            <a:off x="5055454" y="322935"/>
            <a:ext cx="8177092" cy="3749692"/>
          </a:xfrm>
          <a:prstGeom prst="rect">
            <a:avLst/>
          </a:prstGeom>
        </p:spPr>
        <p:txBody>
          <a:bodyPr anchor="t" rtlCol="false" tIns="0" lIns="0" bIns="0" rIns="0">
            <a:spAutoFit/>
          </a:bodyPr>
          <a:lstStyle/>
          <a:p>
            <a:pPr algn="l">
              <a:lnSpc>
                <a:spcPts val="14117"/>
              </a:lnSpc>
            </a:pPr>
            <a:r>
              <a:rPr lang="en-US" sz="13071" b="true">
                <a:solidFill>
                  <a:srgbClr val="000000"/>
                </a:solidFill>
                <a:latin typeface="Poppins Bold"/>
                <a:ea typeface="Poppins Bold"/>
                <a:cs typeface="Poppins Bold"/>
                <a:sym typeface="Poppins Bold"/>
              </a:rPr>
              <a:t>Freshbox</a:t>
            </a:r>
          </a:p>
          <a:p>
            <a:pPr algn="l">
              <a:lnSpc>
                <a:spcPts val="14117"/>
              </a:lnSpc>
              <a:spcBef>
                <a:spcPct val="0"/>
              </a:spcBef>
            </a:pPr>
          </a:p>
        </p:txBody>
      </p:sp>
      <p:sp>
        <p:nvSpPr>
          <p:cNvPr name="TextBox 4" id="4"/>
          <p:cNvSpPr txBox="true"/>
          <p:nvPr/>
        </p:nvSpPr>
        <p:spPr>
          <a:xfrm rot="0">
            <a:off x="8261444" y="2457986"/>
            <a:ext cx="1765112" cy="1297302"/>
          </a:xfrm>
          <a:prstGeom prst="rect">
            <a:avLst/>
          </a:prstGeom>
        </p:spPr>
        <p:txBody>
          <a:bodyPr anchor="t" rtlCol="false" tIns="0" lIns="0" bIns="0" rIns="0">
            <a:spAutoFit/>
          </a:bodyPr>
          <a:lstStyle/>
          <a:p>
            <a:pPr algn="ctr">
              <a:lnSpc>
                <a:spcPts val="9389"/>
              </a:lnSpc>
              <a:spcBef>
                <a:spcPct val="0"/>
              </a:spcBef>
            </a:pPr>
            <a:r>
              <a:rPr lang="en-US" b="true" sz="8693">
                <a:solidFill>
                  <a:srgbClr val="000000"/>
                </a:solidFill>
                <a:latin typeface="Poppins Bold"/>
                <a:ea typeface="Poppins Bold"/>
                <a:cs typeface="Poppins Bold"/>
                <a:sym typeface="Poppins Bold"/>
              </a:rPr>
              <a:t>AI</a:t>
            </a:r>
          </a:p>
        </p:txBody>
      </p:sp>
      <p:sp>
        <p:nvSpPr>
          <p:cNvPr name="TextBox 5" id="5"/>
          <p:cNvSpPr txBox="true"/>
          <p:nvPr/>
        </p:nvSpPr>
        <p:spPr>
          <a:xfrm rot="0">
            <a:off x="6566703" y="1802533"/>
            <a:ext cx="5154595" cy="933372"/>
          </a:xfrm>
          <a:prstGeom prst="rect">
            <a:avLst/>
          </a:prstGeom>
        </p:spPr>
        <p:txBody>
          <a:bodyPr anchor="t" rtlCol="false" tIns="0" lIns="0" bIns="0" rIns="0">
            <a:spAutoFit/>
          </a:bodyPr>
          <a:lstStyle/>
          <a:p>
            <a:pPr algn="ctr">
              <a:lnSpc>
                <a:spcPts val="6684"/>
              </a:lnSpc>
              <a:spcBef>
                <a:spcPct val="0"/>
              </a:spcBef>
            </a:pPr>
            <a:r>
              <a:rPr lang="en-US" sz="6189">
                <a:solidFill>
                  <a:srgbClr val="FFFFFF"/>
                </a:solidFill>
                <a:latin typeface="Poppins Light"/>
                <a:ea typeface="Poppins Light"/>
                <a:cs typeface="Poppins Light"/>
                <a:sym typeface="Poppins Light"/>
              </a:rPr>
              <a:t>supportive</a:t>
            </a:r>
          </a:p>
        </p:txBody>
      </p:sp>
      <p:sp>
        <p:nvSpPr>
          <p:cNvPr name="TextBox 6" id="6"/>
          <p:cNvSpPr txBox="true"/>
          <p:nvPr/>
        </p:nvSpPr>
        <p:spPr>
          <a:xfrm rot="0">
            <a:off x="8682552" y="4419950"/>
            <a:ext cx="922897" cy="723550"/>
          </a:xfrm>
          <a:prstGeom prst="rect">
            <a:avLst/>
          </a:prstGeom>
        </p:spPr>
        <p:txBody>
          <a:bodyPr anchor="t" rtlCol="false" tIns="0" lIns="0" bIns="0" rIns="0">
            <a:spAutoFit/>
          </a:bodyPr>
          <a:lstStyle/>
          <a:p>
            <a:pPr algn="ctr">
              <a:lnSpc>
                <a:spcPts val="5369"/>
              </a:lnSpc>
              <a:spcBef>
                <a:spcPct val="0"/>
              </a:spcBef>
            </a:pPr>
            <a:r>
              <a:rPr lang="en-US" sz="4971">
                <a:solidFill>
                  <a:srgbClr val="FFFFFF"/>
                </a:solidFill>
                <a:latin typeface="Poppins Light"/>
                <a:ea typeface="Poppins Light"/>
                <a:cs typeface="Poppins Light"/>
                <a:sym typeface="Poppins Light"/>
              </a:rPr>
              <a:t>[....]</a:t>
            </a:r>
          </a:p>
        </p:txBody>
      </p:sp>
    </p:spTree>
  </p:cSld>
  <p:clrMapOvr>
    <a:masterClrMapping/>
  </p:clrMapOvr>
  <p:transition spd="fast">
    <p:wipe dir="l"/>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9F6F6"/>
        </a:solidFill>
      </p:bgPr>
    </p:bg>
    <p:spTree>
      <p:nvGrpSpPr>
        <p:cNvPr id="1" name=""/>
        <p:cNvGrpSpPr/>
        <p:nvPr/>
      </p:nvGrpSpPr>
      <p:grpSpPr>
        <a:xfrm>
          <a:off x="0" y="0"/>
          <a:ext cx="0" cy="0"/>
          <a:chOff x="0" y="0"/>
          <a:chExt cx="0" cy="0"/>
        </a:xfrm>
      </p:grpSpPr>
      <p:grpSp>
        <p:nvGrpSpPr>
          <p:cNvPr name="Group 2" id="2"/>
          <p:cNvGrpSpPr/>
          <p:nvPr/>
        </p:nvGrpSpPr>
        <p:grpSpPr>
          <a:xfrm rot="0">
            <a:off x="-1244533" y="3126738"/>
            <a:ext cx="3080000" cy="3114001"/>
            <a:chOff x="0" y="0"/>
            <a:chExt cx="719015" cy="726953"/>
          </a:xfrm>
        </p:grpSpPr>
        <p:sp>
          <p:nvSpPr>
            <p:cNvPr name="Freeform 3" id="3"/>
            <p:cNvSpPr/>
            <p:nvPr/>
          </p:nvSpPr>
          <p:spPr>
            <a:xfrm flipH="false" flipV="false" rot="0">
              <a:off x="0" y="0"/>
              <a:ext cx="719015" cy="726953"/>
            </a:xfrm>
            <a:custGeom>
              <a:avLst/>
              <a:gdLst/>
              <a:ahLst/>
              <a:cxnLst/>
              <a:rect r="r" b="b" t="t" l="l"/>
              <a:pathLst>
                <a:path h="726953" w="719015">
                  <a:moveTo>
                    <a:pt x="359508" y="0"/>
                  </a:moveTo>
                  <a:cubicBezTo>
                    <a:pt x="160957" y="0"/>
                    <a:pt x="0" y="162734"/>
                    <a:pt x="0" y="363476"/>
                  </a:cubicBezTo>
                  <a:cubicBezTo>
                    <a:pt x="0" y="564219"/>
                    <a:pt x="160957" y="726953"/>
                    <a:pt x="359508" y="726953"/>
                  </a:cubicBezTo>
                  <a:cubicBezTo>
                    <a:pt x="558058" y="726953"/>
                    <a:pt x="719015" y="564219"/>
                    <a:pt x="719015" y="363476"/>
                  </a:cubicBezTo>
                  <a:cubicBezTo>
                    <a:pt x="719015" y="162734"/>
                    <a:pt x="558058" y="0"/>
                    <a:pt x="359508" y="0"/>
                  </a:cubicBezTo>
                  <a:close/>
                </a:path>
              </a:pathLst>
            </a:custGeom>
            <a:solidFill>
              <a:srgbClr val="295BBE"/>
            </a:solidFill>
          </p:spPr>
        </p:sp>
        <p:sp>
          <p:nvSpPr>
            <p:cNvPr name="TextBox 4" id="4"/>
            <p:cNvSpPr txBox="true"/>
            <p:nvPr/>
          </p:nvSpPr>
          <p:spPr>
            <a:xfrm>
              <a:off x="67408" y="68152"/>
              <a:ext cx="584200" cy="590649"/>
            </a:xfrm>
            <a:prstGeom prst="rect">
              <a:avLst/>
            </a:prstGeom>
          </p:spPr>
          <p:txBody>
            <a:bodyPr anchor="ctr" rtlCol="false" tIns="50800" lIns="50800" bIns="50800" rIns="50800"/>
            <a:lstStyle/>
            <a:p>
              <a:pPr algn="ctr">
                <a:lnSpc>
                  <a:spcPts val="1917"/>
                </a:lnSpc>
              </a:pPr>
            </a:p>
          </p:txBody>
        </p:sp>
      </p:grpSp>
      <p:sp>
        <p:nvSpPr>
          <p:cNvPr name="TextBox 5" id="5"/>
          <p:cNvSpPr txBox="true"/>
          <p:nvPr/>
        </p:nvSpPr>
        <p:spPr>
          <a:xfrm rot="5400000">
            <a:off x="17228608" y="9137686"/>
            <a:ext cx="1153288" cy="272173"/>
          </a:xfrm>
          <a:prstGeom prst="rect">
            <a:avLst/>
          </a:prstGeom>
        </p:spPr>
        <p:txBody>
          <a:bodyPr anchor="t" rtlCol="false" tIns="0" lIns="0" bIns="0" rIns="0">
            <a:spAutoFit/>
          </a:bodyPr>
          <a:lstStyle/>
          <a:p>
            <a:pPr algn="l">
              <a:lnSpc>
                <a:spcPts val="1934"/>
              </a:lnSpc>
              <a:spcBef>
                <a:spcPct val="0"/>
              </a:spcBef>
            </a:pPr>
            <a:r>
              <a:rPr lang="en-US" sz="1791">
                <a:solidFill>
                  <a:srgbClr val="295BBE"/>
                </a:solidFill>
                <a:latin typeface="Poppins"/>
                <a:ea typeface="Poppins"/>
                <a:cs typeface="Poppins"/>
                <a:sym typeface="Poppins"/>
              </a:rPr>
              <a:t>page 16</a:t>
            </a:r>
          </a:p>
        </p:txBody>
      </p:sp>
      <p:sp>
        <p:nvSpPr>
          <p:cNvPr name="TextBox 6" id="6"/>
          <p:cNvSpPr txBox="true"/>
          <p:nvPr/>
        </p:nvSpPr>
        <p:spPr>
          <a:xfrm rot="0">
            <a:off x="283387" y="567762"/>
            <a:ext cx="6411735" cy="779001"/>
          </a:xfrm>
          <a:prstGeom prst="rect">
            <a:avLst/>
          </a:prstGeom>
        </p:spPr>
        <p:txBody>
          <a:bodyPr anchor="t" rtlCol="false" tIns="0" lIns="0" bIns="0" rIns="0">
            <a:spAutoFit/>
          </a:bodyPr>
          <a:lstStyle/>
          <a:p>
            <a:pPr algn="l">
              <a:lnSpc>
                <a:spcPts val="5610"/>
              </a:lnSpc>
              <a:spcBef>
                <a:spcPct val="0"/>
              </a:spcBef>
            </a:pPr>
            <a:r>
              <a:rPr lang="en-US" sz="5195">
                <a:solidFill>
                  <a:srgbClr val="295BBE"/>
                </a:solidFill>
                <a:latin typeface="Poppins Light"/>
                <a:ea typeface="Poppins Light"/>
                <a:cs typeface="Poppins Light"/>
                <a:sym typeface="Poppins Light"/>
              </a:rPr>
              <a:t>ΠΩΣ ΛΕΙΤΟΥΡΓΕΙ ΤΟ</a:t>
            </a:r>
          </a:p>
        </p:txBody>
      </p:sp>
      <p:sp>
        <p:nvSpPr>
          <p:cNvPr name="TextBox 7" id="7"/>
          <p:cNvSpPr txBox="true"/>
          <p:nvPr/>
        </p:nvSpPr>
        <p:spPr>
          <a:xfrm rot="0">
            <a:off x="283387" y="1213413"/>
            <a:ext cx="8695900" cy="1300807"/>
          </a:xfrm>
          <a:prstGeom prst="rect">
            <a:avLst/>
          </a:prstGeom>
        </p:spPr>
        <p:txBody>
          <a:bodyPr anchor="t" rtlCol="false" tIns="0" lIns="0" bIns="0" rIns="0">
            <a:spAutoFit/>
          </a:bodyPr>
          <a:lstStyle/>
          <a:p>
            <a:pPr algn="l">
              <a:lnSpc>
                <a:spcPts val="9391"/>
              </a:lnSpc>
              <a:spcBef>
                <a:spcPct val="0"/>
              </a:spcBef>
            </a:pPr>
            <a:r>
              <a:rPr lang="en-US" b="true" sz="8696">
                <a:solidFill>
                  <a:srgbClr val="000000"/>
                </a:solidFill>
                <a:latin typeface="Poppins Bold"/>
                <a:ea typeface="Poppins Bold"/>
                <a:cs typeface="Poppins Bold"/>
                <a:sym typeface="Poppins Bold"/>
              </a:rPr>
              <a:t> FreshBox AI</a:t>
            </a:r>
          </a:p>
        </p:txBody>
      </p:sp>
      <p:grpSp>
        <p:nvGrpSpPr>
          <p:cNvPr name="Group 8" id="8"/>
          <p:cNvGrpSpPr/>
          <p:nvPr/>
        </p:nvGrpSpPr>
        <p:grpSpPr>
          <a:xfrm rot="0">
            <a:off x="12475763" y="5628222"/>
            <a:ext cx="5331596" cy="5331596"/>
            <a:chOff x="0" y="0"/>
            <a:chExt cx="7108795" cy="7108795"/>
          </a:xfrm>
        </p:grpSpPr>
        <p:sp>
          <p:nvSpPr>
            <p:cNvPr name="Freeform 9" id="9"/>
            <p:cNvSpPr/>
            <p:nvPr/>
          </p:nvSpPr>
          <p:spPr>
            <a:xfrm flipH="false" flipV="false" rot="0">
              <a:off x="0" y="0"/>
              <a:ext cx="7108795" cy="7108795"/>
            </a:xfrm>
            <a:custGeom>
              <a:avLst/>
              <a:gdLst/>
              <a:ahLst/>
              <a:cxnLst/>
              <a:rect r="r" b="b" t="t" l="l"/>
              <a:pathLst>
                <a:path h="7108795" w="7108795">
                  <a:moveTo>
                    <a:pt x="0" y="0"/>
                  </a:moveTo>
                  <a:lnTo>
                    <a:pt x="7108795" y="0"/>
                  </a:lnTo>
                  <a:lnTo>
                    <a:pt x="7108795" y="7108795"/>
                  </a:lnTo>
                  <a:lnTo>
                    <a:pt x="0" y="7108795"/>
                  </a:lnTo>
                  <a:lnTo>
                    <a:pt x="0" y="0"/>
                  </a:lnTo>
                  <a:close/>
                </a:path>
              </a:pathLst>
            </a:custGeom>
            <a:blipFill>
              <a:blip r:embed="rId2"/>
              <a:stretch>
                <a:fillRect l="0" t="0" r="0" b="0"/>
              </a:stretch>
            </a:blipFill>
            <a:ln cap="sq">
              <a:noFill/>
              <a:prstDash val="solid"/>
              <a:miter/>
            </a:ln>
          </p:spPr>
        </p:sp>
        <p:sp>
          <p:nvSpPr>
            <p:cNvPr name="Freeform 10" id="10"/>
            <p:cNvSpPr/>
            <p:nvPr/>
          </p:nvSpPr>
          <p:spPr>
            <a:xfrm flipH="false" flipV="false" rot="0">
              <a:off x="1327320" y="3347294"/>
              <a:ext cx="4454154" cy="1579945"/>
            </a:xfrm>
            <a:custGeom>
              <a:avLst/>
              <a:gdLst/>
              <a:ahLst/>
              <a:cxnLst/>
              <a:rect r="r" b="b" t="t" l="l"/>
              <a:pathLst>
                <a:path h="1579945" w="4454154">
                  <a:moveTo>
                    <a:pt x="0" y="0"/>
                  </a:moveTo>
                  <a:lnTo>
                    <a:pt x="4454154" y="0"/>
                  </a:lnTo>
                  <a:lnTo>
                    <a:pt x="4454154" y="1579945"/>
                  </a:lnTo>
                  <a:lnTo>
                    <a:pt x="0" y="1579945"/>
                  </a:lnTo>
                  <a:lnTo>
                    <a:pt x="0" y="0"/>
                  </a:lnTo>
                  <a:close/>
                </a:path>
              </a:pathLst>
            </a:custGeom>
            <a:blipFill>
              <a:blip r:embed="rId3"/>
              <a:stretch>
                <a:fillRect l="-161404" t="-535843" r="-162366" b="-36169"/>
              </a:stretch>
            </a:blipFill>
          </p:spPr>
        </p:sp>
        <p:sp>
          <p:nvSpPr>
            <p:cNvPr name="TextBox 11" id="11"/>
            <p:cNvSpPr txBox="true"/>
            <p:nvPr/>
          </p:nvSpPr>
          <p:spPr>
            <a:xfrm rot="0">
              <a:off x="117134" y="2019738"/>
              <a:ext cx="6874526" cy="1238167"/>
            </a:xfrm>
            <a:prstGeom prst="rect">
              <a:avLst/>
            </a:prstGeom>
          </p:spPr>
          <p:txBody>
            <a:bodyPr anchor="t" rtlCol="false" tIns="0" lIns="0" bIns="0" rIns="0">
              <a:spAutoFit/>
            </a:bodyPr>
            <a:lstStyle/>
            <a:p>
              <a:pPr algn="ctr">
                <a:lnSpc>
                  <a:spcPts val="3752"/>
                </a:lnSpc>
              </a:pPr>
              <a:r>
                <a:rPr lang="en-US" sz="2501" b="true">
                  <a:solidFill>
                    <a:srgbClr val="FFFFFF"/>
                  </a:solidFill>
                  <a:latin typeface="Poppins Bold"/>
                  <a:ea typeface="Poppins Bold"/>
                  <a:cs typeface="Poppins Bold"/>
                  <a:sym typeface="Poppins Bold"/>
                </a:rPr>
                <a:t>Microsoft’s Azure</a:t>
              </a:r>
            </a:p>
            <a:p>
              <a:pPr algn="ctr">
                <a:lnSpc>
                  <a:spcPts val="3752"/>
                </a:lnSpc>
              </a:pPr>
              <a:r>
                <a:rPr lang="en-US" b="true" sz="2501">
                  <a:solidFill>
                    <a:srgbClr val="FFFFFF"/>
                  </a:solidFill>
                  <a:latin typeface="Poppins Bold"/>
                  <a:ea typeface="Poppins Bold"/>
                  <a:cs typeface="Poppins Bold"/>
                  <a:sym typeface="Poppins Bold"/>
                </a:rPr>
                <a:t> OpenAI Service </a:t>
              </a:r>
            </a:p>
          </p:txBody>
        </p:sp>
      </p:grpSp>
      <p:sp>
        <p:nvSpPr>
          <p:cNvPr name="Freeform 12" id="12"/>
          <p:cNvSpPr/>
          <p:nvPr/>
        </p:nvSpPr>
        <p:spPr>
          <a:xfrm flipH="false" flipV="false" rot="0">
            <a:off x="6629818" y="1797142"/>
            <a:ext cx="5331596" cy="5331596"/>
          </a:xfrm>
          <a:custGeom>
            <a:avLst/>
            <a:gdLst/>
            <a:ahLst/>
            <a:cxnLst/>
            <a:rect r="r" b="b" t="t" l="l"/>
            <a:pathLst>
              <a:path h="5331596" w="5331596">
                <a:moveTo>
                  <a:pt x="0" y="0"/>
                </a:moveTo>
                <a:lnTo>
                  <a:pt x="5331595" y="0"/>
                </a:lnTo>
                <a:lnTo>
                  <a:pt x="5331595" y="5331596"/>
                </a:lnTo>
                <a:lnTo>
                  <a:pt x="0" y="5331596"/>
                </a:lnTo>
                <a:lnTo>
                  <a:pt x="0" y="0"/>
                </a:lnTo>
                <a:close/>
              </a:path>
            </a:pathLst>
          </a:custGeom>
          <a:blipFill>
            <a:blip r:embed="rId2"/>
            <a:stretch>
              <a:fillRect l="0" t="0" r="0" b="0"/>
            </a:stretch>
          </a:blipFill>
          <a:ln cap="sq">
            <a:noFill/>
            <a:prstDash val="solid"/>
            <a:miter/>
          </a:ln>
        </p:spPr>
      </p:sp>
      <p:sp>
        <p:nvSpPr>
          <p:cNvPr name="AutoShape 13" id="13"/>
          <p:cNvSpPr/>
          <p:nvPr/>
        </p:nvSpPr>
        <p:spPr>
          <a:xfrm>
            <a:off x="10707409" y="5143500"/>
            <a:ext cx="0" cy="1471311"/>
          </a:xfrm>
          <a:prstGeom prst="line">
            <a:avLst/>
          </a:prstGeom>
          <a:ln cap="flat" w="95250">
            <a:solidFill>
              <a:srgbClr val="000000"/>
            </a:solidFill>
            <a:prstDash val="sysDot"/>
            <a:headEnd type="none" len="sm" w="sm"/>
            <a:tailEnd type="triangle" len="med" w="lg"/>
          </a:ln>
        </p:spPr>
      </p:sp>
      <p:sp>
        <p:nvSpPr>
          <p:cNvPr name="AutoShape 14" id="14"/>
          <p:cNvSpPr/>
          <p:nvPr/>
        </p:nvSpPr>
        <p:spPr>
          <a:xfrm flipV="true">
            <a:off x="10023367" y="5528586"/>
            <a:ext cx="0" cy="1281066"/>
          </a:xfrm>
          <a:prstGeom prst="line">
            <a:avLst/>
          </a:prstGeom>
          <a:ln cap="flat" w="95250">
            <a:solidFill>
              <a:srgbClr val="000000"/>
            </a:solidFill>
            <a:prstDash val="sysDot"/>
            <a:headEnd type="none" len="sm" w="sm"/>
            <a:tailEnd type="triangle" len="med" w="lg"/>
          </a:ln>
        </p:spPr>
      </p:sp>
      <p:sp>
        <p:nvSpPr>
          <p:cNvPr name="AutoShape 15" id="15"/>
          <p:cNvSpPr/>
          <p:nvPr/>
        </p:nvSpPr>
        <p:spPr>
          <a:xfrm>
            <a:off x="5587016" y="7576383"/>
            <a:ext cx="1461729" cy="0"/>
          </a:xfrm>
          <a:prstGeom prst="line">
            <a:avLst/>
          </a:prstGeom>
          <a:ln cap="flat" w="95250">
            <a:solidFill>
              <a:srgbClr val="000000"/>
            </a:solidFill>
            <a:prstDash val="solid"/>
            <a:headEnd type="none" len="sm" w="sm"/>
            <a:tailEnd type="triangle" len="med" w="lg"/>
          </a:ln>
        </p:spPr>
      </p:sp>
      <p:sp>
        <p:nvSpPr>
          <p:cNvPr name="AutoShape 16" id="16"/>
          <p:cNvSpPr/>
          <p:nvPr/>
        </p:nvSpPr>
        <p:spPr>
          <a:xfrm flipH="true">
            <a:off x="5686081" y="8471155"/>
            <a:ext cx="1410559" cy="0"/>
          </a:xfrm>
          <a:prstGeom prst="line">
            <a:avLst/>
          </a:prstGeom>
          <a:ln cap="flat" w="95250">
            <a:solidFill>
              <a:srgbClr val="000000"/>
            </a:solidFill>
            <a:prstDash val="solid"/>
            <a:headEnd type="none" len="sm" w="sm"/>
            <a:tailEnd type="triangle" len="med" w="lg"/>
          </a:ln>
        </p:spPr>
      </p:sp>
      <p:sp>
        <p:nvSpPr>
          <p:cNvPr name="AutoShape 17" id="17"/>
          <p:cNvSpPr/>
          <p:nvPr/>
        </p:nvSpPr>
        <p:spPr>
          <a:xfrm>
            <a:off x="11488158" y="7576383"/>
            <a:ext cx="1414397" cy="0"/>
          </a:xfrm>
          <a:prstGeom prst="line">
            <a:avLst/>
          </a:prstGeom>
          <a:ln cap="flat" w="95250">
            <a:solidFill>
              <a:srgbClr val="000000"/>
            </a:solidFill>
            <a:prstDash val="solid"/>
            <a:headEnd type="none" len="sm" w="sm"/>
            <a:tailEnd type="triangle" len="med" w="lg"/>
          </a:ln>
        </p:spPr>
      </p:sp>
      <p:sp>
        <p:nvSpPr>
          <p:cNvPr name="AutoShape 18" id="18"/>
          <p:cNvSpPr/>
          <p:nvPr/>
        </p:nvSpPr>
        <p:spPr>
          <a:xfrm flipH="true">
            <a:off x="11528109" y="8509800"/>
            <a:ext cx="1425449" cy="0"/>
          </a:xfrm>
          <a:prstGeom prst="line">
            <a:avLst/>
          </a:prstGeom>
          <a:ln cap="flat" w="95250">
            <a:solidFill>
              <a:srgbClr val="000000"/>
            </a:solidFill>
            <a:prstDash val="solid"/>
            <a:headEnd type="none" len="sm" w="sm"/>
            <a:tailEnd type="triangle" len="med" w="lg"/>
          </a:ln>
        </p:spPr>
      </p:sp>
      <p:sp>
        <p:nvSpPr>
          <p:cNvPr name="TextBox 19" id="19"/>
          <p:cNvSpPr txBox="true"/>
          <p:nvPr/>
        </p:nvSpPr>
        <p:spPr>
          <a:xfrm rot="0">
            <a:off x="7069553" y="5697516"/>
            <a:ext cx="2637629" cy="775708"/>
          </a:xfrm>
          <a:prstGeom prst="rect">
            <a:avLst/>
          </a:prstGeom>
        </p:spPr>
        <p:txBody>
          <a:bodyPr anchor="t" rtlCol="false" tIns="0" lIns="0" bIns="0" rIns="0">
            <a:spAutoFit/>
          </a:bodyPr>
          <a:lstStyle/>
          <a:p>
            <a:pPr algn="ctr">
              <a:lnSpc>
                <a:spcPts val="2991"/>
              </a:lnSpc>
              <a:spcBef>
                <a:spcPct val="0"/>
              </a:spcBef>
            </a:pPr>
            <a:r>
              <a:rPr lang="en-US" b="true" sz="2769">
                <a:solidFill>
                  <a:srgbClr val="000000"/>
                </a:solidFill>
                <a:latin typeface="Poppins Bold"/>
                <a:ea typeface="Poppins Bold"/>
                <a:cs typeface="Poppins Bold"/>
                <a:sym typeface="Poppins Bold"/>
              </a:rPr>
              <a:t>Αναζήτηση Βάσει Εισόδου</a:t>
            </a:r>
          </a:p>
        </p:txBody>
      </p:sp>
      <p:sp>
        <p:nvSpPr>
          <p:cNvPr name="Freeform 20" id="20"/>
          <p:cNvSpPr/>
          <p:nvPr/>
        </p:nvSpPr>
        <p:spPr>
          <a:xfrm flipH="false" flipV="false" rot="0">
            <a:off x="12953558" y="2485804"/>
            <a:ext cx="1262754" cy="3042781"/>
          </a:xfrm>
          <a:custGeom>
            <a:avLst/>
            <a:gdLst/>
            <a:ahLst/>
            <a:cxnLst/>
            <a:rect r="r" b="b" t="t" l="l"/>
            <a:pathLst>
              <a:path h="3042781" w="1262754">
                <a:moveTo>
                  <a:pt x="0" y="0"/>
                </a:moveTo>
                <a:lnTo>
                  <a:pt x="1262754" y="0"/>
                </a:lnTo>
                <a:lnTo>
                  <a:pt x="1262754" y="3042782"/>
                </a:lnTo>
                <a:lnTo>
                  <a:pt x="0" y="3042782"/>
                </a:lnTo>
                <a:lnTo>
                  <a:pt x="0" y="0"/>
                </a:lnTo>
                <a:close/>
              </a:path>
            </a:pathLst>
          </a:custGeom>
          <a:blipFill>
            <a:blip r:embed="rId4"/>
            <a:stretch>
              <a:fillRect l="0" t="0" r="0" b="0"/>
            </a:stretch>
          </a:blipFill>
        </p:spPr>
      </p:sp>
      <p:sp>
        <p:nvSpPr>
          <p:cNvPr name="Freeform 21" id="21"/>
          <p:cNvSpPr/>
          <p:nvPr/>
        </p:nvSpPr>
        <p:spPr>
          <a:xfrm flipH="false" flipV="false" rot="0">
            <a:off x="14603703" y="1657430"/>
            <a:ext cx="2520879" cy="4423178"/>
          </a:xfrm>
          <a:custGeom>
            <a:avLst/>
            <a:gdLst/>
            <a:ahLst/>
            <a:cxnLst/>
            <a:rect r="r" b="b" t="t" l="l"/>
            <a:pathLst>
              <a:path h="4423178" w="2520879">
                <a:moveTo>
                  <a:pt x="0" y="0"/>
                </a:moveTo>
                <a:lnTo>
                  <a:pt x="2520879" y="0"/>
                </a:lnTo>
                <a:lnTo>
                  <a:pt x="2520879" y="4423178"/>
                </a:lnTo>
                <a:lnTo>
                  <a:pt x="0" y="4423178"/>
                </a:lnTo>
                <a:lnTo>
                  <a:pt x="0" y="0"/>
                </a:lnTo>
                <a:close/>
              </a:path>
            </a:pathLst>
          </a:custGeom>
          <a:blipFill>
            <a:blip r:embed="rId5"/>
            <a:stretch>
              <a:fillRect l="0" t="0" r="0" b="0"/>
            </a:stretch>
          </a:blipFill>
        </p:spPr>
      </p:sp>
      <p:grpSp>
        <p:nvGrpSpPr>
          <p:cNvPr name="Group 22" id="22"/>
          <p:cNvGrpSpPr/>
          <p:nvPr/>
        </p:nvGrpSpPr>
        <p:grpSpPr>
          <a:xfrm rot="0">
            <a:off x="1042035" y="9556432"/>
            <a:ext cx="189548" cy="184785"/>
            <a:chOff x="0" y="0"/>
            <a:chExt cx="252730" cy="246380"/>
          </a:xfrm>
        </p:grpSpPr>
        <p:sp>
          <p:nvSpPr>
            <p:cNvPr name="Freeform 23" id="23"/>
            <p:cNvSpPr/>
            <p:nvPr/>
          </p:nvSpPr>
          <p:spPr>
            <a:xfrm flipH="false" flipV="false" rot="0">
              <a:off x="49530" y="49530"/>
              <a:ext cx="149860" cy="153670"/>
            </a:xfrm>
            <a:custGeom>
              <a:avLst/>
              <a:gdLst/>
              <a:ahLst/>
              <a:cxnLst/>
              <a:rect r="r" b="b" t="t" l="l"/>
              <a:pathLst>
                <a:path h="153670" w="149860">
                  <a:moveTo>
                    <a:pt x="149860" y="53340"/>
                  </a:moveTo>
                  <a:cubicBezTo>
                    <a:pt x="146050" y="106680"/>
                    <a:pt x="127000" y="137160"/>
                    <a:pt x="107950" y="146050"/>
                  </a:cubicBezTo>
                  <a:cubicBezTo>
                    <a:pt x="88900" y="153670"/>
                    <a:pt x="54610" y="148590"/>
                    <a:pt x="38100" y="140970"/>
                  </a:cubicBezTo>
                  <a:cubicBezTo>
                    <a:pt x="25400" y="135890"/>
                    <a:pt x="17780" y="125730"/>
                    <a:pt x="11430" y="115570"/>
                  </a:cubicBezTo>
                  <a:cubicBezTo>
                    <a:pt x="5080" y="105410"/>
                    <a:pt x="0" y="93980"/>
                    <a:pt x="1270" y="80010"/>
                  </a:cubicBezTo>
                  <a:cubicBezTo>
                    <a:pt x="2540" y="62230"/>
                    <a:pt x="16510" y="29210"/>
                    <a:pt x="30480" y="16510"/>
                  </a:cubicBezTo>
                  <a:cubicBezTo>
                    <a:pt x="39370" y="6350"/>
                    <a:pt x="49530" y="1270"/>
                    <a:pt x="63500" y="1270"/>
                  </a:cubicBezTo>
                  <a:cubicBezTo>
                    <a:pt x="81280" y="0"/>
                    <a:pt x="130810" y="21590"/>
                    <a:pt x="130810" y="21590"/>
                  </a:cubicBezTo>
                </a:path>
              </a:pathLst>
            </a:custGeom>
            <a:solidFill>
              <a:srgbClr val="F9F6F6"/>
            </a:solidFill>
            <a:ln cap="sq">
              <a:noFill/>
              <a:prstDash val="solid"/>
              <a:miter/>
            </a:ln>
          </p:spPr>
        </p:sp>
      </p:grpSp>
      <p:grpSp>
        <p:nvGrpSpPr>
          <p:cNvPr name="Group 24" id="24"/>
          <p:cNvGrpSpPr/>
          <p:nvPr/>
        </p:nvGrpSpPr>
        <p:grpSpPr>
          <a:xfrm rot="0">
            <a:off x="1058227" y="9572625"/>
            <a:ext cx="189548" cy="184785"/>
            <a:chOff x="0" y="0"/>
            <a:chExt cx="252730" cy="246380"/>
          </a:xfrm>
        </p:grpSpPr>
        <p:sp>
          <p:nvSpPr>
            <p:cNvPr name="Freeform 25" id="25"/>
            <p:cNvSpPr/>
            <p:nvPr/>
          </p:nvSpPr>
          <p:spPr>
            <a:xfrm flipH="false" flipV="false" rot="0">
              <a:off x="49530" y="49530"/>
              <a:ext cx="149860" cy="153670"/>
            </a:xfrm>
            <a:custGeom>
              <a:avLst/>
              <a:gdLst/>
              <a:ahLst/>
              <a:cxnLst/>
              <a:rect r="r" b="b" t="t" l="l"/>
              <a:pathLst>
                <a:path h="153670" w="149860">
                  <a:moveTo>
                    <a:pt x="149860" y="53340"/>
                  </a:moveTo>
                  <a:cubicBezTo>
                    <a:pt x="146050" y="107950"/>
                    <a:pt x="127000" y="137160"/>
                    <a:pt x="107950" y="146050"/>
                  </a:cubicBezTo>
                  <a:cubicBezTo>
                    <a:pt x="88900" y="153670"/>
                    <a:pt x="54610" y="148590"/>
                    <a:pt x="38100" y="140970"/>
                  </a:cubicBezTo>
                  <a:cubicBezTo>
                    <a:pt x="25400" y="135890"/>
                    <a:pt x="17780" y="125730"/>
                    <a:pt x="11430" y="115570"/>
                  </a:cubicBezTo>
                  <a:cubicBezTo>
                    <a:pt x="6350" y="105410"/>
                    <a:pt x="0" y="93980"/>
                    <a:pt x="1270" y="80010"/>
                  </a:cubicBezTo>
                  <a:cubicBezTo>
                    <a:pt x="2540" y="62230"/>
                    <a:pt x="16510" y="29210"/>
                    <a:pt x="30480" y="16510"/>
                  </a:cubicBezTo>
                  <a:cubicBezTo>
                    <a:pt x="39370" y="6350"/>
                    <a:pt x="49530" y="1270"/>
                    <a:pt x="63500" y="1270"/>
                  </a:cubicBezTo>
                  <a:cubicBezTo>
                    <a:pt x="81280" y="0"/>
                    <a:pt x="130810" y="21590"/>
                    <a:pt x="130810" y="21590"/>
                  </a:cubicBezTo>
                </a:path>
              </a:pathLst>
            </a:custGeom>
            <a:solidFill>
              <a:srgbClr val="F9F6F6"/>
            </a:solidFill>
            <a:ln cap="sq">
              <a:noFill/>
              <a:prstDash val="solid"/>
              <a:miter/>
            </a:ln>
          </p:spPr>
        </p:sp>
      </p:grpSp>
      <p:grpSp>
        <p:nvGrpSpPr>
          <p:cNvPr name="Group 26" id="26"/>
          <p:cNvGrpSpPr/>
          <p:nvPr/>
        </p:nvGrpSpPr>
        <p:grpSpPr>
          <a:xfrm rot="0">
            <a:off x="1047750" y="9496425"/>
            <a:ext cx="299085" cy="272415"/>
            <a:chOff x="0" y="0"/>
            <a:chExt cx="398780" cy="363220"/>
          </a:xfrm>
        </p:grpSpPr>
        <p:sp>
          <p:nvSpPr>
            <p:cNvPr name="Freeform 27" id="27"/>
            <p:cNvSpPr/>
            <p:nvPr/>
          </p:nvSpPr>
          <p:spPr>
            <a:xfrm flipH="false" flipV="false" rot="0">
              <a:off x="44450" y="46990"/>
              <a:ext cx="304800" cy="273050"/>
            </a:xfrm>
            <a:custGeom>
              <a:avLst/>
              <a:gdLst/>
              <a:ahLst/>
              <a:cxnLst/>
              <a:rect r="r" b="b" t="t" l="l"/>
              <a:pathLst>
                <a:path h="273050" w="304800">
                  <a:moveTo>
                    <a:pt x="62230" y="130810"/>
                  </a:moveTo>
                  <a:cubicBezTo>
                    <a:pt x="90170" y="45720"/>
                    <a:pt x="104140" y="29210"/>
                    <a:pt x="119380" y="21590"/>
                  </a:cubicBezTo>
                  <a:cubicBezTo>
                    <a:pt x="134620" y="13970"/>
                    <a:pt x="157480" y="11430"/>
                    <a:pt x="175260" y="17780"/>
                  </a:cubicBezTo>
                  <a:cubicBezTo>
                    <a:pt x="194310" y="24130"/>
                    <a:pt x="219710" y="50800"/>
                    <a:pt x="228600" y="68580"/>
                  </a:cubicBezTo>
                  <a:cubicBezTo>
                    <a:pt x="234950" y="80010"/>
                    <a:pt x="233680" y="90170"/>
                    <a:pt x="231140" y="105410"/>
                  </a:cubicBezTo>
                  <a:cubicBezTo>
                    <a:pt x="227330" y="129540"/>
                    <a:pt x="210820" y="168910"/>
                    <a:pt x="191770" y="195580"/>
                  </a:cubicBezTo>
                  <a:cubicBezTo>
                    <a:pt x="173990" y="222250"/>
                    <a:pt x="147320" y="254000"/>
                    <a:pt x="120650" y="264160"/>
                  </a:cubicBezTo>
                  <a:cubicBezTo>
                    <a:pt x="96520" y="273050"/>
                    <a:pt x="57150" y="271780"/>
                    <a:pt x="39370" y="256540"/>
                  </a:cubicBezTo>
                  <a:cubicBezTo>
                    <a:pt x="16510" y="238760"/>
                    <a:pt x="0" y="181610"/>
                    <a:pt x="6350" y="153670"/>
                  </a:cubicBezTo>
                  <a:cubicBezTo>
                    <a:pt x="11430" y="129540"/>
                    <a:pt x="36830" y="109220"/>
                    <a:pt x="57150" y="93980"/>
                  </a:cubicBezTo>
                  <a:cubicBezTo>
                    <a:pt x="77470" y="78740"/>
                    <a:pt x="105410" y="76200"/>
                    <a:pt x="128270" y="62230"/>
                  </a:cubicBezTo>
                  <a:cubicBezTo>
                    <a:pt x="154940" y="46990"/>
                    <a:pt x="182880" y="8890"/>
                    <a:pt x="207010" y="3810"/>
                  </a:cubicBezTo>
                  <a:cubicBezTo>
                    <a:pt x="226060" y="0"/>
                    <a:pt x="245110" y="3810"/>
                    <a:pt x="260350" y="15240"/>
                  </a:cubicBezTo>
                  <a:cubicBezTo>
                    <a:pt x="278130" y="27940"/>
                    <a:pt x="298450" y="60960"/>
                    <a:pt x="302260" y="82550"/>
                  </a:cubicBezTo>
                  <a:cubicBezTo>
                    <a:pt x="304800" y="100330"/>
                    <a:pt x="297180" y="120650"/>
                    <a:pt x="288290" y="135890"/>
                  </a:cubicBezTo>
                  <a:cubicBezTo>
                    <a:pt x="278130" y="149860"/>
                    <a:pt x="262890" y="163830"/>
                    <a:pt x="245110" y="168910"/>
                  </a:cubicBezTo>
                  <a:cubicBezTo>
                    <a:pt x="223520" y="173990"/>
                    <a:pt x="185420" y="170180"/>
                    <a:pt x="166370" y="156210"/>
                  </a:cubicBezTo>
                  <a:cubicBezTo>
                    <a:pt x="147320" y="142240"/>
                    <a:pt x="133350" y="106680"/>
                    <a:pt x="132080" y="83820"/>
                  </a:cubicBezTo>
                  <a:cubicBezTo>
                    <a:pt x="130810" y="66040"/>
                    <a:pt x="138430" y="46990"/>
                    <a:pt x="152400" y="33020"/>
                  </a:cubicBezTo>
                  <a:cubicBezTo>
                    <a:pt x="167640" y="17780"/>
                    <a:pt x="201930" y="1270"/>
                    <a:pt x="226060" y="3810"/>
                  </a:cubicBezTo>
                  <a:cubicBezTo>
                    <a:pt x="248920" y="6350"/>
                    <a:pt x="280670" y="26670"/>
                    <a:pt x="292100" y="48260"/>
                  </a:cubicBezTo>
                  <a:cubicBezTo>
                    <a:pt x="303530" y="68580"/>
                    <a:pt x="303530" y="106680"/>
                    <a:pt x="292100" y="127000"/>
                  </a:cubicBezTo>
                  <a:cubicBezTo>
                    <a:pt x="281940" y="148590"/>
                    <a:pt x="237490" y="157480"/>
                    <a:pt x="227330" y="172720"/>
                  </a:cubicBezTo>
                  <a:cubicBezTo>
                    <a:pt x="220980" y="181610"/>
                    <a:pt x="227330" y="194310"/>
                    <a:pt x="219710" y="200660"/>
                  </a:cubicBezTo>
                  <a:cubicBezTo>
                    <a:pt x="208280" y="210820"/>
                    <a:pt x="160020" y="214630"/>
                    <a:pt x="139700" y="201930"/>
                  </a:cubicBezTo>
                  <a:cubicBezTo>
                    <a:pt x="115570" y="187960"/>
                    <a:pt x="113030" y="109220"/>
                    <a:pt x="92710" y="104140"/>
                  </a:cubicBezTo>
                  <a:cubicBezTo>
                    <a:pt x="74930" y="99060"/>
                    <a:pt x="33020" y="154940"/>
                    <a:pt x="29210" y="151130"/>
                  </a:cubicBezTo>
                  <a:cubicBezTo>
                    <a:pt x="22860" y="146050"/>
                    <a:pt x="64770" y="68580"/>
                    <a:pt x="90170" y="45720"/>
                  </a:cubicBezTo>
                  <a:cubicBezTo>
                    <a:pt x="109220" y="27940"/>
                    <a:pt x="135890" y="15240"/>
                    <a:pt x="156210" y="13970"/>
                  </a:cubicBezTo>
                  <a:cubicBezTo>
                    <a:pt x="173990" y="13970"/>
                    <a:pt x="195580" y="24130"/>
                    <a:pt x="208280" y="35560"/>
                  </a:cubicBezTo>
                  <a:cubicBezTo>
                    <a:pt x="220980" y="48260"/>
                    <a:pt x="231140" y="66040"/>
                    <a:pt x="232410" y="86360"/>
                  </a:cubicBezTo>
                  <a:cubicBezTo>
                    <a:pt x="234950" y="119380"/>
                    <a:pt x="212090" y="187960"/>
                    <a:pt x="191770" y="212090"/>
                  </a:cubicBezTo>
                  <a:cubicBezTo>
                    <a:pt x="179070" y="228600"/>
                    <a:pt x="161290" y="237490"/>
                    <a:pt x="144780" y="240030"/>
                  </a:cubicBezTo>
                  <a:cubicBezTo>
                    <a:pt x="128270" y="242570"/>
                    <a:pt x="105410" y="238760"/>
                    <a:pt x="91440" y="228600"/>
                  </a:cubicBezTo>
                  <a:cubicBezTo>
                    <a:pt x="76200" y="219710"/>
                    <a:pt x="63500" y="201930"/>
                    <a:pt x="58420" y="185420"/>
                  </a:cubicBezTo>
                  <a:cubicBezTo>
                    <a:pt x="53340" y="168910"/>
                    <a:pt x="62230" y="130810"/>
                    <a:pt x="62230" y="130810"/>
                  </a:cubicBezTo>
                </a:path>
              </a:pathLst>
            </a:custGeom>
            <a:solidFill>
              <a:srgbClr val="F9F6F6"/>
            </a:solidFill>
            <a:ln cap="sq">
              <a:noFill/>
              <a:prstDash val="solid"/>
              <a:miter/>
            </a:ln>
          </p:spPr>
        </p:sp>
      </p:grpSp>
      <p:grpSp>
        <p:nvGrpSpPr>
          <p:cNvPr name="Group 28" id="28"/>
          <p:cNvGrpSpPr/>
          <p:nvPr/>
        </p:nvGrpSpPr>
        <p:grpSpPr>
          <a:xfrm rot="0">
            <a:off x="1154430" y="9491662"/>
            <a:ext cx="189548" cy="184785"/>
            <a:chOff x="0" y="0"/>
            <a:chExt cx="252730" cy="246380"/>
          </a:xfrm>
        </p:grpSpPr>
        <p:sp>
          <p:nvSpPr>
            <p:cNvPr name="Freeform 29" id="29"/>
            <p:cNvSpPr/>
            <p:nvPr/>
          </p:nvSpPr>
          <p:spPr>
            <a:xfrm flipH="false" flipV="false" rot="0">
              <a:off x="49530" y="49530"/>
              <a:ext cx="149860" cy="153670"/>
            </a:xfrm>
            <a:custGeom>
              <a:avLst/>
              <a:gdLst/>
              <a:ahLst/>
              <a:cxnLst/>
              <a:rect r="r" b="b" t="t" l="l"/>
              <a:pathLst>
                <a:path h="153670" w="149860">
                  <a:moveTo>
                    <a:pt x="149860" y="53340"/>
                  </a:moveTo>
                  <a:cubicBezTo>
                    <a:pt x="146050" y="106680"/>
                    <a:pt x="127000" y="137160"/>
                    <a:pt x="107950" y="144780"/>
                  </a:cubicBezTo>
                  <a:cubicBezTo>
                    <a:pt x="88900" y="153670"/>
                    <a:pt x="54610" y="148590"/>
                    <a:pt x="38100" y="140970"/>
                  </a:cubicBezTo>
                  <a:cubicBezTo>
                    <a:pt x="25400" y="135890"/>
                    <a:pt x="17780" y="125730"/>
                    <a:pt x="11430" y="115570"/>
                  </a:cubicBezTo>
                  <a:cubicBezTo>
                    <a:pt x="5080" y="105410"/>
                    <a:pt x="0" y="93980"/>
                    <a:pt x="1270" y="80010"/>
                  </a:cubicBezTo>
                  <a:cubicBezTo>
                    <a:pt x="2540" y="62230"/>
                    <a:pt x="16510" y="29210"/>
                    <a:pt x="30480" y="15240"/>
                  </a:cubicBezTo>
                  <a:cubicBezTo>
                    <a:pt x="39370" y="6350"/>
                    <a:pt x="49530" y="1270"/>
                    <a:pt x="63500" y="1270"/>
                  </a:cubicBezTo>
                  <a:cubicBezTo>
                    <a:pt x="81280" y="0"/>
                    <a:pt x="130810" y="21590"/>
                    <a:pt x="130810" y="21590"/>
                  </a:cubicBezTo>
                </a:path>
              </a:pathLst>
            </a:custGeom>
            <a:solidFill>
              <a:srgbClr val="F9F6F6"/>
            </a:solidFill>
            <a:ln cap="sq">
              <a:noFill/>
              <a:prstDash val="solid"/>
              <a:miter/>
            </a:ln>
          </p:spPr>
        </p:sp>
      </p:grpSp>
      <p:grpSp>
        <p:nvGrpSpPr>
          <p:cNvPr name="Group 30" id="30"/>
          <p:cNvGrpSpPr/>
          <p:nvPr/>
        </p:nvGrpSpPr>
        <p:grpSpPr>
          <a:xfrm rot="0">
            <a:off x="1163955" y="9458325"/>
            <a:ext cx="189548" cy="184785"/>
            <a:chOff x="0" y="0"/>
            <a:chExt cx="252730" cy="246380"/>
          </a:xfrm>
        </p:grpSpPr>
        <p:sp>
          <p:nvSpPr>
            <p:cNvPr name="Freeform 31" id="31"/>
            <p:cNvSpPr/>
            <p:nvPr/>
          </p:nvSpPr>
          <p:spPr>
            <a:xfrm flipH="false" flipV="false" rot="0">
              <a:off x="49530" y="50800"/>
              <a:ext cx="149860" cy="153670"/>
            </a:xfrm>
            <a:custGeom>
              <a:avLst/>
              <a:gdLst/>
              <a:ahLst/>
              <a:cxnLst/>
              <a:rect r="r" b="b" t="t" l="l"/>
              <a:pathLst>
                <a:path h="153670" w="149860">
                  <a:moveTo>
                    <a:pt x="149860" y="53340"/>
                  </a:moveTo>
                  <a:cubicBezTo>
                    <a:pt x="146050" y="106680"/>
                    <a:pt x="127000" y="135890"/>
                    <a:pt x="107950" y="144780"/>
                  </a:cubicBezTo>
                  <a:cubicBezTo>
                    <a:pt x="88900" y="153670"/>
                    <a:pt x="54610" y="148590"/>
                    <a:pt x="36830" y="140970"/>
                  </a:cubicBezTo>
                  <a:cubicBezTo>
                    <a:pt x="25400" y="135890"/>
                    <a:pt x="17780" y="124460"/>
                    <a:pt x="11430" y="115570"/>
                  </a:cubicBezTo>
                  <a:cubicBezTo>
                    <a:pt x="5080" y="105410"/>
                    <a:pt x="0" y="93980"/>
                    <a:pt x="1270" y="80010"/>
                  </a:cubicBezTo>
                  <a:cubicBezTo>
                    <a:pt x="2540" y="62230"/>
                    <a:pt x="16510" y="29210"/>
                    <a:pt x="30480" y="15240"/>
                  </a:cubicBezTo>
                  <a:cubicBezTo>
                    <a:pt x="39370" y="6350"/>
                    <a:pt x="49530" y="1270"/>
                    <a:pt x="63500" y="0"/>
                  </a:cubicBezTo>
                  <a:cubicBezTo>
                    <a:pt x="81280" y="0"/>
                    <a:pt x="130810" y="21590"/>
                    <a:pt x="130810" y="21590"/>
                  </a:cubicBezTo>
                </a:path>
              </a:pathLst>
            </a:custGeom>
            <a:solidFill>
              <a:srgbClr val="F9F6F6"/>
            </a:solidFill>
            <a:ln cap="sq">
              <a:noFill/>
              <a:prstDash val="solid"/>
              <a:miter/>
            </a:ln>
          </p:spPr>
        </p:sp>
      </p:grpSp>
      <p:grpSp>
        <p:nvGrpSpPr>
          <p:cNvPr name="Group 32" id="32"/>
          <p:cNvGrpSpPr/>
          <p:nvPr/>
        </p:nvGrpSpPr>
        <p:grpSpPr>
          <a:xfrm rot="0">
            <a:off x="1158240" y="9493568"/>
            <a:ext cx="189548" cy="184785"/>
            <a:chOff x="0" y="0"/>
            <a:chExt cx="252730" cy="246380"/>
          </a:xfrm>
        </p:grpSpPr>
        <p:sp>
          <p:nvSpPr>
            <p:cNvPr name="Freeform 33" id="33"/>
            <p:cNvSpPr/>
            <p:nvPr/>
          </p:nvSpPr>
          <p:spPr>
            <a:xfrm flipH="false" flipV="false" rot="0">
              <a:off x="49530" y="50800"/>
              <a:ext cx="149860" cy="153670"/>
            </a:xfrm>
            <a:custGeom>
              <a:avLst/>
              <a:gdLst/>
              <a:ahLst/>
              <a:cxnLst/>
              <a:rect r="r" b="b" t="t" l="l"/>
              <a:pathLst>
                <a:path h="153670" w="149860">
                  <a:moveTo>
                    <a:pt x="149860" y="53340"/>
                  </a:moveTo>
                  <a:cubicBezTo>
                    <a:pt x="147320" y="106680"/>
                    <a:pt x="127000" y="135890"/>
                    <a:pt x="107950" y="144780"/>
                  </a:cubicBezTo>
                  <a:cubicBezTo>
                    <a:pt x="88900" y="153670"/>
                    <a:pt x="54610" y="148590"/>
                    <a:pt x="38100" y="140970"/>
                  </a:cubicBezTo>
                  <a:cubicBezTo>
                    <a:pt x="25400" y="135890"/>
                    <a:pt x="17780" y="124460"/>
                    <a:pt x="12700" y="114300"/>
                  </a:cubicBezTo>
                  <a:cubicBezTo>
                    <a:pt x="6350" y="105410"/>
                    <a:pt x="0" y="92710"/>
                    <a:pt x="1270" y="80010"/>
                  </a:cubicBezTo>
                  <a:cubicBezTo>
                    <a:pt x="2540" y="62230"/>
                    <a:pt x="17780" y="27940"/>
                    <a:pt x="30480" y="15240"/>
                  </a:cubicBezTo>
                  <a:cubicBezTo>
                    <a:pt x="39370" y="6350"/>
                    <a:pt x="50800" y="1270"/>
                    <a:pt x="63500" y="0"/>
                  </a:cubicBezTo>
                  <a:cubicBezTo>
                    <a:pt x="82550" y="0"/>
                    <a:pt x="130810" y="21590"/>
                    <a:pt x="130810" y="21590"/>
                  </a:cubicBezTo>
                </a:path>
              </a:pathLst>
            </a:custGeom>
            <a:solidFill>
              <a:srgbClr val="F9F6F6"/>
            </a:solidFill>
            <a:ln cap="sq">
              <a:noFill/>
              <a:prstDash val="solid"/>
              <a:miter/>
            </a:ln>
          </p:spPr>
        </p:sp>
      </p:grpSp>
      <p:grpSp>
        <p:nvGrpSpPr>
          <p:cNvPr name="Group 34" id="34"/>
          <p:cNvGrpSpPr/>
          <p:nvPr/>
        </p:nvGrpSpPr>
        <p:grpSpPr>
          <a:xfrm rot="0">
            <a:off x="1158240" y="9493568"/>
            <a:ext cx="189548" cy="184785"/>
            <a:chOff x="0" y="0"/>
            <a:chExt cx="252730" cy="246380"/>
          </a:xfrm>
        </p:grpSpPr>
        <p:sp>
          <p:nvSpPr>
            <p:cNvPr name="Freeform 35" id="35"/>
            <p:cNvSpPr/>
            <p:nvPr/>
          </p:nvSpPr>
          <p:spPr>
            <a:xfrm flipH="false" flipV="false" rot="0">
              <a:off x="49530" y="50800"/>
              <a:ext cx="149860" cy="153670"/>
            </a:xfrm>
            <a:custGeom>
              <a:avLst/>
              <a:gdLst/>
              <a:ahLst/>
              <a:cxnLst/>
              <a:rect r="r" b="b" t="t" l="l"/>
              <a:pathLst>
                <a:path h="153670" w="149860">
                  <a:moveTo>
                    <a:pt x="149860" y="53340"/>
                  </a:moveTo>
                  <a:cubicBezTo>
                    <a:pt x="147320" y="106680"/>
                    <a:pt x="127000" y="135890"/>
                    <a:pt x="107950" y="144780"/>
                  </a:cubicBezTo>
                  <a:cubicBezTo>
                    <a:pt x="88900" y="153670"/>
                    <a:pt x="54610" y="148590"/>
                    <a:pt x="38100" y="140970"/>
                  </a:cubicBezTo>
                  <a:cubicBezTo>
                    <a:pt x="25400" y="135890"/>
                    <a:pt x="17780" y="124460"/>
                    <a:pt x="12700" y="114300"/>
                  </a:cubicBezTo>
                  <a:cubicBezTo>
                    <a:pt x="6350" y="105410"/>
                    <a:pt x="0" y="92710"/>
                    <a:pt x="1270" y="80010"/>
                  </a:cubicBezTo>
                  <a:cubicBezTo>
                    <a:pt x="2540" y="62230"/>
                    <a:pt x="17780" y="27940"/>
                    <a:pt x="30480" y="15240"/>
                  </a:cubicBezTo>
                  <a:cubicBezTo>
                    <a:pt x="39370" y="6350"/>
                    <a:pt x="50800" y="1270"/>
                    <a:pt x="63500" y="0"/>
                  </a:cubicBezTo>
                  <a:cubicBezTo>
                    <a:pt x="82550" y="0"/>
                    <a:pt x="130810" y="21590"/>
                    <a:pt x="130810" y="21590"/>
                  </a:cubicBezTo>
                </a:path>
              </a:pathLst>
            </a:custGeom>
            <a:solidFill>
              <a:srgbClr val="F9F6F6"/>
            </a:solidFill>
            <a:ln cap="sq">
              <a:noFill/>
              <a:prstDash val="solid"/>
              <a:miter/>
            </a:ln>
          </p:spPr>
        </p:sp>
      </p:grpSp>
      <p:grpSp>
        <p:nvGrpSpPr>
          <p:cNvPr name="Group 36" id="36"/>
          <p:cNvGrpSpPr/>
          <p:nvPr/>
        </p:nvGrpSpPr>
        <p:grpSpPr>
          <a:xfrm rot="0">
            <a:off x="1157288" y="9488805"/>
            <a:ext cx="189548" cy="184785"/>
            <a:chOff x="0" y="0"/>
            <a:chExt cx="252730" cy="246380"/>
          </a:xfrm>
        </p:grpSpPr>
        <p:sp>
          <p:nvSpPr>
            <p:cNvPr name="Freeform 37" id="37"/>
            <p:cNvSpPr/>
            <p:nvPr/>
          </p:nvSpPr>
          <p:spPr>
            <a:xfrm flipH="false" flipV="false" rot="0">
              <a:off x="49530" y="49530"/>
              <a:ext cx="149860" cy="153670"/>
            </a:xfrm>
            <a:custGeom>
              <a:avLst/>
              <a:gdLst/>
              <a:ahLst/>
              <a:cxnLst/>
              <a:rect r="r" b="b" t="t" l="l"/>
              <a:pathLst>
                <a:path h="153670" w="149860">
                  <a:moveTo>
                    <a:pt x="149860" y="53340"/>
                  </a:moveTo>
                  <a:cubicBezTo>
                    <a:pt x="146050" y="106680"/>
                    <a:pt x="127000" y="137160"/>
                    <a:pt x="107950" y="144780"/>
                  </a:cubicBezTo>
                  <a:cubicBezTo>
                    <a:pt x="88900" y="153670"/>
                    <a:pt x="54610" y="148590"/>
                    <a:pt x="36830" y="140970"/>
                  </a:cubicBezTo>
                  <a:cubicBezTo>
                    <a:pt x="25400" y="135890"/>
                    <a:pt x="17780" y="125730"/>
                    <a:pt x="11430" y="115570"/>
                  </a:cubicBezTo>
                  <a:cubicBezTo>
                    <a:pt x="5080" y="105410"/>
                    <a:pt x="0" y="93980"/>
                    <a:pt x="1270" y="80010"/>
                  </a:cubicBezTo>
                  <a:cubicBezTo>
                    <a:pt x="1270" y="62230"/>
                    <a:pt x="16510" y="29210"/>
                    <a:pt x="29210" y="16510"/>
                  </a:cubicBezTo>
                  <a:cubicBezTo>
                    <a:pt x="39370" y="6350"/>
                    <a:pt x="49530" y="1270"/>
                    <a:pt x="63500" y="1270"/>
                  </a:cubicBezTo>
                  <a:cubicBezTo>
                    <a:pt x="81280" y="0"/>
                    <a:pt x="130810" y="21590"/>
                    <a:pt x="130810" y="21590"/>
                  </a:cubicBezTo>
                </a:path>
              </a:pathLst>
            </a:custGeom>
            <a:solidFill>
              <a:srgbClr val="F9F6F6"/>
            </a:solidFill>
            <a:ln cap="sq">
              <a:noFill/>
              <a:prstDash val="solid"/>
              <a:miter/>
            </a:ln>
          </p:spPr>
        </p:sp>
      </p:grpSp>
      <p:grpSp>
        <p:nvGrpSpPr>
          <p:cNvPr name="Group 38" id="38"/>
          <p:cNvGrpSpPr/>
          <p:nvPr/>
        </p:nvGrpSpPr>
        <p:grpSpPr>
          <a:xfrm rot="0">
            <a:off x="1164908" y="9476422"/>
            <a:ext cx="189548" cy="184785"/>
            <a:chOff x="0" y="0"/>
            <a:chExt cx="252730" cy="246380"/>
          </a:xfrm>
        </p:grpSpPr>
        <p:sp>
          <p:nvSpPr>
            <p:cNvPr name="Freeform 39" id="39"/>
            <p:cNvSpPr/>
            <p:nvPr/>
          </p:nvSpPr>
          <p:spPr>
            <a:xfrm flipH="false" flipV="false" rot="0">
              <a:off x="49530" y="49530"/>
              <a:ext cx="149860" cy="153670"/>
            </a:xfrm>
            <a:custGeom>
              <a:avLst/>
              <a:gdLst/>
              <a:ahLst/>
              <a:cxnLst/>
              <a:rect r="r" b="b" t="t" l="l"/>
              <a:pathLst>
                <a:path h="153670" w="149860">
                  <a:moveTo>
                    <a:pt x="149860" y="53340"/>
                  </a:moveTo>
                  <a:cubicBezTo>
                    <a:pt x="147320" y="107950"/>
                    <a:pt x="128270" y="137160"/>
                    <a:pt x="109220" y="146050"/>
                  </a:cubicBezTo>
                  <a:cubicBezTo>
                    <a:pt x="90170" y="153670"/>
                    <a:pt x="54610" y="148590"/>
                    <a:pt x="38100" y="140970"/>
                  </a:cubicBezTo>
                  <a:cubicBezTo>
                    <a:pt x="25400" y="135890"/>
                    <a:pt x="17780" y="125730"/>
                    <a:pt x="12700" y="115570"/>
                  </a:cubicBezTo>
                  <a:cubicBezTo>
                    <a:pt x="6350" y="105410"/>
                    <a:pt x="0" y="93980"/>
                    <a:pt x="1270" y="81280"/>
                  </a:cubicBezTo>
                  <a:cubicBezTo>
                    <a:pt x="2540" y="62230"/>
                    <a:pt x="17780" y="29210"/>
                    <a:pt x="30480" y="16510"/>
                  </a:cubicBezTo>
                  <a:cubicBezTo>
                    <a:pt x="39370" y="6350"/>
                    <a:pt x="50800" y="2540"/>
                    <a:pt x="63500" y="1270"/>
                  </a:cubicBezTo>
                  <a:cubicBezTo>
                    <a:pt x="82550" y="0"/>
                    <a:pt x="130810" y="22860"/>
                    <a:pt x="130810" y="22860"/>
                  </a:cubicBezTo>
                </a:path>
              </a:pathLst>
            </a:custGeom>
            <a:solidFill>
              <a:srgbClr val="F9F6F6"/>
            </a:solidFill>
            <a:ln cap="sq">
              <a:noFill/>
              <a:prstDash val="solid"/>
              <a:miter/>
            </a:ln>
          </p:spPr>
        </p:sp>
      </p:grpSp>
      <p:grpSp>
        <p:nvGrpSpPr>
          <p:cNvPr name="Group 40" id="40"/>
          <p:cNvGrpSpPr/>
          <p:nvPr/>
        </p:nvGrpSpPr>
        <p:grpSpPr>
          <a:xfrm rot="0">
            <a:off x="1159192" y="9495472"/>
            <a:ext cx="189548" cy="184785"/>
            <a:chOff x="0" y="0"/>
            <a:chExt cx="252730" cy="246380"/>
          </a:xfrm>
        </p:grpSpPr>
        <p:sp>
          <p:nvSpPr>
            <p:cNvPr name="Freeform 41" id="41"/>
            <p:cNvSpPr/>
            <p:nvPr/>
          </p:nvSpPr>
          <p:spPr>
            <a:xfrm flipH="false" flipV="false" rot="0">
              <a:off x="50800" y="49530"/>
              <a:ext cx="149860" cy="153670"/>
            </a:xfrm>
            <a:custGeom>
              <a:avLst/>
              <a:gdLst/>
              <a:ahLst/>
              <a:cxnLst/>
              <a:rect r="r" b="b" t="t" l="l"/>
              <a:pathLst>
                <a:path h="153670" w="149860">
                  <a:moveTo>
                    <a:pt x="149860" y="53340"/>
                  </a:moveTo>
                  <a:cubicBezTo>
                    <a:pt x="146050" y="107950"/>
                    <a:pt x="127000" y="137160"/>
                    <a:pt x="107950" y="146050"/>
                  </a:cubicBezTo>
                  <a:cubicBezTo>
                    <a:pt x="88900" y="153670"/>
                    <a:pt x="53340" y="148590"/>
                    <a:pt x="36830" y="140970"/>
                  </a:cubicBezTo>
                  <a:cubicBezTo>
                    <a:pt x="25400" y="135890"/>
                    <a:pt x="17780" y="125730"/>
                    <a:pt x="11430" y="115570"/>
                  </a:cubicBezTo>
                  <a:cubicBezTo>
                    <a:pt x="5080" y="105410"/>
                    <a:pt x="0" y="93980"/>
                    <a:pt x="0" y="80010"/>
                  </a:cubicBezTo>
                  <a:cubicBezTo>
                    <a:pt x="1270" y="62230"/>
                    <a:pt x="16510" y="29210"/>
                    <a:pt x="29210" y="16510"/>
                  </a:cubicBezTo>
                  <a:cubicBezTo>
                    <a:pt x="39370" y="6350"/>
                    <a:pt x="49530" y="1270"/>
                    <a:pt x="62230" y="1270"/>
                  </a:cubicBezTo>
                  <a:cubicBezTo>
                    <a:pt x="81280" y="0"/>
                    <a:pt x="130810" y="21590"/>
                    <a:pt x="130810" y="21590"/>
                  </a:cubicBezTo>
                </a:path>
              </a:pathLst>
            </a:custGeom>
            <a:solidFill>
              <a:srgbClr val="F9F6F6"/>
            </a:solidFill>
            <a:ln cap="sq">
              <a:noFill/>
              <a:prstDash val="solid"/>
              <a:miter/>
            </a:ln>
          </p:spPr>
        </p:sp>
      </p:grpSp>
      <p:grpSp>
        <p:nvGrpSpPr>
          <p:cNvPr name="Group 42" id="42"/>
          <p:cNvGrpSpPr/>
          <p:nvPr/>
        </p:nvGrpSpPr>
        <p:grpSpPr>
          <a:xfrm rot="0">
            <a:off x="3892867" y="4949190"/>
            <a:ext cx="337185" cy="344805"/>
            <a:chOff x="0" y="0"/>
            <a:chExt cx="449580" cy="459740"/>
          </a:xfrm>
        </p:grpSpPr>
        <p:sp>
          <p:nvSpPr>
            <p:cNvPr name="Freeform 43" id="43"/>
            <p:cNvSpPr/>
            <p:nvPr/>
          </p:nvSpPr>
          <p:spPr>
            <a:xfrm flipH="false" flipV="false" rot="0">
              <a:off x="43180" y="48260"/>
              <a:ext cx="355600" cy="363220"/>
            </a:xfrm>
            <a:custGeom>
              <a:avLst/>
              <a:gdLst/>
              <a:ahLst/>
              <a:cxnLst/>
              <a:rect r="r" b="b" t="t" l="l"/>
              <a:pathLst>
                <a:path h="363220" w="355600">
                  <a:moveTo>
                    <a:pt x="11430" y="190500"/>
                  </a:moveTo>
                  <a:cubicBezTo>
                    <a:pt x="54610" y="130810"/>
                    <a:pt x="127000" y="59690"/>
                    <a:pt x="160020" y="64770"/>
                  </a:cubicBezTo>
                  <a:cubicBezTo>
                    <a:pt x="184150" y="68580"/>
                    <a:pt x="204470" y="109220"/>
                    <a:pt x="217170" y="135890"/>
                  </a:cubicBezTo>
                  <a:cubicBezTo>
                    <a:pt x="228600" y="162560"/>
                    <a:pt x="231140" y="195580"/>
                    <a:pt x="232410" y="223520"/>
                  </a:cubicBezTo>
                  <a:cubicBezTo>
                    <a:pt x="234950" y="250190"/>
                    <a:pt x="238760" y="276860"/>
                    <a:pt x="231140" y="298450"/>
                  </a:cubicBezTo>
                  <a:cubicBezTo>
                    <a:pt x="226060" y="317500"/>
                    <a:pt x="213360" y="336550"/>
                    <a:pt x="198120" y="346710"/>
                  </a:cubicBezTo>
                  <a:cubicBezTo>
                    <a:pt x="182880" y="356870"/>
                    <a:pt x="158750" y="363220"/>
                    <a:pt x="140970" y="360680"/>
                  </a:cubicBezTo>
                  <a:cubicBezTo>
                    <a:pt x="123190" y="358140"/>
                    <a:pt x="100330" y="346710"/>
                    <a:pt x="88900" y="332740"/>
                  </a:cubicBezTo>
                  <a:cubicBezTo>
                    <a:pt x="76200" y="320040"/>
                    <a:pt x="71120" y="298450"/>
                    <a:pt x="67310" y="278130"/>
                  </a:cubicBezTo>
                  <a:cubicBezTo>
                    <a:pt x="64770" y="252730"/>
                    <a:pt x="71120" y="220980"/>
                    <a:pt x="74930" y="193040"/>
                  </a:cubicBezTo>
                  <a:cubicBezTo>
                    <a:pt x="78740" y="167640"/>
                    <a:pt x="78740" y="140970"/>
                    <a:pt x="88900" y="116840"/>
                  </a:cubicBezTo>
                  <a:cubicBezTo>
                    <a:pt x="100330" y="92710"/>
                    <a:pt x="118110" y="60960"/>
                    <a:pt x="140970" y="48260"/>
                  </a:cubicBezTo>
                  <a:cubicBezTo>
                    <a:pt x="163830" y="35560"/>
                    <a:pt x="199390" y="33020"/>
                    <a:pt x="224790" y="39370"/>
                  </a:cubicBezTo>
                  <a:cubicBezTo>
                    <a:pt x="250190" y="46990"/>
                    <a:pt x="275590" y="69850"/>
                    <a:pt x="292100" y="90170"/>
                  </a:cubicBezTo>
                  <a:cubicBezTo>
                    <a:pt x="307340" y="110490"/>
                    <a:pt x="327660" y="154940"/>
                    <a:pt x="320040" y="161290"/>
                  </a:cubicBezTo>
                  <a:cubicBezTo>
                    <a:pt x="313690" y="167640"/>
                    <a:pt x="273050" y="130810"/>
                    <a:pt x="248920" y="132080"/>
                  </a:cubicBezTo>
                  <a:cubicBezTo>
                    <a:pt x="224790" y="132080"/>
                    <a:pt x="190500" y="171450"/>
                    <a:pt x="176530" y="162560"/>
                  </a:cubicBezTo>
                  <a:cubicBezTo>
                    <a:pt x="161290" y="153670"/>
                    <a:pt x="160020" y="88900"/>
                    <a:pt x="171450" y="62230"/>
                  </a:cubicBezTo>
                  <a:cubicBezTo>
                    <a:pt x="182880" y="36830"/>
                    <a:pt x="219710" y="5080"/>
                    <a:pt x="246380" y="2540"/>
                  </a:cubicBezTo>
                  <a:cubicBezTo>
                    <a:pt x="274320" y="0"/>
                    <a:pt x="316230" y="29210"/>
                    <a:pt x="335280" y="52070"/>
                  </a:cubicBezTo>
                  <a:cubicBezTo>
                    <a:pt x="350520" y="72390"/>
                    <a:pt x="355600" y="100330"/>
                    <a:pt x="355600" y="128270"/>
                  </a:cubicBezTo>
                  <a:cubicBezTo>
                    <a:pt x="355600" y="165100"/>
                    <a:pt x="344170" y="227330"/>
                    <a:pt x="321310" y="252730"/>
                  </a:cubicBezTo>
                  <a:cubicBezTo>
                    <a:pt x="302260" y="273050"/>
                    <a:pt x="266700" y="285750"/>
                    <a:pt x="242570" y="283210"/>
                  </a:cubicBezTo>
                  <a:cubicBezTo>
                    <a:pt x="218440" y="280670"/>
                    <a:pt x="185420" y="257810"/>
                    <a:pt x="173990" y="236220"/>
                  </a:cubicBezTo>
                  <a:cubicBezTo>
                    <a:pt x="162560" y="213360"/>
                    <a:pt x="162560" y="173990"/>
                    <a:pt x="173990" y="152400"/>
                  </a:cubicBezTo>
                  <a:cubicBezTo>
                    <a:pt x="185420" y="130810"/>
                    <a:pt x="219710" y="107950"/>
                    <a:pt x="243840" y="105410"/>
                  </a:cubicBezTo>
                  <a:cubicBezTo>
                    <a:pt x="267970" y="102870"/>
                    <a:pt x="306070" y="118110"/>
                    <a:pt x="321310" y="137160"/>
                  </a:cubicBezTo>
                  <a:cubicBezTo>
                    <a:pt x="337820" y="156210"/>
                    <a:pt x="344170" y="195580"/>
                    <a:pt x="339090" y="218440"/>
                  </a:cubicBezTo>
                  <a:cubicBezTo>
                    <a:pt x="335280" y="237490"/>
                    <a:pt x="321310" y="255270"/>
                    <a:pt x="307340" y="265430"/>
                  </a:cubicBezTo>
                  <a:cubicBezTo>
                    <a:pt x="292100" y="276860"/>
                    <a:pt x="270510" y="284480"/>
                    <a:pt x="252730" y="284480"/>
                  </a:cubicBezTo>
                  <a:cubicBezTo>
                    <a:pt x="234950" y="283210"/>
                    <a:pt x="212090" y="276860"/>
                    <a:pt x="198120" y="265430"/>
                  </a:cubicBezTo>
                  <a:cubicBezTo>
                    <a:pt x="184150" y="254000"/>
                    <a:pt x="170180" y="236220"/>
                    <a:pt x="166370" y="217170"/>
                  </a:cubicBezTo>
                  <a:cubicBezTo>
                    <a:pt x="162560" y="194310"/>
                    <a:pt x="190500" y="147320"/>
                    <a:pt x="185420" y="135890"/>
                  </a:cubicBezTo>
                  <a:cubicBezTo>
                    <a:pt x="182880" y="132080"/>
                    <a:pt x="175260" y="129540"/>
                    <a:pt x="175260" y="129540"/>
                  </a:cubicBezTo>
                  <a:cubicBezTo>
                    <a:pt x="175260" y="128270"/>
                    <a:pt x="228600" y="167640"/>
                    <a:pt x="256540" y="171450"/>
                  </a:cubicBezTo>
                  <a:cubicBezTo>
                    <a:pt x="283210" y="175260"/>
                    <a:pt x="325120" y="144780"/>
                    <a:pt x="337820" y="154940"/>
                  </a:cubicBezTo>
                  <a:cubicBezTo>
                    <a:pt x="350520" y="166370"/>
                    <a:pt x="344170" y="215900"/>
                    <a:pt x="332740" y="238760"/>
                  </a:cubicBezTo>
                  <a:cubicBezTo>
                    <a:pt x="321310" y="260350"/>
                    <a:pt x="295910" y="281940"/>
                    <a:pt x="271780" y="290830"/>
                  </a:cubicBezTo>
                  <a:cubicBezTo>
                    <a:pt x="246380" y="298450"/>
                    <a:pt x="199390" y="299720"/>
                    <a:pt x="180340" y="284480"/>
                  </a:cubicBezTo>
                  <a:cubicBezTo>
                    <a:pt x="162560" y="267970"/>
                    <a:pt x="148590" y="213360"/>
                    <a:pt x="160020" y="198120"/>
                  </a:cubicBezTo>
                  <a:cubicBezTo>
                    <a:pt x="170180" y="184150"/>
                    <a:pt x="231140" y="181610"/>
                    <a:pt x="243840" y="194310"/>
                  </a:cubicBezTo>
                  <a:cubicBezTo>
                    <a:pt x="255270" y="207010"/>
                    <a:pt x="241300" y="252730"/>
                    <a:pt x="233680" y="278130"/>
                  </a:cubicBezTo>
                  <a:cubicBezTo>
                    <a:pt x="226060" y="303530"/>
                    <a:pt x="215900" y="332740"/>
                    <a:pt x="198120" y="346710"/>
                  </a:cubicBezTo>
                  <a:cubicBezTo>
                    <a:pt x="182880" y="358140"/>
                    <a:pt x="158750" y="363220"/>
                    <a:pt x="140970" y="360680"/>
                  </a:cubicBezTo>
                  <a:cubicBezTo>
                    <a:pt x="123190" y="358140"/>
                    <a:pt x="100330" y="347980"/>
                    <a:pt x="88900" y="332740"/>
                  </a:cubicBezTo>
                  <a:cubicBezTo>
                    <a:pt x="74930" y="316230"/>
                    <a:pt x="66040" y="284480"/>
                    <a:pt x="68580" y="260350"/>
                  </a:cubicBezTo>
                  <a:cubicBezTo>
                    <a:pt x="69850" y="234950"/>
                    <a:pt x="81280" y="204470"/>
                    <a:pt x="100330" y="186690"/>
                  </a:cubicBezTo>
                  <a:cubicBezTo>
                    <a:pt x="123190" y="167640"/>
                    <a:pt x="191770" y="146050"/>
                    <a:pt x="200660" y="157480"/>
                  </a:cubicBezTo>
                  <a:cubicBezTo>
                    <a:pt x="212090" y="170180"/>
                    <a:pt x="158750" y="260350"/>
                    <a:pt x="133350" y="283210"/>
                  </a:cubicBezTo>
                  <a:cubicBezTo>
                    <a:pt x="118110" y="298450"/>
                    <a:pt x="99060" y="304800"/>
                    <a:pt x="83820" y="307340"/>
                  </a:cubicBezTo>
                  <a:cubicBezTo>
                    <a:pt x="71120" y="308610"/>
                    <a:pt x="58420" y="306070"/>
                    <a:pt x="46990" y="300990"/>
                  </a:cubicBezTo>
                  <a:cubicBezTo>
                    <a:pt x="33020" y="293370"/>
                    <a:pt x="13970" y="278130"/>
                    <a:pt x="7620" y="261620"/>
                  </a:cubicBezTo>
                  <a:cubicBezTo>
                    <a:pt x="0" y="242570"/>
                    <a:pt x="11430" y="190500"/>
                    <a:pt x="11430" y="190500"/>
                  </a:cubicBezTo>
                </a:path>
              </a:pathLst>
            </a:custGeom>
            <a:solidFill>
              <a:srgbClr val="F9F6F6"/>
            </a:solidFill>
            <a:ln cap="sq">
              <a:noFill/>
              <a:prstDash val="solid"/>
              <a:miter/>
            </a:ln>
          </p:spPr>
        </p:sp>
      </p:grpSp>
      <p:sp>
        <p:nvSpPr>
          <p:cNvPr name="Freeform 44" id="44"/>
          <p:cNvSpPr/>
          <p:nvPr/>
        </p:nvSpPr>
        <p:spPr>
          <a:xfrm flipH="false" flipV="false" rot="0">
            <a:off x="785356" y="5628222"/>
            <a:ext cx="5331596" cy="5331596"/>
          </a:xfrm>
          <a:custGeom>
            <a:avLst/>
            <a:gdLst/>
            <a:ahLst/>
            <a:cxnLst/>
            <a:rect r="r" b="b" t="t" l="l"/>
            <a:pathLst>
              <a:path h="5331596" w="5331596">
                <a:moveTo>
                  <a:pt x="0" y="0"/>
                </a:moveTo>
                <a:lnTo>
                  <a:pt x="5331596" y="0"/>
                </a:lnTo>
                <a:lnTo>
                  <a:pt x="5331596" y="5331596"/>
                </a:lnTo>
                <a:lnTo>
                  <a:pt x="0" y="5331596"/>
                </a:lnTo>
                <a:lnTo>
                  <a:pt x="0" y="0"/>
                </a:lnTo>
                <a:close/>
              </a:path>
            </a:pathLst>
          </a:custGeom>
          <a:blipFill>
            <a:blip r:embed="rId2"/>
            <a:stretch>
              <a:fillRect l="0" t="0" r="0" b="0"/>
            </a:stretch>
          </a:blipFill>
          <a:ln cap="sq">
            <a:noFill/>
            <a:prstDash val="solid"/>
            <a:miter/>
          </a:ln>
        </p:spPr>
      </p:sp>
      <p:sp>
        <p:nvSpPr>
          <p:cNvPr name="TextBox 45" id="45"/>
          <p:cNvSpPr txBox="true"/>
          <p:nvPr/>
        </p:nvSpPr>
        <p:spPr>
          <a:xfrm rot="0">
            <a:off x="1363980" y="7576383"/>
            <a:ext cx="2898522" cy="890910"/>
          </a:xfrm>
          <a:prstGeom prst="rect">
            <a:avLst/>
          </a:prstGeom>
        </p:spPr>
        <p:txBody>
          <a:bodyPr anchor="t" rtlCol="false" tIns="0" lIns="0" bIns="0" rIns="0">
            <a:spAutoFit/>
          </a:bodyPr>
          <a:lstStyle/>
          <a:p>
            <a:pPr algn="ctr">
              <a:lnSpc>
                <a:spcPts val="3341"/>
              </a:lnSpc>
              <a:spcBef>
                <a:spcPct val="0"/>
              </a:spcBef>
            </a:pPr>
            <a:r>
              <a:rPr lang="en-US" b="true" sz="3093">
                <a:solidFill>
                  <a:srgbClr val="FFFFFF"/>
                </a:solidFill>
                <a:latin typeface="Poppins Bold"/>
                <a:ea typeface="Poppins Bold"/>
                <a:cs typeface="Poppins Bold"/>
                <a:sym typeface="Poppins Bold"/>
              </a:rPr>
              <a:t>App &amp; Screen Interface</a:t>
            </a:r>
          </a:p>
        </p:txBody>
      </p:sp>
      <p:grpSp>
        <p:nvGrpSpPr>
          <p:cNvPr name="Group 46" id="46"/>
          <p:cNvGrpSpPr/>
          <p:nvPr/>
        </p:nvGrpSpPr>
        <p:grpSpPr>
          <a:xfrm rot="0">
            <a:off x="6629818" y="5628222"/>
            <a:ext cx="5331596" cy="5331596"/>
            <a:chOff x="0" y="0"/>
            <a:chExt cx="7108795" cy="7108795"/>
          </a:xfrm>
        </p:grpSpPr>
        <p:sp>
          <p:nvSpPr>
            <p:cNvPr name="Freeform 47" id="47"/>
            <p:cNvSpPr/>
            <p:nvPr/>
          </p:nvSpPr>
          <p:spPr>
            <a:xfrm flipH="false" flipV="false" rot="0">
              <a:off x="0" y="0"/>
              <a:ext cx="7108795" cy="7108795"/>
            </a:xfrm>
            <a:custGeom>
              <a:avLst/>
              <a:gdLst/>
              <a:ahLst/>
              <a:cxnLst/>
              <a:rect r="r" b="b" t="t" l="l"/>
              <a:pathLst>
                <a:path h="7108795" w="7108795">
                  <a:moveTo>
                    <a:pt x="0" y="0"/>
                  </a:moveTo>
                  <a:lnTo>
                    <a:pt x="7108795" y="0"/>
                  </a:lnTo>
                  <a:lnTo>
                    <a:pt x="7108795" y="7108795"/>
                  </a:lnTo>
                  <a:lnTo>
                    <a:pt x="0" y="7108795"/>
                  </a:lnTo>
                  <a:lnTo>
                    <a:pt x="0" y="0"/>
                  </a:lnTo>
                  <a:close/>
                </a:path>
              </a:pathLst>
            </a:custGeom>
            <a:blipFill>
              <a:blip r:embed="rId2"/>
              <a:stretch>
                <a:fillRect l="0" t="0" r="0" b="0"/>
              </a:stretch>
            </a:blipFill>
            <a:ln cap="sq">
              <a:noFill/>
              <a:prstDash val="solid"/>
              <a:miter/>
            </a:ln>
          </p:spPr>
        </p:sp>
        <p:sp>
          <p:nvSpPr>
            <p:cNvPr name="TextBox 48" id="48"/>
            <p:cNvSpPr txBox="true"/>
            <p:nvPr/>
          </p:nvSpPr>
          <p:spPr>
            <a:xfrm rot="0">
              <a:off x="1881334" y="2935443"/>
              <a:ext cx="3346127" cy="679108"/>
            </a:xfrm>
            <a:prstGeom prst="rect">
              <a:avLst/>
            </a:prstGeom>
          </p:spPr>
          <p:txBody>
            <a:bodyPr anchor="t" rtlCol="false" tIns="0" lIns="0" bIns="0" rIns="0">
              <a:spAutoFit/>
            </a:bodyPr>
            <a:lstStyle/>
            <a:p>
              <a:pPr algn="ctr">
                <a:lnSpc>
                  <a:spcPts val="3682"/>
                </a:lnSpc>
                <a:spcBef>
                  <a:spcPct val="0"/>
                </a:spcBef>
              </a:pPr>
              <a:r>
                <a:rPr lang="en-US" b="true" sz="3409">
                  <a:solidFill>
                    <a:srgbClr val="FFFFFF"/>
                  </a:solidFill>
                  <a:latin typeface="Poppins Bold"/>
                  <a:ea typeface="Poppins Bold"/>
                  <a:cs typeface="Poppins Bold"/>
                  <a:sym typeface="Poppins Bold"/>
                </a:rPr>
                <a:t>freshbox.ai</a:t>
              </a:r>
            </a:p>
          </p:txBody>
        </p:sp>
      </p:grpSp>
      <p:sp>
        <p:nvSpPr>
          <p:cNvPr name="TextBox 49" id="49"/>
          <p:cNvSpPr txBox="true"/>
          <p:nvPr/>
        </p:nvSpPr>
        <p:spPr>
          <a:xfrm rot="0">
            <a:off x="7023227" y="3439666"/>
            <a:ext cx="4544778" cy="1417275"/>
          </a:xfrm>
          <a:prstGeom prst="rect">
            <a:avLst/>
          </a:prstGeom>
        </p:spPr>
        <p:txBody>
          <a:bodyPr anchor="t" rtlCol="false" tIns="0" lIns="0" bIns="0" rIns="0">
            <a:spAutoFit/>
          </a:bodyPr>
          <a:lstStyle/>
          <a:p>
            <a:pPr algn="ctr">
              <a:lnSpc>
                <a:spcPts val="3767"/>
              </a:lnSpc>
            </a:pPr>
            <a:r>
              <a:rPr lang="en-US" sz="2897" b="true">
                <a:solidFill>
                  <a:srgbClr val="FFFFFF"/>
                </a:solidFill>
                <a:latin typeface="Poppins Bold"/>
                <a:ea typeface="Poppins Bold"/>
                <a:cs typeface="Poppins Bold"/>
                <a:sym typeface="Poppins Bold"/>
              </a:rPr>
              <a:t>Host: </a:t>
            </a:r>
          </a:p>
          <a:p>
            <a:pPr algn="ctr">
              <a:lnSpc>
                <a:spcPts val="3767"/>
              </a:lnSpc>
            </a:pPr>
            <a:r>
              <a:rPr lang="en-US" sz="2897" b="true">
                <a:solidFill>
                  <a:srgbClr val="FFFFFF"/>
                </a:solidFill>
                <a:latin typeface="Poppins Bold"/>
                <a:ea typeface="Poppins Bold"/>
                <a:cs typeface="Poppins Bold"/>
                <a:sym typeface="Poppins Bold"/>
              </a:rPr>
              <a:t>Vector DB </a:t>
            </a:r>
          </a:p>
          <a:p>
            <a:pPr algn="ctr">
              <a:lnSpc>
                <a:spcPts val="3767"/>
              </a:lnSpc>
            </a:pPr>
            <a:r>
              <a:rPr lang="en-US" b="true" sz="2897">
                <a:solidFill>
                  <a:srgbClr val="FFFFFF"/>
                </a:solidFill>
                <a:latin typeface="Poppins Bold"/>
                <a:ea typeface="Poppins Bold"/>
                <a:cs typeface="Poppins Bold"/>
                <a:sym typeface="Poppins Bold"/>
              </a:rPr>
              <a:t>(Data Base)</a:t>
            </a:r>
          </a:p>
        </p:txBody>
      </p:sp>
      <p:sp>
        <p:nvSpPr>
          <p:cNvPr name="TextBox 50" id="50"/>
          <p:cNvSpPr txBox="true"/>
          <p:nvPr/>
        </p:nvSpPr>
        <p:spPr>
          <a:xfrm rot="0">
            <a:off x="16103728" y="9673590"/>
            <a:ext cx="1723628" cy="265181"/>
          </a:xfrm>
          <a:prstGeom prst="rect">
            <a:avLst/>
          </a:prstGeom>
        </p:spPr>
        <p:txBody>
          <a:bodyPr anchor="t" rtlCol="false" tIns="0" lIns="0" bIns="0" rIns="0">
            <a:spAutoFit/>
          </a:bodyPr>
          <a:lstStyle/>
          <a:p>
            <a:pPr algn="ctr">
              <a:lnSpc>
                <a:spcPts val="1917"/>
              </a:lnSpc>
              <a:spcBef>
                <a:spcPct val="0"/>
              </a:spcBef>
            </a:pPr>
            <a:r>
              <a:rPr lang="en-US" b="true" sz="1775">
                <a:solidFill>
                  <a:srgbClr val="000000"/>
                </a:solidFill>
                <a:latin typeface="Poppins Bold"/>
                <a:ea typeface="Poppins Bold"/>
                <a:cs typeface="Poppins Bold"/>
                <a:sym typeface="Poppins Bold"/>
              </a:rPr>
              <a:t>πηγή: CS50 [5]</a:t>
            </a:r>
          </a:p>
        </p:txBody>
      </p:sp>
      <p:grpSp>
        <p:nvGrpSpPr>
          <p:cNvPr name="Group 51" id="51"/>
          <p:cNvGrpSpPr/>
          <p:nvPr/>
        </p:nvGrpSpPr>
        <p:grpSpPr>
          <a:xfrm rot="0">
            <a:off x="14539912" y="4467225"/>
            <a:ext cx="401955" cy="508635"/>
            <a:chOff x="0" y="0"/>
            <a:chExt cx="535940" cy="678180"/>
          </a:xfrm>
        </p:grpSpPr>
        <p:sp>
          <p:nvSpPr>
            <p:cNvPr name="Freeform 52" id="52"/>
            <p:cNvSpPr/>
            <p:nvPr/>
          </p:nvSpPr>
          <p:spPr>
            <a:xfrm flipH="false" flipV="false" rot="0">
              <a:off x="39370" y="50800"/>
              <a:ext cx="450850" cy="577850"/>
            </a:xfrm>
            <a:custGeom>
              <a:avLst/>
              <a:gdLst/>
              <a:ahLst/>
              <a:cxnLst/>
              <a:rect r="r" b="b" t="t" l="l"/>
              <a:pathLst>
                <a:path h="577850" w="450850">
                  <a:moveTo>
                    <a:pt x="241300" y="344170"/>
                  </a:moveTo>
                  <a:cubicBezTo>
                    <a:pt x="199390" y="410210"/>
                    <a:pt x="140970" y="458470"/>
                    <a:pt x="109220" y="452120"/>
                  </a:cubicBezTo>
                  <a:cubicBezTo>
                    <a:pt x="78740" y="447040"/>
                    <a:pt x="48260" y="398780"/>
                    <a:pt x="31750" y="360680"/>
                  </a:cubicBezTo>
                  <a:cubicBezTo>
                    <a:pt x="12700" y="312420"/>
                    <a:pt x="15240" y="229870"/>
                    <a:pt x="16510" y="181610"/>
                  </a:cubicBezTo>
                  <a:cubicBezTo>
                    <a:pt x="16510" y="151130"/>
                    <a:pt x="15240" y="123190"/>
                    <a:pt x="24130" y="104140"/>
                  </a:cubicBezTo>
                  <a:cubicBezTo>
                    <a:pt x="29210" y="90170"/>
                    <a:pt x="38100" y="81280"/>
                    <a:pt x="49530" y="73660"/>
                  </a:cubicBezTo>
                  <a:cubicBezTo>
                    <a:pt x="63500" y="64770"/>
                    <a:pt x="88900" y="58420"/>
                    <a:pt x="105410" y="59690"/>
                  </a:cubicBezTo>
                  <a:cubicBezTo>
                    <a:pt x="119380" y="59690"/>
                    <a:pt x="132080" y="64770"/>
                    <a:pt x="143510" y="72390"/>
                  </a:cubicBezTo>
                  <a:cubicBezTo>
                    <a:pt x="156210" y="82550"/>
                    <a:pt x="168910" y="95250"/>
                    <a:pt x="176530" y="120650"/>
                  </a:cubicBezTo>
                  <a:cubicBezTo>
                    <a:pt x="198120" y="186690"/>
                    <a:pt x="196850" y="447040"/>
                    <a:pt x="176530" y="514350"/>
                  </a:cubicBezTo>
                  <a:cubicBezTo>
                    <a:pt x="168910" y="539750"/>
                    <a:pt x="157480" y="552450"/>
                    <a:pt x="143510" y="562610"/>
                  </a:cubicBezTo>
                  <a:cubicBezTo>
                    <a:pt x="133350" y="571500"/>
                    <a:pt x="120650" y="576580"/>
                    <a:pt x="106680" y="576580"/>
                  </a:cubicBezTo>
                  <a:cubicBezTo>
                    <a:pt x="90170" y="577850"/>
                    <a:pt x="66040" y="575310"/>
                    <a:pt x="50800" y="563880"/>
                  </a:cubicBezTo>
                  <a:cubicBezTo>
                    <a:pt x="33020" y="551180"/>
                    <a:pt x="19050" y="530860"/>
                    <a:pt x="13970" y="496570"/>
                  </a:cubicBezTo>
                  <a:cubicBezTo>
                    <a:pt x="0" y="416560"/>
                    <a:pt x="49530" y="129540"/>
                    <a:pt x="86360" y="67310"/>
                  </a:cubicBezTo>
                  <a:cubicBezTo>
                    <a:pt x="99060" y="44450"/>
                    <a:pt x="115570" y="36830"/>
                    <a:pt x="130810" y="30480"/>
                  </a:cubicBezTo>
                  <a:cubicBezTo>
                    <a:pt x="143510" y="25400"/>
                    <a:pt x="157480" y="25400"/>
                    <a:pt x="168910" y="27940"/>
                  </a:cubicBezTo>
                  <a:cubicBezTo>
                    <a:pt x="181610" y="29210"/>
                    <a:pt x="194310" y="34290"/>
                    <a:pt x="204470" y="43180"/>
                  </a:cubicBezTo>
                  <a:cubicBezTo>
                    <a:pt x="217170" y="53340"/>
                    <a:pt x="226060" y="67310"/>
                    <a:pt x="234950" y="91440"/>
                  </a:cubicBezTo>
                  <a:cubicBezTo>
                    <a:pt x="255270" y="142240"/>
                    <a:pt x="293370" y="293370"/>
                    <a:pt x="283210" y="344170"/>
                  </a:cubicBezTo>
                  <a:cubicBezTo>
                    <a:pt x="278130" y="369570"/>
                    <a:pt x="266700" y="383540"/>
                    <a:pt x="251460" y="394970"/>
                  </a:cubicBezTo>
                  <a:cubicBezTo>
                    <a:pt x="236220" y="406400"/>
                    <a:pt x="210820" y="411480"/>
                    <a:pt x="194310" y="411480"/>
                  </a:cubicBezTo>
                  <a:cubicBezTo>
                    <a:pt x="180340" y="411480"/>
                    <a:pt x="167640" y="406400"/>
                    <a:pt x="156210" y="398780"/>
                  </a:cubicBezTo>
                  <a:cubicBezTo>
                    <a:pt x="142240" y="388620"/>
                    <a:pt x="128270" y="374650"/>
                    <a:pt x="120650" y="351790"/>
                  </a:cubicBezTo>
                  <a:cubicBezTo>
                    <a:pt x="105410" y="304800"/>
                    <a:pt x="111760" y="162560"/>
                    <a:pt x="121920" y="119380"/>
                  </a:cubicBezTo>
                  <a:cubicBezTo>
                    <a:pt x="127000" y="101600"/>
                    <a:pt x="130810" y="93980"/>
                    <a:pt x="140970" y="83820"/>
                  </a:cubicBezTo>
                  <a:cubicBezTo>
                    <a:pt x="153670" y="71120"/>
                    <a:pt x="176530" y="58420"/>
                    <a:pt x="194310" y="55880"/>
                  </a:cubicBezTo>
                  <a:cubicBezTo>
                    <a:pt x="213360" y="53340"/>
                    <a:pt x="238760" y="60960"/>
                    <a:pt x="252730" y="69850"/>
                  </a:cubicBezTo>
                  <a:cubicBezTo>
                    <a:pt x="265430" y="77470"/>
                    <a:pt x="271780" y="85090"/>
                    <a:pt x="279400" y="100330"/>
                  </a:cubicBezTo>
                  <a:cubicBezTo>
                    <a:pt x="295910" y="130810"/>
                    <a:pt x="312420" y="199390"/>
                    <a:pt x="322580" y="250190"/>
                  </a:cubicBezTo>
                  <a:cubicBezTo>
                    <a:pt x="331470" y="298450"/>
                    <a:pt x="340360" y="358140"/>
                    <a:pt x="336550" y="394970"/>
                  </a:cubicBezTo>
                  <a:cubicBezTo>
                    <a:pt x="332740" y="419100"/>
                    <a:pt x="327660" y="438150"/>
                    <a:pt x="314960" y="452120"/>
                  </a:cubicBezTo>
                  <a:cubicBezTo>
                    <a:pt x="302260" y="467360"/>
                    <a:pt x="279400" y="478790"/>
                    <a:pt x="260350" y="481330"/>
                  </a:cubicBezTo>
                  <a:cubicBezTo>
                    <a:pt x="241300" y="483870"/>
                    <a:pt x="217170" y="477520"/>
                    <a:pt x="200660" y="467360"/>
                  </a:cubicBezTo>
                  <a:cubicBezTo>
                    <a:pt x="185420" y="455930"/>
                    <a:pt x="173990" y="440690"/>
                    <a:pt x="166370" y="416560"/>
                  </a:cubicBezTo>
                  <a:cubicBezTo>
                    <a:pt x="152400" y="373380"/>
                    <a:pt x="158750" y="269240"/>
                    <a:pt x="162560" y="218440"/>
                  </a:cubicBezTo>
                  <a:cubicBezTo>
                    <a:pt x="165100" y="187960"/>
                    <a:pt x="158750" y="162560"/>
                    <a:pt x="175260" y="142240"/>
                  </a:cubicBezTo>
                  <a:cubicBezTo>
                    <a:pt x="194310" y="118110"/>
                    <a:pt x="255270" y="88900"/>
                    <a:pt x="287020" y="95250"/>
                  </a:cubicBezTo>
                  <a:cubicBezTo>
                    <a:pt x="313690" y="100330"/>
                    <a:pt x="340360" y="130810"/>
                    <a:pt x="354330" y="160020"/>
                  </a:cubicBezTo>
                  <a:cubicBezTo>
                    <a:pt x="372110" y="196850"/>
                    <a:pt x="374650" y="273050"/>
                    <a:pt x="368300" y="304800"/>
                  </a:cubicBezTo>
                  <a:cubicBezTo>
                    <a:pt x="364490" y="321310"/>
                    <a:pt x="358140" y="331470"/>
                    <a:pt x="347980" y="341630"/>
                  </a:cubicBezTo>
                  <a:cubicBezTo>
                    <a:pt x="339090" y="351790"/>
                    <a:pt x="327660" y="361950"/>
                    <a:pt x="313690" y="365760"/>
                  </a:cubicBezTo>
                  <a:cubicBezTo>
                    <a:pt x="297180" y="372110"/>
                    <a:pt x="269240" y="373380"/>
                    <a:pt x="251460" y="367030"/>
                  </a:cubicBezTo>
                  <a:cubicBezTo>
                    <a:pt x="232410" y="359410"/>
                    <a:pt x="213360" y="340360"/>
                    <a:pt x="204470" y="325120"/>
                  </a:cubicBezTo>
                  <a:cubicBezTo>
                    <a:pt x="196850" y="312420"/>
                    <a:pt x="195580" y="302260"/>
                    <a:pt x="193040" y="284480"/>
                  </a:cubicBezTo>
                  <a:cubicBezTo>
                    <a:pt x="190500" y="247650"/>
                    <a:pt x="187960" y="162560"/>
                    <a:pt x="204470" y="119380"/>
                  </a:cubicBezTo>
                  <a:cubicBezTo>
                    <a:pt x="218440" y="85090"/>
                    <a:pt x="246380" y="49530"/>
                    <a:pt x="273050" y="38100"/>
                  </a:cubicBezTo>
                  <a:cubicBezTo>
                    <a:pt x="297180" y="29210"/>
                    <a:pt x="336550" y="34290"/>
                    <a:pt x="356870" y="48260"/>
                  </a:cubicBezTo>
                  <a:cubicBezTo>
                    <a:pt x="375920" y="62230"/>
                    <a:pt x="384810" y="88900"/>
                    <a:pt x="392430" y="118110"/>
                  </a:cubicBezTo>
                  <a:cubicBezTo>
                    <a:pt x="403860" y="157480"/>
                    <a:pt x="405130" y="233680"/>
                    <a:pt x="402590" y="267970"/>
                  </a:cubicBezTo>
                  <a:cubicBezTo>
                    <a:pt x="400050" y="285750"/>
                    <a:pt x="400050" y="297180"/>
                    <a:pt x="392430" y="309880"/>
                  </a:cubicBezTo>
                  <a:cubicBezTo>
                    <a:pt x="382270" y="325120"/>
                    <a:pt x="363220" y="344170"/>
                    <a:pt x="344170" y="351790"/>
                  </a:cubicBezTo>
                  <a:cubicBezTo>
                    <a:pt x="325120" y="359410"/>
                    <a:pt x="298450" y="359410"/>
                    <a:pt x="280670" y="351790"/>
                  </a:cubicBezTo>
                  <a:cubicBezTo>
                    <a:pt x="261620" y="344170"/>
                    <a:pt x="241300" y="325120"/>
                    <a:pt x="232410" y="309880"/>
                  </a:cubicBezTo>
                  <a:cubicBezTo>
                    <a:pt x="224790" y="295910"/>
                    <a:pt x="223520" y="285750"/>
                    <a:pt x="222250" y="267970"/>
                  </a:cubicBezTo>
                  <a:cubicBezTo>
                    <a:pt x="219710" y="231140"/>
                    <a:pt x="232410" y="139700"/>
                    <a:pt x="243840" y="105410"/>
                  </a:cubicBezTo>
                  <a:cubicBezTo>
                    <a:pt x="250190" y="87630"/>
                    <a:pt x="254000" y="77470"/>
                    <a:pt x="264160" y="67310"/>
                  </a:cubicBezTo>
                  <a:cubicBezTo>
                    <a:pt x="278130" y="54610"/>
                    <a:pt x="303530" y="40640"/>
                    <a:pt x="321310" y="38100"/>
                  </a:cubicBezTo>
                  <a:cubicBezTo>
                    <a:pt x="336550" y="35560"/>
                    <a:pt x="351790" y="38100"/>
                    <a:pt x="364490" y="43180"/>
                  </a:cubicBezTo>
                  <a:cubicBezTo>
                    <a:pt x="377190" y="48260"/>
                    <a:pt x="391160" y="57150"/>
                    <a:pt x="400050" y="67310"/>
                  </a:cubicBezTo>
                  <a:cubicBezTo>
                    <a:pt x="408940" y="78740"/>
                    <a:pt x="414020" y="88900"/>
                    <a:pt x="420370" y="106680"/>
                  </a:cubicBezTo>
                  <a:cubicBezTo>
                    <a:pt x="430530" y="139700"/>
                    <a:pt x="445770" y="223520"/>
                    <a:pt x="444500" y="259080"/>
                  </a:cubicBezTo>
                  <a:cubicBezTo>
                    <a:pt x="444500" y="278130"/>
                    <a:pt x="441960" y="288290"/>
                    <a:pt x="434340" y="300990"/>
                  </a:cubicBezTo>
                  <a:cubicBezTo>
                    <a:pt x="425450" y="317500"/>
                    <a:pt x="405130" y="336550"/>
                    <a:pt x="386080" y="344170"/>
                  </a:cubicBezTo>
                  <a:cubicBezTo>
                    <a:pt x="367030" y="351790"/>
                    <a:pt x="340360" y="351790"/>
                    <a:pt x="321310" y="344170"/>
                  </a:cubicBezTo>
                  <a:cubicBezTo>
                    <a:pt x="302260" y="337820"/>
                    <a:pt x="285750" y="323850"/>
                    <a:pt x="273050" y="300990"/>
                  </a:cubicBezTo>
                  <a:cubicBezTo>
                    <a:pt x="250190" y="260350"/>
                    <a:pt x="229870" y="142240"/>
                    <a:pt x="238760" y="91440"/>
                  </a:cubicBezTo>
                  <a:cubicBezTo>
                    <a:pt x="245110" y="58420"/>
                    <a:pt x="259080" y="29210"/>
                    <a:pt x="279400" y="15240"/>
                  </a:cubicBezTo>
                  <a:cubicBezTo>
                    <a:pt x="300990" y="1270"/>
                    <a:pt x="342900" y="0"/>
                    <a:pt x="365760" y="7620"/>
                  </a:cubicBezTo>
                  <a:cubicBezTo>
                    <a:pt x="383540" y="13970"/>
                    <a:pt x="400050" y="29210"/>
                    <a:pt x="410210" y="45720"/>
                  </a:cubicBezTo>
                  <a:cubicBezTo>
                    <a:pt x="419100" y="62230"/>
                    <a:pt x="425450" y="83820"/>
                    <a:pt x="421640" y="102870"/>
                  </a:cubicBezTo>
                  <a:cubicBezTo>
                    <a:pt x="416560" y="125730"/>
                    <a:pt x="392430" y="161290"/>
                    <a:pt x="372110" y="173990"/>
                  </a:cubicBezTo>
                  <a:cubicBezTo>
                    <a:pt x="355600" y="184150"/>
                    <a:pt x="332740" y="185420"/>
                    <a:pt x="314960" y="182880"/>
                  </a:cubicBezTo>
                  <a:cubicBezTo>
                    <a:pt x="295910" y="179070"/>
                    <a:pt x="275590" y="170180"/>
                    <a:pt x="262890" y="154940"/>
                  </a:cubicBezTo>
                  <a:cubicBezTo>
                    <a:pt x="248920" y="135890"/>
                    <a:pt x="237490" y="95250"/>
                    <a:pt x="241300" y="71120"/>
                  </a:cubicBezTo>
                  <a:cubicBezTo>
                    <a:pt x="243840" y="52070"/>
                    <a:pt x="257810" y="33020"/>
                    <a:pt x="271780" y="21590"/>
                  </a:cubicBezTo>
                  <a:cubicBezTo>
                    <a:pt x="285750" y="10160"/>
                    <a:pt x="307340" y="0"/>
                    <a:pt x="326390" y="0"/>
                  </a:cubicBezTo>
                  <a:cubicBezTo>
                    <a:pt x="350520" y="1270"/>
                    <a:pt x="384810" y="15240"/>
                    <a:pt x="403860" y="38100"/>
                  </a:cubicBezTo>
                  <a:cubicBezTo>
                    <a:pt x="429260" y="67310"/>
                    <a:pt x="439420" y="134620"/>
                    <a:pt x="444500" y="177800"/>
                  </a:cubicBezTo>
                  <a:cubicBezTo>
                    <a:pt x="449580" y="214630"/>
                    <a:pt x="450850" y="252730"/>
                    <a:pt x="441960" y="280670"/>
                  </a:cubicBezTo>
                  <a:cubicBezTo>
                    <a:pt x="435610" y="302260"/>
                    <a:pt x="421640" y="322580"/>
                    <a:pt x="405130" y="334010"/>
                  </a:cubicBezTo>
                  <a:cubicBezTo>
                    <a:pt x="388620" y="345440"/>
                    <a:pt x="363220" y="351790"/>
                    <a:pt x="342900" y="349250"/>
                  </a:cubicBezTo>
                  <a:cubicBezTo>
                    <a:pt x="322580" y="346710"/>
                    <a:pt x="298450" y="332740"/>
                    <a:pt x="285750" y="320040"/>
                  </a:cubicBezTo>
                  <a:cubicBezTo>
                    <a:pt x="274320" y="308610"/>
                    <a:pt x="270510" y="298450"/>
                    <a:pt x="265430" y="280670"/>
                  </a:cubicBezTo>
                  <a:cubicBezTo>
                    <a:pt x="254000" y="247650"/>
                    <a:pt x="237490" y="166370"/>
                    <a:pt x="241300" y="127000"/>
                  </a:cubicBezTo>
                  <a:cubicBezTo>
                    <a:pt x="243840" y="101600"/>
                    <a:pt x="252730" y="81280"/>
                    <a:pt x="264160" y="67310"/>
                  </a:cubicBezTo>
                  <a:cubicBezTo>
                    <a:pt x="274320" y="55880"/>
                    <a:pt x="287020" y="46990"/>
                    <a:pt x="299720" y="43180"/>
                  </a:cubicBezTo>
                  <a:cubicBezTo>
                    <a:pt x="313690" y="38100"/>
                    <a:pt x="328930" y="35560"/>
                    <a:pt x="342900" y="38100"/>
                  </a:cubicBezTo>
                  <a:cubicBezTo>
                    <a:pt x="361950" y="40640"/>
                    <a:pt x="387350" y="53340"/>
                    <a:pt x="400050" y="67310"/>
                  </a:cubicBezTo>
                  <a:cubicBezTo>
                    <a:pt x="412750" y="82550"/>
                    <a:pt x="419100" y="102870"/>
                    <a:pt x="422910" y="128270"/>
                  </a:cubicBezTo>
                  <a:cubicBezTo>
                    <a:pt x="426720" y="168910"/>
                    <a:pt x="410210" y="254000"/>
                    <a:pt x="400050" y="289560"/>
                  </a:cubicBezTo>
                  <a:cubicBezTo>
                    <a:pt x="393700" y="307340"/>
                    <a:pt x="388620" y="317500"/>
                    <a:pt x="379730" y="327660"/>
                  </a:cubicBezTo>
                  <a:cubicBezTo>
                    <a:pt x="370840" y="337820"/>
                    <a:pt x="358140" y="347980"/>
                    <a:pt x="344170" y="351790"/>
                  </a:cubicBezTo>
                  <a:cubicBezTo>
                    <a:pt x="326390" y="356870"/>
                    <a:pt x="298450" y="359410"/>
                    <a:pt x="280670" y="351790"/>
                  </a:cubicBezTo>
                  <a:cubicBezTo>
                    <a:pt x="261620" y="344170"/>
                    <a:pt x="243840" y="331470"/>
                    <a:pt x="232410" y="309880"/>
                  </a:cubicBezTo>
                  <a:cubicBezTo>
                    <a:pt x="214630" y="274320"/>
                    <a:pt x="200660" y="153670"/>
                    <a:pt x="215900" y="146050"/>
                  </a:cubicBezTo>
                  <a:cubicBezTo>
                    <a:pt x="227330" y="139700"/>
                    <a:pt x="256540" y="189230"/>
                    <a:pt x="281940" y="198120"/>
                  </a:cubicBezTo>
                  <a:cubicBezTo>
                    <a:pt x="309880" y="205740"/>
                    <a:pt x="363220" y="177800"/>
                    <a:pt x="378460" y="193040"/>
                  </a:cubicBezTo>
                  <a:cubicBezTo>
                    <a:pt x="393700" y="209550"/>
                    <a:pt x="375920" y="278130"/>
                    <a:pt x="368300" y="304800"/>
                  </a:cubicBezTo>
                  <a:cubicBezTo>
                    <a:pt x="363220" y="321310"/>
                    <a:pt x="358140" y="331470"/>
                    <a:pt x="347980" y="341630"/>
                  </a:cubicBezTo>
                  <a:cubicBezTo>
                    <a:pt x="339090" y="351790"/>
                    <a:pt x="326390" y="360680"/>
                    <a:pt x="313690" y="365760"/>
                  </a:cubicBezTo>
                  <a:cubicBezTo>
                    <a:pt x="300990" y="370840"/>
                    <a:pt x="285750" y="373380"/>
                    <a:pt x="271780" y="372110"/>
                  </a:cubicBezTo>
                  <a:cubicBezTo>
                    <a:pt x="257810" y="369570"/>
                    <a:pt x="243840" y="364490"/>
                    <a:pt x="232410" y="356870"/>
                  </a:cubicBezTo>
                  <a:cubicBezTo>
                    <a:pt x="220980" y="349250"/>
                    <a:pt x="210820" y="337820"/>
                    <a:pt x="204470" y="325120"/>
                  </a:cubicBezTo>
                  <a:cubicBezTo>
                    <a:pt x="198120" y="313690"/>
                    <a:pt x="190500" y="298450"/>
                    <a:pt x="193040" y="284480"/>
                  </a:cubicBezTo>
                  <a:cubicBezTo>
                    <a:pt x="196850" y="267970"/>
                    <a:pt x="213360" y="245110"/>
                    <a:pt x="232410" y="233680"/>
                  </a:cubicBezTo>
                  <a:cubicBezTo>
                    <a:pt x="257810" y="219710"/>
                    <a:pt x="317500" y="201930"/>
                    <a:pt x="336550" y="219710"/>
                  </a:cubicBezTo>
                  <a:cubicBezTo>
                    <a:pt x="363220" y="242570"/>
                    <a:pt x="346710" y="373380"/>
                    <a:pt x="334010" y="416560"/>
                  </a:cubicBezTo>
                  <a:cubicBezTo>
                    <a:pt x="326390" y="439420"/>
                    <a:pt x="312420" y="455930"/>
                    <a:pt x="298450" y="466090"/>
                  </a:cubicBezTo>
                  <a:cubicBezTo>
                    <a:pt x="287020" y="474980"/>
                    <a:pt x="274320" y="480060"/>
                    <a:pt x="260350" y="481330"/>
                  </a:cubicBezTo>
                  <a:cubicBezTo>
                    <a:pt x="242570" y="482600"/>
                    <a:pt x="215900" y="476250"/>
                    <a:pt x="200660" y="467360"/>
                  </a:cubicBezTo>
                  <a:cubicBezTo>
                    <a:pt x="187960" y="459740"/>
                    <a:pt x="181610" y="453390"/>
                    <a:pt x="173990" y="435610"/>
                  </a:cubicBezTo>
                  <a:cubicBezTo>
                    <a:pt x="151130" y="388620"/>
                    <a:pt x="118110" y="191770"/>
                    <a:pt x="119380" y="139700"/>
                  </a:cubicBezTo>
                  <a:cubicBezTo>
                    <a:pt x="120650" y="120650"/>
                    <a:pt x="121920" y="111760"/>
                    <a:pt x="129540" y="100330"/>
                  </a:cubicBezTo>
                  <a:cubicBezTo>
                    <a:pt x="138430" y="85090"/>
                    <a:pt x="157480" y="67310"/>
                    <a:pt x="175260" y="60960"/>
                  </a:cubicBezTo>
                  <a:cubicBezTo>
                    <a:pt x="191770" y="53340"/>
                    <a:pt x="217170" y="53340"/>
                    <a:pt x="234950" y="60960"/>
                  </a:cubicBezTo>
                  <a:cubicBezTo>
                    <a:pt x="252730" y="67310"/>
                    <a:pt x="269240" y="78740"/>
                    <a:pt x="279400" y="100330"/>
                  </a:cubicBezTo>
                  <a:cubicBezTo>
                    <a:pt x="300990" y="146050"/>
                    <a:pt x="297180" y="294640"/>
                    <a:pt x="283210" y="344170"/>
                  </a:cubicBezTo>
                  <a:cubicBezTo>
                    <a:pt x="275590" y="369570"/>
                    <a:pt x="266700" y="383540"/>
                    <a:pt x="251460" y="394970"/>
                  </a:cubicBezTo>
                  <a:cubicBezTo>
                    <a:pt x="236220" y="406400"/>
                    <a:pt x="213360" y="412750"/>
                    <a:pt x="194310" y="411480"/>
                  </a:cubicBezTo>
                  <a:cubicBezTo>
                    <a:pt x="176530" y="410210"/>
                    <a:pt x="153670" y="397510"/>
                    <a:pt x="140970" y="386080"/>
                  </a:cubicBezTo>
                  <a:cubicBezTo>
                    <a:pt x="130810" y="375920"/>
                    <a:pt x="127000" y="368300"/>
                    <a:pt x="120650" y="351790"/>
                  </a:cubicBezTo>
                  <a:cubicBezTo>
                    <a:pt x="104140" y="307340"/>
                    <a:pt x="72390" y="149860"/>
                    <a:pt x="74930" y="104140"/>
                  </a:cubicBezTo>
                  <a:cubicBezTo>
                    <a:pt x="76200" y="86360"/>
                    <a:pt x="78740" y="77470"/>
                    <a:pt x="86360" y="67310"/>
                  </a:cubicBezTo>
                  <a:cubicBezTo>
                    <a:pt x="95250" y="53340"/>
                    <a:pt x="114300" y="35560"/>
                    <a:pt x="130810" y="30480"/>
                  </a:cubicBezTo>
                  <a:cubicBezTo>
                    <a:pt x="147320" y="25400"/>
                    <a:pt x="172720" y="27940"/>
                    <a:pt x="187960" y="33020"/>
                  </a:cubicBezTo>
                  <a:cubicBezTo>
                    <a:pt x="200660" y="38100"/>
                    <a:pt x="210820" y="45720"/>
                    <a:pt x="218440" y="55880"/>
                  </a:cubicBezTo>
                  <a:cubicBezTo>
                    <a:pt x="228600" y="69850"/>
                    <a:pt x="234950" y="83820"/>
                    <a:pt x="237490" y="110490"/>
                  </a:cubicBezTo>
                  <a:cubicBezTo>
                    <a:pt x="242570" y="182880"/>
                    <a:pt x="201930" y="445770"/>
                    <a:pt x="176530" y="514350"/>
                  </a:cubicBezTo>
                  <a:cubicBezTo>
                    <a:pt x="166370" y="539750"/>
                    <a:pt x="157480" y="552450"/>
                    <a:pt x="143510" y="562610"/>
                  </a:cubicBezTo>
                  <a:cubicBezTo>
                    <a:pt x="133350" y="571500"/>
                    <a:pt x="120650" y="576580"/>
                    <a:pt x="107950" y="576580"/>
                  </a:cubicBezTo>
                  <a:cubicBezTo>
                    <a:pt x="90170" y="577850"/>
                    <a:pt x="66040" y="574040"/>
                    <a:pt x="50800" y="563880"/>
                  </a:cubicBezTo>
                  <a:cubicBezTo>
                    <a:pt x="35560" y="553720"/>
                    <a:pt x="24130" y="541020"/>
                    <a:pt x="16510" y="516890"/>
                  </a:cubicBezTo>
                  <a:cubicBezTo>
                    <a:pt x="0" y="467360"/>
                    <a:pt x="8890" y="337820"/>
                    <a:pt x="11430" y="262890"/>
                  </a:cubicBezTo>
                  <a:cubicBezTo>
                    <a:pt x="12700" y="204470"/>
                    <a:pt x="3810" y="138430"/>
                    <a:pt x="24130" y="104140"/>
                  </a:cubicBezTo>
                  <a:cubicBezTo>
                    <a:pt x="36830" y="80010"/>
                    <a:pt x="63500" y="62230"/>
                    <a:pt x="86360" y="59690"/>
                  </a:cubicBezTo>
                  <a:cubicBezTo>
                    <a:pt x="107950" y="57150"/>
                    <a:pt x="142240" y="72390"/>
                    <a:pt x="157480" y="86360"/>
                  </a:cubicBezTo>
                  <a:cubicBezTo>
                    <a:pt x="168910" y="95250"/>
                    <a:pt x="172720" y="105410"/>
                    <a:pt x="176530" y="120650"/>
                  </a:cubicBezTo>
                  <a:cubicBezTo>
                    <a:pt x="182880" y="143510"/>
                    <a:pt x="182880" y="182880"/>
                    <a:pt x="180340" y="214630"/>
                  </a:cubicBezTo>
                  <a:cubicBezTo>
                    <a:pt x="176530" y="248920"/>
                    <a:pt x="175260" y="300990"/>
                    <a:pt x="156210" y="317500"/>
                  </a:cubicBezTo>
                  <a:cubicBezTo>
                    <a:pt x="138430" y="331470"/>
                    <a:pt x="85090" y="330200"/>
                    <a:pt x="78740" y="318770"/>
                  </a:cubicBezTo>
                  <a:cubicBezTo>
                    <a:pt x="72390" y="307340"/>
                    <a:pt x="105410" y="260350"/>
                    <a:pt x="124460" y="246380"/>
                  </a:cubicBezTo>
                  <a:cubicBezTo>
                    <a:pt x="139700" y="234950"/>
                    <a:pt x="160020" y="228600"/>
                    <a:pt x="177800" y="231140"/>
                  </a:cubicBezTo>
                  <a:cubicBezTo>
                    <a:pt x="198120" y="234950"/>
                    <a:pt x="228600" y="252730"/>
                    <a:pt x="238760" y="270510"/>
                  </a:cubicBezTo>
                  <a:cubicBezTo>
                    <a:pt x="250190" y="289560"/>
                    <a:pt x="241300" y="344170"/>
                    <a:pt x="241300" y="344170"/>
                  </a:cubicBezTo>
                </a:path>
              </a:pathLst>
            </a:custGeom>
            <a:solidFill>
              <a:srgbClr val="F9F6F6"/>
            </a:solidFill>
            <a:ln cap="sq">
              <a:noFill/>
              <a:prstDash val="solid"/>
              <a:miter/>
            </a:ln>
          </p:spPr>
        </p:sp>
      </p:grpSp>
      <p:grpSp>
        <p:nvGrpSpPr>
          <p:cNvPr name="Group 53" id="53"/>
          <p:cNvGrpSpPr>
            <a:grpSpLocks noChangeAspect="true"/>
          </p:cNvGrpSpPr>
          <p:nvPr/>
        </p:nvGrpSpPr>
        <p:grpSpPr>
          <a:xfrm rot="0">
            <a:off x="4262502" y="6900324"/>
            <a:ext cx="1109175" cy="2194694"/>
            <a:chOff x="0" y="0"/>
            <a:chExt cx="2620010" cy="5184140"/>
          </a:xfrm>
        </p:grpSpPr>
        <p:sp>
          <p:nvSpPr>
            <p:cNvPr name="Freeform 54" id="54"/>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55" id="55"/>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6"/>
              <a:stretch>
                <a:fillRect l="-183360" t="-10334" r="-35436" b="0"/>
              </a:stretch>
            </a:blipFill>
          </p:spPr>
        </p:sp>
        <p:sp>
          <p:nvSpPr>
            <p:cNvPr name="Freeform 56" id="56"/>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B5B5B"/>
            </a:solidFill>
          </p:spPr>
        </p:sp>
        <p:sp>
          <p:nvSpPr>
            <p:cNvPr name="Freeform 57" id="57"/>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B5B5B"/>
            </a:solidFill>
          </p:spPr>
        </p:sp>
        <p:sp>
          <p:nvSpPr>
            <p:cNvPr name="Freeform 58" id="58"/>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EBCEB5"/>
            </a:solidFill>
          </p:spPr>
        </p:sp>
        <p:sp>
          <p:nvSpPr>
            <p:cNvPr name="Freeform 59" id="59"/>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EBCEB5"/>
            </a:solidFill>
          </p:spPr>
        </p:sp>
        <p:sp>
          <p:nvSpPr>
            <p:cNvPr name="Freeform 60" id="60"/>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EBCEB5"/>
            </a:solidFill>
          </p:spPr>
        </p:sp>
        <p:sp>
          <p:nvSpPr>
            <p:cNvPr name="Freeform 61" id="61"/>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EBCEB5"/>
            </a:solidFill>
          </p:spPr>
        </p:sp>
        <p:sp>
          <p:nvSpPr>
            <p:cNvPr name="Freeform 62" id="62"/>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FCE9D8"/>
            </a:solidFill>
          </p:spPr>
        </p:sp>
      </p:grpSp>
    </p:spTree>
  </p:cSld>
  <p:clrMapOvr>
    <a:masterClrMapping/>
  </p:clrMapOvr>
  <p:transition spd="slow">
    <p:push dir="l"/>
  </p:transition>
</p:sld>
</file>

<file path=ppt/slides/slide17.xml><?xml version="1.0" encoding="utf-8"?>
<p:sld xmlns:p="http://schemas.openxmlformats.org/presentationml/2006/main" xmlns:a="http://schemas.openxmlformats.org/drawingml/2006/main">
  <p:cSld>
    <p:bg>
      <p:bgPr>
        <a:solidFill>
          <a:srgbClr val="295BBE"/>
        </a:solidFill>
      </p:bgPr>
    </p:bg>
    <p:spTree>
      <p:nvGrpSpPr>
        <p:cNvPr id="1" name=""/>
        <p:cNvGrpSpPr/>
        <p:nvPr/>
      </p:nvGrpSpPr>
      <p:grpSpPr>
        <a:xfrm>
          <a:off x="0" y="0"/>
          <a:ext cx="0" cy="0"/>
          <a:chOff x="0" y="0"/>
          <a:chExt cx="0" cy="0"/>
        </a:xfrm>
      </p:grpSpPr>
      <p:sp>
        <p:nvSpPr>
          <p:cNvPr name="TextBox 2" id="2"/>
          <p:cNvSpPr txBox="true"/>
          <p:nvPr/>
        </p:nvSpPr>
        <p:spPr>
          <a:xfrm rot="5400000">
            <a:off x="17214475" y="8906943"/>
            <a:ext cx="936679" cy="517048"/>
          </a:xfrm>
          <a:prstGeom prst="rect">
            <a:avLst/>
          </a:prstGeom>
        </p:spPr>
        <p:txBody>
          <a:bodyPr anchor="t" rtlCol="false" tIns="0" lIns="0" bIns="0" rIns="0">
            <a:spAutoFit/>
          </a:bodyPr>
          <a:lstStyle/>
          <a:p>
            <a:pPr algn="l">
              <a:lnSpc>
                <a:spcPts val="1934"/>
              </a:lnSpc>
            </a:pPr>
            <a:r>
              <a:rPr lang="en-US" sz="1791">
                <a:solidFill>
                  <a:srgbClr val="FFFFFF"/>
                </a:solidFill>
                <a:latin typeface="Poppins"/>
                <a:ea typeface="Poppins"/>
                <a:cs typeface="Poppins"/>
                <a:sym typeface="Poppins"/>
              </a:rPr>
              <a:t>page 17</a:t>
            </a:r>
          </a:p>
          <a:p>
            <a:pPr algn="l">
              <a:lnSpc>
                <a:spcPts val="1934"/>
              </a:lnSpc>
              <a:spcBef>
                <a:spcPct val="0"/>
              </a:spcBef>
            </a:pPr>
          </a:p>
        </p:txBody>
      </p:sp>
      <p:sp>
        <p:nvSpPr>
          <p:cNvPr name="TextBox 3" id="3"/>
          <p:cNvSpPr txBox="true"/>
          <p:nvPr/>
        </p:nvSpPr>
        <p:spPr>
          <a:xfrm rot="0">
            <a:off x="5055454" y="322935"/>
            <a:ext cx="8177092" cy="3749692"/>
          </a:xfrm>
          <a:prstGeom prst="rect">
            <a:avLst/>
          </a:prstGeom>
        </p:spPr>
        <p:txBody>
          <a:bodyPr anchor="t" rtlCol="false" tIns="0" lIns="0" bIns="0" rIns="0">
            <a:spAutoFit/>
          </a:bodyPr>
          <a:lstStyle/>
          <a:p>
            <a:pPr algn="l">
              <a:lnSpc>
                <a:spcPts val="14117"/>
              </a:lnSpc>
            </a:pPr>
            <a:r>
              <a:rPr lang="en-US" sz="13071" b="true">
                <a:solidFill>
                  <a:srgbClr val="000000"/>
                </a:solidFill>
                <a:latin typeface="Poppins Bold"/>
                <a:ea typeface="Poppins Bold"/>
                <a:cs typeface="Poppins Bold"/>
                <a:sym typeface="Poppins Bold"/>
              </a:rPr>
              <a:t>FreshBox</a:t>
            </a:r>
          </a:p>
          <a:p>
            <a:pPr algn="l">
              <a:lnSpc>
                <a:spcPts val="14117"/>
              </a:lnSpc>
              <a:spcBef>
                <a:spcPct val="0"/>
              </a:spcBef>
            </a:pPr>
          </a:p>
        </p:txBody>
      </p:sp>
      <p:sp>
        <p:nvSpPr>
          <p:cNvPr name="TextBox 4" id="4"/>
          <p:cNvSpPr txBox="true"/>
          <p:nvPr/>
        </p:nvSpPr>
        <p:spPr>
          <a:xfrm rot="0">
            <a:off x="8261444" y="2457986"/>
            <a:ext cx="1765112" cy="1297302"/>
          </a:xfrm>
          <a:prstGeom prst="rect">
            <a:avLst/>
          </a:prstGeom>
        </p:spPr>
        <p:txBody>
          <a:bodyPr anchor="t" rtlCol="false" tIns="0" lIns="0" bIns="0" rIns="0">
            <a:spAutoFit/>
          </a:bodyPr>
          <a:lstStyle/>
          <a:p>
            <a:pPr algn="ctr">
              <a:lnSpc>
                <a:spcPts val="9389"/>
              </a:lnSpc>
              <a:spcBef>
                <a:spcPct val="0"/>
              </a:spcBef>
            </a:pPr>
            <a:r>
              <a:rPr lang="en-US" b="true" sz="8693">
                <a:solidFill>
                  <a:srgbClr val="000000"/>
                </a:solidFill>
                <a:latin typeface="Poppins Bold"/>
                <a:ea typeface="Poppins Bold"/>
                <a:cs typeface="Poppins Bold"/>
                <a:sym typeface="Poppins Bold"/>
              </a:rPr>
              <a:t>AI</a:t>
            </a:r>
          </a:p>
        </p:txBody>
      </p:sp>
      <p:sp>
        <p:nvSpPr>
          <p:cNvPr name="TextBox 5" id="5"/>
          <p:cNvSpPr txBox="true"/>
          <p:nvPr/>
        </p:nvSpPr>
        <p:spPr>
          <a:xfrm rot="0">
            <a:off x="6566703" y="1802533"/>
            <a:ext cx="5154595" cy="933372"/>
          </a:xfrm>
          <a:prstGeom prst="rect">
            <a:avLst/>
          </a:prstGeom>
        </p:spPr>
        <p:txBody>
          <a:bodyPr anchor="t" rtlCol="false" tIns="0" lIns="0" bIns="0" rIns="0">
            <a:spAutoFit/>
          </a:bodyPr>
          <a:lstStyle/>
          <a:p>
            <a:pPr algn="ctr">
              <a:lnSpc>
                <a:spcPts val="6684"/>
              </a:lnSpc>
              <a:spcBef>
                <a:spcPct val="0"/>
              </a:spcBef>
            </a:pPr>
            <a:r>
              <a:rPr lang="en-US" sz="6189">
                <a:solidFill>
                  <a:srgbClr val="FFFFFF"/>
                </a:solidFill>
                <a:latin typeface="Poppins Light"/>
                <a:ea typeface="Poppins Light"/>
                <a:cs typeface="Poppins Light"/>
                <a:sym typeface="Poppins Light"/>
              </a:rPr>
              <a:t>supportive</a:t>
            </a:r>
          </a:p>
        </p:txBody>
      </p:sp>
    </p:spTree>
  </p:cSld>
  <p:clrMapOvr>
    <a:masterClrMapping/>
  </p:clrMapOvr>
  <p:transition spd="slow">
    <p:push dir="l"/>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66302" y="-1100617"/>
            <a:ext cx="3341528" cy="3378415"/>
            <a:chOff x="0" y="0"/>
            <a:chExt cx="719015" cy="726953"/>
          </a:xfrm>
        </p:grpSpPr>
        <p:sp>
          <p:nvSpPr>
            <p:cNvPr name="Freeform 3" id="3"/>
            <p:cNvSpPr/>
            <p:nvPr/>
          </p:nvSpPr>
          <p:spPr>
            <a:xfrm flipH="false" flipV="false" rot="0">
              <a:off x="0" y="0"/>
              <a:ext cx="719015" cy="726953"/>
            </a:xfrm>
            <a:custGeom>
              <a:avLst/>
              <a:gdLst/>
              <a:ahLst/>
              <a:cxnLst/>
              <a:rect r="r" b="b" t="t" l="l"/>
              <a:pathLst>
                <a:path h="726953" w="719015">
                  <a:moveTo>
                    <a:pt x="359508" y="0"/>
                  </a:moveTo>
                  <a:cubicBezTo>
                    <a:pt x="160957" y="0"/>
                    <a:pt x="0" y="162734"/>
                    <a:pt x="0" y="363476"/>
                  </a:cubicBezTo>
                  <a:cubicBezTo>
                    <a:pt x="0" y="564219"/>
                    <a:pt x="160957" y="726953"/>
                    <a:pt x="359508" y="726953"/>
                  </a:cubicBezTo>
                  <a:cubicBezTo>
                    <a:pt x="558058" y="726953"/>
                    <a:pt x="719015" y="564219"/>
                    <a:pt x="719015" y="363476"/>
                  </a:cubicBezTo>
                  <a:cubicBezTo>
                    <a:pt x="719015" y="162734"/>
                    <a:pt x="558058" y="0"/>
                    <a:pt x="359508" y="0"/>
                  </a:cubicBezTo>
                  <a:close/>
                </a:path>
              </a:pathLst>
            </a:custGeom>
            <a:solidFill>
              <a:srgbClr val="295BBE"/>
            </a:solidFill>
          </p:spPr>
        </p:sp>
        <p:sp>
          <p:nvSpPr>
            <p:cNvPr name="TextBox 4" id="4"/>
            <p:cNvSpPr txBox="true"/>
            <p:nvPr/>
          </p:nvSpPr>
          <p:spPr>
            <a:xfrm>
              <a:off x="67408" y="68152"/>
              <a:ext cx="584200" cy="590649"/>
            </a:xfrm>
            <a:prstGeom prst="rect">
              <a:avLst/>
            </a:prstGeom>
          </p:spPr>
          <p:txBody>
            <a:bodyPr anchor="ctr" rtlCol="false" tIns="50800" lIns="50800" bIns="50800" rIns="50800"/>
            <a:lstStyle/>
            <a:p>
              <a:pPr algn="ctr">
                <a:lnSpc>
                  <a:spcPts val="1917"/>
                </a:lnSpc>
              </a:pPr>
            </a:p>
          </p:txBody>
        </p:sp>
      </p:grpSp>
      <p:grpSp>
        <p:nvGrpSpPr>
          <p:cNvPr name="Group 5" id="5"/>
          <p:cNvGrpSpPr/>
          <p:nvPr/>
        </p:nvGrpSpPr>
        <p:grpSpPr>
          <a:xfrm rot="0">
            <a:off x="16131969" y="8109562"/>
            <a:ext cx="3074393" cy="3108332"/>
            <a:chOff x="0" y="0"/>
            <a:chExt cx="719015" cy="726953"/>
          </a:xfrm>
        </p:grpSpPr>
        <p:sp>
          <p:nvSpPr>
            <p:cNvPr name="Freeform 6" id="6"/>
            <p:cNvSpPr/>
            <p:nvPr/>
          </p:nvSpPr>
          <p:spPr>
            <a:xfrm flipH="false" flipV="false" rot="0">
              <a:off x="0" y="0"/>
              <a:ext cx="719015" cy="726953"/>
            </a:xfrm>
            <a:custGeom>
              <a:avLst/>
              <a:gdLst/>
              <a:ahLst/>
              <a:cxnLst/>
              <a:rect r="r" b="b" t="t" l="l"/>
              <a:pathLst>
                <a:path h="726953" w="719015">
                  <a:moveTo>
                    <a:pt x="359508" y="0"/>
                  </a:moveTo>
                  <a:cubicBezTo>
                    <a:pt x="160957" y="0"/>
                    <a:pt x="0" y="162734"/>
                    <a:pt x="0" y="363476"/>
                  </a:cubicBezTo>
                  <a:cubicBezTo>
                    <a:pt x="0" y="564219"/>
                    <a:pt x="160957" y="726953"/>
                    <a:pt x="359508" y="726953"/>
                  </a:cubicBezTo>
                  <a:cubicBezTo>
                    <a:pt x="558058" y="726953"/>
                    <a:pt x="719015" y="564219"/>
                    <a:pt x="719015" y="363476"/>
                  </a:cubicBezTo>
                  <a:cubicBezTo>
                    <a:pt x="719015" y="162734"/>
                    <a:pt x="558058" y="0"/>
                    <a:pt x="359508" y="0"/>
                  </a:cubicBezTo>
                  <a:close/>
                </a:path>
              </a:pathLst>
            </a:custGeom>
            <a:solidFill>
              <a:srgbClr val="295BBE"/>
            </a:solidFill>
          </p:spPr>
        </p:sp>
        <p:sp>
          <p:nvSpPr>
            <p:cNvPr name="TextBox 7" id="7"/>
            <p:cNvSpPr txBox="true"/>
            <p:nvPr/>
          </p:nvSpPr>
          <p:spPr>
            <a:xfrm>
              <a:off x="67408" y="68152"/>
              <a:ext cx="584200" cy="590649"/>
            </a:xfrm>
            <a:prstGeom prst="rect">
              <a:avLst/>
            </a:prstGeom>
          </p:spPr>
          <p:txBody>
            <a:bodyPr anchor="ctr" rtlCol="false" tIns="50800" lIns="50800" bIns="50800" rIns="50800"/>
            <a:lstStyle/>
            <a:p>
              <a:pPr algn="ctr">
                <a:lnSpc>
                  <a:spcPts val="1917"/>
                </a:lnSpc>
              </a:pPr>
            </a:p>
          </p:txBody>
        </p:sp>
      </p:grpSp>
      <p:grpSp>
        <p:nvGrpSpPr>
          <p:cNvPr name="Group 8" id="8"/>
          <p:cNvGrpSpPr/>
          <p:nvPr/>
        </p:nvGrpSpPr>
        <p:grpSpPr>
          <a:xfrm rot="0">
            <a:off x="10150853" y="3935752"/>
            <a:ext cx="10072046" cy="2415496"/>
            <a:chOff x="0" y="0"/>
            <a:chExt cx="839464" cy="201322"/>
          </a:xfrm>
        </p:grpSpPr>
        <p:sp>
          <p:nvSpPr>
            <p:cNvPr name="Freeform 9" id="9"/>
            <p:cNvSpPr/>
            <p:nvPr/>
          </p:nvSpPr>
          <p:spPr>
            <a:xfrm flipH="false" flipV="false" rot="0">
              <a:off x="0" y="0"/>
              <a:ext cx="839464" cy="201322"/>
            </a:xfrm>
            <a:custGeom>
              <a:avLst/>
              <a:gdLst/>
              <a:ahLst/>
              <a:cxnLst/>
              <a:rect r="r" b="b" t="t" l="l"/>
              <a:pathLst>
                <a:path h="201322" w="839464">
                  <a:moveTo>
                    <a:pt x="100661" y="0"/>
                  </a:moveTo>
                  <a:lnTo>
                    <a:pt x="738803" y="0"/>
                  </a:lnTo>
                  <a:cubicBezTo>
                    <a:pt x="794397" y="0"/>
                    <a:pt x="839464" y="45067"/>
                    <a:pt x="839464" y="100661"/>
                  </a:cubicBezTo>
                  <a:lnTo>
                    <a:pt x="839464" y="100661"/>
                  </a:lnTo>
                  <a:cubicBezTo>
                    <a:pt x="839464" y="127358"/>
                    <a:pt x="828859" y="152961"/>
                    <a:pt x="809981" y="171839"/>
                  </a:cubicBezTo>
                  <a:cubicBezTo>
                    <a:pt x="791104" y="190717"/>
                    <a:pt x="765500" y="201322"/>
                    <a:pt x="738803" y="201322"/>
                  </a:cubicBezTo>
                  <a:lnTo>
                    <a:pt x="100661" y="201322"/>
                  </a:lnTo>
                  <a:cubicBezTo>
                    <a:pt x="45067" y="201322"/>
                    <a:pt x="0" y="156254"/>
                    <a:pt x="0" y="100661"/>
                  </a:cubicBezTo>
                  <a:lnTo>
                    <a:pt x="0" y="100661"/>
                  </a:lnTo>
                  <a:cubicBezTo>
                    <a:pt x="0" y="45067"/>
                    <a:pt x="45067" y="0"/>
                    <a:pt x="100661" y="0"/>
                  </a:cubicBezTo>
                  <a:close/>
                </a:path>
              </a:pathLst>
            </a:custGeom>
            <a:solidFill>
              <a:srgbClr val="295BBE"/>
            </a:solidFill>
          </p:spPr>
        </p:sp>
        <p:sp>
          <p:nvSpPr>
            <p:cNvPr name="TextBox 10" id="10"/>
            <p:cNvSpPr txBox="true"/>
            <p:nvPr/>
          </p:nvSpPr>
          <p:spPr>
            <a:xfrm>
              <a:off x="0" y="0"/>
              <a:ext cx="839464" cy="201322"/>
            </a:xfrm>
            <a:prstGeom prst="rect">
              <a:avLst/>
            </a:prstGeom>
          </p:spPr>
          <p:txBody>
            <a:bodyPr anchor="ctr" rtlCol="false" tIns="50800" lIns="50800" bIns="50800" rIns="50800"/>
            <a:lstStyle/>
            <a:p>
              <a:pPr algn="ctr">
                <a:lnSpc>
                  <a:spcPts val="1917"/>
                </a:lnSpc>
              </a:pPr>
            </a:p>
          </p:txBody>
        </p:sp>
      </p:grpSp>
      <p:sp>
        <p:nvSpPr>
          <p:cNvPr name="Freeform 11" id="11"/>
          <p:cNvSpPr/>
          <p:nvPr/>
        </p:nvSpPr>
        <p:spPr>
          <a:xfrm flipH="false" flipV="false" rot="0">
            <a:off x="11655021" y="6251951"/>
            <a:ext cx="5556993" cy="4524274"/>
          </a:xfrm>
          <a:custGeom>
            <a:avLst/>
            <a:gdLst/>
            <a:ahLst/>
            <a:cxnLst/>
            <a:rect r="r" b="b" t="t" l="l"/>
            <a:pathLst>
              <a:path h="4524274" w="5556993">
                <a:moveTo>
                  <a:pt x="0" y="0"/>
                </a:moveTo>
                <a:lnTo>
                  <a:pt x="5556993" y="0"/>
                </a:lnTo>
                <a:lnTo>
                  <a:pt x="5556993" y="4524274"/>
                </a:lnTo>
                <a:lnTo>
                  <a:pt x="0" y="4524274"/>
                </a:lnTo>
                <a:lnTo>
                  <a:pt x="0" y="0"/>
                </a:lnTo>
                <a:close/>
              </a:path>
            </a:pathLst>
          </a:custGeom>
          <a:blipFill>
            <a:blip r:embed="rId2"/>
            <a:stretch>
              <a:fillRect l="0" t="-311" r="0" b="-9731"/>
            </a:stretch>
          </a:blipFill>
        </p:spPr>
      </p:sp>
      <p:grpSp>
        <p:nvGrpSpPr>
          <p:cNvPr name="Group 12" id="12"/>
          <p:cNvGrpSpPr/>
          <p:nvPr/>
        </p:nvGrpSpPr>
        <p:grpSpPr>
          <a:xfrm rot="0">
            <a:off x="11026179" y="4148106"/>
            <a:ext cx="7261821" cy="2414820"/>
            <a:chOff x="0" y="0"/>
            <a:chExt cx="9682429" cy="3219759"/>
          </a:xfrm>
        </p:grpSpPr>
        <p:sp>
          <p:nvSpPr>
            <p:cNvPr name="TextBox 13" id="13"/>
            <p:cNvSpPr txBox="true"/>
            <p:nvPr/>
          </p:nvSpPr>
          <p:spPr>
            <a:xfrm rot="0">
              <a:off x="0" y="410752"/>
              <a:ext cx="9454374" cy="2809008"/>
            </a:xfrm>
            <a:prstGeom prst="rect">
              <a:avLst/>
            </a:prstGeom>
          </p:spPr>
          <p:txBody>
            <a:bodyPr anchor="t" rtlCol="false" tIns="0" lIns="0" bIns="0" rIns="0">
              <a:spAutoFit/>
            </a:bodyPr>
            <a:lstStyle/>
            <a:p>
              <a:pPr algn="just">
                <a:lnSpc>
                  <a:spcPts val="2792"/>
                </a:lnSpc>
              </a:pPr>
              <a:r>
                <a:rPr lang="en-US" sz="1994">
                  <a:solidFill>
                    <a:srgbClr val="FFFFFF"/>
                  </a:solidFill>
                  <a:latin typeface="Poppins"/>
                  <a:ea typeface="Poppins"/>
                  <a:cs typeface="Poppins"/>
                  <a:sym typeface="Poppins"/>
                </a:rPr>
                <a:t>Το </a:t>
              </a:r>
              <a:r>
                <a:rPr lang="en-US" sz="1994" b="true">
                  <a:solidFill>
                    <a:srgbClr val="FFFFFF"/>
                  </a:solidFill>
                  <a:latin typeface="Poppins Bold"/>
                  <a:ea typeface="Poppins Bold"/>
                  <a:cs typeface="Poppins Bold"/>
                  <a:sym typeface="Poppins Bold"/>
                </a:rPr>
                <a:t>FreshBox</a:t>
              </a:r>
              <a:r>
                <a:rPr lang="en-US" sz="1994">
                  <a:solidFill>
                    <a:srgbClr val="FFFFFF"/>
                  </a:solidFill>
                  <a:latin typeface="Poppins"/>
                  <a:ea typeface="Poppins"/>
                  <a:cs typeface="Poppins"/>
                  <a:sym typeface="Poppins"/>
                </a:rPr>
                <a:t> συνδέεται με εφαρμογές υγείας και διατροφής για να προσφέρει εξατομικευμένες διατροφικές προτάσεις. Με βάση τους διατροφικούς στόχους και τις ανάγκες του χρήστη, μπορεί να προτείνει τρόφιμα και συνταγές που υποστηρίζουν έναν πιο υγιεινό τρόπο ζωής.</a:t>
              </a:r>
            </a:p>
            <a:p>
              <a:pPr algn="just">
                <a:lnSpc>
                  <a:spcPts val="2792"/>
                </a:lnSpc>
              </a:pPr>
            </a:p>
          </p:txBody>
        </p:sp>
        <p:sp>
          <p:nvSpPr>
            <p:cNvPr name="TextBox 14" id="14"/>
            <p:cNvSpPr txBox="true"/>
            <p:nvPr/>
          </p:nvSpPr>
          <p:spPr>
            <a:xfrm rot="0">
              <a:off x="0" y="9525"/>
              <a:ext cx="9682429" cy="822464"/>
            </a:xfrm>
            <a:prstGeom prst="rect">
              <a:avLst/>
            </a:prstGeom>
          </p:spPr>
          <p:txBody>
            <a:bodyPr anchor="t" rtlCol="false" tIns="0" lIns="0" bIns="0" rIns="0">
              <a:spAutoFit/>
            </a:bodyPr>
            <a:lstStyle/>
            <a:p>
              <a:pPr algn="l">
                <a:lnSpc>
                  <a:spcPts val="2369"/>
                </a:lnSpc>
              </a:pPr>
              <a:r>
                <a:rPr lang="en-US" sz="2194" b="true">
                  <a:solidFill>
                    <a:srgbClr val="FFFFFF"/>
                  </a:solidFill>
                  <a:latin typeface="Poppins Bold"/>
                  <a:ea typeface="Poppins Bold"/>
                  <a:cs typeface="Poppins Bold"/>
                  <a:sym typeface="Poppins Bold"/>
                </a:rPr>
                <a:t>ΔΙΑΣYΝΔΕΣΗ ΜΕ ΥΠΗΡΕΣIΕΣ ΔΙΑΤΡΟΦHΣ ΚΑΙ ΥΓΕIΑΣ:</a:t>
              </a:r>
            </a:p>
            <a:p>
              <a:pPr algn="l">
                <a:lnSpc>
                  <a:spcPts val="2369"/>
                </a:lnSpc>
                <a:spcBef>
                  <a:spcPct val="0"/>
                </a:spcBef>
              </a:pPr>
            </a:p>
          </p:txBody>
        </p:sp>
      </p:grpSp>
      <p:sp>
        <p:nvSpPr>
          <p:cNvPr name="TextBox 15" id="15"/>
          <p:cNvSpPr txBox="true"/>
          <p:nvPr/>
        </p:nvSpPr>
        <p:spPr>
          <a:xfrm rot="0">
            <a:off x="2318901" y="547723"/>
            <a:ext cx="6633256" cy="1188763"/>
          </a:xfrm>
          <a:prstGeom prst="rect">
            <a:avLst/>
          </a:prstGeom>
        </p:spPr>
        <p:txBody>
          <a:bodyPr anchor="t" rtlCol="false" tIns="0" lIns="0" bIns="0" rIns="0">
            <a:spAutoFit/>
          </a:bodyPr>
          <a:lstStyle/>
          <a:p>
            <a:pPr algn="l">
              <a:lnSpc>
                <a:spcPts val="8643"/>
              </a:lnSpc>
              <a:spcBef>
                <a:spcPct val="0"/>
              </a:spcBef>
            </a:pPr>
            <a:r>
              <a:rPr lang="en-US" b="true" sz="8002">
                <a:solidFill>
                  <a:srgbClr val="295BBE"/>
                </a:solidFill>
                <a:latin typeface="Poppins Bold"/>
                <a:ea typeface="Poppins Bold"/>
                <a:cs typeface="Poppins Bold"/>
                <a:sym typeface="Poppins Bold"/>
              </a:rPr>
              <a:t>FreshBox 2.0</a:t>
            </a:r>
          </a:p>
        </p:txBody>
      </p:sp>
      <p:sp>
        <p:nvSpPr>
          <p:cNvPr name="TextBox 16" id="16"/>
          <p:cNvSpPr txBox="true"/>
          <p:nvPr/>
        </p:nvSpPr>
        <p:spPr>
          <a:xfrm rot="5400000">
            <a:off x="17106170" y="9269938"/>
            <a:ext cx="1153288" cy="517048"/>
          </a:xfrm>
          <a:prstGeom prst="rect">
            <a:avLst/>
          </a:prstGeom>
        </p:spPr>
        <p:txBody>
          <a:bodyPr anchor="t" rtlCol="false" tIns="0" lIns="0" bIns="0" rIns="0">
            <a:spAutoFit/>
          </a:bodyPr>
          <a:lstStyle/>
          <a:p>
            <a:pPr algn="l">
              <a:lnSpc>
                <a:spcPts val="1934"/>
              </a:lnSpc>
            </a:pPr>
            <a:r>
              <a:rPr lang="en-US" sz="1791">
                <a:solidFill>
                  <a:srgbClr val="000000"/>
                </a:solidFill>
                <a:latin typeface="Poppins"/>
                <a:ea typeface="Poppins"/>
                <a:cs typeface="Poppins"/>
                <a:sym typeface="Poppins"/>
              </a:rPr>
              <a:t>page 18</a:t>
            </a:r>
          </a:p>
          <a:p>
            <a:pPr algn="l">
              <a:lnSpc>
                <a:spcPts val="1934"/>
              </a:lnSpc>
              <a:spcBef>
                <a:spcPct val="0"/>
              </a:spcBef>
            </a:pPr>
          </a:p>
        </p:txBody>
      </p:sp>
      <p:grpSp>
        <p:nvGrpSpPr>
          <p:cNvPr name="Group 17" id="17"/>
          <p:cNvGrpSpPr/>
          <p:nvPr/>
        </p:nvGrpSpPr>
        <p:grpSpPr>
          <a:xfrm rot="0">
            <a:off x="-3960019" y="7112966"/>
            <a:ext cx="14789594" cy="2415496"/>
            <a:chOff x="0" y="0"/>
            <a:chExt cx="1232653" cy="201322"/>
          </a:xfrm>
        </p:grpSpPr>
        <p:sp>
          <p:nvSpPr>
            <p:cNvPr name="Freeform 18" id="18"/>
            <p:cNvSpPr/>
            <p:nvPr/>
          </p:nvSpPr>
          <p:spPr>
            <a:xfrm flipH="false" flipV="false" rot="0">
              <a:off x="0" y="0"/>
              <a:ext cx="1232653" cy="201322"/>
            </a:xfrm>
            <a:custGeom>
              <a:avLst/>
              <a:gdLst/>
              <a:ahLst/>
              <a:cxnLst/>
              <a:rect r="r" b="b" t="t" l="l"/>
              <a:pathLst>
                <a:path h="201322" w="1232653">
                  <a:moveTo>
                    <a:pt x="83743" y="0"/>
                  </a:moveTo>
                  <a:lnTo>
                    <a:pt x="1148910" y="0"/>
                  </a:lnTo>
                  <a:cubicBezTo>
                    <a:pt x="1171120" y="0"/>
                    <a:pt x="1192421" y="8823"/>
                    <a:pt x="1208125" y="24528"/>
                  </a:cubicBezTo>
                  <a:cubicBezTo>
                    <a:pt x="1223830" y="40232"/>
                    <a:pt x="1232653" y="61533"/>
                    <a:pt x="1232653" y="83743"/>
                  </a:cubicBezTo>
                  <a:lnTo>
                    <a:pt x="1232653" y="117579"/>
                  </a:lnTo>
                  <a:cubicBezTo>
                    <a:pt x="1232653" y="139789"/>
                    <a:pt x="1223830" y="161089"/>
                    <a:pt x="1208125" y="176794"/>
                  </a:cubicBezTo>
                  <a:cubicBezTo>
                    <a:pt x="1192421" y="192499"/>
                    <a:pt x="1171120" y="201322"/>
                    <a:pt x="1148910" y="201322"/>
                  </a:cubicBezTo>
                  <a:lnTo>
                    <a:pt x="83743" y="201322"/>
                  </a:lnTo>
                  <a:cubicBezTo>
                    <a:pt x="61533" y="201322"/>
                    <a:pt x="40232" y="192499"/>
                    <a:pt x="24528" y="176794"/>
                  </a:cubicBezTo>
                  <a:cubicBezTo>
                    <a:pt x="8823" y="161089"/>
                    <a:pt x="0" y="139789"/>
                    <a:pt x="0" y="117579"/>
                  </a:cubicBezTo>
                  <a:lnTo>
                    <a:pt x="0" y="83743"/>
                  </a:lnTo>
                  <a:cubicBezTo>
                    <a:pt x="0" y="61533"/>
                    <a:pt x="8823" y="40232"/>
                    <a:pt x="24528" y="24528"/>
                  </a:cubicBezTo>
                  <a:cubicBezTo>
                    <a:pt x="40232" y="8823"/>
                    <a:pt x="61533" y="0"/>
                    <a:pt x="83743" y="0"/>
                  </a:cubicBezTo>
                  <a:close/>
                </a:path>
              </a:pathLst>
            </a:custGeom>
            <a:solidFill>
              <a:srgbClr val="295BBE"/>
            </a:solidFill>
          </p:spPr>
        </p:sp>
        <p:sp>
          <p:nvSpPr>
            <p:cNvPr name="TextBox 19" id="19"/>
            <p:cNvSpPr txBox="true"/>
            <p:nvPr/>
          </p:nvSpPr>
          <p:spPr>
            <a:xfrm>
              <a:off x="0" y="0"/>
              <a:ext cx="1232653" cy="201322"/>
            </a:xfrm>
            <a:prstGeom prst="rect">
              <a:avLst/>
            </a:prstGeom>
          </p:spPr>
          <p:txBody>
            <a:bodyPr anchor="ctr" rtlCol="false" tIns="50800" lIns="50800" bIns="50800" rIns="50800"/>
            <a:lstStyle/>
            <a:p>
              <a:pPr algn="ctr">
                <a:lnSpc>
                  <a:spcPts val="1917"/>
                </a:lnSpc>
              </a:pPr>
            </a:p>
          </p:txBody>
        </p:sp>
      </p:grpSp>
      <p:sp>
        <p:nvSpPr>
          <p:cNvPr name="TextBox 20" id="20"/>
          <p:cNvSpPr txBox="true"/>
          <p:nvPr/>
        </p:nvSpPr>
        <p:spPr>
          <a:xfrm rot="0">
            <a:off x="194350" y="7338533"/>
            <a:ext cx="9321558" cy="372846"/>
          </a:xfrm>
          <a:prstGeom prst="rect">
            <a:avLst/>
          </a:prstGeom>
        </p:spPr>
        <p:txBody>
          <a:bodyPr anchor="t" rtlCol="false" tIns="0" lIns="0" bIns="0" rIns="0">
            <a:spAutoFit/>
          </a:bodyPr>
          <a:lstStyle/>
          <a:p>
            <a:pPr algn="just">
              <a:lnSpc>
                <a:spcPts val="2797"/>
              </a:lnSpc>
              <a:spcBef>
                <a:spcPct val="0"/>
              </a:spcBef>
            </a:pPr>
            <a:r>
              <a:rPr lang="en-US" b="true" sz="2589">
                <a:solidFill>
                  <a:srgbClr val="FFFFFF"/>
                </a:solidFill>
                <a:latin typeface="Poppins Bold"/>
                <a:ea typeface="Poppins Bold"/>
                <a:cs typeface="Poppins Bold"/>
                <a:sym typeface="Poppins Bold"/>
              </a:rPr>
              <a:t>ΣΥΝΕΡΓΑΣΙΑ ΜΕ ΥΠΕΡΑΓΟΡΕΣ &amp; ΚΑΤΑΣΤΗΜΑΤΑ:</a:t>
            </a:r>
          </a:p>
        </p:txBody>
      </p:sp>
      <p:sp>
        <p:nvSpPr>
          <p:cNvPr name="TextBox 21" id="21"/>
          <p:cNvSpPr txBox="true"/>
          <p:nvPr/>
        </p:nvSpPr>
        <p:spPr>
          <a:xfrm rot="0">
            <a:off x="2318901" y="156968"/>
            <a:ext cx="5705366" cy="520353"/>
          </a:xfrm>
          <a:prstGeom prst="rect">
            <a:avLst/>
          </a:prstGeom>
        </p:spPr>
        <p:txBody>
          <a:bodyPr anchor="t" rtlCol="false" tIns="0" lIns="0" bIns="0" rIns="0">
            <a:spAutoFit/>
          </a:bodyPr>
          <a:lstStyle/>
          <a:p>
            <a:pPr algn="r">
              <a:lnSpc>
                <a:spcPts val="3761"/>
              </a:lnSpc>
              <a:spcBef>
                <a:spcPct val="0"/>
              </a:spcBef>
            </a:pPr>
            <a:r>
              <a:rPr lang="en-US" sz="3482">
                <a:solidFill>
                  <a:srgbClr val="295BBE"/>
                </a:solidFill>
                <a:latin typeface="Poppins Light"/>
                <a:ea typeface="Poppins Light"/>
                <a:cs typeface="Poppins Light"/>
                <a:sym typeface="Poppins Light"/>
              </a:rPr>
              <a:t>ΜΕΛΛΟΝΤΙΚΕΣ ΠΡΟΤΑΣΕΙΣ </a:t>
            </a:r>
          </a:p>
        </p:txBody>
      </p:sp>
      <p:grpSp>
        <p:nvGrpSpPr>
          <p:cNvPr name="Group 22" id="22"/>
          <p:cNvGrpSpPr/>
          <p:nvPr/>
        </p:nvGrpSpPr>
        <p:grpSpPr>
          <a:xfrm rot="0">
            <a:off x="10150853" y="843981"/>
            <a:ext cx="10072046" cy="2415496"/>
            <a:chOff x="0" y="0"/>
            <a:chExt cx="839464" cy="201322"/>
          </a:xfrm>
        </p:grpSpPr>
        <p:sp>
          <p:nvSpPr>
            <p:cNvPr name="Freeform 23" id="23"/>
            <p:cNvSpPr/>
            <p:nvPr/>
          </p:nvSpPr>
          <p:spPr>
            <a:xfrm flipH="false" flipV="false" rot="0">
              <a:off x="0" y="0"/>
              <a:ext cx="839464" cy="201322"/>
            </a:xfrm>
            <a:custGeom>
              <a:avLst/>
              <a:gdLst/>
              <a:ahLst/>
              <a:cxnLst/>
              <a:rect r="r" b="b" t="t" l="l"/>
              <a:pathLst>
                <a:path h="201322" w="839464">
                  <a:moveTo>
                    <a:pt x="100661" y="0"/>
                  </a:moveTo>
                  <a:lnTo>
                    <a:pt x="738803" y="0"/>
                  </a:lnTo>
                  <a:cubicBezTo>
                    <a:pt x="794397" y="0"/>
                    <a:pt x="839464" y="45067"/>
                    <a:pt x="839464" y="100661"/>
                  </a:cubicBezTo>
                  <a:lnTo>
                    <a:pt x="839464" y="100661"/>
                  </a:lnTo>
                  <a:cubicBezTo>
                    <a:pt x="839464" y="127358"/>
                    <a:pt x="828859" y="152961"/>
                    <a:pt x="809981" y="171839"/>
                  </a:cubicBezTo>
                  <a:cubicBezTo>
                    <a:pt x="791104" y="190717"/>
                    <a:pt x="765500" y="201322"/>
                    <a:pt x="738803" y="201322"/>
                  </a:cubicBezTo>
                  <a:lnTo>
                    <a:pt x="100661" y="201322"/>
                  </a:lnTo>
                  <a:cubicBezTo>
                    <a:pt x="45067" y="201322"/>
                    <a:pt x="0" y="156254"/>
                    <a:pt x="0" y="100661"/>
                  </a:cubicBezTo>
                  <a:lnTo>
                    <a:pt x="0" y="100661"/>
                  </a:lnTo>
                  <a:cubicBezTo>
                    <a:pt x="0" y="45067"/>
                    <a:pt x="45067" y="0"/>
                    <a:pt x="100661" y="0"/>
                  </a:cubicBezTo>
                  <a:close/>
                </a:path>
              </a:pathLst>
            </a:custGeom>
            <a:solidFill>
              <a:srgbClr val="295BBE"/>
            </a:solidFill>
          </p:spPr>
        </p:sp>
        <p:sp>
          <p:nvSpPr>
            <p:cNvPr name="TextBox 24" id="24"/>
            <p:cNvSpPr txBox="true"/>
            <p:nvPr/>
          </p:nvSpPr>
          <p:spPr>
            <a:xfrm>
              <a:off x="0" y="0"/>
              <a:ext cx="839464" cy="201322"/>
            </a:xfrm>
            <a:prstGeom prst="rect">
              <a:avLst/>
            </a:prstGeom>
          </p:spPr>
          <p:txBody>
            <a:bodyPr anchor="ctr" rtlCol="false" tIns="50800" lIns="50800" bIns="50800" rIns="50800"/>
            <a:lstStyle/>
            <a:p>
              <a:pPr algn="ctr">
                <a:lnSpc>
                  <a:spcPts val="1917"/>
                </a:lnSpc>
              </a:pPr>
            </a:p>
          </p:txBody>
        </p:sp>
      </p:grpSp>
      <p:grpSp>
        <p:nvGrpSpPr>
          <p:cNvPr name="Group 25" id="25"/>
          <p:cNvGrpSpPr/>
          <p:nvPr/>
        </p:nvGrpSpPr>
        <p:grpSpPr>
          <a:xfrm rot="0">
            <a:off x="2043725" y="1664485"/>
            <a:ext cx="5980543" cy="5448482"/>
            <a:chOff x="0" y="0"/>
            <a:chExt cx="892173" cy="812800"/>
          </a:xfrm>
        </p:grpSpPr>
        <p:sp>
          <p:nvSpPr>
            <p:cNvPr name="Freeform 26" id="26"/>
            <p:cNvSpPr/>
            <p:nvPr/>
          </p:nvSpPr>
          <p:spPr>
            <a:xfrm flipH="false" flipV="false" rot="0">
              <a:off x="0" y="0"/>
              <a:ext cx="892172" cy="812800"/>
            </a:xfrm>
            <a:custGeom>
              <a:avLst/>
              <a:gdLst/>
              <a:ahLst/>
              <a:cxnLst/>
              <a:rect r="r" b="b" t="t" l="l"/>
              <a:pathLst>
                <a:path h="812800" w="892172">
                  <a:moveTo>
                    <a:pt x="29774" y="0"/>
                  </a:moveTo>
                  <a:lnTo>
                    <a:pt x="862399" y="0"/>
                  </a:lnTo>
                  <a:cubicBezTo>
                    <a:pt x="870295" y="0"/>
                    <a:pt x="877868" y="3137"/>
                    <a:pt x="883452" y="8721"/>
                  </a:cubicBezTo>
                  <a:cubicBezTo>
                    <a:pt x="889036" y="14304"/>
                    <a:pt x="892172" y="21877"/>
                    <a:pt x="892172" y="29774"/>
                  </a:cubicBezTo>
                  <a:lnTo>
                    <a:pt x="892172" y="783026"/>
                  </a:lnTo>
                  <a:cubicBezTo>
                    <a:pt x="892172" y="790923"/>
                    <a:pt x="889036" y="798496"/>
                    <a:pt x="883452" y="804079"/>
                  </a:cubicBezTo>
                  <a:cubicBezTo>
                    <a:pt x="877868" y="809663"/>
                    <a:pt x="870295" y="812800"/>
                    <a:pt x="862399" y="812800"/>
                  </a:cubicBezTo>
                  <a:lnTo>
                    <a:pt x="29774" y="812800"/>
                  </a:lnTo>
                  <a:cubicBezTo>
                    <a:pt x="21877" y="812800"/>
                    <a:pt x="14304" y="809663"/>
                    <a:pt x="8721" y="804079"/>
                  </a:cubicBezTo>
                  <a:cubicBezTo>
                    <a:pt x="3137" y="798496"/>
                    <a:pt x="0" y="790923"/>
                    <a:pt x="0" y="783026"/>
                  </a:cubicBezTo>
                  <a:lnTo>
                    <a:pt x="0" y="29774"/>
                  </a:lnTo>
                  <a:cubicBezTo>
                    <a:pt x="0" y="21877"/>
                    <a:pt x="3137" y="14304"/>
                    <a:pt x="8721" y="8721"/>
                  </a:cubicBezTo>
                  <a:cubicBezTo>
                    <a:pt x="14304" y="3137"/>
                    <a:pt x="21877" y="0"/>
                    <a:pt x="29774" y="0"/>
                  </a:cubicBezTo>
                  <a:close/>
                </a:path>
              </a:pathLst>
            </a:custGeom>
            <a:blipFill>
              <a:blip r:embed="rId3"/>
              <a:stretch>
                <a:fillRect l="-225" t="0" r="-225" b="0"/>
              </a:stretch>
            </a:blipFill>
          </p:spPr>
        </p:sp>
      </p:grpSp>
      <p:grpSp>
        <p:nvGrpSpPr>
          <p:cNvPr name="Group 27" id="27"/>
          <p:cNvGrpSpPr/>
          <p:nvPr/>
        </p:nvGrpSpPr>
        <p:grpSpPr>
          <a:xfrm rot="0">
            <a:off x="10925696" y="1127817"/>
            <a:ext cx="7015642" cy="2299963"/>
            <a:chOff x="0" y="0"/>
            <a:chExt cx="9354189" cy="3066617"/>
          </a:xfrm>
        </p:grpSpPr>
        <p:sp>
          <p:nvSpPr>
            <p:cNvPr name="TextBox 28" id="28"/>
            <p:cNvSpPr txBox="true"/>
            <p:nvPr/>
          </p:nvSpPr>
          <p:spPr>
            <a:xfrm rot="0">
              <a:off x="0" y="727335"/>
              <a:ext cx="9354189" cy="2339282"/>
            </a:xfrm>
            <a:prstGeom prst="rect">
              <a:avLst/>
            </a:prstGeom>
          </p:spPr>
          <p:txBody>
            <a:bodyPr anchor="t" rtlCol="false" tIns="0" lIns="0" bIns="0" rIns="0">
              <a:spAutoFit/>
            </a:bodyPr>
            <a:lstStyle/>
            <a:p>
              <a:pPr algn="just">
                <a:lnSpc>
                  <a:spcPts val="2784"/>
                </a:lnSpc>
              </a:pPr>
              <a:r>
                <a:rPr lang="en-US" sz="1989">
                  <a:solidFill>
                    <a:srgbClr val="FFFFFF"/>
                  </a:solidFill>
                  <a:latin typeface="Poppins"/>
                  <a:ea typeface="Poppins"/>
                  <a:cs typeface="Poppins"/>
                  <a:sym typeface="Poppins"/>
                </a:rPr>
                <a:t>Το </a:t>
              </a:r>
              <a:r>
                <a:rPr lang="en-US" sz="1989" b="true">
                  <a:solidFill>
                    <a:srgbClr val="FFFFFF"/>
                  </a:solidFill>
                  <a:latin typeface="Poppins Bold"/>
                  <a:ea typeface="Poppins Bold"/>
                  <a:cs typeface="Poppins Bold"/>
                  <a:sym typeface="Poppins Bold"/>
                </a:rPr>
                <a:t>FreshBox </a:t>
              </a:r>
              <a:r>
                <a:rPr lang="en-US" sz="1989">
                  <a:solidFill>
                    <a:srgbClr val="FFFFFF"/>
                  </a:solidFill>
                  <a:latin typeface="Poppins"/>
                  <a:ea typeface="Poppins"/>
                  <a:cs typeface="Poppins"/>
                  <a:sym typeface="Poppins"/>
                </a:rPr>
                <a:t>ρυθμίζει την κατανάλωση ενέργειας ανάλογα με τις συνήθειες του χρήστη, όπως η συχνότητα ανοίγματος της πόρτας, μειώνοντας τα έξοδα και συμβάλλοντας στη βιωσιμότητα.</a:t>
              </a:r>
            </a:p>
            <a:p>
              <a:pPr algn="just">
                <a:lnSpc>
                  <a:spcPts val="2784"/>
                </a:lnSpc>
              </a:pPr>
            </a:p>
          </p:txBody>
        </p:sp>
        <p:sp>
          <p:nvSpPr>
            <p:cNvPr name="TextBox 29" id="29"/>
            <p:cNvSpPr txBox="true"/>
            <p:nvPr/>
          </p:nvSpPr>
          <p:spPr>
            <a:xfrm rot="0">
              <a:off x="0" y="9525"/>
              <a:ext cx="7887199" cy="982992"/>
            </a:xfrm>
            <a:prstGeom prst="rect">
              <a:avLst/>
            </a:prstGeom>
          </p:spPr>
          <p:txBody>
            <a:bodyPr anchor="t" rtlCol="false" tIns="0" lIns="0" bIns="0" rIns="0">
              <a:spAutoFit/>
            </a:bodyPr>
            <a:lstStyle/>
            <a:p>
              <a:pPr algn="l">
                <a:lnSpc>
                  <a:spcPts val="2801"/>
                </a:lnSpc>
              </a:pPr>
              <a:r>
                <a:rPr lang="en-US" sz="2594" b="true">
                  <a:solidFill>
                    <a:srgbClr val="FFFFFF"/>
                  </a:solidFill>
                  <a:latin typeface="Poppins Bold"/>
                  <a:ea typeface="Poppins Bold"/>
                  <a:cs typeface="Poppins Bold"/>
                  <a:sym typeface="Poppins Bold"/>
                </a:rPr>
                <a:t>ΕΞΥΠΝΗ ΔΙΑΧΕΙΡΙΣΗ ΕΝΕΡΓΕΙΑΣ:</a:t>
              </a:r>
            </a:p>
            <a:p>
              <a:pPr algn="l">
                <a:lnSpc>
                  <a:spcPts val="2801"/>
                </a:lnSpc>
                <a:spcBef>
                  <a:spcPct val="0"/>
                </a:spcBef>
              </a:pPr>
            </a:p>
          </p:txBody>
        </p:sp>
      </p:grpSp>
      <p:sp>
        <p:nvSpPr>
          <p:cNvPr name="TextBox 30" id="30"/>
          <p:cNvSpPr txBox="true"/>
          <p:nvPr/>
        </p:nvSpPr>
        <p:spPr>
          <a:xfrm rot="0">
            <a:off x="194350" y="7777361"/>
            <a:ext cx="10276426" cy="1416304"/>
          </a:xfrm>
          <a:prstGeom prst="rect">
            <a:avLst/>
          </a:prstGeom>
        </p:spPr>
        <p:txBody>
          <a:bodyPr anchor="t" rtlCol="false" tIns="0" lIns="0" bIns="0" rIns="0">
            <a:spAutoFit/>
          </a:bodyPr>
          <a:lstStyle/>
          <a:p>
            <a:pPr algn="just">
              <a:lnSpc>
                <a:spcPts val="2785"/>
              </a:lnSpc>
            </a:pPr>
            <a:r>
              <a:rPr lang="en-US" sz="1989">
                <a:solidFill>
                  <a:srgbClr val="FFFFFF"/>
                </a:solidFill>
                <a:latin typeface="Poppins"/>
                <a:ea typeface="Poppins"/>
                <a:cs typeface="Poppins"/>
                <a:sym typeface="Poppins"/>
              </a:rPr>
              <a:t>Το </a:t>
            </a:r>
            <a:r>
              <a:rPr lang="en-US" b="true" sz="1989">
                <a:solidFill>
                  <a:srgbClr val="FFFFFF"/>
                </a:solidFill>
                <a:latin typeface="Poppins Bold"/>
                <a:ea typeface="Poppins Bold"/>
                <a:cs typeface="Poppins Bold"/>
                <a:sym typeface="Poppins Bold"/>
              </a:rPr>
              <a:t>FreshBox</a:t>
            </a:r>
            <a:r>
              <a:rPr lang="en-US" sz="1989">
                <a:solidFill>
                  <a:srgbClr val="FFFFFF"/>
                </a:solidFill>
                <a:latin typeface="Poppins"/>
                <a:ea typeface="Poppins"/>
                <a:cs typeface="Poppins"/>
                <a:sym typeface="Poppins"/>
              </a:rPr>
              <a:t> θα συνεργάζεται με υπεραγορές μέσω ενός συνδεδεμένου λογισμικού, επιτρέποντας στους χρήστες να κάνουν αυτόματες παραγγελίες. Το </a:t>
            </a:r>
            <a:r>
              <a:rPr lang="en-US" b="true" sz="1989">
                <a:solidFill>
                  <a:srgbClr val="FFFFFF"/>
                </a:solidFill>
                <a:latin typeface="Poppins Bold"/>
                <a:ea typeface="Poppins Bold"/>
                <a:cs typeface="Poppins Bold"/>
                <a:sym typeface="Poppins Bold"/>
              </a:rPr>
              <a:t>FreshBox</a:t>
            </a:r>
            <a:r>
              <a:rPr lang="en-US" sz="1989">
                <a:solidFill>
                  <a:srgbClr val="FFFFFF"/>
                </a:solidFill>
                <a:latin typeface="Poppins"/>
                <a:ea typeface="Poppins"/>
                <a:cs typeface="Poppins"/>
                <a:sym typeface="Poppins"/>
              </a:rPr>
              <a:t> θα δημιουργεί αυτόματα μια λίστα αγορών, την οποία οι χρήστες μπορούν να επιβεβαιώσουν και να στείλουν απευθείας στην επιλεγμένη υπεραγορά.</a:t>
            </a:r>
          </a:p>
        </p:txBody>
      </p:sp>
    </p:spTree>
  </p:cSld>
  <p:clrMapOvr>
    <a:masterClrMapping/>
  </p:clrMapOvr>
  <p:transition spd="slow">
    <p:push dir="l"/>
  </p:transition>
</p:sld>
</file>

<file path=ppt/slides/slide19.xml><?xml version="1.0" encoding="utf-8"?>
<p:sld xmlns:p="http://schemas.openxmlformats.org/presentationml/2006/main" xmlns:a="http://schemas.openxmlformats.org/drawingml/2006/main">
  <p:cSld>
    <p:bg>
      <p:bgPr>
        <a:solidFill>
          <a:srgbClr val="295BBE"/>
        </a:solidFill>
      </p:bgPr>
    </p:bg>
    <p:spTree>
      <p:nvGrpSpPr>
        <p:cNvPr id="1" name=""/>
        <p:cNvGrpSpPr/>
        <p:nvPr/>
      </p:nvGrpSpPr>
      <p:grpSpPr>
        <a:xfrm>
          <a:off x="0" y="0"/>
          <a:ext cx="0" cy="0"/>
          <a:chOff x="0" y="0"/>
          <a:chExt cx="0" cy="0"/>
        </a:xfrm>
      </p:grpSpPr>
      <p:grpSp>
        <p:nvGrpSpPr>
          <p:cNvPr name="Group 2" id="2"/>
          <p:cNvGrpSpPr/>
          <p:nvPr/>
        </p:nvGrpSpPr>
        <p:grpSpPr>
          <a:xfrm rot="0">
            <a:off x="-946310" y="5912091"/>
            <a:ext cx="5984568" cy="6050633"/>
            <a:chOff x="0" y="0"/>
            <a:chExt cx="719015" cy="726953"/>
          </a:xfrm>
        </p:grpSpPr>
        <p:sp>
          <p:nvSpPr>
            <p:cNvPr name="Freeform 3" id="3"/>
            <p:cNvSpPr/>
            <p:nvPr/>
          </p:nvSpPr>
          <p:spPr>
            <a:xfrm flipH="false" flipV="false" rot="0">
              <a:off x="0" y="0"/>
              <a:ext cx="719015" cy="726953"/>
            </a:xfrm>
            <a:custGeom>
              <a:avLst/>
              <a:gdLst/>
              <a:ahLst/>
              <a:cxnLst/>
              <a:rect r="r" b="b" t="t" l="l"/>
              <a:pathLst>
                <a:path h="726953" w="719015">
                  <a:moveTo>
                    <a:pt x="359508" y="0"/>
                  </a:moveTo>
                  <a:cubicBezTo>
                    <a:pt x="160957" y="0"/>
                    <a:pt x="0" y="162734"/>
                    <a:pt x="0" y="363476"/>
                  </a:cubicBezTo>
                  <a:cubicBezTo>
                    <a:pt x="0" y="564219"/>
                    <a:pt x="160957" y="726953"/>
                    <a:pt x="359508" y="726953"/>
                  </a:cubicBezTo>
                  <a:cubicBezTo>
                    <a:pt x="558058" y="726953"/>
                    <a:pt x="719015" y="564219"/>
                    <a:pt x="719015" y="363476"/>
                  </a:cubicBezTo>
                  <a:cubicBezTo>
                    <a:pt x="719015" y="162734"/>
                    <a:pt x="558058" y="0"/>
                    <a:pt x="359508" y="0"/>
                  </a:cubicBezTo>
                  <a:close/>
                </a:path>
              </a:pathLst>
            </a:custGeom>
            <a:solidFill>
              <a:srgbClr val="D9D9D9"/>
            </a:solidFill>
          </p:spPr>
        </p:sp>
        <p:sp>
          <p:nvSpPr>
            <p:cNvPr name="TextBox 4" id="4"/>
            <p:cNvSpPr txBox="true"/>
            <p:nvPr/>
          </p:nvSpPr>
          <p:spPr>
            <a:xfrm>
              <a:off x="67408" y="68152"/>
              <a:ext cx="584200" cy="590649"/>
            </a:xfrm>
            <a:prstGeom prst="rect">
              <a:avLst/>
            </a:prstGeom>
          </p:spPr>
          <p:txBody>
            <a:bodyPr anchor="ctr" rtlCol="false" tIns="50800" lIns="50800" bIns="50800" rIns="50800"/>
            <a:lstStyle/>
            <a:p>
              <a:pPr algn="ctr">
                <a:lnSpc>
                  <a:spcPts val="1917"/>
                </a:lnSpc>
              </a:pPr>
            </a:p>
          </p:txBody>
        </p:sp>
      </p:grpSp>
      <p:sp>
        <p:nvSpPr>
          <p:cNvPr name="TextBox 5" id="5"/>
          <p:cNvSpPr txBox="true"/>
          <p:nvPr/>
        </p:nvSpPr>
        <p:spPr>
          <a:xfrm rot="5400000">
            <a:off x="17336912" y="9029381"/>
            <a:ext cx="936679" cy="272173"/>
          </a:xfrm>
          <a:prstGeom prst="rect">
            <a:avLst/>
          </a:prstGeom>
        </p:spPr>
        <p:txBody>
          <a:bodyPr anchor="t" rtlCol="false" tIns="0" lIns="0" bIns="0" rIns="0">
            <a:spAutoFit/>
          </a:bodyPr>
          <a:lstStyle/>
          <a:p>
            <a:pPr algn="l">
              <a:lnSpc>
                <a:spcPts val="1934"/>
              </a:lnSpc>
              <a:spcBef>
                <a:spcPct val="0"/>
              </a:spcBef>
            </a:pPr>
            <a:r>
              <a:rPr lang="en-US" sz="1791">
                <a:solidFill>
                  <a:srgbClr val="FFFFFF"/>
                </a:solidFill>
                <a:latin typeface="Poppins"/>
                <a:ea typeface="Poppins"/>
                <a:cs typeface="Poppins"/>
                <a:sym typeface="Poppins"/>
              </a:rPr>
              <a:t>page 19</a:t>
            </a:r>
          </a:p>
        </p:txBody>
      </p:sp>
      <p:sp>
        <p:nvSpPr>
          <p:cNvPr name="TextBox 6" id="6"/>
          <p:cNvSpPr txBox="true"/>
          <p:nvPr/>
        </p:nvSpPr>
        <p:spPr>
          <a:xfrm rot="0">
            <a:off x="699195" y="709983"/>
            <a:ext cx="5754785" cy="1159599"/>
          </a:xfrm>
          <a:prstGeom prst="rect">
            <a:avLst/>
          </a:prstGeom>
        </p:spPr>
        <p:txBody>
          <a:bodyPr anchor="t" rtlCol="false" tIns="0" lIns="0" bIns="0" rIns="0">
            <a:spAutoFit/>
          </a:bodyPr>
          <a:lstStyle/>
          <a:p>
            <a:pPr algn="l">
              <a:lnSpc>
                <a:spcPts val="8386"/>
              </a:lnSpc>
              <a:spcBef>
                <a:spcPct val="0"/>
              </a:spcBef>
            </a:pPr>
            <a:r>
              <a:rPr lang="en-US" sz="7765">
                <a:solidFill>
                  <a:srgbClr val="FFFFFF"/>
                </a:solidFill>
                <a:latin typeface="Poppins Light"/>
                <a:ea typeface="Poppins Light"/>
                <a:cs typeface="Poppins Light"/>
                <a:sym typeface="Poppins Light"/>
              </a:rPr>
              <a:t>Ευκαιρία</a:t>
            </a:r>
          </a:p>
        </p:txBody>
      </p:sp>
      <p:sp>
        <p:nvSpPr>
          <p:cNvPr name="TextBox 7" id="7"/>
          <p:cNvSpPr txBox="true"/>
          <p:nvPr/>
        </p:nvSpPr>
        <p:spPr>
          <a:xfrm rot="0">
            <a:off x="2390644" y="1507989"/>
            <a:ext cx="7241826" cy="1300807"/>
          </a:xfrm>
          <a:prstGeom prst="rect">
            <a:avLst/>
          </a:prstGeom>
        </p:spPr>
        <p:txBody>
          <a:bodyPr anchor="t" rtlCol="false" tIns="0" lIns="0" bIns="0" rIns="0">
            <a:spAutoFit/>
          </a:bodyPr>
          <a:lstStyle/>
          <a:p>
            <a:pPr algn="l">
              <a:lnSpc>
                <a:spcPts val="9391"/>
              </a:lnSpc>
              <a:spcBef>
                <a:spcPct val="0"/>
              </a:spcBef>
            </a:pPr>
            <a:r>
              <a:rPr lang="en-US" b="true" sz="8696">
                <a:solidFill>
                  <a:srgbClr val="FFFFFF"/>
                </a:solidFill>
                <a:latin typeface="Poppins Bold"/>
                <a:ea typeface="Poppins Bold"/>
                <a:cs typeface="Poppins Bold"/>
                <a:sym typeface="Poppins Bold"/>
              </a:rPr>
              <a:t>Αγοράς</a:t>
            </a:r>
          </a:p>
        </p:txBody>
      </p:sp>
      <p:sp>
        <p:nvSpPr>
          <p:cNvPr name="TextBox 8" id="8"/>
          <p:cNvSpPr txBox="true"/>
          <p:nvPr/>
        </p:nvSpPr>
        <p:spPr>
          <a:xfrm rot="0">
            <a:off x="8975620" y="2558263"/>
            <a:ext cx="3858320" cy="1043992"/>
          </a:xfrm>
          <a:prstGeom prst="rect">
            <a:avLst/>
          </a:prstGeom>
        </p:spPr>
        <p:txBody>
          <a:bodyPr anchor="t" rtlCol="false" tIns="0" lIns="0" bIns="0" rIns="0">
            <a:spAutoFit/>
          </a:bodyPr>
          <a:lstStyle/>
          <a:p>
            <a:pPr algn="l">
              <a:lnSpc>
                <a:spcPts val="2691"/>
              </a:lnSpc>
              <a:spcBef>
                <a:spcPct val="0"/>
              </a:spcBef>
            </a:pPr>
            <a:r>
              <a:rPr lang="en-US" b="true" sz="2491">
                <a:solidFill>
                  <a:srgbClr val="FFFFFF"/>
                </a:solidFill>
                <a:latin typeface="Poppins Bold"/>
                <a:ea typeface="Poppins Bold"/>
                <a:cs typeface="Poppins Bold"/>
                <a:sym typeface="Poppins Bold"/>
              </a:rPr>
              <a:t>ΖΗΤΗΣΗ ΤΕΧΝΟΛΟΓΙΚΑ ΑΝΕΠΤΥΓΜΕΝΩΝ ΣΥΣΚΕΥΩΝ</a:t>
            </a:r>
          </a:p>
        </p:txBody>
      </p:sp>
      <p:sp>
        <p:nvSpPr>
          <p:cNvPr name="TextBox 9" id="9"/>
          <p:cNvSpPr txBox="true"/>
          <p:nvPr/>
        </p:nvSpPr>
        <p:spPr>
          <a:xfrm rot="0">
            <a:off x="13221800" y="2558263"/>
            <a:ext cx="2460709" cy="734863"/>
          </a:xfrm>
          <a:prstGeom prst="rect">
            <a:avLst/>
          </a:prstGeom>
        </p:spPr>
        <p:txBody>
          <a:bodyPr anchor="t" rtlCol="false" tIns="0" lIns="0" bIns="0" rIns="0">
            <a:spAutoFit/>
          </a:bodyPr>
          <a:lstStyle/>
          <a:p>
            <a:pPr algn="l">
              <a:lnSpc>
                <a:spcPts val="2801"/>
              </a:lnSpc>
              <a:spcBef>
                <a:spcPct val="0"/>
              </a:spcBef>
            </a:pPr>
            <a:r>
              <a:rPr lang="en-US" b="true" sz="2594">
                <a:solidFill>
                  <a:srgbClr val="FFFFFF"/>
                </a:solidFill>
                <a:latin typeface="Poppins Bold"/>
                <a:ea typeface="Poppins Bold"/>
                <a:cs typeface="Poppins Bold"/>
                <a:sym typeface="Poppins Bold"/>
              </a:rPr>
              <a:t>ΣΤΟΧΕΥΜEΝΟ ΚΟΙΝO</a:t>
            </a:r>
          </a:p>
        </p:txBody>
      </p:sp>
      <p:sp>
        <p:nvSpPr>
          <p:cNvPr name="TextBox 10" id="10"/>
          <p:cNvSpPr txBox="true"/>
          <p:nvPr/>
        </p:nvSpPr>
        <p:spPr>
          <a:xfrm rot="0">
            <a:off x="13221800" y="3728200"/>
            <a:ext cx="3502607" cy="1571854"/>
          </a:xfrm>
          <a:prstGeom prst="rect">
            <a:avLst/>
          </a:prstGeom>
        </p:spPr>
        <p:txBody>
          <a:bodyPr anchor="t" rtlCol="false" tIns="0" lIns="0" bIns="0" rIns="0">
            <a:spAutoFit/>
          </a:bodyPr>
          <a:lstStyle/>
          <a:p>
            <a:pPr algn="l">
              <a:lnSpc>
                <a:spcPts val="2041"/>
              </a:lnSpc>
              <a:spcBef>
                <a:spcPct val="0"/>
              </a:spcBef>
            </a:pPr>
            <a:r>
              <a:rPr lang="en-US" sz="1889">
                <a:solidFill>
                  <a:srgbClr val="FFFFFF"/>
                </a:solidFill>
                <a:latin typeface="Poppins Light"/>
                <a:ea typeface="Poppins Light"/>
                <a:cs typeface="Poppins Light"/>
                <a:sym typeface="Poppins Light"/>
              </a:rPr>
              <a:t>Το </a:t>
            </a:r>
            <a:r>
              <a:rPr lang="en-US" b="true" sz="1889">
                <a:solidFill>
                  <a:srgbClr val="FFFFFF"/>
                </a:solidFill>
                <a:latin typeface="Poppins Bold"/>
                <a:ea typeface="Poppins Bold"/>
                <a:cs typeface="Poppins Bold"/>
                <a:sym typeface="Poppins Bold"/>
              </a:rPr>
              <a:t>FreshBox</a:t>
            </a:r>
            <a:r>
              <a:rPr lang="en-US" sz="1889">
                <a:solidFill>
                  <a:srgbClr val="FFFFFF"/>
                </a:solidFill>
                <a:latin typeface="Poppins Light"/>
                <a:ea typeface="Poppins Light"/>
                <a:cs typeface="Poppins Light"/>
                <a:sym typeface="Poppins Light"/>
              </a:rPr>
              <a:t> απευθύνεται σε τεχνολογικά ενημερωμένους καταναλωτές που επιζητούν έξυπνες λύσεις για τη διαχείριση τροφίμων και τη μείωση αποβλήτων.</a:t>
            </a:r>
          </a:p>
        </p:txBody>
      </p:sp>
      <p:sp>
        <p:nvSpPr>
          <p:cNvPr name="TextBox 11" id="11"/>
          <p:cNvSpPr txBox="true"/>
          <p:nvPr/>
        </p:nvSpPr>
        <p:spPr>
          <a:xfrm rot="0">
            <a:off x="8975620" y="5856207"/>
            <a:ext cx="1841112" cy="734863"/>
          </a:xfrm>
          <a:prstGeom prst="rect">
            <a:avLst/>
          </a:prstGeom>
        </p:spPr>
        <p:txBody>
          <a:bodyPr anchor="t" rtlCol="false" tIns="0" lIns="0" bIns="0" rIns="0">
            <a:spAutoFit/>
          </a:bodyPr>
          <a:lstStyle/>
          <a:p>
            <a:pPr algn="l">
              <a:lnSpc>
                <a:spcPts val="2801"/>
              </a:lnSpc>
              <a:spcBef>
                <a:spcPct val="0"/>
              </a:spcBef>
            </a:pPr>
            <a:r>
              <a:rPr lang="en-US" b="true" sz="2594">
                <a:solidFill>
                  <a:srgbClr val="FFFFFF"/>
                </a:solidFill>
                <a:latin typeface="Poppins Bold"/>
                <a:ea typeface="Poppins Bold"/>
                <a:cs typeface="Poppins Bold"/>
                <a:sym typeface="Poppins Bold"/>
              </a:rPr>
              <a:t>ΑΝAΠΤΥΞΗ ΑΓΟΡAΣ</a:t>
            </a:r>
          </a:p>
        </p:txBody>
      </p:sp>
      <p:sp>
        <p:nvSpPr>
          <p:cNvPr name="TextBox 12" id="12"/>
          <p:cNvSpPr txBox="true"/>
          <p:nvPr/>
        </p:nvSpPr>
        <p:spPr>
          <a:xfrm rot="0">
            <a:off x="8975620" y="6724419"/>
            <a:ext cx="3602065" cy="1571920"/>
          </a:xfrm>
          <a:prstGeom prst="rect">
            <a:avLst/>
          </a:prstGeom>
        </p:spPr>
        <p:txBody>
          <a:bodyPr anchor="t" rtlCol="false" tIns="0" lIns="0" bIns="0" rIns="0">
            <a:spAutoFit/>
          </a:bodyPr>
          <a:lstStyle/>
          <a:p>
            <a:pPr algn="l">
              <a:lnSpc>
                <a:spcPts val="2045"/>
              </a:lnSpc>
              <a:spcBef>
                <a:spcPct val="0"/>
              </a:spcBef>
            </a:pPr>
            <a:r>
              <a:rPr lang="en-US" sz="1894">
                <a:solidFill>
                  <a:srgbClr val="FFFFFF"/>
                </a:solidFill>
                <a:latin typeface="Poppins Light"/>
                <a:ea typeface="Poppins Light"/>
                <a:cs typeface="Poppins Light"/>
                <a:sym typeface="Poppins Light"/>
              </a:rPr>
              <a:t>Η αγορά αναπτύσσεται με γοργούς ρυθμούς καθώς η υιοθέτηση του Διαδικτύου των Πραγμάτων και η ανάγκη για μείωση αποβλήτων γίνονται ολοένα πιο σημαντικά.</a:t>
            </a:r>
          </a:p>
        </p:txBody>
      </p:sp>
      <p:sp>
        <p:nvSpPr>
          <p:cNvPr name="TextBox 13" id="13"/>
          <p:cNvSpPr txBox="true"/>
          <p:nvPr/>
        </p:nvSpPr>
        <p:spPr>
          <a:xfrm rot="0">
            <a:off x="13235774" y="5856207"/>
            <a:ext cx="2645270" cy="734863"/>
          </a:xfrm>
          <a:prstGeom prst="rect">
            <a:avLst/>
          </a:prstGeom>
        </p:spPr>
        <p:txBody>
          <a:bodyPr anchor="t" rtlCol="false" tIns="0" lIns="0" bIns="0" rIns="0">
            <a:spAutoFit/>
          </a:bodyPr>
          <a:lstStyle/>
          <a:p>
            <a:pPr algn="l">
              <a:lnSpc>
                <a:spcPts val="2801"/>
              </a:lnSpc>
              <a:spcBef>
                <a:spcPct val="0"/>
              </a:spcBef>
            </a:pPr>
            <a:r>
              <a:rPr lang="en-US" b="true" sz="2594">
                <a:solidFill>
                  <a:srgbClr val="FFFFFF"/>
                </a:solidFill>
                <a:latin typeface="Poppins Bold"/>
                <a:ea typeface="Poppins Bold"/>
                <a:cs typeface="Poppins Bold"/>
                <a:sym typeface="Poppins Bold"/>
              </a:rPr>
              <a:t>TAΣΕΙΣ ΤΗΣ ΒΙΟΜΗΧΑΝIΑΣ</a:t>
            </a:r>
          </a:p>
        </p:txBody>
      </p:sp>
      <p:sp>
        <p:nvSpPr>
          <p:cNvPr name="TextBox 14" id="14"/>
          <p:cNvSpPr txBox="true"/>
          <p:nvPr/>
        </p:nvSpPr>
        <p:spPr>
          <a:xfrm rot="0">
            <a:off x="13221800" y="6724419"/>
            <a:ext cx="3681163" cy="2086270"/>
          </a:xfrm>
          <a:prstGeom prst="rect">
            <a:avLst/>
          </a:prstGeom>
        </p:spPr>
        <p:txBody>
          <a:bodyPr anchor="t" rtlCol="false" tIns="0" lIns="0" bIns="0" rIns="0">
            <a:spAutoFit/>
          </a:bodyPr>
          <a:lstStyle/>
          <a:p>
            <a:pPr algn="l">
              <a:lnSpc>
                <a:spcPts val="2045"/>
              </a:lnSpc>
              <a:spcBef>
                <a:spcPct val="0"/>
              </a:spcBef>
            </a:pPr>
            <a:r>
              <a:rPr lang="en-US" sz="1894">
                <a:solidFill>
                  <a:srgbClr val="FFFFFF"/>
                </a:solidFill>
                <a:latin typeface="Poppins Light"/>
                <a:ea typeface="Poppins Light"/>
                <a:cs typeface="Poppins Light"/>
                <a:sym typeface="Poppins Light"/>
              </a:rPr>
              <a:t>Οι τρέχουσες τάσεις περιλαμβάνουν τη βιωσιμότητα, την εξατομίκευση με τη χρήση τεχνητής νοημοσύνης, και την αύξηση της υιοθέτησης έξυπνων λύσεων στον χώρο της κουζίνας.</a:t>
            </a:r>
          </a:p>
        </p:txBody>
      </p:sp>
      <p:sp>
        <p:nvSpPr>
          <p:cNvPr name="TextBox 15" id="15"/>
          <p:cNvSpPr txBox="true"/>
          <p:nvPr/>
        </p:nvSpPr>
        <p:spPr>
          <a:xfrm rot="0">
            <a:off x="699195" y="2973823"/>
            <a:ext cx="5424300" cy="473868"/>
          </a:xfrm>
          <a:prstGeom prst="rect">
            <a:avLst/>
          </a:prstGeom>
        </p:spPr>
        <p:txBody>
          <a:bodyPr anchor="t" rtlCol="false" tIns="0" lIns="0" bIns="0" rIns="0">
            <a:spAutoFit/>
          </a:bodyPr>
          <a:lstStyle/>
          <a:p>
            <a:pPr algn="l">
              <a:lnSpc>
                <a:spcPts val="1856"/>
              </a:lnSpc>
              <a:spcBef>
                <a:spcPct val="0"/>
              </a:spcBef>
            </a:pPr>
            <a:r>
              <a:rPr lang="en-US" b="true" sz="1718">
                <a:solidFill>
                  <a:srgbClr val="FFFFFF"/>
                </a:solidFill>
                <a:latin typeface="Poppins Bold"/>
                <a:ea typeface="Poppins Bold"/>
                <a:cs typeface="Poppins Bold"/>
                <a:sym typeface="Poppins Bold"/>
              </a:rPr>
              <a:t>Ανακαλύπτοντας τις Δυνατότητες της Έξυπνης Οικιακής Ψύξης </a:t>
            </a:r>
          </a:p>
        </p:txBody>
      </p:sp>
      <p:sp>
        <p:nvSpPr>
          <p:cNvPr name="TextBox 16" id="16"/>
          <p:cNvSpPr txBox="true"/>
          <p:nvPr/>
        </p:nvSpPr>
        <p:spPr>
          <a:xfrm rot="0">
            <a:off x="8975620" y="3728423"/>
            <a:ext cx="3417505" cy="1571630"/>
          </a:xfrm>
          <a:prstGeom prst="rect">
            <a:avLst/>
          </a:prstGeom>
        </p:spPr>
        <p:txBody>
          <a:bodyPr anchor="t" rtlCol="false" tIns="0" lIns="0" bIns="0" rIns="0">
            <a:spAutoFit/>
          </a:bodyPr>
          <a:lstStyle/>
          <a:p>
            <a:pPr algn="l">
              <a:lnSpc>
                <a:spcPts val="2025"/>
              </a:lnSpc>
              <a:spcBef>
                <a:spcPct val="0"/>
              </a:spcBef>
            </a:pPr>
            <a:r>
              <a:rPr lang="en-US" sz="1875">
                <a:solidFill>
                  <a:srgbClr val="FFFFFF"/>
                </a:solidFill>
                <a:latin typeface="Poppins Light"/>
                <a:ea typeface="Poppins Light"/>
                <a:cs typeface="Poppins Light"/>
                <a:sym typeface="Poppins Light"/>
              </a:rPr>
              <a:t>Η αγορά των έξυπνων οικιακών συσκευών αυξάνεται, καθώς οι καταναλωτές στρέφονται σε πιο αποδοτικές και βιώσιμες λύσεις για το σπίτι.</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295BBE"/>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052405"/>
            <a:ext cx="9113552" cy="6942869"/>
          </a:xfrm>
          <a:custGeom>
            <a:avLst/>
            <a:gdLst/>
            <a:ahLst/>
            <a:cxnLst/>
            <a:rect r="r" b="b" t="t" l="l"/>
            <a:pathLst>
              <a:path h="6942869" w="9113552">
                <a:moveTo>
                  <a:pt x="0" y="0"/>
                </a:moveTo>
                <a:lnTo>
                  <a:pt x="9113552" y="0"/>
                </a:lnTo>
                <a:lnTo>
                  <a:pt x="9113552" y="6942870"/>
                </a:lnTo>
                <a:lnTo>
                  <a:pt x="0" y="69428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5400000">
            <a:off x="17257431" y="9108862"/>
            <a:ext cx="1095641" cy="272173"/>
          </a:xfrm>
          <a:prstGeom prst="rect">
            <a:avLst/>
          </a:prstGeom>
        </p:spPr>
        <p:txBody>
          <a:bodyPr anchor="t" rtlCol="false" tIns="0" lIns="0" bIns="0" rIns="0">
            <a:spAutoFit/>
          </a:bodyPr>
          <a:lstStyle/>
          <a:p>
            <a:pPr algn="l">
              <a:lnSpc>
                <a:spcPts val="1934"/>
              </a:lnSpc>
              <a:spcBef>
                <a:spcPct val="0"/>
              </a:spcBef>
            </a:pPr>
            <a:r>
              <a:rPr lang="en-US" sz="1791">
                <a:solidFill>
                  <a:srgbClr val="FFFFFF"/>
                </a:solidFill>
                <a:latin typeface="Poppins"/>
                <a:ea typeface="Poppins"/>
                <a:cs typeface="Poppins"/>
                <a:sym typeface="Poppins"/>
              </a:rPr>
              <a:t>page 20</a:t>
            </a:r>
          </a:p>
        </p:txBody>
      </p:sp>
      <p:sp>
        <p:nvSpPr>
          <p:cNvPr name="TextBox 4" id="4"/>
          <p:cNvSpPr txBox="true"/>
          <p:nvPr/>
        </p:nvSpPr>
        <p:spPr>
          <a:xfrm rot="0">
            <a:off x="10734502" y="2422591"/>
            <a:ext cx="7553498" cy="1300807"/>
          </a:xfrm>
          <a:prstGeom prst="rect">
            <a:avLst/>
          </a:prstGeom>
        </p:spPr>
        <p:txBody>
          <a:bodyPr anchor="t" rtlCol="false" tIns="0" lIns="0" bIns="0" rIns="0">
            <a:spAutoFit/>
          </a:bodyPr>
          <a:lstStyle/>
          <a:p>
            <a:pPr algn="l">
              <a:lnSpc>
                <a:spcPts val="9391"/>
              </a:lnSpc>
              <a:spcBef>
                <a:spcPct val="0"/>
              </a:spcBef>
            </a:pPr>
            <a:r>
              <a:rPr lang="en-US" sz="8696">
                <a:solidFill>
                  <a:srgbClr val="FFFFFF"/>
                </a:solidFill>
                <a:latin typeface="Poppins"/>
                <a:ea typeface="Poppins"/>
                <a:cs typeface="Poppins"/>
                <a:sym typeface="Poppins"/>
              </a:rPr>
              <a:t>ΚΑΤΑΛΗΚΤΙΚΑ</a:t>
            </a:r>
          </a:p>
        </p:txBody>
      </p:sp>
      <p:sp>
        <p:nvSpPr>
          <p:cNvPr name="TextBox 5" id="5"/>
          <p:cNvSpPr txBox="true"/>
          <p:nvPr/>
        </p:nvSpPr>
        <p:spPr>
          <a:xfrm rot="0">
            <a:off x="10914257" y="3842693"/>
            <a:ext cx="5966804" cy="1300807"/>
          </a:xfrm>
          <a:prstGeom prst="rect">
            <a:avLst/>
          </a:prstGeom>
        </p:spPr>
        <p:txBody>
          <a:bodyPr anchor="t" rtlCol="false" tIns="0" lIns="0" bIns="0" rIns="0">
            <a:spAutoFit/>
          </a:bodyPr>
          <a:lstStyle/>
          <a:p>
            <a:pPr algn="l">
              <a:lnSpc>
                <a:spcPts val="9391"/>
              </a:lnSpc>
              <a:spcBef>
                <a:spcPct val="0"/>
              </a:spcBef>
            </a:pPr>
            <a:r>
              <a:rPr lang="en-US" b="true" sz="8696">
                <a:solidFill>
                  <a:srgbClr val="FFFFFF"/>
                </a:solidFill>
                <a:latin typeface="Poppins Bold"/>
                <a:ea typeface="Poppins Bold"/>
                <a:cs typeface="Poppins Bold"/>
                <a:sym typeface="Poppins Bold"/>
              </a:rPr>
              <a:t>ΣΧΟΛΙΑ</a:t>
            </a:r>
          </a:p>
        </p:txBody>
      </p:sp>
      <p:sp>
        <p:nvSpPr>
          <p:cNvPr name="TextBox 6" id="6"/>
          <p:cNvSpPr txBox="true"/>
          <p:nvPr/>
        </p:nvSpPr>
        <p:spPr>
          <a:xfrm rot="0">
            <a:off x="1732650" y="3761293"/>
            <a:ext cx="7411350" cy="4716999"/>
          </a:xfrm>
          <a:prstGeom prst="rect">
            <a:avLst/>
          </a:prstGeom>
        </p:spPr>
        <p:txBody>
          <a:bodyPr anchor="t" rtlCol="false" tIns="0" lIns="0" bIns="0" rIns="0">
            <a:spAutoFit/>
          </a:bodyPr>
          <a:lstStyle/>
          <a:p>
            <a:pPr algn="just">
              <a:lnSpc>
                <a:spcPts val="2175"/>
              </a:lnSpc>
            </a:pPr>
            <a:r>
              <a:rPr lang="en-US" sz="2014">
                <a:solidFill>
                  <a:srgbClr val="295BBE"/>
                </a:solidFill>
                <a:latin typeface="Poppins"/>
                <a:ea typeface="Poppins"/>
                <a:cs typeface="Poppins"/>
                <a:sym typeface="Poppins"/>
              </a:rPr>
              <a:t>Το </a:t>
            </a:r>
            <a:r>
              <a:rPr lang="en-US" sz="2014" b="true">
                <a:solidFill>
                  <a:srgbClr val="295BBE"/>
                </a:solidFill>
                <a:latin typeface="Poppins Bold"/>
                <a:ea typeface="Poppins Bold"/>
                <a:cs typeface="Poppins Bold"/>
                <a:sym typeface="Poppins Bold"/>
              </a:rPr>
              <a:t>FreshBox </a:t>
            </a:r>
            <a:r>
              <a:rPr lang="en-US" sz="2014">
                <a:solidFill>
                  <a:srgbClr val="295BBE"/>
                </a:solidFill>
                <a:latin typeface="Poppins"/>
                <a:ea typeface="Poppins"/>
                <a:cs typeface="Poppins"/>
                <a:sym typeface="Poppins"/>
              </a:rPr>
              <a:t>είναι ένα πρωτοποριακό ψυγείο που συνδυάζει αισθητήρες, τεχνητή νοημοσύνη και απολύμανση UV-C για να διατηρεί τα τρόφιμα φρέσκα και ασφαλή. Μέσω της τεχνολογίας του, το </a:t>
            </a:r>
            <a:r>
              <a:rPr lang="en-US" sz="2014" b="true">
                <a:solidFill>
                  <a:srgbClr val="295BBE"/>
                </a:solidFill>
                <a:latin typeface="Poppins Bold"/>
                <a:ea typeface="Poppins Bold"/>
                <a:cs typeface="Poppins Bold"/>
                <a:sym typeface="Poppins Bold"/>
              </a:rPr>
              <a:t>FreshBox </a:t>
            </a:r>
            <a:r>
              <a:rPr lang="en-US" sz="2014">
                <a:solidFill>
                  <a:srgbClr val="295BBE"/>
                </a:solidFill>
                <a:latin typeface="Poppins"/>
                <a:ea typeface="Poppins"/>
                <a:cs typeface="Poppins"/>
                <a:sym typeface="Poppins"/>
              </a:rPr>
              <a:t>παρακολουθεί τα αποθέματα, μειώνει τη σπατάλη και ενισχύει τη διαχείριση τροφίμων στο σπίτι. Οι λειτουργίες αυτόματης λίστας αγορών και προτάσεων συνταγών διευκολύνουν την καθημερινή χρήση, ενώ η πολυζωνική ρύθμιση θερμοκρασίας εξασφαλίζει ιδανικές συνθήκες για κάθε είδος τροφίμου.</a:t>
            </a:r>
          </a:p>
          <a:p>
            <a:pPr algn="just">
              <a:lnSpc>
                <a:spcPts val="2175"/>
              </a:lnSpc>
            </a:pPr>
          </a:p>
          <a:p>
            <a:pPr algn="just">
              <a:lnSpc>
                <a:spcPts val="2175"/>
              </a:lnSpc>
            </a:pPr>
            <a:r>
              <a:rPr lang="en-US" sz="2014">
                <a:solidFill>
                  <a:srgbClr val="295BBE"/>
                </a:solidFill>
                <a:latin typeface="Poppins"/>
                <a:ea typeface="Poppins"/>
                <a:cs typeface="Poppins"/>
                <a:sym typeface="Poppins"/>
              </a:rPr>
              <a:t>Το </a:t>
            </a:r>
            <a:r>
              <a:rPr lang="en-US" sz="2014" b="true">
                <a:solidFill>
                  <a:srgbClr val="295BBE"/>
                </a:solidFill>
                <a:latin typeface="Poppins Bold"/>
                <a:ea typeface="Poppins Bold"/>
                <a:cs typeface="Poppins Bold"/>
                <a:sym typeface="Poppins Bold"/>
              </a:rPr>
              <a:t>FreshBox </a:t>
            </a:r>
            <a:r>
              <a:rPr lang="en-US" sz="2014">
                <a:solidFill>
                  <a:srgbClr val="295BBE"/>
                </a:solidFill>
                <a:latin typeface="Poppins"/>
                <a:ea typeface="Poppins"/>
                <a:cs typeface="Poppins"/>
                <a:sym typeface="Poppins"/>
              </a:rPr>
              <a:t>προωθεί έναν πιο υγιεινό, βιώσιμο και οικονομικό τρόπο ζωής, βοηθώντας τα νοικοκυριά να εξοικονομούν χρήματα και να μειώνουν το περιβαλλοντικό τους αποτύπωμα.</a:t>
            </a:r>
          </a:p>
          <a:p>
            <a:pPr algn="just">
              <a:lnSpc>
                <a:spcPts val="2175"/>
              </a:lnSpc>
            </a:pPr>
          </a:p>
          <a:p>
            <a:pPr algn="just">
              <a:lnSpc>
                <a:spcPts val="2175"/>
              </a:lnSpc>
              <a:spcBef>
                <a:spcPct val="0"/>
              </a:spcBef>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295BBE"/>
        </a:solidFill>
      </p:bgPr>
    </p:bg>
    <p:spTree>
      <p:nvGrpSpPr>
        <p:cNvPr id="1" name=""/>
        <p:cNvGrpSpPr/>
        <p:nvPr/>
      </p:nvGrpSpPr>
      <p:grpSpPr>
        <a:xfrm>
          <a:off x="0" y="0"/>
          <a:ext cx="0" cy="0"/>
          <a:chOff x="0" y="0"/>
          <a:chExt cx="0" cy="0"/>
        </a:xfrm>
      </p:grpSpPr>
      <p:grpSp>
        <p:nvGrpSpPr>
          <p:cNvPr name="Group 2" id="2"/>
          <p:cNvGrpSpPr/>
          <p:nvPr/>
        </p:nvGrpSpPr>
        <p:grpSpPr>
          <a:xfrm rot="0">
            <a:off x="-479124" y="6692557"/>
            <a:ext cx="4570525" cy="4620980"/>
            <a:chOff x="0" y="0"/>
            <a:chExt cx="719015" cy="726953"/>
          </a:xfrm>
        </p:grpSpPr>
        <p:sp>
          <p:nvSpPr>
            <p:cNvPr name="Freeform 3" id="3"/>
            <p:cNvSpPr/>
            <p:nvPr/>
          </p:nvSpPr>
          <p:spPr>
            <a:xfrm flipH="false" flipV="false" rot="0">
              <a:off x="0" y="0"/>
              <a:ext cx="719015" cy="726953"/>
            </a:xfrm>
            <a:custGeom>
              <a:avLst/>
              <a:gdLst/>
              <a:ahLst/>
              <a:cxnLst/>
              <a:rect r="r" b="b" t="t" l="l"/>
              <a:pathLst>
                <a:path h="726953" w="719015">
                  <a:moveTo>
                    <a:pt x="359508" y="0"/>
                  </a:moveTo>
                  <a:cubicBezTo>
                    <a:pt x="160957" y="0"/>
                    <a:pt x="0" y="162734"/>
                    <a:pt x="0" y="363476"/>
                  </a:cubicBezTo>
                  <a:cubicBezTo>
                    <a:pt x="0" y="564219"/>
                    <a:pt x="160957" y="726953"/>
                    <a:pt x="359508" y="726953"/>
                  </a:cubicBezTo>
                  <a:cubicBezTo>
                    <a:pt x="558058" y="726953"/>
                    <a:pt x="719015" y="564219"/>
                    <a:pt x="719015" y="363476"/>
                  </a:cubicBezTo>
                  <a:cubicBezTo>
                    <a:pt x="719015" y="162734"/>
                    <a:pt x="558058" y="0"/>
                    <a:pt x="359508" y="0"/>
                  </a:cubicBezTo>
                  <a:close/>
                </a:path>
              </a:pathLst>
            </a:custGeom>
            <a:solidFill>
              <a:srgbClr val="D9D9D9"/>
            </a:solidFill>
          </p:spPr>
        </p:sp>
        <p:sp>
          <p:nvSpPr>
            <p:cNvPr name="TextBox 4" id="4"/>
            <p:cNvSpPr txBox="true"/>
            <p:nvPr/>
          </p:nvSpPr>
          <p:spPr>
            <a:xfrm>
              <a:off x="67408" y="68152"/>
              <a:ext cx="584200" cy="590649"/>
            </a:xfrm>
            <a:prstGeom prst="rect">
              <a:avLst/>
            </a:prstGeom>
          </p:spPr>
          <p:txBody>
            <a:bodyPr anchor="ctr" rtlCol="false" tIns="50800" lIns="50800" bIns="50800" rIns="50800"/>
            <a:lstStyle/>
            <a:p>
              <a:pPr algn="ctr">
                <a:lnSpc>
                  <a:spcPts val="1917"/>
                </a:lnSpc>
              </a:pPr>
            </a:p>
          </p:txBody>
        </p:sp>
      </p:grpSp>
      <p:grpSp>
        <p:nvGrpSpPr>
          <p:cNvPr name="Group 5" id="5"/>
          <p:cNvGrpSpPr/>
          <p:nvPr/>
        </p:nvGrpSpPr>
        <p:grpSpPr>
          <a:xfrm rot="0">
            <a:off x="9395874" y="1363277"/>
            <a:ext cx="553292" cy="55329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5D3E2"/>
            </a:solidFill>
          </p:spPr>
        </p:sp>
        <p:sp>
          <p:nvSpPr>
            <p:cNvPr name="TextBox 7" id="7"/>
            <p:cNvSpPr txBox="true"/>
            <p:nvPr/>
          </p:nvSpPr>
          <p:spPr>
            <a:xfrm>
              <a:off x="76200" y="76200"/>
              <a:ext cx="660400" cy="660400"/>
            </a:xfrm>
            <a:prstGeom prst="rect">
              <a:avLst/>
            </a:prstGeom>
          </p:spPr>
          <p:txBody>
            <a:bodyPr anchor="ctr" rtlCol="false" tIns="50800" lIns="50800" bIns="50800" rIns="50800"/>
            <a:lstStyle/>
            <a:p>
              <a:pPr algn="ctr">
                <a:lnSpc>
                  <a:spcPts val="1917"/>
                </a:lnSpc>
              </a:pPr>
            </a:p>
          </p:txBody>
        </p:sp>
      </p:grpSp>
      <p:grpSp>
        <p:nvGrpSpPr>
          <p:cNvPr name="Group 8" id="8"/>
          <p:cNvGrpSpPr/>
          <p:nvPr/>
        </p:nvGrpSpPr>
        <p:grpSpPr>
          <a:xfrm rot="0">
            <a:off x="9395874" y="2988957"/>
            <a:ext cx="8183545" cy="744388"/>
            <a:chOff x="0" y="0"/>
            <a:chExt cx="10911393" cy="992517"/>
          </a:xfrm>
        </p:grpSpPr>
        <p:grpSp>
          <p:nvGrpSpPr>
            <p:cNvPr name="Group 9" id="9"/>
            <p:cNvGrpSpPr/>
            <p:nvPr/>
          </p:nvGrpSpPr>
          <p:grpSpPr>
            <a:xfrm rot="0">
              <a:off x="0" y="127397"/>
              <a:ext cx="737723" cy="73772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5D3E2"/>
              </a:solidFill>
            </p:spPr>
          </p:sp>
          <p:sp>
            <p:nvSpPr>
              <p:cNvPr name="TextBox 11" id="11"/>
              <p:cNvSpPr txBox="true"/>
              <p:nvPr/>
            </p:nvSpPr>
            <p:spPr>
              <a:xfrm>
                <a:off x="76200" y="76200"/>
                <a:ext cx="660400" cy="660400"/>
              </a:xfrm>
              <a:prstGeom prst="rect">
                <a:avLst/>
              </a:prstGeom>
            </p:spPr>
            <p:txBody>
              <a:bodyPr anchor="ctr" rtlCol="false" tIns="50800" lIns="50800" bIns="50800" rIns="50800"/>
              <a:lstStyle/>
              <a:p>
                <a:pPr algn="ctr">
                  <a:lnSpc>
                    <a:spcPts val="1917"/>
                  </a:lnSpc>
                </a:pPr>
              </a:p>
            </p:txBody>
          </p:sp>
        </p:grpSp>
        <p:sp>
          <p:nvSpPr>
            <p:cNvPr name="TextBox 12" id="12"/>
            <p:cNvSpPr txBox="true"/>
            <p:nvPr/>
          </p:nvSpPr>
          <p:spPr>
            <a:xfrm rot="0">
              <a:off x="1023196" y="9525"/>
              <a:ext cx="9888198" cy="982992"/>
            </a:xfrm>
            <a:prstGeom prst="rect">
              <a:avLst/>
            </a:prstGeom>
          </p:spPr>
          <p:txBody>
            <a:bodyPr anchor="t" rtlCol="false" tIns="0" lIns="0" bIns="0" rIns="0">
              <a:spAutoFit/>
            </a:bodyPr>
            <a:lstStyle/>
            <a:p>
              <a:pPr algn="l">
                <a:lnSpc>
                  <a:spcPts val="2801"/>
                </a:lnSpc>
                <a:spcBef>
                  <a:spcPct val="0"/>
                </a:spcBef>
              </a:pPr>
              <a:r>
                <a:rPr lang="en-US" b="true" sz="2594">
                  <a:solidFill>
                    <a:srgbClr val="FFFFFF"/>
                  </a:solidFill>
                  <a:latin typeface="Poppins Bold"/>
                  <a:ea typeface="Poppins Bold"/>
                  <a:cs typeface="Poppins Bold"/>
                  <a:sym typeface="Poppins Bold"/>
                </a:rPr>
                <a:t>ΠΏΣ ΜΠΟΡΩ ΝΑ ΠΑΡΑΚΟΛΟΥΘΩ ΤΑ ΤΡΟΦΙΜΑ ΠΟΥ ΛΗΓΟΥΝ;</a:t>
              </a:r>
            </a:p>
          </p:txBody>
        </p:sp>
      </p:grpSp>
      <p:grpSp>
        <p:nvGrpSpPr>
          <p:cNvPr name="Group 13" id="13"/>
          <p:cNvGrpSpPr/>
          <p:nvPr/>
        </p:nvGrpSpPr>
        <p:grpSpPr>
          <a:xfrm rot="0">
            <a:off x="9395874" y="6630383"/>
            <a:ext cx="8183545" cy="744388"/>
            <a:chOff x="0" y="0"/>
            <a:chExt cx="10911393" cy="992517"/>
          </a:xfrm>
        </p:grpSpPr>
        <p:grpSp>
          <p:nvGrpSpPr>
            <p:cNvPr name="Group 14" id="14"/>
            <p:cNvGrpSpPr/>
            <p:nvPr/>
          </p:nvGrpSpPr>
          <p:grpSpPr>
            <a:xfrm rot="0">
              <a:off x="0" y="127397"/>
              <a:ext cx="737723" cy="737723"/>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5D3E2"/>
              </a:solidFill>
            </p:spPr>
          </p:sp>
          <p:sp>
            <p:nvSpPr>
              <p:cNvPr name="TextBox 16" id="16"/>
              <p:cNvSpPr txBox="true"/>
              <p:nvPr/>
            </p:nvSpPr>
            <p:spPr>
              <a:xfrm>
                <a:off x="76200" y="76200"/>
                <a:ext cx="660400" cy="660400"/>
              </a:xfrm>
              <a:prstGeom prst="rect">
                <a:avLst/>
              </a:prstGeom>
            </p:spPr>
            <p:txBody>
              <a:bodyPr anchor="ctr" rtlCol="false" tIns="50800" lIns="50800" bIns="50800" rIns="50800"/>
              <a:lstStyle/>
              <a:p>
                <a:pPr algn="ctr">
                  <a:lnSpc>
                    <a:spcPts val="1917"/>
                  </a:lnSpc>
                </a:pPr>
              </a:p>
            </p:txBody>
          </p:sp>
        </p:grpSp>
        <p:sp>
          <p:nvSpPr>
            <p:cNvPr name="TextBox 17" id="17"/>
            <p:cNvSpPr txBox="true"/>
            <p:nvPr/>
          </p:nvSpPr>
          <p:spPr>
            <a:xfrm rot="0">
              <a:off x="1004563" y="9525"/>
              <a:ext cx="9906830" cy="982992"/>
            </a:xfrm>
            <a:prstGeom prst="rect">
              <a:avLst/>
            </a:prstGeom>
          </p:spPr>
          <p:txBody>
            <a:bodyPr anchor="t" rtlCol="false" tIns="0" lIns="0" bIns="0" rIns="0">
              <a:spAutoFit/>
            </a:bodyPr>
            <a:lstStyle/>
            <a:p>
              <a:pPr algn="l">
                <a:lnSpc>
                  <a:spcPts val="2801"/>
                </a:lnSpc>
                <a:spcBef>
                  <a:spcPct val="0"/>
                </a:spcBef>
              </a:pPr>
              <a:r>
                <a:rPr lang="en-US" b="true" sz="2594">
                  <a:solidFill>
                    <a:srgbClr val="FFFFFF"/>
                  </a:solidFill>
                  <a:latin typeface="Poppins Bold"/>
                  <a:ea typeface="Poppins Bold"/>
                  <a:cs typeface="Poppins Bold"/>
                  <a:sym typeface="Poppins Bold"/>
                </a:rPr>
                <a:t>ΠΩΣ ΛΕΙΤΟΥΡΓΕΙ ΤΟ FRESHBOX ΓΙΑ ΤΗ ΜΕΙΩΣΗ ΤΗΣ ΣΠΑΤΑΛΗΣ ΤΡΟΦΙΜΩΝ;</a:t>
              </a:r>
            </a:p>
          </p:txBody>
        </p:sp>
      </p:grpSp>
      <p:grpSp>
        <p:nvGrpSpPr>
          <p:cNvPr name="Group 18" id="18"/>
          <p:cNvGrpSpPr/>
          <p:nvPr/>
        </p:nvGrpSpPr>
        <p:grpSpPr>
          <a:xfrm rot="0">
            <a:off x="9395874" y="4809670"/>
            <a:ext cx="8183545" cy="744388"/>
            <a:chOff x="0" y="0"/>
            <a:chExt cx="10911393" cy="992517"/>
          </a:xfrm>
        </p:grpSpPr>
        <p:grpSp>
          <p:nvGrpSpPr>
            <p:cNvPr name="Group 19" id="19"/>
            <p:cNvGrpSpPr/>
            <p:nvPr/>
          </p:nvGrpSpPr>
          <p:grpSpPr>
            <a:xfrm rot="0">
              <a:off x="0" y="127397"/>
              <a:ext cx="737723" cy="737723"/>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5D3E2"/>
              </a:solidFill>
            </p:spPr>
          </p:sp>
          <p:sp>
            <p:nvSpPr>
              <p:cNvPr name="TextBox 21" id="21"/>
              <p:cNvSpPr txBox="true"/>
              <p:nvPr/>
            </p:nvSpPr>
            <p:spPr>
              <a:xfrm>
                <a:off x="76200" y="76200"/>
                <a:ext cx="660400" cy="660400"/>
              </a:xfrm>
              <a:prstGeom prst="rect">
                <a:avLst/>
              </a:prstGeom>
            </p:spPr>
            <p:txBody>
              <a:bodyPr anchor="ctr" rtlCol="false" tIns="50800" lIns="50800" bIns="50800" rIns="50800"/>
              <a:lstStyle/>
              <a:p>
                <a:pPr algn="ctr">
                  <a:lnSpc>
                    <a:spcPts val="1917"/>
                  </a:lnSpc>
                </a:pPr>
              </a:p>
            </p:txBody>
          </p:sp>
        </p:grpSp>
        <p:sp>
          <p:nvSpPr>
            <p:cNvPr name="TextBox 22" id="22"/>
            <p:cNvSpPr txBox="true"/>
            <p:nvPr/>
          </p:nvSpPr>
          <p:spPr>
            <a:xfrm rot="0">
              <a:off x="1023196" y="9525"/>
              <a:ext cx="9888198" cy="982992"/>
            </a:xfrm>
            <a:prstGeom prst="rect">
              <a:avLst/>
            </a:prstGeom>
          </p:spPr>
          <p:txBody>
            <a:bodyPr anchor="t" rtlCol="false" tIns="0" lIns="0" bIns="0" rIns="0">
              <a:spAutoFit/>
            </a:bodyPr>
            <a:lstStyle/>
            <a:p>
              <a:pPr algn="l">
                <a:lnSpc>
                  <a:spcPts val="2801"/>
                </a:lnSpc>
                <a:spcBef>
                  <a:spcPct val="0"/>
                </a:spcBef>
              </a:pPr>
              <a:r>
                <a:rPr lang="en-US" b="true" sz="2594">
                  <a:solidFill>
                    <a:srgbClr val="FFFFFF"/>
                  </a:solidFill>
                  <a:latin typeface="Poppins Bold"/>
                  <a:ea typeface="Poppins Bold"/>
                  <a:cs typeface="Poppins Bold"/>
                  <a:sym typeface="Poppins Bold"/>
                </a:rPr>
                <a:t>ΜΠΟΡΕΙ ΤΟ FRESHBOX ΝΑ ΣΥΝΕΡΓΑΣΤΕΙ ΜΕ ΑΛΛΕΣ ΣΥΣΚΕΥΕΣ Η ΕΦΑΡΜΟΓΕΣ;</a:t>
              </a:r>
            </a:p>
          </p:txBody>
        </p:sp>
      </p:grpSp>
      <p:grpSp>
        <p:nvGrpSpPr>
          <p:cNvPr name="Group 23" id="23"/>
          <p:cNvGrpSpPr/>
          <p:nvPr/>
        </p:nvGrpSpPr>
        <p:grpSpPr>
          <a:xfrm rot="0">
            <a:off x="9395874" y="8451096"/>
            <a:ext cx="8183545" cy="744388"/>
            <a:chOff x="0" y="0"/>
            <a:chExt cx="10911393" cy="992517"/>
          </a:xfrm>
        </p:grpSpPr>
        <p:grpSp>
          <p:nvGrpSpPr>
            <p:cNvPr name="Group 24" id="24"/>
            <p:cNvGrpSpPr/>
            <p:nvPr/>
          </p:nvGrpSpPr>
          <p:grpSpPr>
            <a:xfrm rot="0">
              <a:off x="0" y="127397"/>
              <a:ext cx="737723" cy="737723"/>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5D3E2"/>
              </a:solidFill>
            </p:spPr>
          </p:sp>
          <p:sp>
            <p:nvSpPr>
              <p:cNvPr name="TextBox 26" id="26"/>
              <p:cNvSpPr txBox="true"/>
              <p:nvPr/>
            </p:nvSpPr>
            <p:spPr>
              <a:xfrm>
                <a:off x="76200" y="76200"/>
                <a:ext cx="660400" cy="660400"/>
              </a:xfrm>
              <a:prstGeom prst="rect">
                <a:avLst/>
              </a:prstGeom>
            </p:spPr>
            <p:txBody>
              <a:bodyPr anchor="ctr" rtlCol="false" tIns="50800" lIns="50800" bIns="50800" rIns="50800"/>
              <a:lstStyle/>
              <a:p>
                <a:pPr algn="ctr">
                  <a:lnSpc>
                    <a:spcPts val="1917"/>
                  </a:lnSpc>
                </a:pPr>
              </a:p>
            </p:txBody>
          </p:sp>
        </p:grpSp>
        <p:sp>
          <p:nvSpPr>
            <p:cNvPr name="TextBox 27" id="27"/>
            <p:cNvSpPr txBox="true"/>
            <p:nvPr/>
          </p:nvSpPr>
          <p:spPr>
            <a:xfrm rot="0">
              <a:off x="1004563" y="9525"/>
              <a:ext cx="9906830" cy="982992"/>
            </a:xfrm>
            <a:prstGeom prst="rect">
              <a:avLst/>
            </a:prstGeom>
          </p:spPr>
          <p:txBody>
            <a:bodyPr anchor="t" rtlCol="false" tIns="0" lIns="0" bIns="0" rIns="0">
              <a:spAutoFit/>
            </a:bodyPr>
            <a:lstStyle/>
            <a:p>
              <a:pPr algn="l">
                <a:lnSpc>
                  <a:spcPts val="2801"/>
                </a:lnSpc>
                <a:spcBef>
                  <a:spcPct val="0"/>
                </a:spcBef>
              </a:pPr>
              <a:r>
                <a:rPr lang="en-US" b="true" sz="2594">
                  <a:solidFill>
                    <a:srgbClr val="FFFFFF"/>
                  </a:solidFill>
                  <a:latin typeface="Poppins Bold"/>
                  <a:ea typeface="Poppins Bold"/>
                  <a:cs typeface="Poppins Bold"/>
                  <a:sym typeface="Poppins Bold"/>
                </a:rPr>
                <a:t>ΠΟΙΕΣ ΕΙΝΑΙ ΟΙ ΒΑΣΙΚΕΣ ΔΥΝΑΤΟΤΗΤΕΣ ΤΟΥ FRESHBOX ΠΟΥ ΤΟ ΚΑΝΟΥΝ ΜΟΝΑΔΙΚΟ;</a:t>
              </a:r>
            </a:p>
          </p:txBody>
        </p:sp>
      </p:grpSp>
      <p:sp>
        <p:nvSpPr>
          <p:cNvPr name="Freeform 28" id="28"/>
          <p:cNvSpPr/>
          <p:nvPr/>
        </p:nvSpPr>
        <p:spPr>
          <a:xfrm flipH="false" flipV="false" rot="0">
            <a:off x="2402103" y="6942151"/>
            <a:ext cx="5363054" cy="3344849"/>
          </a:xfrm>
          <a:custGeom>
            <a:avLst/>
            <a:gdLst/>
            <a:ahLst/>
            <a:cxnLst/>
            <a:rect r="r" b="b" t="t" l="l"/>
            <a:pathLst>
              <a:path h="3344849" w="5363054">
                <a:moveTo>
                  <a:pt x="0" y="0"/>
                </a:moveTo>
                <a:lnTo>
                  <a:pt x="5363054" y="0"/>
                </a:lnTo>
                <a:lnTo>
                  <a:pt x="5363054" y="3344849"/>
                </a:lnTo>
                <a:lnTo>
                  <a:pt x="0" y="3344849"/>
                </a:lnTo>
                <a:lnTo>
                  <a:pt x="0" y="0"/>
                </a:lnTo>
                <a:close/>
              </a:path>
            </a:pathLst>
          </a:custGeom>
          <a:blipFill>
            <a:blip r:embed="rId2"/>
            <a:stretch>
              <a:fillRect l="0" t="0" r="0" b="-60337"/>
            </a:stretch>
          </a:blipFill>
        </p:spPr>
      </p:sp>
      <p:sp>
        <p:nvSpPr>
          <p:cNvPr name="TextBox 29" id="29"/>
          <p:cNvSpPr txBox="true"/>
          <p:nvPr/>
        </p:nvSpPr>
        <p:spPr>
          <a:xfrm rot="0">
            <a:off x="842084" y="806607"/>
            <a:ext cx="8483093" cy="1300807"/>
          </a:xfrm>
          <a:prstGeom prst="rect">
            <a:avLst/>
          </a:prstGeom>
        </p:spPr>
        <p:txBody>
          <a:bodyPr anchor="t" rtlCol="false" tIns="0" lIns="0" bIns="0" rIns="0">
            <a:spAutoFit/>
          </a:bodyPr>
          <a:lstStyle/>
          <a:p>
            <a:pPr algn="l">
              <a:lnSpc>
                <a:spcPts val="9391"/>
              </a:lnSpc>
              <a:spcBef>
                <a:spcPct val="0"/>
              </a:spcBef>
            </a:pPr>
            <a:r>
              <a:rPr lang="en-US" sz="8696">
                <a:solidFill>
                  <a:srgbClr val="FFFFFF"/>
                </a:solidFill>
                <a:latin typeface="Poppins Light"/>
                <a:ea typeface="Poppins Light"/>
                <a:cs typeface="Poppins Light"/>
                <a:sym typeface="Poppins Light"/>
              </a:rPr>
              <a:t>ΣΥΧΝΕΣ</a:t>
            </a:r>
          </a:p>
        </p:txBody>
      </p:sp>
      <p:sp>
        <p:nvSpPr>
          <p:cNvPr name="TextBox 30" id="30"/>
          <p:cNvSpPr txBox="true"/>
          <p:nvPr/>
        </p:nvSpPr>
        <p:spPr>
          <a:xfrm rot="0">
            <a:off x="1180449" y="1791707"/>
            <a:ext cx="7241541" cy="1300807"/>
          </a:xfrm>
          <a:prstGeom prst="rect">
            <a:avLst/>
          </a:prstGeom>
        </p:spPr>
        <p:txBody>
          <a:bodyPr anchor="t" rtlCol="false" tIns="0" lIns="0" bIns="0" rIns="0">
            <a:spAutoFit/>
          </a:bodyPr>
          <a:lstStyle/>
          <a:p>
            <a:pPr algn="l">
              <a:lnSpc>
                <a:spcPts val="9391"/>
              </a:lnSpc>
              <a:spcBef>
                <a:spcPct val="0"/>
              </a:spcBef>
            </a:pPr>
            <a:r>
              <a:rPr lang="en-US" b="true" sz="8696">
                <a:solidFill>
                  <a:srgbClr val="FFFFFF"/>
                </a:solidFill>
                <a:latin typeface="Poppins Bold"/>
                <a:ea typeface="Poppins Bold"/>
                <a:cs typeface="Poppins Bold"/>
                <a:sym typeface="Poppins Bold"/>
              </a:rPr>
              <a:t>ΕΡΩΤΗΣΕΙΣ</a:t>
            </a:r>
          </a:p>
        </p:txBody>
      </p:sp>
      <p:sp>
        <p:nvSpPr>
          <p:cNvPr name="TextBox 31" id="31"/>
          <p:cNvSpPr txBox="true"/>
          <p:nvPr/>
        </p:nvSpPr>
        <p:spPr>
          <a:xfrm rot="0">
            <a:off x="10163270" y="1101041"/>
            <a:ext cx="7416148" cy="1087288"/>
          </a:xfrm>
          <a:prstGeom prst="rect">
            <a:avLst/>
          </a:prstGeom>
        </p:spPr>
        <p:txBody>
          <a:bodyPr anchor="t" rtlCol="false" tIns="0" lIns="0" bIns="0" rIns="0">
            <a:spAutoFit/>
          </a:bodyPr>
          <a:lstStyle/>
          <a:p>
            <a:pPr algn="l">
              <a:lnSpc>
                <a:spcPts val="2801"/>
              </a:lnSpc>
              <a:spcBef>
                <a:spcPct val="0"/>
              </a:spcBef>
            </a:pPr>
            <a:r>
              <a:rPr lang="en-US" b="true" sz="2594">
                <a:solidFill>
                  <a:srgbClr val="FFFFFF"/>
                </a:solidFill>
                <a:latin typeface="Poppins Bold"/>
                <a:ea typeface="Poppins Bold"/>
                <a:cs typeface="Poppins Bold"/>
                <a:sym typeface="Poppins Bold"/>
              </a:rPr>
              <a:t>ΠΟΙΕΣ ΤΕΧΝΟΛΟΓIΕΣ ΧΡΗΣΙΜΟΠΟΙEI ΤΟ FRESHBOX ΓΙΑ ΤΗΝ ΑΠΟΛYΜΑΝΣΗ ΤΩΝ ΤΡΟΦIΜΩΝ;</a:t>
            </a:r>
          </a:p>
        </p:txBody>
      </p:sp>
      <p:sp>
        <p:nvSpPr>
          <p:cNvPr name="TextBox 32" id="32"/>
          <p:cNvSpPr txBox="true"/>
          <p:nvPr/>
        </p:nvSpPr>
        <p:spPr>
          <a:xfrm rot="5400000">
            <a:off x="17270654" y="9095640"/>
            <a:ext cx="1069196" cy="272173"/>
          </a:xfrm>
          <a:prstGeom prst="rect">
            <a:avLst/>
          </a:prstGeom>
        </p:spPr>
        <p:txBody>
          <a:bodyPr anchor="t" rtlCol="false" tIns="0" lIns="0" bIns="0" rIns="0">
            <a:spAutoFit/>
          </a:bodyPr>
          <a:lstStyle/>
          <a:p>
            <a:pPr algn="l">
              <a:lnSpc>
                <a:spcPts val="1934"/>
              </a:lnSpc>
              <a:spcBef>
                <a:spcPct val="0"/>
              </a:spcBef>
            </a:pPr>
            <a:r>
              <a:rPr lang="en-US" sz="1791">
                <a:solidFill>
                  <a:srgbClr val="FFFFFF"/>
                </a:solidFill>
                <a:latin typeface="Poppins"/>
                <a:ea typeface="Poppins"/>
                <a:cs typeface="Poppins"/>
                <a:sym typeface="Poppins"/>
              </a:rPr>
              <a:t>page 21</a:t>
            </a:r>
          </a:p>
        </p:txBody>
      </p:sp>
      <p:sp>
        <p:nvSpPr>
          <p:cNvPr name="TextBox 33" id="33"/>
          <p:cNvSpPr txBox="true"/>
          <p:nvPr/>
        </p:nvSpPr>
        <p:spPr>
          <a:xfrm rot="0">
            <a:off x="7265539" y="2361081"/>
            <a:ext cx="1555687" cy="487292"/>
          </a:xfrm>
          <a:prstGeom prst="rect">
            <a:avLst/>
          </a:prstGeom>
        </p:spPr>
        <p:txBody>
          <a:bodyPr anchor="t" rtlCol="false" tIns="0" lIns="0" bIns="0" rIns="0">
            <a:spAutoFit/>
          </a:bodyPr>
          <a:lstStyle/>
          <a:p>
            <a:pPr algn="l">
              <a:lnSpc>
                <a:spcPts val="3535"/>
              </a:lnSpc>
              <a:spcBef>
                <a:spcPct val="0"/>
              </a:spcBef>
            </a:pPr>
            <a:r>
              <a:rPr lang="en-US" b="true" sz="3273">
                <a:solidFill>
                  <a:srgbClr val="FFFFFF"/>
                </a:solidFill>
                <a:latin typeface="Poppins Bold"/>
                <a:ea typeface="Poppins Bold"/>
                <a:cs typeface="Poppins Bold"/>
                <a:sym typeface="Poppins Bold"/>
              </a:rPr>
              <a:t>(FAQs)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9F6F6"/>
        </a:solidFill>
      </p:bgPr>
    </p:bg>
    <p:spTree>
      <p:nvGrpSpPr>
        <p:cNvPr id="1" name=""/>
        <p:cNvGrpSpPr/>
        <p:nvPr/>
      </p:nvGrpSpPr>
      <p:grpSpPr>
        <a:xfrm>
          <a:off x="0" y="0"/>
          <a:ext cx="0" cy="0"/>
          <a:chOff x="0" y="0"/>
          <a:chExt cx="0" cy="0"/>
        </a:xfrm>
      </p:grpSpPr>
      <p:sp>
        <p:nvSpPr>
          <p:cNvPr name="TextBox 2" id="2"/>
          <p:cNvSpPr txBox="true"/>
          <p:nvPr/>
        </p:nvSpPr>
        <p:spPr>
          <a:xfrm rot="5400000">
            <a:off x="17228608" y="9137686"/>
            <a:ext cx="1153288" cy="272173"/>
          </a:xfrm>
          <a:prstGeom prst="rect">
            <a:avLst/>
          </a:prstGeom>
        </p:spPr>
        <p:txBody>
          <a:bodyPr anchor="t" rtlCol="false" tIns="0" lIns="0" bIns="0" rIns="0">
            <a:spAutoFit/>
          </a:bodyPr>
          <a:lstStyle/>
          <a:p>
            <a:pPr algn="l">
              <a:lnSpc>
                <a:spcPts val="1934"/>
              </a:lnSpc>
              <a:spcBef>
                <a:spcPct val="0"/>
              </a:spcBef>
            </a:pPr>
            <a:r>
              <a:rPr lang="en-US" sz="1791">
                <a:solidFill>
                  <a:srgbClr val="295BBE"/>
                </a:solidFill>
                <a:latin typeface="Poppins"/>
                <a:ea typeface="Poppins"/>
                <a:cs typeface="Poppins"/>
                <a:sym typeface="Poppins"/>
              </a:rPr>
              <a:t>page 14</a:t>
            </a:r>
          </a:p>
        </p:txBody>
      </p:sp>
      <p:sp>
        <p:nvSpPr>
          <p:cNvPr name="TextBox 3" id="3"/>
          <p:cNvSpPr txBox="true"/>
          <p:nvPr/>
        </p:nvSpPr>
        <p:spPr>
          <a:xfrm rot="0">
            <a:off x="9309849" y="4733995"/>
            <a:ext cx="6860530" cy="1039160"/>
          </a:xfrm>
          <a:prstGeom prst="rect">
            <a:avLst/>
          </a:prstGeom>
        </p:spPr>
        <p:txBody>
          <a:bodyPr anchor="t" rtlCol="false" tIns="0" lIns="0" bIns="0" rIns="0">
            <a:spAutoFit/>
          </a:bodyPr>
          <a:lstStyle/>
          <a:p>
            <a:pPr algn="l">
              <a:lnSpc>
                <a:spcPts val="3901"/>
              </a:lnSpc>
              <a:spcBef>
                <a:spcPct val="0"/>
              </a:spcBef>
            </a:pPr>
            <a:r>
              <a:rPr lang="en-US" b="true" sz="3612">
                <a:solidFill>
                  <a:srgbClr val="295BBE"/>
                </a:solidFill>
                <a:latin typeface="Poppins Bold"/>
                <a:ea typeface="Poppins Bold"/>
                <a:cs typeface="Poppins Bold"/>
                <a:sym typeface="Poppins Bold"/>
              </a:rPr>
              <a:t>Πηγές Έμπνευσης &amp; Εργαλεία Δημιουργίας του AI</a:t>
            </a:r>
          </a:p>
        </p:txBody>
      </p:sp>
      <p:sp>
        <p:nvSpPr>
          <p:cNvPr name="TextBox 4" id="4"/>
          <p:cNvSpPr txBox="true"/>
          <p:nvPr/>
        </p:nvSpPr>
        <p:spPr>
          <a:xfrm rot="0">
            <a:off x="370789" y="234071"/>
            <a:ext cx="14543141" cy="1300807"/>
          </a:xfrm>
          <a:prstGeom prst="rect">
            <a:avLst/>
          </a:prstGeom>
        </p:spPr>
        <p:txBody>
          <a:bodyPr anchor="t" rtlCol="false" tIns="0" lIns="0" bIns="0" rIns="0">
            <a:spAutoFit/>
          </a:bodyPr>
          <a:lstStyle/>
          <a:p>
            <a:pPr algn="l">
              <a:lnSpc>
                <a:spcPts val="9391"/>
              </a:lnSpc>
              <a:spcBef>
                <a:spcPct val="0"/>
              </a:spcBef>
            </a:pPr>
            <a:r>
              <a:rPr lang="en-US" b="true" sz="8696">
                <a:solidFill>
                  <a:srgbClr val="295BBE"/>
                </a:solidFill>
                <a:latin typeface="Poppins Bold"/>
                <a:ea typeface="Poppins Bold"/>
                <a:cs typeface="Poppins Bold"/>
                <a:sym typeface="Poppins Bold"/>
              </a:rPr>
              <a:t>ΠΗΓΕΣ &amp; ΒΙΒΛΙΟΓΡΑΦΙΑ</a:t>
            </a:r>
          </a:p>
        </p:txBody>
      </p:sp>
      <p:sp>
        <p:nvSpPr>
          <p:cNvPr name="TextBox 5" id="5"/>
          <p:cNvSpPr txBox="true"/>
          <p:nvPr/>
        </p:nvSpPr>
        <p:spPr>
          <a:xfrm rot="0">
            <a:off x="9144000" y="5830241"/>
            <a:ext cx="8484576" cy="1090310"/>
          </a:xfrm>
          <a:prstGeom prst="rect">
            <a:avLst/>
          </a:prstGeom>
        </p:spPr>
        <p:txBody>
          <a:bodyPr anchor="t" rtlCol="false" tIns="0" lIns="0" bIns="0" rIns="0">
            <a:spAutoFit/>
          </a:bodyPr>
          <a:lstStyle/>
          <a:p>
            <a:pPr algn="just" marL="470484" indent="-235242" lvl="1">
              <a:lnSpc>
                <a:spcPts val="2832"/>
              </a:lnSpc>
              <a:buFont typeface="Arial"/>
              <a:buChar char="•"/>
            </a:pPr>
            <a:r>
              <a:rPr lang="en-US" sz="2179">
                <a:solidFill>
                  <a:srgbClr val="295BBE"/>
                </a:solidFill>
                <a:latin typeface="Poppins"/>
                <a:ea typeface="Poppins"/>
                <a:cs typeface="Poppins"/>
                <a:sym typeface="Poppins"/>
              </a:rPr>
              <a:t>CS50 - Artificial Intelligence Lecture [5]</a:t>
            </a:r>
          </a:p>
          <a:p>
            <a:pPr algn="just" marL="470484" indent="-235242" lvl="1">
              <a:lnSpc>
                <a:spcPts val="2832"/>
              </a:lnSpc>
              <a:buFont typeface="Arial"/>
              <a:buChar char="•"/>
            </a:pPr>
            <a:r>
              <a:rPr lang="en-US" sz="2179">
                <a:solidFill>
                  <a:srgbClr val="295BBE"/>
                </a:solidFill>
                <a:latin typeface="Poppins"/>
                <a:ea typeface="Poppins"/>
                <a:cs typeface="Poppins"/>
                <a:sym typeface="Poppins"/>
              </a:rPr>
              <a:t>Εργαλείο: </a:t>
            </a:r>
            <a:r>
              <a:rPr lang="en-US" sz="2179" u="sng">
                <a:solidFill>
                  <a:srgbClr val="295BBE"/>
                </a:solidFill>
                <a:latin typeface="Poppins"/>
                <a:ea typeface="Poppins"/>
                <a:cs typeface="Poppins"/>
                <a:sym typeface="Poppins"/>
                <a:hlinkClick r:id="rId2" tooltip="https://ai.azure.com/?tid=8f7698bc-b1b4-439f-b259-0213401d1cfb"/>
              </a:rPr>
              <a:t>Microsoft Azure AI Studio</a:t>
            </a:r>
          </a:p>
          <a:p>
            <a:pPr algn="just" marL="470484" indent="-235242" lvl="1">
              <a:lnSpc>
                <a:spcPts val="2832"/>
              </a:lnSpc>
              <a:buFont typeface="Arial"/>
              <a:buChar char="•"/>
            </a:pPr>
            <a:r>
              <a:rPr lang="en-US" sz="2179">
                <a:solidFill>
                  <a:srgbClr val="295BBE"/>
                </a:solidFill>
                <a:latin typeface="Poppins"/>
                <a:ea typeface="Poppins"/>
                <a:cs typeface="Poppins"/>
                <a:sym typeface="Poppins"/>
              </a:rPr>
              <a:t>Server Host: </a:t>
            </a:r>
            <a:r>
              <a:rPr lang="en-US" sz="2179" u="sng">
                <a:solidFill>
                  <a:srgbClr val="295BBE"/>
                </a:solidFill>
                <a:latin typeface="Poppins"/>
                <a:ea typeface="Poppins"/>
                <a:cs typeface="Poppins"/>
                <a:sym typeface="Poppins"/>
              </a:rPr>
              <a:t>Vector DB</a:t>
            </a:r>
            <a:r>
              <a:rPr lang="en-US" sz="2179">
                <a:solidFill>
                  <a:srgbClr val="295BBE"/>
                </a:solidFill>
                <a:latin typeface="Poppins"/>
                <a:ea typeface="Poppins"/>
                <a:cs typeface="Poppins"/>
                <a:sym typeface="Poppins"/>
              </a:rPr>
              <a:t> (Βάση Δεδομένων στο Cloud)</a:t>
            </a:r>
          </a:p>
        </p:txBody>
      </p:sp>
      <p:grpSp>
        <p:nvGrpSpPr>
          <p:cNvPr name="Group 6" id="6"/>
          <p:cNvGrpSpPr/>
          <p:nvPr/>
        </p:nvGrpSpPr>
        <p:grpSpPr>
          <a:xfrm rot="0">
            <a:off x="16640519" y="-820302"/>
            <a:ext cx="2329465" cy="2355180"/>
            <a:chOff x="0" y="0"/>
            <a:chExt cx="719015" cy="726953"/>
          </a:xfrm>
        </p:grpSpPr>
        <p:sp>
          <p:nvSpPr>
            <p:cNvPr name="Freeform 7" id="7"/>
            <p:cNvSpPr/>
            <p:nvPr/>
          </p:nvSpPr>
          <p:spPr>
            <a:xfrm flipH="false" flipV="false" rot="0">
              <a:off x="0" y="0"/>
              <a:ext cx="719015" cy="726953"/>
            </a:xfrm>
            <a:custGeom>
              <a:avLst/>
              <a:gdLst/>
              <a:ahLst/>
              <a:cxnLst/>
              <a:rect r="r" b="b" t="t" l="l"/>
              <a:pathLst>
                <a:path h="726953" w="719015">
                  <a:moveTo>
                    <a:pt x="359508" y="0"/>
                  </a:moveTo>
                  <a:cubicBezTo>
                    <a:pt x="160957" y="0"/>
                    <a:pt x="0" y="162734"/>
                    <a:pt x="0" y="363476"/>
                  </a:cubicBezTo>
                  <a:cubicBezTo>
                    <a:pt x="0" y="564219"/>
                    <a:pt x="160957" y="726953"/>
                    <a:pt x="359508" y="726953"/>
                  </a:cubicBezTo>
                  <a:cubicBezTo>
                    <a:pt x="558058" y="726953"/>
                    <a:pt x="719015" y="564219"/>
                    <a:pt x="719015" y="363476"/>
                  </a:cubicBezTo>
                  <a:cubicBezTo>
                    <a:pt x="719015" y="162734"/>
                    <a:pt x="558058" y="0"/>
                    <a:pt x="359508" y="0"/>
                  </a:cubicBezTo>
                  <a:close/>
                </a:path>
              </a:pathLst>
            </a:custGeom>
            <a:solidFill>
              <a:srgbClr val="295BBE"/>
            </a:solidFill>
          </p:spPr>
        </p:sp>
        <p:sp>
          <p:nvSpPr>
            <p:cNvPr name="TextBox 8" id="8"/>
            <p:cNvSpPr txBox="true"/>
            <p:nvPr/>
          </p:nvSpPr>
          <p:spPr>
            <a:xfrm>
              <a:off x="67408" y="68152"/>
              <a:ext cx="584200" cy="590649"/>
            </a:xfrm>
            <a:prstGeom prst="rect">
              <a:avLst/>
            </a:prstGeom>
          </p:spPr>
          <p:txBody>
            <a:bodyPr anchor="ctr" rtlCol="false" tIns="50800" lIns="50800" bIns="50800" rIns="50800"/>
            <a:lstStyle/>
            <a:p>
              <a:pPr algn="ctr">
                <a:lnSpc>
                  <a:spcPts val="1917"/>
                </a:lnSpc>
              </a:pPr>
            </a:p>
          </p:txBody>
        </p:sp>
      </p:grpSp>
      <p:sp>
        <p:nvSpPr>
          <p:cNvPr name="TextBox 9" id="9"/>
          <p:cNvSpPr txBox="true"/>
          <p:nvPr/>
        </p:nvSpPr>
        <p:spPr>
          <a:xfrm rot="0">
            <a:off x="94391" y="1856650"/>
            <a:ext cx="8690314" cy="4423138"/>
          </a:xfrm>
          <a:prstGeom prst="rect">
            <a:avLst/>
          </a:prstGeom>
        </p:spPr>
        <p:txBody>
          <a:bodyPr anchor="t" rtlCol="false" tIns="0" lIns="0" bIns="0" rIns="0">
            <a:spAutoFit/>
          </a:bodyPr>
          <a:lstStyle/>
          <a:p>
            <a:pPr algn="l" marL="381530" indent="-190765" lvl="1">
              <a:lnSpc>
                <a:spcPts val="2332"/>
              </a:lnSpc>
              <a:buFont typeface="Arial"/>
              <a:buChar char="•"/>
            </a:pPr>
            <a:r>
              <a:rPr lang="en-US" sz="1767">
                <a:solidFill>
                  <a:srgbClr val="295BBE"/>
                </a:solidFill>
                <a:latin typeface="Poppins"/>
                <a:ea typeface="Poppins"/>
                <a:cs typeface="Poppins"/>
                <a:sym typeface="Poppins"/>
              </a:rPr>
              <a:t>[1] P. Seo, “Embracing the Future: Smart Refrigerators and Connected Kitchens,” </a:t>
            </a:r>
            <a:r>
              <a:rPr lang="en-US" sz="1767" i="true">
                <a:solidFill>
                  <a:srgbClr val="295BBE"/>
                </a:solidFill>
                <a:latin typeface="Poppins Italics"/>
                <a:ea typeface="Poppins Italics"/>
                <a:cs typeface="Poppins Italics"/>
                <a:sym typeface="Poppins Italics"/>
              </a:rPr>
              <a:t>Mobiles, Electronics &amp; Gadgets | Pickaboo</a:t>
            </a:r>
            <a:r>
              <a:rPr lang="en-US" sz="1767">
                <a:solidFill>
                  <a:srgbClr val="295BBE"/>
                </a:solidFill>
                <a:latin typeface="Poppins"/>
                <a:ea typeface="Poppins"/>
                <a:cs typeface="Poppins"/>
                <a:sym typeface="Poppins"/>
              </a:rPr>
              <a:t>, Jul. 18, 2023. https://www.pickaboo.com/blog/smart-refrigerators-exploring-the-future-of-connected-cooling (accessed Oct. 28, 2024).</a:t>
            </a:r>
          </a:p>
          <a:p>
            <a:pPr algn="l">
              <a:lnSpc>
                <a:spcPts val="2332"/>
              </a:lnSpc>
            </a:pPr>
          </a:p>
          <a:p>
            <a:pPr algn="l" marL="381530" indent="-190765" lvl="1">
              <a:lnSpc>
                <a:spcPts val="2332"/>
              </a:lnSpc>
              <a:buFont typeface="Arial"/>
              <a:buChar char="•"/>
            </a:pPr>
            <a:r>
              <a:rPr lang="en-US" sz="1767">
                <a:solidFill>
                  <a:srgbClr val="295BBE"/>
                </a:solidFill>
                <a:latin typeface="Poppins"/>
                <a:ea typeface="Poppins"/>
                <a:cs typeface="Poppins"/>
                <a:sym typeface="Poppins"/>
              </a:rPr>
              <a:t>[2] A. Arphan, “The Future of Smart Refrigerators Innovations &amp; Trends You Need to Know | Common Good Ventures,” </a:t>
            </a:r>
            <a:r>
              <a:rPr lang="en-US" sz="1767" i="true">
                <a:solidFill>
                  <a:srgbClr val="295BBE"/>
                </a:solidFill>
                <a:latin typeface="Poppins Italics"/>
                <a:ea typeface="Poppins Italics"/>
                <a:cs typeface="Poppins Italics"/>
                <a:sym typeface="Poppins Italics"/>
              </a:rPr>
              <a:t>Commongoodventures.org</a:t>
            </a:r>
            <a:r>
              <a:rPr lang="en-US" sz="1767">
                <a:solidFill>
                  <a:srgbClr val="295BBE"/>
                </a:solidFill>
                <a:latin typeface="Poppins"/>
                <a:ea typeface="Poppins"/>
                <a:cs typeface="Poppins"/>
                <a:sym typeface="Poppins"/>
              </a:rPr>
              <a:t>, Sep. 20, 2024. https://commongoodventures.org/posts/the-future-of-smart-refrigerators-innovations-and-trends-you-need-to-know/ (accessed Oct. 27, 2024).</a:t>
            </a:r>
          </a:p>
          <a:p>
            <a:pPr algn="l">
              <a:lnSpc>
                <a:spcPts val="2332"/>
              </a:lnSpc>
            </a:pPr>
          </a:p>
          <a:p>
            <a:pPr algn="l" marL="381530" indent="-190765" lvl="1">
              <a:lnSpc>
                <a:spcPts val="2332"/>
              </a:lnSpc>
              <a:buFont typeface="Arial"/>
              <a:buChar char="•"/>
            </a:pPr>
            <a:r>
              <a:rPr lang="en-US" sz="1767">
                <a:solidFill>
                  <a:srgbClr val="295BBE"/>
                </a:solidFill>
                <a:latin typeface="Poppins"/>
                <a:ea typeface="Poppins"/>
                <a:cs typeface="Poppins"/>
                <a:sym typeface="Poppins"/>
              </a:rPr>
              <a:t>[3] K. R, “AI &amp; IoT-Powered Smart Fridge: Efficient Cooling and Food Management,” </a:t>
            </a:r>
            <a:r>
              <a:rPr lang="en-US" sz="1767" i="true">
                <a:solidFill>
                  <a:srgbClr val="295BBE"/>
                </a:solidFill>
                <a:latin typeface="Poppins Italics"/>
                <a:ea typeface="Poppins Italics"/>
                <a:cs typeface="Poppins Italics"/>
                <a:sym typeface="Poppins Italics"/>
              </a:rPr>
              <a:t>www.intuz.com</a:t>
            </a:r>
            <a:r>
              <a:rPr lang="en-US" sz="1767">
                <a:solidFill>
                  <a:srgbClr val="295BBE"/>
                </a:solidFill>
                <a:latin typeface="Poppins"/>
                <a:ea typeface="Poppins"/>
                <a:cs typeface="Poppins"/>
                <a:sym typeface="Poppins"/>
              </a:rPr>
              <a:t>, Jun. 20, 2023. https://www.intuz.com/blog/iot-enabled-smart-fridge (accessed Nov. 03, 2024).d-waste-index-report-2024 (accessed Oct. 31, 2024).</a:t>
            </a:r>
          </a:p>
        </p:txBody>
      </p:sp>
      <p:sp>
        <p:nvSpPr>
          <p:cNvPr name="TextBox 10" id="10"/>
          <p:cNvSpPr txBox="true"/>
          <p:nvPr/>
        </p:nvSpPr>
        <p:spPr>
          <a:xfrm rot="0">
            <a:off x="94391" y="6520781"/>
            <a:ext cx="8690314" cy="3246613"/>
          </a:xfrm>
          <a:prstGeom prst="rect">
            <a:avLst/>
          </a:prstGeom>
        </p:spPr>
        <p:txBody>
          <a:bodyPr anchor="t" rtlCol="false" tIns="0" lIns="0" bIns="0" rIns="0">
            <a:spAutoFit/>
          </a:bodyPr>
          <a:lstStyle/>
          <a:p>
            <a:pPr algn="l" marL="381530" indent="-190765" lvl="1">
              <a:lnSpc>
                <a:spcPts val="2332"/>
              </a:lnSpc>
              <a:buFont typeface="Arial"/>
              <a:buChar char="•"/>
            </a:pPr>
            <a:r>
              <a:rPr lang="en-US" sz="1767">
                <a:solidFill>
                  <a:srgbClr val="295BBE"/>
                </a:solidFill>
                <a:latin typeface="Poppins"/>
                <a:ea typeface="Poppins"/>
                <a:cs typeface="Poppins"/>
                <a:sym typeface="Poppins"/>
              </a:rPr>
              <a:t>[4] P. Cooling, “Smart Refrigeration: the Future of Cooling Technology,” </a:t>
            </a:r>
            <a:r>
              <a:rPr lang="en-US" sz="1767" i="true">
                <a:solidFill>
                  <a:srgbClr val="295BBE"/>
                </a:solidFill>
                <a:latin typeface="Poppins Italics"/>
                <a:ea typeface="Poppins Italics"/>
                <a:cs typeface="Poppins Italics"/>
                <a:sym typeface="Poppins Italics"/>
              </a:rPr>
              <a:t>“Expert Answers: Your Go-To HVAC &amp; Refrigeration Blog for Common Technical Questions,”</a:t>
            </a:r>
            <a:r>
              <a:rPr lang="en-US" sz="1767">
                <a:solidFill>
                  <a:srgbClr val="295BBE"/>
                </a:solidFill>
                <a:latin typeface="Poppins"/>
                <a:ea typeface="Poppins"/>
                <a:cs typeface="Poppins"/>
                <a:sym typeface="Poppins"/>
              </a:rPr>
              <a:t> Sep. 14, 2024. https://www.paradigmcooling.co.za/articles/2024/09/14/smart-refrigeration-the-future-of-cooling-technology/ (accessed Nov. 06, 2024).</a:t>
            </a:r>
          </a:p>
          <a:p>
            <a:pPr algn="l">
              <a:lnSpc>
                <a:spcPts val="2332"/>
              </a:lnSpc>
            </a:pPr>
          </a:p>
          <a:p>
            <a:pPr algn="l" marL="381530" indent="-190765" lvl="1">
              <a:lnSpc>
                <a:spcPts val="2332"/>
              </a:lnSpc>
              <a:buFont typeface="Arial"/>
              <a:buChar char="•"/>
            </a:pPr>
            <a:r>
              <a:rPr lang="en-US" sz="1767">
                <a:solidFill>
                  <a:srgbClr val="295BBE"/>
                </a:solidFill>
                <a:latin typeface="Poppins"/>
                <a:ea typeface="Poppins"/>
                <a:cs typeface="Poppins"/>
                <a:sym typeface="Poppins"/>
              </a:rPr>
              <a:t>[5] Lecturer: David J. Malan (CS50 Harvard), “CS50 Fall 2024 - Artificial Intelligence (live, unedited),” </a:t>
            </a:r>
            <a:r>
              <a:rPr lang="en-US" sz="1767" i="true">
                <a:solidFill>
                  <a:srgbClr val="295BBE"/>
                </a:solidFill>
                <a:latin typeface="Poppins Italics"/>
                <a:ea typeface="Poppins Italics"/>
                <a:cs typeface="Poppins Italics"/>
                <a:sym typeface="Poppins Italics"/>
              </a:rPr>
              <a:t>www.youtube.com</a:t>
            </a:r>
            <a:r>
              <a:rPr lang="en-US" sz="1767">
                <a:solidFill>
                  <a:srgbClr val="295BBE"/>
                </a:solidFill>
                <a:latin typeface="Poppins"/>
                <a:ea typeface="Poppins"/>
                <a:cs typeface="Poppins"/>
                <a:sym typeface="Poppins"/>
              </a:rPr>
              <a:t>, Oct. 25, 2024. https://www.youtube.com/watch?v=1HuD2ryeOLg (accessed Oct. 29, 2024).</a:t>
            </a:r>
          </a:p>
        </p:txBody>
      </p:sp>
      <p:sp>
        <p:nvSpPr>
          <p:cNvPr name="TextBox 11" id="11"/>
          <p:cNvSpPr txBox="true"/>
          <p:nvPr/>
        </p:nvSpPr>
        <p:spPr>
          <a:xfrm rot="0">
            <a:off x="8784705" y="1856650"/>
            <a:ext cx="8690314" cy="2364219"/>
          </a:xfrm>
          <a:prstGeom prst="rect">
            <a:avLst/>
          </a:prstGeom>
        </p:spPr>
        <p:txBody>
          <a:bodyPr anchor="t" rtlCol="false" tIns="0" lIns="0" bIns="0" rIns="0">
            <a:spAutoFit/>
          </a:bodyPr>
          <a:lstStyle/>
          <a:p>
            <a:pPr algn="l" marL="381530" indent="-190765" lvl="1">
              <a:lnSpc>
                <a:spcPts val="2332"/>
              </a:lnSpc>
              <a:buFont typeface="Arial"/>
              <a:buChar char="•"/>
            </a:pPr>
            <a:r>
              <a:rPr lang="en-US" sz="1767">
                <a:solidFill>
                  <a:srgbClr val="295BBE"/>
                </a:solidFill>
                <a:latin typeface="Poppins"/>
                <a:ea typeface="Poppins"/>
                <a:cs typeface="Poppins"/>
                <a:sym typeface="Poppins"/>
              </a:rPr>
              <a:t>[6] UNEP , “Food Waste Index Report 2024,” </a:t>
            </a:r>
            <a:r>
              <a:rPr lang="en-US" sz="1767" i="true">
                <a:solidFill>
                  <a:srgbClr val="295BBE"/>
                </a:solidFill>
                <a:latin typeface="Poppins Italics"/>
                <a:ea typeface="Poppins Italics"/>
                <a:cs typeface="Poppins Italics"/>
                <a:sym typeface="Poppins Italics"/>
              </a:rPr>
              <a:t>UNEP - UN Environment Programme</a:t>
            </a:r>
            <a:r>
              <a:rPr lang="en-US" sz="1767">
                <a:solidFill>
                  <a:srgbClr val="295BBE"/>
                </a:solidFill>
                <a:latin typeface="Poppins"/>
                <a:ea typeface="Poppins"/>
                <a:cs typeface="Poppins"/>
                <a:sym typeface="Poppins"/>
              </a:rPr>
              <a:t>, Mar. 21, 2024. https://www.unep.org/resources/publication/food-waste-index-report-2024 (accessed Oct. 31, 2024).</a:t>
            </a:r>
          </a:p>
          <a:p>
            <a:pPr algn="l">
              <a:lnSpc>
                <a:spcPts val="2332"/>
              </a:lnSpc>
            </a:pPr>
          </a:p>
          <a:p>
            <a:pPr algn="l" marL="381530" indent="-190765" lvl="1">
              <a:lnSpc>
                <a:spcPts val="2332"/>
              </a:lnSpc>
              <a:buFont typeface="Arial"/>
              <a:buChar char="•"/>
            </a:pPr>
            <a:r>
              <a:rPr lang="en-US" sz="1767">
                <a:solidFill>
                  <a:srgbClr val="295BBE"/>
                </a:solidFill>
                <a:latin typeface="Poppins"/>
                <a:ea typeface="Poppins"/>
                <a:cs typeface="Poppins"/>
                <a:sym typeface="Poppins"/>
              </a:rPr>
              <a:t>[7] eurostat, “Food Waste per Capita in the EU Remained Stable in 2021,” </a:t>
            </a:r>
            <a:r>
              <a:rPr lang="en-US" sz="1767" i="true">
                <a:solidFill>
                  <a:srgbClr val="295BBE"/>
                </a:solidFill>
                <a:latin typeface="Poppins Italics"/>
                <a:ea typeface="Poppins Italics"/>
                <a:cs typeface="Poppins Italics"/>
                <a:sym typeface="Poppins Italics"/>
              </a:rPr>
              <a:t>ec.europa.eu</a:t>
            </a:r>
            <a:r>
              <a:rPr lang="en-US" sz="1767">
                <a:solidFill>
                  <a:srgbClr val="295BBE"/>
                </a:solidFill>
                <a:latin typeface="Poppins"/>
                <a:ea typeface="Poppins"/>
                <a:cs typeface="Poppins"/>
                <a:sym typeface="Poppins"/>
              </a:rPr>
              <a:t>, Sep. 29, 2023. https://ec.europa.eu/eurostat/web/products-eurostat-news/w/ddn-20230929-2 (accessed Oct. 31, 2024).</a:t>
            </a:r>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295BBE"/>
        </a:solidFill>
      </p:bgPr>
    </p:bg>
    <p:spTree>
      <p:nvGrpSpPr>
        <p:cNvPr id="1" name=""/>
        <p:cNvGrpSpPr/>
        <p:nvPr/>
      </p:nvGrpSpPr>
      <p:grpSpPr>
        <a:xfrm>
          <a:off x="0" y="0"/>
          <a:ext cx="0" cy="0"/>
          <a:chOff x="0" y="0"/>
          <a:chExt cx="0" cy="0"/>
        </a:xfrm>
      </p:grpSpPr>
      <p:grpSp>
        <p:nvGrpSpPr>
          <p:cNvPr name="Group 2" id="2"/>
          <p:cNvGrpSpPr/>
          <p:nvPr/>
        </p:nvGrpSpPr>
        <p:grpSpPr>
          <a:xfrm rot="0">
            <a:off x="-4333730" y="-3088868"/>
            <a:ext cx="15649575" cy="1564957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9D9D9"/>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1917"/>
                </a:lnSpc>
              </a:pPr>
            </a:p>
          </p:txBody>
        </p:sp>
      </p:grpSp>
      <p:grpSp>
        <p:nvGrpSpPr>
          <p:cNvPr name="Group 5" id="5"/>
          <p:cNvGrpSpPr/>
          <p:nvPr/>
        </p:nvGrpSpPr>
        <p:grpSpPr>
          <a:xfrm rot="0">
            <a:off x="-6197801" y="-3088868"/>
            <a:ext cx="15649575" cy="1564957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6F6"/>
            </a:solidFill>
          </p:spPr>
        </p:sp>
        <p:sp>
          <p:nvSpPr>
            <p:cNvPr name="TextBox 7" id="7"/>
            <p:cNvSpPr txBox="true"/>
            <p:nvPr/>
          </p:nvSpPr>
          <p:spPr>
            <a:xfrm>
              <a:off x="76200" y="76200"/>
              <a:ext cx="660400" cy="660400"/>
            </a:xfrm>
            <a:prstGeom prst="rect">
              <a:avLst/>
            </a:prstGeom>
          </p:spPr>
          <p:txBody>
            <a:bodyPr anchor="ctr" rtlCol="false" tIns="50800" lIns="50800" bIns="50800" rIns="50800"/>
            <a:lstStyle/>
            <a:p>
              <a:pPr algn="ctr">
                <a:lnSpc>
                  <a:spcPts val="1917"/>
                </a:lnSpc>
              </a:pPr>
            </a:p>
          </p:txBody>
        </p:sp>
      </p:grpSp>
      <p:sp>
        <p:nvSpPr>
          <p:cNvPr name="TextBox 8" id="8"/>
          <p:cNvSpPr txBox="true"/>
          <p:nvPr/>
        </p:nvSpPr>
        <p:spPr>
          <a:xfrm rot="0">
            <a:off x="576502" y="3013259"/>
            <a:ext cx="5386869" cy="1912770"/>
          </a:xfrm>
          <a:prstGeom prst="rect">
            <a:avLst/>
          </a:prstGeom>
        </p:spPr>
        <p:txBody>
          <a:bodyPr anchor="t" rtlCol="false" tIns="0" lIns="0" bIns="0" rIns="0">
            <a:spAutoFit/>
          </a:bodyPr>
          <a:lstStyle/>
          <a:p>
            <a:pPr algn="l">
              <a:lnSpc>
                <a:spcPts val="13746"/>
              </a:lnSpc>
              <a:spcBef>
                <a:spcPct val="0"/>
              </a:spcBef>
            </a:pPr>
            <a:r>
              <a:rPr lang="en-US" sz="12728">
                <a:solidFill>
                  <a:srgbClr val="295BBE"/>
                </a:solidFill>
                <a:latin typeface="Poppins Light"/>
                <a:ea typeface="Poppins Light"/>
                <a:cs typeface="Poppins Light"/>
                <a:sym typeface="Poppins Light"/>
              </a:rPr>
              <a:t>Σας</a:t>
            </a:r>
          </a:p>
        </p:txBody>
      </p:sp>
      <p:sp>
        <p:nvSpPr>
          <p:cNvPr name="TextBox 9" id="9"/>
          <p:cNvSpPr txBox="true"/>
          <p:nvPr/>
        </p:nvSpPr>
        <p:spPr>
          <a:xfrm rot="0">
            <a:off x="576502" y="4745445"/>
            <a:ext cx="8567498" cy="1317157"/>
          </a:xfrm>
          <a:prstGeom prst="rect">
            <a:avLst/>
          </a:prstGeom>
        </p:spPr>
        <p:txBody>
          <a:bodyPr anchor="t" rtlCol="false" tIns="0" lIns="0" bIns="0" rIns="0">
            <a:spAutoFit/>
          </a:bodyPr>
          <a:lstStyle/>
          <a:p>
            <a:pPr algn="l">
              <a:lnSpc>
                <a:spcPts val="9440"/>
              </a:lnSpc>
              <a:spcBef>
                <a:spcPct val="0"/>
              </a:spcBef>
            </a:pPr>
            <a:r>
              <a:rPr lang="en-US" b="true" sz="8741">
                <a:solidFill>
                  <a:srgbClr val="295BBE"/>
                </a:solidFill>
                <a:latin typeface="Poppins Bold"/>
                <a:ea typeface="Poppins Bold"/>
                <a:cs typeface="Poppins Bold"/>
                <a:sym typeface="Poppins Bold"/>
              </a:rPr>
              <a:t>Ευχαριστούμε!</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295BBE"/>
        </a:solidFill>
      </p:bgPr>
    </p:bg>
    <p:spTree>
      <p:nvGrpSpPr>
        <p:cNvPr id="1" name=""/>
        <p:cNvGrpSpPr/>
        <p:nvPr/>
      </p:nvGrpSpPr>
      <p:grpSpPr>
        <a:xfrm>
          <a:off x="0" y="0"/>
          <a:ext cx="0" cy="0"/>
          <a:chOff x="0" y="0"/>
          <a:chExt cx="0" cy="0"/>
        </a:xfrm>
      </p:grpSpPr>
      <p:sp>
        <p:nvSpPr>
          <p:cNvPr name="Freeform 2" id="2"/>
          <p:cNvSpPr/>
          <p:nvPr/>
        </p:nvSpPr>
        <p:spPr>
          <a:xfrm flipH="false" flipV="false" rot="0">
            <a:off x="-1339015" y="3010044"/>
            <a:ext cx="12631700" cy="8791831"/>
          </a:xfrm>
          <a:custGeom>
            <a:avLst/>
            <a:gdLst/>
            <a:ahLst/>
            <a:cxnLst/>
            <a:rect r="r" b="b" t="t" l="l"/>
            <a:pathLst>
              <a:path h="8791831" w="12631700">
                <a:moveTo>
                  <a:pt x="0" y="0"/>
                </a:moveTo>
                <a:lnTo>
                  <a:pt x="12631700" y="0"/>
                </a:lnTo>
                <a:lnTo>
                  <a:pt x="12631700" y="8791831"/>
                </a:lnTo>
                <a:lnTo>
                  <a:pt x="0" y="8791831"/>
                </a:lnTo>
                <a:lnTo>
                  <a:pt x="0" y="0"/>
                </a:lnTo>
                <a:close/>
              </a:path>
            </a:pathLst>
          </a:custGeom>
          <a:blipFill>
            <a:blip r:embed="rId2"/>
            <a:stretch>
              <a:fillRect l="0" t="0" r="0" b="0"/>
            </a:stretch>
          </a:blipFill>
        </p:spPr>
      </p:sp>
      <p:sp>
        <p:nvSpPr>
          <p:cNvPr name="Freeform 3" id="3"/>
          <p:cNvSpPr/>
          <p:nvPr/>
        </p:nvSpPr>
        <p:spPr>
          <a:xfrm flipH="false" flipV="false" rot="0">
            <a:off x="9377647" y="307467"/>
            <a:ext cx="7616752" cy="9672066"/>
          </a:xfrm>
          <a:custGeom>
            <a:avLst/>
            <a:gdLst/>
            <a:ahLst/>
            <a:cxnLst/>
            <a:rect r="r" b="b" t="t" l="l"/>
            <a:pathLst>
              <a:path h="9672066" w="7616752">
                <a:moveTo>
                  <a:pt x="0" y="0"/>
                </a:moveTo>
                <a:lnTo>
                  <a:pt x="7616752" y="0"/>
                </a:lnTo>
                <a:lnTo>
                  <a:pt x="7616752" y="9672066"/>
                </a:lnTo>
                <a:lnTo>
                  <a:pt x="0" y="9672066"/>
                </a:lnTo>
                <a:lnTo>
                  <a:pt x="0" y="0"/>
                </a:lnTo>
                <a:close/>
              </a:path>
            </a:pathLst>
          </a:custGeom>
          <a:blipFill>
            <a:blip r:embed="rId3"/>
            <a:stretch>
              <a:fillRect l="0" t="0" r="0" b="0"/>
            </a:stretch>
          </a:blipFill>
        </p:spPr>
      </p:sp>
      <p:sp>
        <p:nvSpPr>
          <p:cNvPr name="TextBox 4" id="4"/>
          <p:cNvSpPr txBox="true"/>
          <p:nvPr/>
        </p:nvSpPr>
        <p:spPr>
          <a:xfrm rot="0">
            <a:off x="1028700" y="1047750"/>
            <a:ext cx="8783398" cy="1581766"/>
          </a:xfrm>
          <a:prstGeom prst="rect">
            <a:avLst/>
          </a:prstGeom>
        </p:spPr>
        <p:txBody>
          <a:bodyPr anchor="t" rtlCol="false" tIns="0" lIns="0" bIns="0" rIns="0">
            <a:spAutoFit/>
          </a:bodyPr>
          <a:lstStyle/>
          <a:p>
            <a:pPr algn="l">
              <a:lnSpc>
                <a:spcPts val="11390"/>
              </a:lnSpc>
              <a:spcBef>
                <a:spcPct val="0"/>
              </a:spcBef>
            </a:pPr>
            <a:r>
              <a:rPr lang="en-US" sz="10547">
                <a:solidFill>
                  <a:srgbClr val="FFFFFF"/>
                </a:solidFill>
                <a:latin typeface="Poppins Light"/>
                <a:ea typeface="Poppins Light"/>
                <a:cs typeface="Poppins Light"/>
                <a:sym typeface="Poppins Light"/>
              </a:rPr>
              <a:t>Δοκιμάστε</a:t>
            </a:r>
          </a:p>
        </p:txBody>
      </p:sp>
      <p:sp>
        <p:nvSpPr>
          <p:cNvPr name="TextBox 5" id="5"/>
          <p:cNvSpPr txBox="true"/>
          <p:nvPr/>
        </p:nvSpPr>
        <p:spPr>
          <a:xfrm rot="0">
            <a:off x="1028700" y="2648566"/>
            <a:ext cx="7937191" cy="1395529"/>
          </a:xfrm>
          <a:prstGeom prst="rect">
            <a:avLst/>
          </a:prstGeom>
        </p:spPr>
        <p:txBody>
          <a:bodyPr anchor="t" rtlCol="false" tIns="0" lIns="0" bIns="0" rIns="0">
            <a:spAutoFit/>
          </a:bodyPr>
          <a:lstStyle/>
          <a:p>
            <a:pPr algn="l">
              <a:lnSpc>
                <a:spcPts val="10065"/>
              </a:lnSpc>
              <a:spcBef>
                <a:spcPct val="0"/>
              </a:spcBef>
            </a:pPr>
            <a:r>
              <a:rPr lang="en-US" b="true" sz="9320">
                <a:solidFill>
                  <a:srgbClr val="FFFFFF"/>
                </a:solidFill>
                <a:latin typeface="Poppins Bold"/>
                <a:ea typeface="Poppins Bold"/>
                <a:cs typeface="Poppins Bold"/>
                <a:sym typeface="Poppins Bold"/>
              </a:rPr>
              <a:t>το QUIZ μας!</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DAGVD1RZH-c</dc:identifier>
  <dcterms:modified xsi:type="dcterms:W3CDTF">2011-08-01T06:04:30Z</dcterms:modified>
  <cp:revision>1</cp:revision>
  <dc:title>Karyos.G &amp; Georgiou.I FreshBox Project</dc:title>
</cp:coreProperties>
</file>