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8" r:id="rId3"/>
    <p:sldId id="259" r:id="rId4"/>
    <p:sldId id="261" r:id="rId5"/>
    <p:sldId id="265" r:id="rId6"/>
    <p:sldId id="264" r:id="rId7"/>
    <p:sldId id="263" r:id="rId8"/>
    <p:sldId id="294" r:id="rId9"/>
    <p:sldId id="277" r:id="rId10"/>
    <p:sldId id="275" r:id="rId11"/>
    <p:sldId id="273" r:id="rId12"/>
    <p:sldId id="295" r:id="rId13"/>
    <p:sldId id="281" r:id="rId14"/>
    <p:sldId id="267" r:id="rId15"/>
    <p:sldId id="262" r:id="rId16"/>
    <p:sldId id="308" r:id="rId17"/>
    <p:sldId id="270" r:id="rId18"/>
    <p:sldId id="268" r:id="rId19"/>
    <p:sldId id="304" r:id="rId20"/>
    <p:sldId id="313" r:id="rId21"/>
    <p:sldId id="306" r:id="rId22"/>
    <p:sldId id="317" r:id="rId23"/>
    <p:sldId id="301" r:id="rId24"/>
    <p:sldId id="303" r:id="rId25"/>
    <p:sldId id="309" r:id="rId26"/>
    <p:sldId id="310" r:id="rId27"/>
    <p:sldId id="316" r:id="rId28"/>
    <p:sldId id="315" r:id="rId29"/>
    <p:sldId id="302" r:id="rId30"/>
    <p:sldId id="278" r:id="rId31"/>
    <p:sldId id="293" r:id="rId3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Montserrat" panose="020B0604020202020204" charset="0"/>
      <p:regular r:id="rId38"/>
      <p:bold r:id="rId39"/>
      <p:italic r:id="rId40"/>
      <p:boldItalic r:id="rId41"/>
    </p:embeddedFont>
    <p:embeddedFont>
      <p:font typeface="Poppins" panose="020B0604020202020204" charset="0"/>
      <p:regular r:id="rId42"/>
      <p:bold r:id="rId43"/>
      <p:italic r:id="rId44"/>
      <p:boldItalic r:id="rId45"/>
    </p:embeddedFont>
    <p:embeddedFont>
      <p:font typeface="Poppins Light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97388B-94EA-4DB8-A5BF-857607E50939}">
  <a:tblStyle styleId="{4B97388B-94EA-4DB8-A5BF-857607E509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AE4D93-A806-4C0B-BD0F-4C76D5DBD6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94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778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d7e15c192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d7e15c192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578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2510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d7e15c192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d7e15c192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763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14fb50ab74_2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14fb50ab74_2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bin templat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269738" y="253581"/>
            <a:ext cx="4305890" cy="4636339"/>
            <a:chOff x="4707786" y="372793"/>
            <a:chExt cx="5700900" cy="6138407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707786" y="372793"/>
              <a:ext cx="5700900" cy="6138300"/>
            </a:xfrm>
            <a:prstGeom prst="snip1Rect">
              <a:avLst>
                <a:gd name="adj" fmla="val 14584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702806"/>
            <a:ext cx="3547800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269767" y="2573194"/>
            <a:ext cx="8613597" cy="2316726"/>
            <a:chOff x="4707825" y="3443908"/>
            <a:chExt cx="11404207" cy="3067292"/>
          </a:xfrm>
        </p:grpSpPr>
        <p:sp>
          <p:nvSpPr>
            <p:cNvPr id="17" name="Google Shape;17;p3"/>
            <p:cNvSpPr/>
            <p:nvPr/>
          </p:nvSpPr>
          <p:spPr>
            <a:xfrm rot="10800000">
              <a:off x="4707832" y="3443908"/>
              <a:ext cx="11404200" cy="3067200"/>
            </a:xfrm>
            <a:prstGeom prst="snip1Rect">
              <a:avLst>
                <a:gd name="adj" fmla="val 27420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881075"/>
            <a:ext cx="7908000" cy="6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85800" y="3547231"/>
            <a:ext cx="79080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B9FA4"/>
              </a:buClr>
              <a:buSzPts val="2200"/>
              <a:buFont typeface="Montserrat"/>
              <a:buNone/>
              <a:defRPr sz="2200">
                <a:solidFill>
                  <a:srgbClr val="6B9FA4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">
  <p:cSld name="TITLE_1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 flipH="1">
            <a:off x="269767" y="2573194"/>
            <a:ext cx="8613597" cy="2316726"/>
            <a:chOff x="4707825" y="3443908"/>
            <a:chExt cx="11404207" cy="3067292"/>
          </a:xfrm>
        </p:grpSpPr>
        <p:sp>
          <p:nvSpPr>
            <p:cNvPr id="24" name="Google Shape;24;p4"/>
            <p:cNvSpPr/>
            <p:nvPr/>
          </p:nvSpPr>
          <p:spPr>
            <a:xfrm rot="10800000">
              <a:off x="4707832" y="3443908"/>
              <a:ext cx="11404200" cy="3067200"/>
            </a:xfrm>
            <a:prstGeom prst="snip1Rect">
              <a:avLst>
                <a:gd name="adj" fmla="val 27420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97725" y="2732300"/>
            <a:ext cx="3708600" cy="18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182980" y="42267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46" name="Google Shape;46;p7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557475" y="1157300"/>
            <a:ext cx="8043600" cy="3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❏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8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54" name="Google Shape;54;p8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508725" y="1132475"/>
            <a:ext cx="3944400" cy="3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4690766" y="1132475"/>
            <a:ext cx="3944400" cy="3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❏"/>
              <a:defRPr sz="2000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9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63" name="Google Shape;63;p9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508725" y="1089050"/>
            <a:ext cx="2598600" cy="3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3240575" y="1089050"/>
            <a:ext cx="2598600" cy="3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3"/>
          </p:nvPr>
        </p:nvSpPr>
        <p:spPr>
          <a:xfrm>
            <a:off x="5972425" y="1089050"/>
            <a:ext cx="2598600" cy="3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8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269756" y="878980"/>
            <a:ext cx="8628094" cy="4010939"/>
            <a:chOff x="4707810" y="1200808"/>
            <a:chExt cx="11423400" cy="5310392"/>
          </a:xfrm>
        </p:grpSpPr>
        <p:sp>
          <p:nvSpPr>
            <p:cNvPr id="73" name="Google Shape;73;p10"/>
            <p:cNvSpPr/>
            <p:nvPr/>
          </p:nvSpPr>
          <p:spPr>
            <a:xfrm rot="10800000">
              <a:off x="4707810" y="1200808"/>
              <a:ext cx="11423400" cy="5310300"/>
            </a:xfrm>
            <a:prstGeom prst="snip1Rect">
              <a:avLst>
                <a:gd name="adj" fmla="val 15837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0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2"/>
          <p:cNvGrpSpPr/>
          <p:nvPr/>
        </p:nvGrpSpPr>
        <p:grpSpPr>
          <a:xfrm>
            <a:off x="269756" y="278064"/>
            <a:ext cx="8628094" cy="4611856"/>
            <a:chOff x="4707810" y="405208"/>
            <a:chExt cx="11423400" cy="6105992"/>
          </a:xfrm>
        </p:grpSpPr>
        <p:sp>
          <p:nvSpPr>
            <p:cNvPr id="87" name="Google Shape;87;p12"/>
            <p:cNvSpPr/>
            <p:nvPr/>
          </p:nvSpPr>
          <p:spPr>
            <a:xfrm rot="10800000">
              <a:off x="4707810" y="405208"/>
              <a:ext cx="11423400" cy="6105900"/>
            </a:xfrm>
            <a:prstGeom prst="snip1Rect">
              <a:avLst>
                <a:gd name="adj" fmla="val 13774"/>
              </a:avLst>
            </a:prstGeom>
            <a:gradFill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16200038" scaled="0"/>
            </a:gradFill>
            <a:ln>
              <a:noFill/>
            </a:ln>
            <a:effectLst>
              <a:outerShdw blurRad="42863" dist="9525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2"/>
            <p:cNvSpPr/>
            <p:nvPr/>
          </p:nvSpPr>
          <p:spPr>
            <a:xfrm rot="10800000">
              <a:off x="4707825" y="5666400"/>
              <a:ext cx="844800" cy="844800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  <a:effectLst>
              <a:outerShdw blurRad="28575" dist="9525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2"/>
            <p:cNvSpPr/>
            <p:nvPr/>
          </p:nvSpPr>
          <p:spPr>
            <a:xfrm rot="10800000" flipH="1">
              <a:off x="5552625" y="5663700"/>
              <a:ext cx="315600" cy="847500"/>
            </a:xfrm>
            <a:prstGeom prst="rtTriangle">
              <a:avLst/>
            </a:prstGeom>
            <a:gradFill>
              <a:gsLst>
                <a:gs pos="0">
                  <a:srgbClr val="000000">
                    <a:alpha val="16862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BLANK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4339800" y="4836607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7325" y="1157306"/>
            <a:ext cx="76428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❏"/>
              <a:defRPr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37325" y="4262913"/>
            <a:ext cx="4644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>
              <a:buNone/>
              <a:defRPr sz="1200">
                <a:solidFill>
                  <a:srgbClr val="6B9FA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ut.ac.cy/university/administration/administrative-services/ist/services/vp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cut.ac.cy/el/node/174#applicatio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library.cut.ac.cy/el/academic-member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ibrary.cut.ac.cy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ut.ac.cy/digitalAssets/62/62200_100InstructionsId123Gr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ibguides.cut.ac.cy/c.php?g=657146&amp;p=4623909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q.edu.au/library/referencing/harvard-agps-referencing-guide" TargetMode="External"/><Relationship Id="rId2" Type="http://schemas.openxmlformats.org/officeDocument/2006/relationships/hyperlink" Target="https://libweb.anglia.ac.uk/referencing/harvard.htm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.facebook.com/l.php?u=http://instagram.com/cut_library?fbclid%3DIwAR2g2XbTnxA8449nrnHM_gsgD7OjvcJCrwxm41h6Cwi679z2EFj4Y-tjxzU&amp;h=AT35qJwszgtZHG_ZRAb6nPjfkxAih9V2SP_cGtRKCGl5wBJwDokmcxkPOlmli2-qzSHo8Ld6Q0bb11wNR8_-01m9f4UzOKwiG1gZeKtbPQs7isaqG87JjXS7dj8-ACby9Q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www.library.cut.ac.cy/" TargetMode="External"/><Relationship Id="rId5" Type="http://schemas.openxmlformats.org/officeDocument/2006/relationships/hyperlink" Target="https://l.facebook.com/l.php?u=http://www.youtube.com/Library%20of%20Cyprus%20University%20of%20Technology?fbclid%3DIwAR0SHt3nNaAlYHKVK679GHIkN97Fr5Bq5aNOMs_Y2obP1AjfBRsNfERKAmY&amp;h=AT35qJwszgtZHG_ZRAb6nPjfkxAih9V2SP_cGtRKCGl5wBJwDokmcxkPOlmli2-qzSHo8Ld6Q0bb11wNR8_-01m9f4UzOKwiG1gZeKtbPQs7isaqG87JjXS7dj8-ACby9Q" TargetMode="External"/><Relationship Id="rId4" Type="http://schemas.openxmlformats.org/officeDocument/2006/relationships/hyperlink" Target="https://twitter.com/LibraryC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685800" y="702806"/>
            <a:ext cx="3547800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Εισαγωγικό μάθημα βιβλιοθήκης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55E03-D5A2-4189-9CBA-DF3737088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618" y="4123579"/>
            <a:ext cx="2402382" cy="634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ctrTitle" idx="4294967295"/>
          </p:nvPr>
        </p:nvSpPr>
        <p:spPr>
          <a:xfrm>
            <a:off x="1020079" y="1374937"/>
            <a:ext cx="4863900" cy="60726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200" dirty="0">
                <a:solidFill>
                  <a:srgbClr val="111111"/>
                </a:solidFill>
              </a:rPr>
              <a:t>Καλωσορίσατε!</a:t>
            </a:r>
            <a:endParaRPr sz="3200" dirty="0">
              <a:solidFill>
                <a:srgbClr val="111111"/>
              </a:solidFill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4294967295"/>
          </p:nvPr>
        </p:nvSpPr>
        <p:spPr>
          <a:xfrm>
            <a:off x="2769898" y="2670756"/>
            <a:ext cx="5216814" cy="14127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l-GR" sz="2000" b="1" dirty="0">
                <a:latin typeface="Poppins"/>
                <a:ea typeface="Poppins"/>
                <a:cs typeface="Poppins"/>
                <a:sym typeface="Poppins"/>
              </a:rPr>
              <a:t>Είμαι η Μαρία Κυπριανού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l-GR" sz="2000" dirty="0"/>
              <a:t>Θεματικός Βιβλιοθηκονόμος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l-GR" sz="2000" dirty="0"/>
              <a:t>Της Σχολής Τεχνολογίας και Μηχανικής </a:t>
            </a:r>
            <a:endParaRPr lang="el-GR" sz="2000" b="1" dirty="0"/>
          </a:p>
        </p:txBody>
      </p:sp>
      <p:sp>
        <p:nvSpPr>
          <p:cNvPr id="115" name="Google Shape;115;p16"/>
          <p:cNvSpPr/>
          <p:nvPr/>
        </p:nvSpPr>
        <p:spPr>
          <a:xfrm rot="5400000">
            <a:off x="8095768" y="2444915"/>
            <a:ext cx="339900" cy="3489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640E9-7F42-42F6-82C8-2DD428990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129" y="906594"/>
            <a:ext cx="1712771" cy="1712771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ctrTitle"/>
          </p:nvPr>
        </p:nvSpPr>
        <p:spPr>
          <a:xfrm>
            <a:off x="762000" y="3223975"/>
            <a:ext cx="7908000" cy="6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200" dirty="0"/>
              <a:t>Εισαγωγικό μάθημα βιβλιοθήκης</a:t>
            </a:r>
            <a:endParaRPr sz="3200"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ctrTitle"/>
          </p:nvPr>
        </p:nvSpPr>
        <p:spPr>
          <a:xfrm>
            <a:off x="642025" y="4028527"/>
            <a:ext cx="7663800" cy="65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Ατζέντα</a:t>
            </a:r>
            <a:endParaRPr sz="2800" dirty="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1078837" y="1181100"/>
            <a:ext cx="6643425" cy="25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endParaRPr lang="el-GR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l-GR" dirty="0"/>
              <a:t>Δικαιώματα χρηστών &amp; υπηρεσίες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l-GR" dirty="0"/>
              <a:t>Πού ψάχνουμε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l-GR" dirty="0"/>
              <a:t>Βιβλιογραφία</a:t>
            </a:r>
          </a:p>
          <a:p>
            <a:pPr>
              <a:spcBef>
                <a:spcPts val="0"/>
              </a:spcBef>
            </a:pPr>
            <a:r>
              <a:rPr lang="el-GR" dirty="0"/>
              <a:t>Λογοκλοπή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Απομακρυσμένη πρόσβαση!!</a:t>
            </a:r>
            <a:endParaRPr sz="2800" dirty="0"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1"/>
          </p:nvPr>
        </p:nvSpPr>
        <p:spPr>
          <a:xfrm>
            <a:off x="647125" y="1200150"/>
            <a:ext cx="39654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l-GR" sz="1600" dirty="0"/>
              <a:t>Αν είστε εκτός δικτύου …. Ενωθείτε μέσω </a:t>
            </a:r>
            <a:r>
              <a:rPr lang="en-US" sz="1600" b="1" dirty="0"/>
              <a:t>VPN </a:t>
            </a:r>
          </a:p>
          <a:p>
            <a:pPr marL="0" lvl="0" indent="0">
              <a:buNone/>
            </a:pPr>
            <a:r>
              <a:rPr lang="el-GR" sz="1600" dirty="0"/>
              <a:t>Μέσω της εγκατάστασης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Any connect</a:t>
            </a:r>
            <a:endParaRPr lang="el-GR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4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Αναγνώριση ως μέλος της πανεπιστημιακής κοινότητας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Πλήρης αξιοποίησης ηλεκτρονικών πηγών Βιβλιοθήκης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Πρόσβαση στο πλήρες κείμενο επιστημονικών περιοδικών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Διασύνδεση με </a:t>
            </a:r>
            <a:r>
              <a:rPr lang="en-US" sz="1400" dirty="0"/>
              <a:t>Google scholar </a:t>
            </a:r>
            <a:r>
              <a:rPr lang="el-GR" sz="1400" dirty="0"/>
              <a:t>και εκδότες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Χρήση παρεχόμενων υπηρεσιών πανεπιστημίου </a:t>
            </a:r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4">
            <a:alphaModFix/>
          </a:blip>
          <a:srcRect l="13753" r="13746"/>
          <a:stretch/>
        </p:blipFill>
        <p:spPr>
          <a:xfrm>
            <a:off x="4866450" y="1161650"/>
            <a:ext cx="3735200" cy="34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Δικαιώματα χρηστών</a:t>
            </a:r>
            <a:endParaRPr sz="2800"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641006" y="970050"/>
            <a:ext cx="257608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l-GR" sz="2000" b="1" dirty="0"/>
              <a:t>Δανεισμός</a:t>
            </a:r>
            <a:endParaRPr sz="2000" b="1" dirty="0"/>
          </a:p>
          <a:p>
            <a:pPr fontAlgn="ctr"/>
            <a:r>
              <a:rPr lang="el-GR" dirty="0"/>
              <a:t>Βιβλία (6 βιβλία/</a:t>
            </a:r>
          </a:p>
          <a:p>
            <a:pPr marL="114300" indent="0" fontAlgn="ctr">
              <a:buNone/>
            </a:pPr>
            <a:r>
              <a:rPr lang="el-GR" dirty="0"/>
              <a:t> 15 μέρες)</a:t>
            </a:r>
            <a:endParaRPr lang="en-US" dirty="0"/>
          </a:p>
          <a:p>
            <a:pPr fontAlgn="ctr"/>
            <a:r>
              <a:rPr lang="el-GR" dirty="0"/>
              <a:t>Οπτικοακουστικό υλικό</a:t>
            </a:r>
            <a:endParaRPr lang="en-US" dirty="0"/>
          </a:p>
          <a:p>
            <a:pPr latinLnBrk="1"/>
            <a:r>
              <a:rPr lang="el-GR" dirty="0"/>
              <a:t>Η/Υ κ </a:t>
            </a:r>
            <a:r>
              <a:rPr lang="en-US" dirty="0"/>
              <a:t>tablets</a:t>
            </a:r>
            <a:endParaRPr lang="el-GR" dirty="0"/>
          </a:p>
          <a:p>
            <a:pPr marL="114300" indent="0" latinLnBrk="1">
              <a:buNone/>
            </a:pPr>
            <a:r>
              <a:rPr lang="en-US" sz="1600" dirty="0"/>
              <a:t>(</a:t>
            </a:r>
            <a:r>
              <a:rPr lang="el-GR" sz="1600" dirty="0"/>
              <a:t>χρήση εντός βιβλιοθήκης)</a:t>
            </a:r>
            <a:endParaRPr lang="en-US" sz="1600" dirty="0"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2"/>
          </p:nvPr>
        </p:nvSpPr>
        <p:spPr>
          <a:xfrm>
            <a:off x="3654456" y="1366413"/>
            <a:ext cx="257608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l-GR" sz="2000" b="1" dirty="0"/>
              <a:t>Ανανέωση</a:t>
            </a:r>
            <a:endParaRPr sz="2000" b="1" dirty="0"/>
          </a:p>
          <a:p>
            <a:r>
              <a:rPr lang="el-GR" dirty="0"/>
              <a:t>Μέσω της ιστοσελίδας -«ο Λογαριασμός μου» </a:t>
            </a:r>
            <a:endParaRPr lang="en-US" dirty="0"/>
          </a:p>
          <a:p>
            <a:pPr latinLnBrk="1"/>
            <a:r>
              <a:rPr lang="el-GR" dirty="0"/>
              <a:t>Τηλεφωνικώς</a:t>
            </a:r>
            <a:endParaRPr lang="en-US" dirty="0"/>
          </a:p>
          <a:p>
            <a:pPr latinLnBrk="1"/>
            <a:r>
              <a:rPr lang="el-GR" dirty="0"/>
              <a:t>Ηλεκτρ. μήνυμα </a:t>
            </a:r>
          </a:p>
          <a:p>
            <a:pPr marL="114300" indent="0" latinLnBrk="1">
              <a:buNone/>
            </a:pPr>
            <a:r>
              <a:rPr lang="el-GR" dirty="0"/>
              <a:t>(</a:t>
            </a:r>
            <a:r>
              <a:rPr lang="en-US" dirty="0"/>
              <a:t>email)</a:t>
            </a:r>
          </a:p>
          <a:p>
            <a:pPr latinLnBrk="1"/>
            <a:r>
              <a:rPr lang="en-US" dirty="0"/>
              <a:t>Online chat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22"/>
          <p:cNvSpPr txBox="1">
            <a:spLocks noGrp="1"/>
          </p:cNvSpPr>
          <p:nvPr>
            <p:ph type="body" idx="3"/>
          </p:nvPr>
        </p:nvSpPr>
        <p:spPr>
          <a:xfrm>
            <a:off x="6230536" y="1650186"/>
            <a:ext cx="250740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l-GR" sz="2000" b="1" dirty="0"/>
              <a:t>Κράτηση</a:t>
            </a:r>
            <a:endParaRPr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l-GR" dirty="0"/>
              <a:t>Τηλεφωνικώς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dirty="0"/>
              <a:t>Ιστοσελίδα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dirty="0"/>
              <a:t>Πάγκο εξυπηρέτησης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l-GR" dirty="0"/>
              <a:t>Σε υλικό που είναι δανεισμένο και μη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body" idx="1"/>
          </p:nvPr>
        </p:nvSpPr>
        <p:spPr>
          <a:xfrm>
            <a:off x="5339726" y="2274848"/>
            <a:ext cx="3537399" cy="2510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l-GR" b="1" dirty="0"/>
              <a:t>Διαδανεισμός</a:t>
            </a:r>
            <a:endParaRPr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600" dirty="0"/>
              <a:t>Δανεισμός έντυπου κ ηλεκτρονικού υλικού από συνεργαζόμενες βιβλιοθήκες για υλικό το οποίο δεν παρέχει η ΒΤΠΚ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600" b="1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Αίτηση</a:t>
            </a:r>
            <a:r>
              <a:rPr lang="el-GR" sz="1600" dirty="0"/>
              <a:t> υλικού μέσω της ιστοσελίδας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600" dirty="0"/>
              <a:t>Κόστος καταβολής υπηρεσίας μεταφοράς </a:t>
            </a:r>
          </a:p>
        </p:txBody>
      </p:sp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l-GR" sz="2800" dirty="0"/>
              <a:t>Δικαιώματα χρηστών </a:t>
            </a:r>
            <a:endParaRPr sz="2800" dirty="0"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2"/>
          </p:nvPr>
        </p:nvSpPr>
        <p:spPr>
          <a:xfrm>
            <a:off x="993238" y="1128963"/>
            <a:ext cx="4135875" cy="3656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l-GR" b="1" dirty="0"/>
              <a:t>Συνεργασία με Βιβλιοθήκες στη Κύπρο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600" dirty="0"/>
              <a:t>Για τη χρήση των υπηρεσιών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600" b="1" dirty="0">
                <a:solidFill>
                  <a:schemeClr val="accent2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Αίτηση</a:t>
            </a:r>
            <a:r>
              <a:rPr lang="el-GR" sz="1600" dirty="0"/>
              <a:t> στην ιστοσελίδα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600" dirty="0"/>
              <a:t>Βιβλιοθήκες: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Πανεπιστήμιο Κύπρου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 Ανοικτό Πανεπιστήμιο Κύπρου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Πανεπιστήμιο Λευκωσίας</a:t>
            </a:r>
            <a:r>
              <a:rPr lang="en-US" sz="1600" dirty="0"/>
              <a:t> </a:t>
            </a:r>
            <a:r>
              <a:rPr lang="el-GR" sz="1600" dirty="0"/>
              <a:t>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  Ευρωπαϊκό Πανεπιστήμιο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Πανεπιστήμιο </a:t>
            </a:r>
            <a:r>
              <a:rPr lang="en-US" sz="1600" dirty="0"/>
              <a:t>Frederic</a:t>
            </a:r>
            <a:r>
              <a:rPr lang="el-GR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600" dirty="0"/>
              <a:t> Πανεπιστήμιο Νεάπολης</a:t>
            </a: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l-GR" sz="1600" dirty="0"/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/>
            <a:r>
              <a:rPr lang="el-GR" sz="2800" dirty="0"/>
              <a:t>Που μπορείτε να μελετήσετε?</a:t>
            </a:r>
            <a:endParaRPr sz="2800"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508725" y="970049"/>
            <a:ext cx="2576080" cy="3292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l-GR" sz="2000" b="1" dirty="0"/>
              <a:t>Βιβλιοθήκη Βασίλης Μιχαηλίδης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  <a:p>
            <a:pPr marL="114300" lvl="0" indent="0">
              <a:buNone/>
            </a:pPr>
            <a:endParaRPr lang="el-GR" sz="1400" dirty="0"/>
          </a:p>
          <a:p>
            <a:pPr marL="114300" lvl="0" indent="0">
              <a:buNone/>
            </a:pPr>
            <a:r>
              <a:rPr lang="el-GR" sz="1600" dirty="0"/>
              <a:t>Δευτέρα – Παρασκευή </a:t>
            </a:r>
          </a:p>
          <a:p>
            <a:pPr marL="114300" lvl="0" indent="0">
              <a:buNone/>
            </a:pPr>
            <a:r>
              <a:rPr lang="el-GR" sz="1600" dirty="0"/>
              <a:t>8:30 – 18:00 </a:t>
            </a:r>
          </a:p>
          <a:p>
            <a:pPr marL="114300" lvl="0" indent="0">
              <a:buNone/>
            </a:pPr>
            <a:r>
              <a:rPr lang="el-GR" sz="1600" u="sng" dirty="0"/>
              <a:t>Διαθέσιμος</a:t>
            </a:r>
            <a:r>
              <a:rPr lang="el-GR" sz="1600" dirty="0"/>
              <a:t>:</a:t>
            </a:r>
          </a:p>
          <a:p>
            <a:pPr marL="114300" lvl="0" indent="0">
              <a:buNone/>
            </a:pPr>
            <a:r>
              <a:rPr lang="el-GR" sz="1600" dirty="0"/>
              <a:t>Χώρος μελέτης</a:t>
            </a:r>
          </a:p>
          <a:p>
            <a:pPr marL="114300" lvl="0" indent="0">
              <a:buNone/>
            </a:pPr>
            <a:r>
              <a:rPr lang="el-GR" sz="1600" dirty="0"/>
              <a:t>Ηλεκτρ. Υπολογιστές</a:t>
            </a:r>
          </a:p>
          <a:p>
            <a:pPr marL="114300" lvl="0" indent="0">
              <a:buNone/>
            </a:pPr>
            <a:r>
              <a:rPr lang="el-GR" sz="1600" dirty="0"/>
              <a:t>Φωτοτυπικά μηχανήματα</a:t>
            </a:r>
            <a:endParaRPr lang="en-US" sz="1600" dirty="0"/>
          </a:p>
          <a:p>
            <a:pPr fontAlgn="ctr"/>
            <a:endParaRPr lang="el-GR" dirty="0"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2"/>
          </p:nvPr>
        </p:nvSpPr>
        <p:spPr>
          <a:xfrm>
            <a:off x="3084805" y="951875"/>
            <a:ext cx="257608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el-GR" sz="2000" b="1" dirty="0"/>
              <a:t>Αναγνωστήριο κτηρίου Τάσσος Παπαδόπουλος </a:t>
            </a:r>
          </a:p>
          <a:p>
            <a:pPr marL="114300" indent="0">
              <a:buNone/>
            </a:pPr>
            <a:endParaRPr lang="el-GR" sz="1400" dirty="0"/>
          </a:p>
          <a:p>
            <a:pPr marL="114300" indent="0">
              <a:buNone/>
            </a:pPr>
            <a:endParaRPr lang="el-GR" sz="1400" dirty="0"/>
          </a:p>
          <a:p>
            <a:pPr marL="114300" indent="0">
              <a:buNone/>
            </a:pPr>
            <a:r>
              <a:rPr lang="el-GR" sz="1600" dirty="0"/>
              <a:t>Δευτέρα – Παρασκευή </a:t>
            </a:r>
          </a:p>
          <a:p>
            <a:pPr marL="114300" indent="0">
              <a:buNone/>
            </a:pPr>
            <a:r>
              <a:rPr lang="el-GR" sz="1600" dirty="0"/>
              <a:t>8:30 – 22:00 </a:t>
            </a:r>
          </a:p>
          <a:p>
            <a:pPr marL="114300" indent="0">
              <a:buNone/>
            </a:pPr>
            <a:r>
              <a:rPr lang="el-GR" sz="1600" u="sng" dirty="0"/>
              <a:t>Διαθέσιμος</a:t>
            </a:r>
            <a:r>
              <a:rPr lang="el-GR" sz="1600" dirty="0"/>
              <a:t>: </a:t>
            </a:r>
          </a:p>
          <a:p>
            <a:pPr marL="114300" indent="0">
              <a:buNone/>
            </a:pPr>
            <a:r>
              <a:rPr lang="el-GR" sz="1600" dirty="0"/>
              <a:t>Χώρος μελέτης</a:t>
            </a:r>
            <a:endParaRPr sz="1600" dirty="0"/>
          </a:p>
        </p:txBody>
      </p:sp>
      <p:sp>
        <p:nvSpPr>
          <p:cNvPr id="164" name="Google Shape;164;p22"/>
          <p:cNvSpPr txBox="1">
            <a:spLocks noGrp="1"/>
          </p:cNvSpPr>
          <p:nvPr>
            <p:ph type="body" idx="3"/>
          </p:nvPr>
        </p:nvSpPr>
        <p:spPr>
          <a:xfrm>
            <a:off x="5956385" y="970050"/>
            <a:ext cx="267889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el-GR" sz="2000" b="1" dirty="0"/>
              <a:t>Δημοτική Πανεπιστημιακή Βιβλιοθήκη </a:t>
            </a:r>
          </a:p>
          <a:p>
            <a:pPr marL="114300" lvl="0" indent="0">
              <a:buNone/>
            </a:pPr>
            <a:endParaRPr lang="el-GR" sz="1400" dirty="0"/>
          </a:p>
          <a:p>
            <a:pPr marL="114300" lvl="0" indent="0">
              <a:buNone/>
            </a:pPr>
            <a:r>
              <a:rPr lang="el-GR" sz="1600" dirty="0"/>
              <a:t>Δευτέρα – Παρασκευή</a:t>
            </a:r>
          </a:p>
          <a:p>
            <a:pPr marL="114300" lvl="0" indent="0">
              <a:buNone/>
            </a:pPr>
            <a:r>
              <a:rPr lang="el-GR" sz="1600" dirty="0"/>
              <a:t>8:30 – 18:00</a:t>
            </a:r>
          </a:p>
          <a:p>
            <a:pPr marL="114300" lvl="0" indent="0">
              <a:buNone/>
            </a:pPr>
            <a:r>
              <a:rPr lang="el-GR" sz="1600" u="sng" dirty="0"/>
              <a:t>Διαθέσιμος</a:t>
            </a:r>
            <a:r>
              <a:rPr lang="el-GR" sz="1600" dirty="0"/>
              <a:t>:</a:t>
            </a:r>
          </a:p>
          <a:p>
            <a:pPr marL="114300" lvl="0" indent="0">
              <a:buNone/>
            </a:pPr>
            <a:r>
              <a:rPr lang="el-GR" sz="1600" dirty="0"/>
              <a:t>Χώρος μελέτης</a:t>
            </a:r>
          </a:p>
          <a:p>
            <a:pPr marL="114300" lvl="0" indent="0">
              <a:buNone/>
            </a:pPr>
            <a:r>
              <a:rPr lang="el-GR" sz="1600" dirty="0"/>
              <a:t>Ηλεκτρ. Υπολογιστές</a:t>
            </a:r>
          </a:p>
          <a:p>
            <a:pPr marL="114300" lvl="0" indent="0">
              <a:buNone/>
            </a:pPr>
            <a:r>
              <a:rPr lang="el-GR" sz="1600" dirty="0"/>
              <a:t>Φωτοτυπικά μηχανήματα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706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>
            <a:spLocks noGrp="1"/>
          </p:cNvSpPr>
          <p:nvPr>
            <p:ph type="body" idx="1"/>
          </p:nvPr>
        </p:nvSpPr>
        <p:spPr>
          <a:xfrm>
            <a:off x="542552" y="2564404"/>
            <a:ext cx="3300616" cy="2140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Θεματικοί οδηγοί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Αναζήτηση υλικού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Ωράριο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Ανακοινώσεις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Εκδηλώσεις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Υπηρεσίες βιβλιοθήκης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l-GR" sz="1400" dirty="0"/>
              <a:t>Εργαλεία εκπαίδευσης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8182980" y="42267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323" name="Google Shape;323;p35"/>
          <p:cNvGrpSpPr/>
          <p:nvPr/>
        </p:nvGrpSpPr>
        <p:grpSpPr>
          <a:xfrm>
            <a:off x="3799148" y="714406"/>
            <a:ext cx="5231746" cy="3065218"/>
            <a:chOff x="1177450" y="241631"/>
            <a:chExt cx="6173152" cy="3616776"/>
          </a:xfrm>
        </p:grpSpPr>
        <p:sp>
          <p:nvSpPr>
            <p:cNvPr id="324" name="Google Shape;324;p35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80AE83E-E548-4CEC-9B75-F34216DA6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6" y="876237"/>
            <a:ext cx="4084765" cy="25963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5C64D5-62E1-490F-A73D-9B7F1EB60850}"/>
              </a:ext>
            </a:extLst>
          </p:cNvPr>
          <p:cNvSpPr/>
          <p:nvPr/>
        </p:nvSpPr>
        <p:spPr>
          <a:xfrm>
            <a:off x="365276" y="1567726"/>
            <a:ext cx="3655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l-GR" sz="2400" b="1" dirty="0">
                <a:solidFill>
                  <a:schemeClr val="bg1"/>
                </a:solidFill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Ιστοσελίδα βιβλιοθήκης</a:t>
            </a:r>
            <a:endParaRPr lang="el-GR" sz="2400" b="1" dirty="0">
              <a:solidFill>
                <a:schemeClr val="bg1"/>
              </a:solidFill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body" idx="1"/>
          </p:nvPr>
        </p:nvSpPr>
        <p:spPr>
          <a:xfrm>
            <a:off x="424861" y="2481923"/>
            <a:ext cx="4588208" cy="2288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chemeClr val="bg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l-GR" sz="1400" dirty="0"/>
              <a:t>Δανεισμούς βιβλίων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Clr>
                <a:schemeClr val="bg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l-GR" sz="1400" dirty="0"/>
              <a:t>Κρατήσεις/ανανεώσεις</a:t>
            </a:r>
          </a:p>
          <a:p>
            <a:pPr marL="171450" indent="-171450">
              <a:lnSpc>
                <a:spcPct val="150000"/>
              </a:lnSpc>
              <a:buClr>
                <a:schemeClr val="bg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l-GR" sz="1400" dirty="0"/>
              <a:t>Εκτύπωση-σάρωση (φωτοτυπικά μηχανήματα)</a:t>
            </a:r>
          </a:p>
          <a:p>
            <a:pPr marL="171450" indent="-171450">
              <a:lnSpc>
                <a:spcPct val="150000"/>
              </a:lnSpc>
              <a:buClr>
                <a:schemeClr val="bg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l-GR" sz="1400" dirty="0"/>
              <a:t>Άλλες υπηρεσίες: είσοδος γυμναστηρίου, λεωφορεία</a:t>
            </a:r>
          </a:p>
          <a:p>
            <a:pPr marL="0" indent="0">
              <a:lnSpc>
                <a:spcPct val="150000"/>
              </a:lnSpc>
              <a:buClr>
                <a:srgbClr val="00B0F0"/>
              </a:buClr>
              <a:buSzPct val="85000"/>
              <a:buNone/>
              <a:defRPr/>
            </a:pPr>
            <a:r>
              <a:rPr lang="el-GR" sz="1800" dirty="0"/>
              <a:t> </a:t>
            </a:r>
            <a:r>
              <a:rPr lang="el-GR" sz="1800" b="1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Οδηγίες εγκατάστασης</a:t>
            </a:r>
            <a:endParaRPr lang="el-GR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98" name="Google Shape;298;p33"/>
          <p:cNvSpPr txBox="1">
            <a:spLocks noGrp="1"/>
          </p:cNvSpPr>
          <p:nvPr>
            <p:ph type="sldNum" idx="12"/>
          </p:nvPr>
        </p:nvSpPr>
        <p:spPr>
          <a:xfrm>
            <a:off x="8098066" y="394096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99" name="Google Shape;299;p33"/>
          <p:cNvGrpSpPr/>
          <p:nvPr/>
        </p:nvGrpSpPr>
        <p:grpSpPr>
          <a:xfrm>
            <a:off x="5353199" y="620724"/>
            <a:ext cx="2188931" cy="4149207"/>
            <a:chOff x="2547150" y="238125"/>
            <a:chExt cx="2525675" cy="5238750"/>
          </a:xfrm>
        </p:grpSpPr>
        <p:sp>
          <p:nvSpPr>
            <p:cNvPr id="300" name="Google Shape;300;p33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3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37CBD6D-FB59-4A9B-B8F1-E682BB9E6B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90" t="-222" r="690" b="18159"/>
          <a:stretch/>
        </p:blipFill>
        <p:spPr>
          <a:xfrm>
            <a:off x="5438667" y="1048461"/>
            <a:ext cx="2016369" cy="33185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A3866-A07A-44C2-841F-C6FA6BF4AA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876" t="31800" r="12375" b="38800"/>
          <a:stretch/>
        </p:blipFill>
        <p:spPr>
          <a:xfrm>
            <a:off x="7627598" y="2622697"/>
            <a:ext cx="1245524" cy="5231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6E017A-4A6D-4F62-BE89-24CF361950F9}"/>
              </a:ext>
            </a:extLst>
          </p:cNvPr>
          <p:cNvSpPr/>
          <p:nvPr/>
        </p:nvSpPr>
        <p:spPr>
          <a:xfrm>
            <a:off x="485868" y="1248486"/>
            <a:ext cx="4527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l-GR" sz="2400" b="1" dirty="0">
                <a:solidFill>
                  <a:schemeClr val="bg1"/>
                </a:solidFill>
                <a:sym typeface="Montserrat"/>
              </a:rPr>
              <a:t>Ψηφιακή φοιτητική ταυτότητα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O </a:t>
            </a:r>
            <a:r>
              <a:rPr lang="el-GR" sz="2800" dirty="0"/>
              <a:t>βιβλιοθηκονόμος στο χώρο της βιβλιοθήκης</a:t>
            </a:r>
            <a:endParaRPr sz="2800" dirty="0"/>
          </a:p>
        </p:txBody>
      </p:sp>
      <p:sp>
        <p:nvSpPr>
          <p:cNvPr id="242" name="Google Shape;242;p31"/>
          <p:cNvSpPr txBox="1">
            <a:spLocks noGrp="1"/>
          </p:cNvSpPr>
          <p:nvPr>
            <p:ph type="body" idx="1"/>
          </p:nvPr>
        </p:nvSpPr>
        <p:spPr>
          <a:xfrm>
            <a:off x="734850" y="1428874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l-GR" sz="1600" dirty="0"/>
              <a:t>επεξηγεί τους </a:t>
            </a:r>
          </a:p>
          <a:p>
            <a:pPr marL="114300" indent="0">
              <a:buNone/>
            </a:pPr>
            <a:r>
              <a:rPr lang="el-GR" sz="1600" b="1" dirty="0"/>
              <a:t>κανόνες λειτουργίας</a:t>
            </a:r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2"/>
          </p:nvPr>
        </p:nvSpPr>
        <p:spPr>
          <a:xfrm>
            <a:off x="3313455" y="1428874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l-GR" sz="1600" dirty="0"/>
              <a:t>υπεύθυνος για το </a:t>
            </a:r>
          </a:p>
          <a:p>
            <a:pPr marL="114300" indent="0">
              <a:buNone/>
            </a:pPr>
            <a:r>
              <a:rPr lang="el-GR" sz="1600" b="1" dirty="0"/>
              <a:t>δανεισμό και επιστροφή βιβλίων</a:t>
            </a:r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3"/>
          </p:nvPr>
        </p:nvSpPr>
        <p:spPr>
          <a:xfrm>
            <a:off x="5892060" y="1428874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l-GR" sz="1600" dirty="0"/>
              <a:t>επεξηγεί τον τρόπο </a:t>
            </a:r>
          </a:p>
          <a:p>
            <a:pPr marL="114300" indent="0">
              <a:buNone/>
            </a:pPr>
            <a:r>
              <a:rPr lang="el-GR" sz="1600" b="1" dirty="0"/>
              <a:t>εύρεσης του υλικού </a:t>
            </a:r>
            <a:r>
              <a:rPr lang="el-GR" sz="1600" dirty="0"/>
              <a:t>στα ράφια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734850" y="2838452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l-GR" sz="1600" dirty="0"/>
              <a:t>επεξηγεί τον τρόπο </a:t>
            </a:r>
            <a:r>
              <a:rPr lang="el-GR" sz="1600" b="1" dirty="0"/>
              <a:t>αναζήτησης του υλικού </a:t>
            </a:r>
            <a:r>
              <a:rPr lang="el-GR" sz="1600" dirty="0"/>
              <a:t>στον Κατάλογο</a:t>
            </a:r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3313456" y="2838452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l-GR" sz="1600" dirty="0"/>
              <a:t>επεξηγεί τον τρόπο </a:t>
            </a:r>
            <a:r>
              <a:rPr lang="el-GR" sz="1600" b="1" dirty="0"/>
              <a:t>αναζήτησης του υλικού </a:t>
            </a:r>
            <a:r>
              <a:rPr lang="el-GR" sz="1600" dirty="0"/>
              <a:t>στον Κατάλογο</a:t>
            </a:r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5892061" y="2838452"/>
            <a:ext cx="24528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l-GR" sz="1600" dirty="0"/>
              <a:t>επεξηγεί τον τρόπο χρήσης του </a:t>
            </a:r>
            <a:r>
              <a:rPr lang="el-GR" sz="1600" b="1" dirty="0"/>
              <a:t>εξοπλισμού</a:t>
            </a:r>
            <a:r>
              <a:rPr lang="el-GR" sz="1600" dirty="0"/>
              <a:t> εντός Βιβλιοθήκης </a:t>
            </a:r>
            <a:endParaRPr lang="el-GR" sz="16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268" name="Google Shape;268;p31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2744-D25D-448E-91C1-E6A1CDF3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Θεματική βιβλιοθηκονόμος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BB98A-499D-4992-A665-ECAE58EB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3125" y="1134657"/>
            <a:ext cx="7309870" cy="3341992"/>
          </a:xfrm>
        </p:spPr>
        <p:txBody>
          <a:bodyPr/>
          <a:lstStyle/>
          <a:p>
            <a:pPr marL="114300" lvl="0" indent="0">
              <a:buNone/>
            </a:pPr>
            <a:r>
              <a:rPr lang="el-GR" dirty="0"/>
              <a:t>Παρέχει:  </a:t>
            </a:r>
          </a:p>
          <a:p>
            <a:pPr lvl="0"/>
            <a:endParaRPr lang="el-GR" dirty="0"/>
          </a:p>
          <a:p>
            <a:pPr marL="285750" lvl="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/>
              <a:t>εξειδικευμένη βοήθεια στα θεματικά αντικείμενα των ακαδημαϊκών τμημάτων</a:t>
            </a:r>
          </a:p>
          <a:p>
            <a:pPr marL="285750" lvl="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/>
              <a:t>εκπαιδευτικά σεμινάρια (ατομικά &amp; ομαδικά) στα εργαλεία και υπηρεσίες της βιβλιοθήκης</a:t>
            </a:r>
          </a:p>
          <a:p>
            <a:pPr marL="285750" lvl="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/>
              <a:t>βοήθεια στην αναζήτηση έντυπων και ηλεκτρονικών βιβλίων &amp; άρθρων</a:t>
            </a:r>
          </a:p>
          <a:p>
            <a:pPr marL="285750" lvl="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/>
              <a:t>βοήθεια στη δημιουργία βιβλιογραφίας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CE97-F060-4A46-AF9F-9E3197B88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612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 txBox="1">
            <a:spLocks noGrp="1"/>
          </p:cNvSpPr>
          <p:nvPr>
            <p:ph type="ctrTitle"/>
          </p:nvPr>
        </p:nvSpPr>
        <p:spPr>
          <a:xfrm>
            <a:off x="838175" y="3022854"/>
            <a:ext cx="7908000" cy="10527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Αναζήτηση υλικού στα εργαλεία της βιβλιοθήκης</a:t>
            </a:r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D52A5-3B1C-417B-B0F3-8058D448A41D}"/>
              </a:ext>
            </a:extLst>
          </p:cNvPr>
          <p:cNvSpPr/>
          <p:nvPr/>
        </p:nvSpPr>
        <p:spPr>
          <a:xfrm>
            <a:off x="581595" y="4385876"/>
            <a:ext cx="341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00000000-1234-1234-1234-123412341234}" type="slidenum">
              <a:rPr lang="en" sz="1200" smtClean="0">
                <a:solidFill>
                  <a:srgbClr val="6B9FA4"/>
                </a:solidFill>
                <a:latin typeface="Muli"/>
                <a:sym typeface="Mul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243862" y="368832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 </a:t>
            </a:r>
            <a:r>
              <a:rPr lang="el-GR" sz="2800" dirty="0"/>
              <a:t>Υλικό βιβλιοθήκης </a:t>
            </a:r>
            <a:endParaRPr sz="2800" dirty="0"/>
          </a:p>
        </p:txBody>
      </p:sp>
      <p:sp>
        <p:nvSpPr>
          <p:cNvPr id="185" name="Google Shape;185;p25"/>
          <p:cNvSpPr/>
          <p:nvPr/>
        </p:nvSpPr>
        <p:spPr>
          <a:xfrm>
            <a:off x="1392662" y="1631587"/>
            <a:ext cx="2211347" cy="2146154"/>
          </a:xfrm>
          <a:prstGeom prst="ellipse">
            <a:avLst/>
          </a:prstGeom>
          <a:noFill/>
          <a:ln w="152400" cap="flat" cmpd="sng">
            <a:solidFill>
              <a:srgbClr val="EBE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l-GR" sz="2000" dirty="0">
                <a:latin typeface="Muli"/>
                <a:sym typeface="Poppins Light"/>
              </a:rPr>
              <a:t>Ηλεκτρονικά περιοδικά </a:t>
            </a:r>
          </a:p>
          <a:p>
            <a:pPr lvl="0" algn="ctr">
              <a:lnSpc>
                <a:spcPct val="115000"/>
              </a:lnSpc>
            </a:pPr>
            <a:r>
              <a:rPr lang="el-GR" sz="2000" b="1" dirty="0">
                <a:latin typeface="Muli"/>
                <a:sym typeface="Poppins Light"/>
              </a:rPr>
              <a:t>27,226</a:t>
            </a:r>
            <a:endParaRPr sz="2000" b="1" dirty="0">
              <a:latin typeface="Muli"/>
              <a:sym typeface="Mul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5126173" y="1531389"/>
            <a:ext cx="2211347" cy="2146154"/>
          </a:xfrm>
          <a:prstGeom prst="ellipse">
            <a:avLst/>
          </a:prstGeom>
          <a:noFill/>
          <a:ln w="152400" cap="flat" cmpd="sng">
            <a:solidFill>
              <a:srgbClr val="742E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l-GR" sz="1100" b="1" dirty="0">
                <a:solidFill>
                  <a:schemeClr val="tx1"/>
                </a:solidFill>
                <a:ea typeface="Poppins Light"/>
                <a:cs typeface="Poppins Light"/>
                <a:sym typeface="Poppins Light"/>
              </a:rPr>
              <a:t> </a:t>
            </a:r>
            <a:r>
              <a:rPr lang="el-GR" sz="2000" dirty="0">
                <a:latin typeface="Muli"/>
                <a:sym typeface="Poppins Light"/>
              </a:rPr>
              <a:t>Ηλεκτρονικά βιβλία </a:t>
            </a:r>
          </a:p>
          <a:p>
            <a:pPr lvl="0" algn="ctr">
              <a:lnSpc>
                <a:spcPct val="115000"/>
              </a:lnSpc>
            </a:pPr>
            <a:r>
              <a:rPr lang="el-GR" sz="2000" b="1" dirty="0">
                <a:latin typeface="Muli"/>
                <a:sym typeface="Poppins Light"/>
              </a:rPr>
              <a:t>570,347</a:t>
            </a:r>
            <a:endParaRPr sz="2000" b="1" dirty="0">
              <a:latin typeface="Muli"/>
              <a:sym typeface="Muli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3337226" y="994331"/>
            <a:ext cx="2055732" cy="2045956"/>
          </a:xfrm>
          <a:prstGeom prst="ellipse">
            <a:avLst/>
          </a:prstGeom>
          <a:noFill/>
          <a:ln w="152400" cap="flat" cmpd="sng">
            <a:solidFill>
              <a:srgbClr val="6B9F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l-GR" sz="2000" dirty="0">
                <a:solidFill>
                  <a:schemeClr val="tx1"/>
                </a:solidFill>
                <a:latin typeface="Muli"/>
                <a:ea typeface="Poppins"/>
                <a:cs typeface="Poppins"/>
                <a:sym typeface="Poppins"/>
              </a:rPr>
              <a:t>Βιβλία</a:t>
            </a:r>
            <a:r>
              <a:rPr lang="el-GR" sz="1800" dirty="0">
                <a:solidFill>
                  <a:schemeClr val="tx1"/>
                </a:solidFill>
                <a:latin typeface="Muli"/>
                <a:ea typeface="Poppins"/>
                <a:cs typeface="Poppins"/>
                <a:sym typeface="Poppin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l-GR" sz="1800" b="1" dirty="0">
                <a:solidFill>
                  <a:schemeClr val="tx1"/>
                </a:solidFill>
                <a:latin typeface="Muli"/>
                <a:ea typeface="Poppins"/>
                <a:cs typeface="Poppins"/>
                <a:sym typeface="Poppins"/>
              </a:rPr>
              <a:t>34,720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8" name="Google Shape;188;p25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sp>
        <p:nvSpPr>
          <p:cNvPr id="7" name="Google Shape;187;p25">
            <a:extLst>
              <a:ext uri="{FF2B5EF4-FFF2-40B4-BE49-F238E27FC236}">
                <a16:creationId xmlns:a16="http://schemas.microsoft.com/office/drawing/2014/main" id="{2EFCD900-DAA4-4AFD-B8D9-88931750DB4B}"/>
              </a:ext>
            </a:extLst>
          </p:cNvPr>
          <p:cNvSpPr/>
          <p:nvPr/>
        </p:nvSpPr>
        <p:spPr>
          <a:xfrm>
            <a:off x="3269238" y="2571750"/>
            <a:ext cx="2055600" cy="2044800"/>
          </a:xfrm>
          <a:prstGeom prst="ellipse">
            <a:avLst/>
          </a:prstGeom>
          <a:noFill/>
          <a:ln w="152400" cap="flat" cmpd="sng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l-GR" sz="2000" dirty="0">
                <a:solidFill>
                  <a:schemeClr val="tx1"/>
                </a:solidFill>
                <a:latin typeface="Muli"/>
                <a:cs typeface="Poppins"/>
                <a:sym typeface="Poppins Light"/>
              </a:rPr>
              <a:t>Οπτικό</a:t>
            </a:r>
            <a:r>
              <a:rPr lang="en-US" sz="2000" dirty="0">
                <a:solidFill>
                  <a:schemeClr val="tx1"/>
                </a:solidFill>
                <a:latin typeface="Muli"/>
                <a:cs typeface="Poppins"/>
                <a:sym typeface="Poppins Light"/>
              </a:rPr>
              <a:t>-</a:t>
            </a:r>
            <a:endParaRPr lang="el-GR" sz="2000" dirty="0">
              <a:solidFill>
                <a:schemeClr val="tx1"/>
              </a:solidFill>
              <a:latin typeface="Muli"/>
              <a:cs typeface="Poppins"/>
              <a:sym typeface="Poppins Light"/>
            </a:endParaRPr>
          </a:p>
          <a:p>
            <a:pPr lvl="0" algn="ctr">
              <a:lnSpc>
                <a:spcPct val="115000"/>
              </a:lnSpc>
            </a:pPr>
            <a:r>
              <a:rPr lang="el-GR" sz="2000" dirty="0">
                <a:solidFill>
                  <a:schemeClr val="tx1"/>
                </a:solidFill>
                <a:latin typeface="Muli"/>
                <a:cs typeface="Poppins"/>
                <a:sym typeface="Poppins Light"/>
              </a:rPr>
              <a:t>ακουστικό υλικό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ctrTitle" idx="4294967295"/>
          </p:nvPr>
        </p:nvSpPr>
        <p:spPr>
          <a:xfrm>
            <a:off x="1697328" y="1525717"/>
            <a:ext cx="6187927" cy="46276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l-GR" sz="2800" dirty="0">
                <a:solidFill>
                  <a:schemeClr val="tx1"/>
                </a:solidFill>
              </a:rPr>
              <a:t>Επιστημονικές πήγες </a:t>
            </a:r>
            <a:r>
              <a:rPr lang="en-US" sz="2800" dirty="0">
                <a:solidFill>
                  <a:schemeClr val="tx1"/>
                </a:solidFill>
              </a:rPr>
              <a:t>VS </a:t>
            </a:r>
            <a:r>
              <a:rPr lang="el-GR" sz="2800" dirty="0">
                <a:solidFill>
                  <a:schemeClr val="tx1"/>
                </a:solidFill>
              </a:rPr>
              <a:t>Διαδίκτυο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4294967295"/>
          </p:nvPr>
        </p:nvSpPr>
        <p:spPr>
          <a:xfrm>
            <a:off x="1570632" y="2039736"/>
            <a:ext cx="2342149" cy="26036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l-GR" sz="1400" b="1" dirty="0"/>
              <a:t>Βιβλία, Βάσεις Δεδομένων, Επιστημονικά Περιοδικά</a:t>
            </a:r>
            <a:r>
              <a:rPr lang="en-US" sz="1400" b="1" dirty="0"/>
              <a:t>, google scholar</a:t>
            </a:r>
            <a:endParaRPr lang="el-GR" sz="1400" b="1" dirty="0"/>
          </a:p>
          <a:p>
            <a:pPr marL="0" lvl="0" indent="0">
              <a:buNone/>
            </a:pPr>
            <a:endParaRPr lang="en-US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400" dirty="0"/>
              <a:t>Έχουν μελετηθεί και γραφτεί από επιστήμονες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l-GR" sz="1400" dirty="0"/>
              <a:t>Αξιολογημένες και ελεγμένες για την ποιότητα και εγκυρότητα τους 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028F46-5100-41B4-A68C-EC7CD91961E0}"/>
              </a:ext>
            </a:extLst>
          </p:cNvPr>
          <p:cNvSpPr/>
          <p:nvPr/>
        </p:nvSpPr>
        <p:spPr>
          <a:xfrm>
            <a:off x="5004391" y="2150433"/>
            <a:ext cx="228599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b="1" dirty="0">
                <a:solidFill>
                  <a:schemeClr val="dk1"/>
                </a:solidFill>
                <a:latin typeface="Muli"/>
                <a:sym typeface="Muli"/>
              </a:rPr>
              <a:t>Google, internet, Wikipedia </a:t>
            </a:r>
            <a:endParaRPr lang="el-GR" b="1" dirty="0">
              <a:solidFill>
                <a:schemeClr val="dk1"/>
              </a:solidFill>
              <a:latin typeface="Muli"/>
              <a:sym typeface="Muli"/>
            </a:endParaRPr>
          </a:p>
          <a:p>
            <a:pPr lvl="0">
              <a:spcBef>
                <a:spcPts val="600"/>
              </a:spcBef>
            </a:pPr>
            <a:endParaRPr lang="en-US" dirty="0"/>
          </a:p>
          <a:p>
            <a:pPr marL="171450" lvl="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>
                <a:solidFill>
                  <a:schemeClr val="dk1"/>
                </a:solidFill>
                <a:latin typeface="Muli"/>
                <a:sym typeface="Muli"/>
              </a:rPr>
              <a:t>Αναξιόπιστες</a:t>
            </a:r>
          </a:p>
          <a:p>
            <a:pPr marL="171450" lvl="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>
                <a:solidFill>
                  <a:schemeClr val="dk1"/>
                </a:solidFill>
                <a:latin typeface="Muli"/>
                <a:sym typeface="Muli"/>
              </a:rPr>
              <a:t>Παραπλανητικές </a:t>
            </a:r>
          </a:p>
          <a:p>
            <a:pPr marL="171450" lvl="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>
                <a:solidFill>
                  <a:schemeClr val="dk1"/>
                </a:solidFill>
                <a:latin typeface="Muli"/>
                <a:sym typeface="Muli"/>
              </a:rPr>
              <a:t>Προσωρινές</a:t>
            </a:r>
          </a:p>
          <a:p>
            <a:pPr marL="171450" lvl="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>
                <a:solidFill>
                  <a:schemeClr val="dk1"/>
                </a:solidFill>
                <a:latin typeface="Muli"/>
                <a:sym typeface="Muli"/>
              </a:rPr>
              <a:t>Δεν έχουν αξιολογηθεί από ειδικούς</a:t>
            </a:r>
          </a:p>
          <a:p>
            <a:pPr marL="171450" lvl="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dirty="0">
                <a:solidFill>
                  <a:schemeClr val="dk1"/>
                </a:solidFill>
                <a:latin typeface="Muli"/>
                <a:sym typeface="Muli"/>
              </a:rPr>
              <a:t>Αμφιβολία ακρίβειας και ποιότητας πληροφοριών </a:t>
            </a:r>
          </a:p>
        </p:txBody>
      </p:sp>
      <p:pic>
        <p:nvPicPr>
          <p:cNvPr id="11" name="Google Shape;188;p19">
            <a:extLst>
              <a:ext uri="{FF2B5EF4-FFF2-40B4-BE49-F238E27FC236}">
                <a16:creationId xmlns:a16="http://schemas.microsoft.com/office/drawing/2014/main" id="{CE7C7862-FCE9-4DA6-ADAB-254656699A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970" y="326065"/>
            <a:ext cx="1384059" cy="1309802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C243-D909-4DC6-8BD7-A111366D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Που αναζητούμε  υλικό 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B2ADC-4798-46ED-8E3B-77282E9A4F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grpSp>
        <p:nvGrpSpPr>
          <p:cNvPr id="4" name="Google Shape;1363;p50">
            <a:extLst>
              <a:ext uri="{FF2B5EF4-FFF2-40B4-BE49-F238E27FC236}">
                <a16:creationId xmlns:a16="http://schemas.microsoft.com/office/drawing/2014/main" id="{4AF375B7-BD53-465F-80DB-77AFC118C644}"/>
              </a:ext>
            </a:extLst>
          </p:cNvPr>
          <p:cNvGrpSpPr/>
          <p:nvPr/>
        </p:nvGrpSpPr>
        <p:grpSpPr>
          <a:xfrm>
            <a:off x="1343024" y="1143000"/>
            <a:ext cx="5915025" cy="3426813"/>
            <a:chOff x="6332670" y="5663946"/>
            <a:chExt cx="856627" cy="594715"/>
          </a:xfrm>
        </p:grpSpPr>
        <p:grpSp>
          <p:nvGrpSpPr>
            <p:cNvPr id="5" name="Google Shape;1364;p50">
              <a:extLst>
                <a:ext uri="{FF2B5EF4-FFF2-40B4-BE49-F238E27FC236}">
                  <a16:creationId xmlns:a16="http://schemas.microsoft.com/office/drawing/2014/main" id="{F5B6C716-DEFC-44B5-A465-54DE2994F82B}"/>
                </a:ext>
              </a:extLst>
            </p:cNvPr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2" name="Google Shape;1365;p50">
                <a:extLst>
                  <a:ext uri="{FF2B5EF4-FFF2-40B4-BE49-F238E27FC236}">
                    <a16:creationId xmlns:a16="http://schemas.microsoft.com/office/drawing/2014/main" id="{613C4736-2B4D-4308-B5D8-2BE00D45C2CC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66;p50">
                <a:extLst>
                  <a:ext uri="{FF2B5EF4-FFF2-40B4-BE49-F238E27FC236}">
                    <a16:creationId xmlns:a16="http://schemas.microsoft.com/office/drawing/2014/main" id="{38128EC6-2918-4D50-AAFE-4A5B046FE5C8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1367;p50">
              <a:extLst>
                <a:ext uri="{FF2B5EF4-FFF2-40B4-BE49-F238E27FC236}">
                  <a16:creationId xmlns:a16="http://schemas.microsoft.com/office/drawing/2014/main" id="{41CD4F3D-1D9D-4A73-A008-53331AB36D3A}"/>
                </a:ext>
              </a:extLst>
            </p:cNvPr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0" name="Google Shape;1368;p50">
                <a:extLst>
                  <a:ext uri="{FF2B5EF4-FFF2-40B4-BE49-F238E27FC236}">
                    <a16:creationId xmlns:a16="http://schemas.microsoft.com/office/drawing/2014/main" id="{92F8FFD4-7A92-49C2-A54C-DEC7E17DF798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1369;p50">
                <a:extLst>
                  <a:ext uri="{FF2B5EF4-FFF2-40B4-BE49-F238E27FC236}">
                    <a16:creationId xmlns:a16="http://schemas.microsoft.com/office/drawing/2014/main" id="{1D8E9C37-BFEE-41CC-A0B4-C4FA2CDF1887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0;p50">
              <a:extLst>
                <a:ext uri="{FF2B5EF4-FFF2-40B4-BE49-F238E27FC236}">
                  <a16:creationId xmlns:a16="http://schemas.microsoft.com/office/drawing/2014/main" id="{DD31866B-9871-48FC-83A1-2BFF1EE8EE46}"/>
                </a:ext>
              </a:extLst>
            </p:cNvPr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8" name="Google Shape;1371;p50">
                <a:extLst>
                  <a:ext uri="{FF2B5EF4-FFF2-40B4-BE49-F238E27FC236}">
                    <a16:creationId xmlns:a16="http://schemas.microsoft.com/office/drawing/2014/main" id="{2FDF5E07-071B-4691-9E22-6C2A5945289D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1372;p50">
                <a:extLst>
                  <a:ext uri="{FF2B5EF4-FFF2-40B4-BE49-F238E27FC236}">
                    <a16:creationId xmlns:a16="http://schemas.microsoft.com/office/drawing/2014/main" id="{C8AD6772-2FB0-43FD-A9E6-3380869734AA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E087A17-562C-49EA-866D-13823C08EA7E}"/>
              </a:ext>
            </a:extLst>
          </p:cNvPr>
          <p:cNvSpPr/>
          <p:nvPr/>
        </p:nvSpPr>
        <p:spPr>
          <a:xfrm>
            <a:off x="2286000" y="1187724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l-GR" sz="1600" b="1" dirty="0">
                <a:latin typeface="Muli"/>
                <a:ea typeface="Poppins Light"/>
                <a:cs typeface="Poppins Light"/>
                <a:sym typeface="Poppins Light"/>
              </a:rPr>
              <a:t>Κατάλογος βιβλιοθήκης                                         </a:t>
            </a:r>
            <a:r>
              <a:rPr lang="el-GR" dirty="0">
                <a:latin typeface="Muli"/>
                <a:ea typeface="Poppins Light"/>
                <a:cs typeface="Poppins Light"/>
                <a:sym typeface="Poppins Light"/>
              </a:rPr>
              <a:t>περιλαμβάνει έντυπα και ηλεκτρονικά περιοδικά, βιβλία, λεξικά και εγκυκλοπαίδειες τα οποία μπορούν να τεκμηριώσουν επιστημονικά το θέμα.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1F14D-FA43-405E-8D48-028250F2DB83}"/>
              </a:ext>
            </a:extLst>
          </p:cNvPr>
          <p:cNvSpPr/>
          <p:nvPr/>
        </p:nvSpPr>
        <p:spPr>
          <a:xfrm>
            <a:off x="2080843" y="2339914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sz="1600" b="1" dirty="0">
                <a:latin typeface="Muli"/>
                <a:ea typeface="Poppins Light"/>
                <a:cs typeface="Poppins Light"/>
                <a:sym typeface="Poppins Light"/>
              </a:rPr>
              <a:t>Google Scholar                                                                </a:t>
            </a:r>
            <a:r>
              <a:rPr lang="el-GR" dirty="0">
                <a:latin typeface="Muli"/>
                <a:cs typeface="Poppins Light"/>
                <a:sym typeface="Poppins Light"/>
              </a:rPr>
              <a:t>αναζήτηση επιστημονικού υλικού σε βάσεις δεδομένων, ερευνητικούς οργανισμούς, κλπ.</a:t>
            </a:r>
            <a:r>
              <a:rPr lang="en-US" dirty="0">
                <a:latin typeface="Muli"/>
                <a:cs typeface="Poppins Light"/>
                <a:sym typeface="Poppins Light"/>
              </a:rPr>
              <a:t> </a:t>
            </a:r>
            <a:r>
              <a:rPr lang="el-GR" dirty="0">
                <a:latin typeface="Muli"/>
                <a:cs typeface="Poppins Light"/>
                <a:sym typeface="Poppins Light"/>
              </a:rPr>
              <a:t>Προσφέρει διασύνδεση με πλήρες κείμενο άρθρων.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E148BB-CE10-4185-B28C-D96CF0F2A1B8}"/>
              </a:ext>
            </a:extLst>
          </p:cNvPr>
          <p:cNvSpPr/>
          <p:nvPr/>
        </p:nvSpPr>
        <p:spPr>
          <a:xfrm>
            <a:off x="2080843" y="3615779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l-GR" sz="1600" b="1" dirty="0">
                <a:latin typeface="Muli"/>
                <a:cs typeface="Poppins Light"/>
                <a:sym typeface="Poppins Light"/>
              </a:rPr>
              <a:t>Άλλες πηγές                                                                                </a:t>
            </a:r>
            <a:r>
              <a:rPr lang="el-GR" dirty="0">
                <a:latin typeface="Poppins Light"/>
                <a:ea typeface="Poppins Light"/>
                <a:cs typeface="Poppins Light"/>
                <a:sym typeface="Poppins Light"/>
              </a:rPr>
              <a:t>Κατά την αναζήτηση υλικού η βιβλιογραφία και οι παραπομπές μπορούν να είναι μεγάλη βοήθεια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9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ctrTitle" idx="4294967295"/>
          </p:nvPr>
        </p:nvSpPr>
        <p:spPr>
          <a:xfrm>
            <a:off x="508725" y="737190"/>
            <a:ext cx="7772400" cy="48283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200" dirty="0">
                <a:solidFill>
                  <a:srgbClr val="111111"/>
                </a:solidFill>
              </a:rPr>
              <a:t>Ταξινομικός αριθμός</a:t>
            </a:r>
            <a:endParaRPr sz="3200" dirty="0">
              <a:solidFill>
                <a:srgbClr val="111111"/>
              </a:solidFill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subTitle" idx="4294967295"/>
          </p:nvPr>
        </p:nvSpPr>
        <p:spPr>
          <a:xfrm>
            <a:off x="453657" y="1346791"/>
            <a:ext cx="8094920" cy="35938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bg1">
                  <a:lumMod val="85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600" dirty="0"/>
              <a:t>δείχνει την ακριβή θέση του βιβλίου στο ράφι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600" dirty="0"/>
              <a:t>ομαδοποιεί βιβλία που έχουν το ίδιο θέμα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600" dirty="0"/>
              <a:t>βοηθά στον εντοπισμό πρόσθετων βιβλίων στο ράφι </a:t>
            </a:r>
            <a:endParaRPr lang="en-US" sz="1600" dirty="0"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22D80-8AE6-4720-9EE8-9CA825B0B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890" y="2185947"/>
            <a:ext cx="1738602" cy="24498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55426C-9D9C-46AA-A5A8-61F2E894C856}"/>
              </a:ext>
            </a:extLst>
          </p:cNvPr>
          <p:cNvSpPr/>
          <p:nvPr/>
        </p:nvSpPr>
        <p:spPr>
          <a:xfrm>
            <a:off x="2548270" y="3354972"/>
            <a:ext cx="278218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Muli"/>
                <a:sym typeface="Muli"/>
              </a:rPr>
              <a:t>TG335</a:t>
            </a:r>
            <a:r>
              <a:rPr lang="el-GR" sz="1600" dirty="0">
                <a:solidFill>
                  <a:schemeClr val="dk1"/>
                </a:solidFill>
                <a:latin typeface="Muli"/>
                <a:sym typeface="Muli"/>
              </a:rPr>
              <a:t>: θέμα</a:t>
            </a:r>
          </a:p>
          <a:p>
            <a:r>
              <a:rPr lang="en-US" sz="1600" dirty="0">
                <a:solidFill>
                  <a:schemeClr val="dk1"/>
                </a:solidFill>
                <a:latin typeface="Muli"/>
                <a:sym typeface="Muli"/>
              </a:rPr>
              <a:t>H49: </a:t>
            </a:r>
            <a:r>
              <a:rPr lang="el-GR" sz="1600" dirty="0">
                <a:solidFill>
                  <a:schemeClr val="dk1"/>
                </a:solidFill>
                <a:latin typeface="Muli"/>
                <a:sym typeface="Muli"/>
              </a:rPr>
              <a:t>συγγραφέας</a:t>
            </a:r>
          </a:p>
          <a:p>
            <a:r>
              <a:rPr lang="el-GR" sz="1600" dirty="0">
                <a:solidFill>
                  <a:schemeClr val="dk1"/>
                </a:solidFill>
                <a:latin typeface="Muli"/>
                <a:sym typeface="Muli"/>
              </a:rPr>
              <a:t>20</a:t>
            </a:r>
            <a:r>
              <a:rPr lang="en-US" sz="1600" dirty="0">
                <a:solidFill>
                  <a:schemeClr val="dk1"/>
                </a:solidFill>
                <a:latin typeface="Muli"/>
                <a:sym typeface="Muli"/>
              </a:rPr>
              <a:t>12</a:t>
            </a:r>
            <a:r>
              <a:rPr lang="el-GR" sz="1600" dirty="0">
                <a:solidFill>
                  <a:schemeClr val="dk1"/>
                </a:solidFill>
                <a:latin typeface="Muli"/>
                <a:sym typeface="Muli"/>
              </a:rPr>
              <a:t>: έτος έκδοσης</a:t>
            </a:r>
            <a:endParaRPr lang="en-US" sz="1600" dirty="0">
              <a:solidFill>
                <a:schemeClr val="dk1"/>
              </a:solidFill>
              <a:latin typeface="Muli"/>
              <a:sym typeface="Muli"/>
            </a:endParaRPr>
          </a:p>
          <a:p>
            <a:pPr algn="ctr"/>
            <a:r>
              <a:rPr lang="en-US" sz="1600" b="1" dirty="0">
                <a:solidFill>
                  <a:srgbClr val="C00000"/>
                </a:solidFill>
                <a:latin typeface="Muli"/>
                <a:sym typeface="Muli"/>
              </a:rPr>
              <a:t>Prestressed concrete bridges…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FBC98-94E6-4C5E-93BF-06C51B3EA20E}"/>
              </a:ext>
            </a:extLst>
          </p:cNvPr>
          <p:cNvSpPr/>
          <p:nvPr/>
        </p:nvSpPr>
        <p:spPr>
          <a:xfrm>
            <a:off x="6663069" y="3707219"/>
            <a:ext cx="55289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50" b="1" dirty="0">
                <a:solidFill>
                  <a:schemeClr val="dk1"/>
                </a:solidFill>
                <a:latin typeface="Muli"/>
              </a:rPr>
              <a:t>TG</a:t>
            </a:r>
          </a:p>
          <a:p>
            <a:r>
              <a:rPr lang="en-US" sz="1250" b="1" dirty="0">
                <a:solidFill>
                  <a:schemeClr val="dk1"/>
                </a:solidFill>
                <a:latin typeface="Muli"/>
              </a:rPr>
              <a:t>335 .H49 2012</a:t>
            </a:r>
            <a:endParaRPr lang="el-GR" sz="1250" b="1" dirty="0">
              <a:solidFill>
                <a:schemeClr val="dk1"/>
              </a:solidFill>
              <a:latin typeface="Mul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27D3BB-621C-4846-A516-7982783E9D92}"/>
              </a:ext>
            </a:extLst>
          </p:cNvPr>
          <p:cNvCxnSpPr>
            <a:cxnSpLocks/>
          </p:cNvCxnSpPr>
          <p:nvPr/>
        </p:nvCxnSpPr>
        <p:spPr>
          <a:xfrm>
            <a:off x="6254890" y="3844376"/>
            <a:ext cx="408179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79621D-F0F1-4C5A-A357-500C9DC54AC5}"/>
              </a:ext>
            </a:extLst>
          </p:cNvPr>
          <p:cNvCxnSpPr>
            <a:cxnSpLocks/>
          </p:cNvCxnSpPr>
          <p:nvPr/>
        </p:nvCxnSpPr>
        <p:spPr>
          <a:xfrm>
            <a:off x="6254890" y="4025130"/>
            <a:ext cx="408179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D6D580-A3BB-4672-9404-4E0811B4649D}"/>
              </a:ext>
            </a:extLst>
          </p:cNvPr>
          <p:cNvCxnSpPr>
            <a:cxnSpLocks/>
          </p:cNvCxnSpPr>
          <p:nvPr/>
        </p:nvCxnSpPr>
        <p:spPr>
          <a:xfrm>
            <a:off x="6254890" y="4198795"/>
            <a:ext cx="408179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C73196-D2DA-4BC7-BC94-28B84E05EB8E}"/>
              </a:ext>
            </a:extLst>
          </p:cNvPr>
          <p:cNvCxnSpPr>
            <a:cxnSpLocks/>
          </p:cNvCxnSpPr>
          <p:nvPr/>
        </p:nvCxnSpPr>
        <p:spPr>
          <a:xfrm>
            <a:off x="6254890" y="4432190"/>
            <a:ext cx="408179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6E3B174-C67F-439D-95AD-4D74D19FDD21}"/>
              </a:ext>
            </a:extLst>
          </p:cNvPr>
          <p:cNvSpPr/>
          <p:nvPr/>
        </p:nvSpPr>
        <p:spPr>
          <a:xfrm>
            <a:off x="2459800" y="3313234"/>
            <a:ext cx="2842437" cy="11031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Παντογνώστης</a:t>
            </a:r>
            <a:endParaRPr sz="2800" dirty="0"/>
          </a:p>
        </p:txBody>
      </p:sp>
      <p:sp>
        <p:nvSpPr>
          <p:cNvPr id="195" name="Google Shape;195;p26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5800A-6DB9-4A03-9264-AB8D9179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94" t="14917" r="35501" b="31464"/>
          <a:stretch/>
        </p:blipFill>
        <p:spPr>
          <a:xfrm>
            <a:off x="3227372" y="1158421"/>
            <a:ext cx="5611659" cy="362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2BCF76-16F2-4146-9503-7FD5EF7D1057}"/>
              </a:ext>
            </a:extLst>
          </p:cNvPr>
          <p:cNvSpPr/>
          <p:nvPr/>
        </p:nvSpPr>
        <p:spPr>
          <a:xfrm>
            <a:off x="508725" y="1433386"/>
            <a:ext cx="2718647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800" dirty="0">
                <a:solidFill>
                  <a:srgbClr val="434343"/>
                </a:solidFill>
                <a:latin typeface="Muli"/>
              </a:rPr>
              <a:t>επιλέξτε την καρτέλα «</a:t>
            </a:r>
            <a:r>
              <a:rPr lang="el-GR" sz="1800" b="1" dirty="0">
                <a:solidFill>
                  <a:srgbClr val="434343"/>
                </a:solidFill>
                <a:latin typeface="Muli"/>
              </a:rPr>
              <a:t>Βιβλία</a:t>
            </a:r>
            <a:r>
              <a:rPr lang="el-GR" sz="1800" dirty="0">
                <a:solidFill>
                  <a:srgbClr val="434343"/>
                </a:solidFill>
                <a:latin typeface="Muli"/>
              </a:rPr>
              <a:t>» για να αναζητήσετε στον Κατάλογο της Βιβλιοθήκης</a:t>
            </a:r>
          </a:p>
          <a:p>
            <a:pPr lvl="0" indent="-342900">
              <a:spcBef>
                <a:spcPts val="1800"/>
              </a:spcBef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800" dirty="0">
                <a:solidFill>
                  <a:srgbClr val="434343"/>
                </a:solidFill>
                <a:latin typeface="Muli"/>
              </a:rPr>
              <a:t>επιλέξτε την καρτέλα «</a:t>
            </a:r>
            <a:r>
              <a:rPr lang="el-GR" sz="1800" b="1" dirty="0">
                <a:solidFill>
                  <a:srgbClr val="434343"/>
                </a:solidFill>
                <a:latin typeface="Muli"/>
              </a:rPr>
              <a:t>Βάσεις δεδομένων</a:t>
            </a:r>
            <a:r>
              <a:rPr lang="el-GR" sz="1800" dirty="0">
                <a:solidFill>
                  <a:srgbClr val="434343"/>
                </a:solidFill>
                <a:latin typeface="Muli"/>
              </a:rPr>
              <a:t>» για να μεταβείτε σε κάποια βάση δεδομένων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285425" y="358388"/>
            <a:ext cx="8401200" cy="52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Κατάλογος της βιβλιοθήκης</a:t>
            </a:r>
            <a:endParaRPr sz="2800" dirty="0"/>
          </a:p>
        </p:txBody>
      </p:sp>
      <p:sp>
        <p:nvSpPr>
          <p:cNvPr id="195" name="Google Shape;195;p26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BCF76-16F2-4146-9503-7FD5EF7D1057}"/>
              </a:ext>
            </a:extLst>
          </p:cNvPr>
          <p:cNvSpPr/>
          <p:nvPr/>
        </p:nvSpPr>
        <p:spPr>
          <a:xfrm>
            <a:off x="1618736" y="3621263"/>
            <a:ext cx="6404822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spcAft>
                <a:spcPts val="1200"/>
              </a:spcAft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300" dirty="0">
                <a:solidFill>
                  <a:srgbClr val="434343"/>
                </a:solidFill>
                <a:latin typeface="Muli"/>
              </a:rPr>
              <a:t>αναζήτηση έντυπων &amp; </a:t>
            </a:r>
            <a:r>
              <a:rPr lang="el-GR" sz="1300" dirty="0" err="1">
                <a:solidFill>
                  <a:srgbClr val="434343"/>
                </a:solidFill>
                <a:latin typeface="Muli"/>
              </a:rPr>
              <a:t>ηλεκτ</a:t>
            </a:r>
            <a:r>
              <a:rPr lang="el-GR" sz="1300" dirty="0">
                <a:solidFill>
                  <a:srgbClr val="434343"/>
                </a:solidFill>
                <a:latin typeface="Muli"/>
              </a:rPr>
              <a:t>. βιβλίων που έχει η Βιβλιοθήκη </a:t>
            </a:r>
          </a:p>
          <a:p>
            <a:pPr indent="-342900">
              <a:spcAft>
                <a:spcPts val="1200"/>
              </a:spcAft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300" dirty="0">
                <a:solidFill>
                  <a:srgbClr val="434343"/>
                </a:solidFill>
                <a:latin typeface="Muli"/>
              </a:rPr>
              <a:t>αναζήτηση στη συλλογή Βιβλιοθήκη ΤΕΠΑΚ &amp; Δημοτική Βιβλιοθήκη</a:t>
            </a:r>
          </a:p>
          <a:p>
            <a:pPr indent="-342900">
              <a:spcAft>
                <a:spcPts val="1200"/>
              </a:spcAft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300" dirty="0">
                <a:solidFill>
                  <a:srgbClr val="434343"/>
                </a:solidFill>
                <a:latin typeface="Muli"/>
              </a:rPr>
              <a:t>διαθεσιμότητα βιβλίων και αίτηση για δανεισμό (Κράτηση μέσω λογαριασμού) </a:t>
            </a:r>
          </a:p>
          <a:p>
            <a:pPr indent="-342900">
              <a:spcAft>
                <a:spcPts val="1200"/>
              </a:spcAft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300" dirty="0">
                <a:solidFill>
                  <a:srgbClr val="434343"/>
                </a:solidFill>
                <a:latin typeface="Muli"/>
              </a:rPr>
              <a:t>επιλογές περιορισμού αποτελεσμάτων (Διαθεσιμότητα, Συγγραφείς, Θέματα)</a:t>
            </a:r>
          </a:p>
          <a:p>
            <a:pPr lvl="0" indent="-342900">
              <a:buClr>
                <a:schemeClr val="bg2">
                  <a:lumMod val="40000"/>
                  <a:lumOff val="60000"/>
                </a:schemeClr>
              </a:buClr>
              <a:buSzPts val="1800"/>
              <a:buFont typeface="Wingdings" panose="05000000000000000000" pitchFamily="2" charset="2"/>
              <a:buChar char="§"/>
            </a:pPr>
            <a:endParaRPr lang="el-GR" dirty="0">
              <a:solidFill>
                <a:srgbClr val="434343"/>
              </a:solidFill>
              <a:latin typeface="Mul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7AB17-D6CE-434D-BD51-965575C1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25" y="893213"/>
            <a:ext cx="8573150" cy="27375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6CA97F-31A6-4459-992D-27EBB277B802}"/>
              </a:ext>
            </a:extLst>
          </p:cNvPr>
          <p:cNvSpPr/>
          <p:nvPr/>
        </p:nvSpPr>
        <p:spPr>
          <a:xfrm>
            <a:off x="2038350" y="3152775"/>
            <a:ext cx="3733800" cy="1391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0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>
            <a:spLocks noGrp="1"/>
          </p:cNvSpPr>
          <p:nvPr>
            <p:ph type="body" idx="1"/>
          </p:nvPr>
        </p:nvSpPr>
        <p:spPr>
          <a:xfrm>
            <a:off x="304799" y="2571750"/>
            <a:ext cx="3819525" cy="2132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>
              <a:spcAft>
                <a:spcPts val="600"/>
              </a:spcAft>
              <a:buClr>
                <a:schemeClr val="bg2">
                  <a:lumMod val="60000"/>
                  <a:lumOff val="4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800" dirty="0">
                <a:solidFill>
                  <a:srgbClr val="434343"/>
                </a:solidFill>
              </a:rPr>
              <a:t>οργανωμένες συλλογές υλικού σχετικών μεταξύ τους</a:t>
            </a:r>
          </a:p>
          <a:p>
            <a:pPr marL="285750" lvl="0" indent="-171450">
              <a:spcAft>
                <a:spcPts val="600"/>
              </a:spcAft>
              <a:buClr>
                <a:schemeClr val="bg2">
                  <a:lumMod val="60000"/>
                  <a:lumOff val="40000"/>
                </a:schemeClr>
              </a:buClr>
              <a:buSzPts val="1800"/>
              <a:buFont typeface="Wingdings" panose="05000000000000000000" pitchFamily="2" charset="2"/>
              <a:buChar char="§"/>
            </a:pPr>
            <a:r>
              <a:rPr lang="el-GR" sz="1800" dirty="0">
                <a:solidFill>
                  <a:srgbClr val="434343"/>
                </a:solidFill>
              </a:rPr>
              <a:t>εξειδικευμένη αναζήτηση θέματος</a:t>
            </a:r>
          </a:p>
          <a:p>
            <a:pPr marL="114300" indent="0">
              <a:spcAft>
                <a:spcPts val="600"/>
              </a:spcAft>
              <a:buClr>
                <a:schemeClr val="accent3"/>
              </a:buClr>
              <a:buSzPts val="1800"/>
              <a:buNone/>
            </a:pPr>
            <a:r>
              <a:rPr lang="el-GR" sz="1800" dirty="0">
                <a:solidFill>
                  <a:srgbClr val="434343"/>
                </a:solidFill>
              </a:rPr>
              <a:t>(επιστημονικό περιεχόμενο, </a:t>
            </a:r>
            <a:r>
              <a:rPr lang="el-GR" sz="1800" dirty="0" err="1">
                <a:solidFill>
                  <a:srgbClr val="434343"/>
                </a:solidFill>
              </a:rPr>
              <a:t>ηλ</a:t>
            </a:r>
            <a:r>
              <a:rPr lang="el-GR" sz="1800" dirty="0">
                <a:solidFill>
                  <a:srgbClr val="434343"/>
                </a:solidFill>
              </a:rPr>
              <a:t>. περιοδικά, </a:t>
            </a:r>
            <a:r>
              <a:rPr lang="el-GR" sz="1800" dirty="0" err="1">
                <a:solidFill>
                  <a:srgbClr val="434343"/>
                </a:solidFill>
              </a:rPr>
              <a:t>ηλ</a:t>
            </a:r>
            <a:r>
              <a:rPr lang="el-GR" sz="1800" dirty="0">
                <a:solidFill>
                  <a:srgbClr val="434343"/>
                </a:solidFill>
              </a:rPr>
              <a:t>. βιβλία , εφημερίδες, λεξικά, εγκυκλοπαίδειες κλπ.)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8182980" y="42267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371B2-45B5-46D6-ABEF-B66BEFB7C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391" y="-47432"/>
            <a:ext cx="4639633" cy="49340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48AF71-EF59-4149-B8EE-D7786EEF9E13}"/>
              </a:ext>
            </a:extLst>
          </p:cNvPr>
          <p:cNvSpPr/>
          <p:nvPr/>
        </p:nvSpPr>
        <p:spPr>
          <a:xfrm>
            <a:off x="484336" y="1008162"/>
            <a:ext cx="334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buNone/>
            </a:pPr>
            <a:r>
              <a:rPr lang="el-GR" sz="2400" b="1" dirty="0">
                <a:solidFill>
                  <a:schemeClr val="bg1"/>
                </a:solidFill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Βάσεις δεδομένων Ηλεκτρολογίας </a:t>
            </a:r>
            <a:endParaRPr lang="el-G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000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FD5C-D39B-4ABA-8394-7D111F1F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scholar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7583C-C9A3-4E70-9723-2D1619FA29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D2628-FC40-4611-BE7C-3D0FFED4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900601"/>
            <a:ext cx="7134225" cy="32427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84D6BE-ADCE-4CCD-BCFA-2A819AC79378}"/>
              </a:ext>
            </a:extLst>
          </p:cNvPr>
          <p:cNvSpPr/>
          <p:nvPr/>
        </p:nvSpPr>
        <p:spPr>
          <a:xfrm>
            <a:off x="1247775" y="4143376"/>
            <a:ext cx="7387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800" dirty="0">
                <a:latin typeface="Muli"/>
                <a:ea typeface="Poppins"/>
                <a:cs typeface="Poppins"/>
              </a:rPr>
              <a:t>Αναζήτηση επιστημονικού υλικού σε Β.Δ., ερευνητικούς οργανισμούς</a:t>
            </a:r>
          </a:p>
          <a:p>
            <a:pPr marL="285750" indent="-28575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800" dirty="0">
                <a:latin typeface="Muli"/>
                <a:ea typeface="Poppins"/>
                <a:cs typeface="Poppins"/>
              </a:rPr>
              <a:t>Πρόσβαση σε συνδρομητικά και άρθρα Ανοικτής Πρόσβασης</a:t>
            </a:r>
          </a:p>
        </p:txBody>
      </p:sp>
    </p:spTree>
    <p:extLst>
      <p:ext uri="{BB962C8B-B14F-4D97-AF65-F5344CB8AC3E}">
        <p14:creationId xmlns:p14="http://schemas.microsoft.com/office/powerpoint/2010/main" val="3187881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 txBox="1">
            <a:spLocks noGrp="1"/>
          </p:cNvSpPr>
          <p:nvPr>
            <p:ph type="ctrTitle"/>
          </p:nvPr>
        </p:nvSpPr>
        <p:spPr>
          <a:xfrm>
            <a:off x="838175" y="3267074"/>
            <a:ext cx="7381900" cy="80852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Βιβλιογραφία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D52A5-3B1C-417B-B0F3-8058D448A41D}"/>
              </a:ext>
            </a:extLst>
          </p:cNvPr>
          <p:cNvSpPr/>
          <p:nvPr/>
        </p:nvSpPr>
        <p:spPr>
          <a:xfrm>
            <a:off x="581595" y="4385876"/>
            <a:ext cx="341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lang="en" sz="1200" smtClean="0">
                <a:solidFill>
                  <a:srgbClr val="6B9FA4"/>
                </a:solidFill>
                <a:latin typeface="Muli"/>
                <a:sym typeface="Mul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565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2744-D25D-448E-91C1-E6A1CDF3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Τί είναι η βιβλιογραφία</a:t>
            </a:r>
            <a:r>
              <a:rPr lang="en-US" sz="2800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BB98A-499D-4992-A665-ECAE58EB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487" y="1030515"/>
            <a:ext cx="6175828" cy="3232398"/>
          </a:xfrm>
        </p:spPr>
        <p:txBody>
          <a:bodyPr/>
          <a:lstStyle/>
          <a:p>
            <a:pPr marL="114300" lvl="0" indent="0">
              <a:buNone/>
            </a:pPr>
            <a:endParaRPr lang="el-GR" dirty="0"/>
          </a:p>
          <a:p>
            <a:pPr>
              <a:lnSpc>
                <a:spcPct val="150000"/>
              </a:lnSpc>
            </a:pPr>
            <a:r>
              <a:rPr lang="el-GR" dirty="0"/>
              <a:t>οι πηγές που χρησιμοποιήθηκαν σε μια</a:t>
            </a:r>
            <a:r>
              <a:rPr lang="en-US" dirty="0"/>
              <a:t> </a:t>
            </a:r>
            <a:r>
              <a:rPr lang="el-GR" dirty="0"/>
              <a:t>εργασία/έρευνα </a:t>
            </a:r>
          </a:p>
          <a:p>
            <a:pPr>
              <a:lnSpc>
                <a:spcPct val="150000"/>
              </a:lnSpc>
            </a:pPr>
            <a:r>
              <a:rPr lang="el-GR" dirty="0"/>
              <a:t>δίνονται οι πληροφορίες των πηγών που χρησιμοποιήθηκαν</a:t>
            </a:r>
            <a:r>
              <a:rPr lang="en-US" dirty="0"/>
              <a:t> </a:t>
            </a:r>
            <a:r>
              <a:rPr lang="el-GR" dirty="0"/>
              <a:t>(συγγραφέας, τίτλος, χρονολογία δημοσίευσης, κλπ.)</a:t>
            </a:r>
          </a:p>
          <a:p>
            <a:pPr>
              <a:lnSpc>
                <a:spcPct val="150000"/>
              </a:lnSpc>
            </a:pPr>
            <a:r>
              <a:rPr lang="el-GR" dirty="0"/>
              <a:t>σκοπός είναι η τεκμηρίωση των ιδεών μας μέσα από άλλες πηγές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CE97-F060-4A46-AF9F-9E3197B88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E0C78B-FA3B-4638-BDF7-DD0D6792C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276" y="3701143"/>
            <a:ext cx="1524439" cy="868670"/>
          </a:xfrm>
          <a:prstGeom prst="rect">
            <a:avLst/>
          </a:prstGeom>
          <a:noFill/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582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2744-D25D-448E-91C1-E6A1CDF3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Γιατί είναι σημαντική</a:t>
            </a:r>
            <a:r>
              <a:rPr lang="en-US" sz="2800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BB98A-499D-4992-A665-ECAE58EB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550" y="573687"/>
            <a:ext cx="6473100" cy="3798288"/>
          </a:xfrm>
        </p:spPr>
        <p:txBody>
          <a:bodyPr/>
          <a:lstStyle/>
          <a:p>
            <a:pPr marL="114300" lvl="0" indent="0">
              <a:buNone/>
            </a:pPr>
            <a:endParaRPr lang="el-GR" dirty="0"/>
          </a:p>
          <a:p>
            <a:pPr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τεκμηριώνω &amp; υποστηρίζω τις ιδέες μου</a:t>
            </a:r>
          </a:p>
          <a:p>
            <a:pPr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αποδεικνύω έρευνα &amp; μελέτη που έχω κάνει</a:t>
            </a:r>
          </a:p>
          <a:p>
            <a:pPr lvl="0"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χρησιμοποιώ αξιόπιστα στοιχεία</a:t>
            </a:r>
          </a:p>
          <a:p>
            <a:pPr lvl="0"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παραπέμπω στην αρχική πηγή</a:t>
            </a:r>
          </a:p>
          <a:p>
            <a:pPr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παραθέτω πρόσθετες πηγές σχετικές με το θέμα μου</a:t>
            </a:r>
          </a:p>
          <a:p>
            <a:pPr indent="-298450">
              <a:lnSpc>
                <a:spcPct val="150000"/>
              </a:lnSpc>
              <a:buSzPts val="1100"/>
              <a:buFont typeface="Wingdings" panose="05000000000000000000" pitchFamily="2" charset="2"/>
              <a:buChar char="§"/>
            </a:pPr>
            <a:r>
              <a:rPr lang="el-GR" dirty="0"/>
              <a:t>αποφεύγω τη </a:t>
            </a:r>
            <a:r>
              <a:rPr lang="el-GR" b="1" dirty="0">
                <a:solidFill>
                  <a:schemeClr val="tx1"/>
                </a:solidFill>
              </a:rPr>
              <a:t>λογοκλοπή!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CE97-F060-4A46-AF9F-9E3197B88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E0C78B-FA3B-4638-BDF7-DD0D6792C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276" y="3701143"/>
            <a:ext cx="1524439" cy="868670"/>
          </a:xfrm>
          <a:prstGeom prst="rect">
            <a:avLst/>
          </a:prstGeom>
          <a:noFill/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73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AC07-D5CB-4568-890C-5A3E09B7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Πως είναι η βιβλιογραφία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75DBC7-D0F5-4B71-8D14-07D6CA3511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A629DBE-2112-4899-B7BD-BA5878191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28" y="1185437"/>
            <a:ext cx="4343400" cy="33843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3CEDB3-85B1-4383-9EC7-8D9A0ADDC063}"/>
              </a:ext>
            </a:extLst>
          </p:cNvPr>
          <p:cNvSpPr/>
          <p:nvPr/>
        </p:nvSpPr>
        <p:spPr>
          <a:xfrm>
            <a:off x="508725" y="1663809"/>
            <a:ext cx="37394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Muli"/>
              </a:rPr>
              <a:t>reference/citation/</a:t>
            </a:r>
            <a:endParaRPr lang="el-GR" b="1" dirty="0">
              <a:solidFill>
                <a:schemeClr val="accent2">
                  <a:lumMod val="50000"/>
                </a:schemeClr>
              </a:solidFill>
              <a:latin typeface="Muli"/>
            </a:endParaRPr>
          </a:p>
          <a:p>
            <a:pPr>
              <a:buClr>
                <a:schemeClr val="bg2">
                  <a:lumMod val="40000"/>
                  <a:lumOff val="60000"/>
                </a:schemeClr>
              </a:buClr>
            </a:pPr>
            <a:r>
              <a:rPr lang="el-GR" b="1" dirty="0">
                <a:solidFill>
                  <a:schemeClr val="accent2">
                    <a:lumMod val="50000"/>
                  </a:schemeClr>
                </a:solidFill>
                <a:latin typeface="Muli"/>
              </a:rPr>
              <a:t> παραπομπή/αναφορά</a:t>
            </a:r>
            <a:br>
              <a:rPr lang="el-GR" dirty="0">
                <a:solidFill>
                  <a:srgbClr val="FFA94A"/>
                </a:solidFill>
                <a:latin typeface="Muli"/>
              </a:rPr>
            </a:br>
            <a:r>
              <a:rPr lang="el-GR" dirty="0">
                <a:solidFill>
                  <a:srgbClr val="FFA94A"/>
                </a:solidFill>
                <a:latin typeface="Muli"/>
              </a:rPr>
              <a:t>   </a:t>
            </a:r>
            <a:r>
              <a:rPr lang="el-GR" dirty="0">
                <a:solidFill>
                  <a:schemeClr val="tx1"/>
                </a:solidFill>
                <a:latin typeface="Muli"/>
              </a:rPr>
              <a:t>αναφέρεται η πηγή </a:t>
            </a:r>
            <a:r>
              <a:rPr lang="el-GR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uli"/>
              </a:rPr>
              <a:t>μέσα στο κείμενο </a:t>
            </a:r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uli"/>
            </a:endParaRPr>
          </a:p>
          <a:p>
            <a:pPr>
              <a:buClr>
                <a:schemeClr val="bg2">
                  <a:lumMod val="40000"/>
                  <a:lumOff val="60000"/>
                </a:schemeClr>
              </a:buClr>
            </a:pPr>
            <a:endParaRPr lang="en-US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uli"/>
            </a:endParaRPr>
          </a:p>
          <a:p>
            <a:pPr marL="285750" indent="-28575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Muli"/>
              </a:rPr>
              <a:t>bibliography</a:t>
            </a:r>
            <a:r>
              <a:rPr lang="el-GR" b="1" dirty="0">
                <a:solidFill>
                  <a:schemeClr val="accent2">
                    <a:lumMod val="50000"/>
                  </a:schemeClr>
                </a:solidFill>
                <a:latin typeface="Muli"/>
              </a:rPr>
              <a:t>/λίστα βιβλιογραφίας</a:t>
            </a:r>
            <a:br>
              <a:rPr lang="el-GR" b="1" dirty="0">
                <a:solidFill>
                  <a:srgbClr val="94C600"/>
                </a:solidFill>
                <a:latin typeface="Muli"/>
              </a:rPr>
            </a:br>
            <a:r>
              <a:rPr lang="el-GR" dirty="0">
                <a:solidFill>
                  <a:schemeClr val="tx1"/>
                </a:solidFill>
                <a:latin typeface="Muli"/>
              </a:rPr>
              <a:t>το σύνολο των πηγών που χρησιμοποιήθηκαν κατά τη συγγραφή της εργασίας. Βρίσκεται </a:t>
            </a:r>
            <a:r>
              <a:rPr lang="el-GR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uli"/>
              </a:rPr>
              <a:t>στο τέλος της εργασίας</a:t>
            </a:r>
            <a:endParaRPr lang="el-GR" dirty="0">
              <a:solidFill>
                <a:schemeClr val="tx1"/>
              </a:solidFill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1622853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FE5B-C164-48D3-B7FC-31158364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Πρότυπο </a:t>
            </a:r>
            <a:r>
              <a:rPr lang="en-US" sz="2800" dirty="0"/>
              <a:t>Harvard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8B8CB6-E8C4-46C5-B6A6-8CB6391FB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2DA3F-E9B4-4A08-A692-7DBA07F353E5}"/>
              </a:ext>
            </a:extLst>
          </p:cNvPr>
          <p:cNvSpPr/>
          <p:nvPr/>
        </p:nvSpPr>
        <p:spPr>
          <a:xfrm>
            <a:off x="2286000" y="220241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Anglia Ruskin University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Muli"/>
            </a:endParaRPr>
          </a:p>
          <a:p>
            <a:pPr algn="ctr"/>
            <a:endParaRPr lang="en-US" sz="2400" b="1" dirty="0">
              <a:solidFill>
                <a:schemeClr val="accent2">
                  <a:lumMod val="50000"/>
                </a:schemeClr>
              </a:solidFill>
              <a:latin typeface="Muli"/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AGPS Referencing guide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3549360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17B3-3F18-45B8-8F4E-592933C8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Harvard Anglia Ruskin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48CA0A-7085-422F-8613-60A7E85239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4B216-18AE-44CC-9026-BD0498F969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83" t="16401" r="5376" b="62600"/>
          <a:stretch/>
        </p:blipFill>
        <p:spPr>
          <a:xfrm>
            <a:off x="624761" y="883688"/>
            <a:ext cx="7894477" cy="1473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2295F-9925-4352-AE3B-5EB5B6306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50" t="34601" r="10626" b="13600"/>
          <a:stretch/>
        </p:blipFill>
        <p:spPr>
          <a:xfrm>
            <a:off x="2052201" y="2356698"/>
            <a:ext cx="4805799" cy="2504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496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10E7-9A0F-4DB2-B230-C097B4CC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358388"/>
            <a:ext cx="8343725" cy="525300"/>
          </a:xfrm>
        </p:spPr>
        <p:txBody>
          <a:bodyPr/>
          <a:lstStyle/>
          <a:p>
            <a:r>
              <a:rPr lang="el-GR" dirty="0"/>
              <a:t>Παράδειγμα για δημιουργία βιβλιογραφίας άρθρου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17503C-B546-4752-900D-8C3977689E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C7661-9C76-4F0B-A647-BF6347DABEF9}"/>
              </a:ext>
            </a:extLst>
          </p:cNvPr>
          <p:cNvSpPr/>
          <p:nvPr/>
        </p:nvSpPr>
        <p:spPr>
          <a:xfrm>
            <a:off x="2676525" y="1962150"/>
            <a:ext cx="59150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63010-CC07-441F-8FDC-E0026E95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883687"/>
            <a:ext cx="7515225" cy="36861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872E96-4237-4935-B22B-955CEE413A3C}"/>
              </a:ext>
            </a:extLst>
          </p:cNvPr>
          <p:cNvSpPr/>
          <p:nvPr/>
        </p:nvSpPr>
        <p:spPr>
          <a:xfrm>
            <a:off x="3290026" y="1952620"/>
            <a:ext cx="5450024" cy="99059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CF678-D764-42E0-B59C-A7827A872383}"/>
              </a:ext>
            </a:extLst>
          </p:cNvPr>
          <p:cNvSpPr/>
          <p:nvPr/>
        </p:nvSpPr>
        <p:spPr>
          <a:xfrm>
            <a:off x="3290026" y="1962148"/>
            <a:ext cx="5596799" cy="990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Tang, W. and Djuric, P.M., 2021. Bachelor of Science in Electrical Engineering Online: A Journey of Challenges and Triumphs. </a:t>
            </a:r>
            <a:r>
              <a:rPr lang="en-US" i="1" dirty="0"/>
              <a:t>IEEE Signal Processing Magazine</a:t>
            </a:r>
            <a:r>
              <a:rPr lang="en-US" dirty="0"/>
              <a:t>, 38(3), pp.115–121. https://doi.org/10.1109/MSP.2021.3057048</a:t>
            </a:r>
          </a:p>
        </p:txBody>
      </p:sp>
    </p:spTree>
    <p:extLst>
      <p:ext uri="{BB962C8B-B14F-4D97-AF65-F5344CB8AC3E}">
        <p14:creationId xmlns:p14="http://schemas.microsoft.com/office/powerpoint/2010/main" val="281746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2744-D25D-448E-91C1-E6A1CDF3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2800" dirty="0"/>
              <a:t>Λογοκλοπή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BB98A-499D-4992-A665-ECAE58EB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925" y="920921"/>
            <a:ext cx="7309870" cy="3341992"/>
          </a:xfrm>
        </p:spPr>
        <p:txBody>
          <a:bodyPr/>
          <a:lstStyle/>
          <a:p>
            <a:pPr marL="114300" lvl="0" indent="0">
              <a:buNone/>
            </a:pPr>
            <a:endParaRPr lang="el-GR" dirty="0"/>
          </a:p>
          <a:p>
            <a:pPr marL="114300" indent="0">
              <a:lnSpc>
                <a:spcPct val="90000"/>
              </a:lnSpc>
              <a:buClr>
                <a:srgbClr val="FF0000"/>
              </a:buClr>
              <a:buNone/>
            </a:pPr>
            <a:r>
              <a:rPr lang="el-GR" sz="1600" b="1" dirty="0"/>
              <a:t>Τι είναι;</a:t>
            </a:r>
            <a:endParaRPr lang="en-US" sz="1600" b="1" dirty="0"/>
          </a:p>
          <a:p>
            <a:pPr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600" dirty="0"/>
              <a:t>Παρουσίαση ιδεών, αντιλήψεων και έργων ενός άλλου συγγραφέα ως δικό μου δημιούργημα</a:t>
            </a:r>
            <a:r>
              <a:rPr lang="en-US" sz="1600" dirty="0"/>
              <a:t>.</a:t>
            </a:r>
            <a:endParaRPr lang="el-GR" sz="1600" dirty="0"/>
          </a:p>
          <a:p>
            <a:pPr>
              <a:buClr>
                <a:srgbClr val="FF0000"/>
              </a:buClr>
              <a:buFont typeface="Courier New" pitchFamily="49" charset="0"/>
              <a:buChar char="o"/>
            </a:pPr>
            <a:endParaRPr lang="el-GR" sz="1600" dirty="0"/>
          </a:p>
          <a:p>
            <a:pPr marL="114300" indent="0">
              <a:lnSpc>
                <a:spcPct val="90000"/>
              </a:lnSpc>
              <a:buClr>
                <a:srgbClr val="FF0000"/>
              </a:buClr>
              <a:buNone/>
            </a:pPr>
            <a:r>
              <a:rPr lang="el-GR" sz="1600" b="1" dirty="0"/>
              <a:t>Πώς μπορώ να την αποφύγω;</a:t>
            </a:r>
            <a:endParaRPr lang="en-US" sz="1600" b="1" dirty="0"/>
          </a:p>
          <a:p>
            <a:pPr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600" dirty="0"/>
              <a:t>αναφέρω όλες τις πηγές που χρησιμοποίησα</a:t>
            </a:r>
            <a:endParaRPr lang="en-US" sz="1600" dirty="0"/>
          </a:p>
          <a:p>
            <a:pPr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600" dirty="0"/>
              <a:t>χρησιμοποιώ εισαγωγικά «…» όταν παραθέτω αυτούσιες φράσεις ή προτάσεις από άλλα έργα και αναφέρω την αρχική πηγή</a:t>
            </a:r>
            <a:endParaRPr lang="en-US" sz="1600" dirty="0"/>
          </a:p>
          <a:p>
            <a:pPr>
              <a:lnSpc>
                <a:spcPct val="9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l-GR" sz="1600" dirty="0"/>
              <a:t>δεν παραποιώ και δεν αλλοιώνω πληροφορίες ή τα λεγόμενα άλλων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CE97-F060-4A46-AF9F-9E3197B88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6471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 txBox="1">
            <a:spLocks noGrp="1"/>
          </p:cNvSpPr>
          <p:nvPr>
            <p:ph type="ctrTitle" idx="4294967295"/>
          </p:nvPr>
        </p:nvSpPr>
        <p:spPr>
          <a:xfrm>
            <a:off x="740925" y="1169581"/>
            <a:ext cx="5422800" cy="56877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4000" dirty="0">
                <a:solidFill>
                  <a:srgbClr val="111111"/>
                </a:solidFill>
              </a:rPr>
              <a:t>Σας ευχαριστώ</a:t>
            </a:r>
            <a:r>
              <a:rPr lang="en" sz="4000" dirty="0">
                <a:solidFill>
                  <a:srgbClr val="111111"/>
                </a:solidFill>
              </a:rPr>
              <a:t>!</a:t>
            </a:r>
            <a:endParaRPr sz="4000" dirty="0">
              <a:solidFill>
                <a:srgbClr val="111111"/>
              </a:solidFill>
            </a:endParaRPr>
          </a:p>
        </p:txBody>
      </p:sp>
      <p:sp>
        <p:nvSpPr>
          <p:cNvPr id="335" name="Google Shape;335;p36"/>
          <p:cNvSpPr txBox="1">
            <a:spLocks noGrp="1"/>
          </p:cNvSpPr>
          <p:nvPr>
            <p:ph type="body" idx="4294967295"/>
          </p:nvPr>
        </p:nvSpPr>
        <p:spPr>
          <a:xfrm>
            <a:off x="1364512" y="1839626"/>
            <a:ext cx="7367100" cy="2322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l-GR" sz="2000" dirty="0"/>
              <a:t>Μπορείτε να με βρείτε καθημερινά 8:00 – 15:00 </a:t>
            </a:r>
          </a:p>
          <a:p>
            <a:pPr marL="469900" lvl="0" indent="-342900">
              <a:buSzPts val="1600"/>
              <a:buFont typeface="Wingdings" panose="05000000000000000000" pitchFamily="2" charset="2"/>
              <a:buChar char="§"/>
            </a:pPr>
            <a:r>
              <a:rPr lang="en-US" sz="2000" dirty="0"/>
              <a:t>m</a:t>
            </a:r>
            <a:r>
              <a:rPr lang="el-GR" sz="2000" dirty="0"/>
              <a:t>aria.kyprianou@cut.ac.cy</a:t>
            </a:r>
          </a:p>
          <a:p>
            <a:pPr marL="469900" lvl="0" indent="-342900">
              <a:buSzPts val="1600"/>
              <a:buFont typeface="Wingdings" panose="05000000000000000000" pitchFamily="2" charset="2"/>
              <a:buChar char="§"/>
            </a:pPr>
            <a:r>
              <a:rPr lang="el-GR" sz="2000" dirty="0"/>
              <a:t>25 002104</a:t>
            </a:r>
          </a:p>
          <a:p>
            <a:pPr marL="469900" lvl="0" indent="-342900">
              <a:buSzPts val="1600"/>
              <a:buFont typeface="Wingdings" panose="05000000000000000000" pitchFamily="2" charset="2"/>
              <a:buChar char="§"/>
            </a:pPr>
            <a:r>
              <a:rPr lang="el-GR" sz="2000" dirty="0"/>
              <a:t>Κιτίου Κυπριανού 38, 1ος όροφος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336" name="Google Shape;336;p36"/>
          <p:cNvSpPr txBox="1">
            <a:spLocks noGrp="1"/>
          </p:cNvSpPr>
          <p:nvPr>
            <p:ph type="sldNum" idx="12"/>
          </p:nvPr>
        </p:nvSpPr>
        <p:spPr>
          <a:xfrm>
            <a:off x="508725" y="4262913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1"/>
          <p:cNvSpPr txBox="1"/>
          <p:nvPr/>
        </p:nvSpPr>
        <p:spPr>
          <a:xfrm>
            <a:off x="902020" y="124837"/>
            <a:ext cx="7596938" cy="244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l-GR" sz="2000" b="1" u="sng" dirty="0">
                <a:solidFill>
                  <a:srgbClr val="FFFFFF"/>
                </a:solidFill>
                <a:latin typeface="Muli"/>
                <a:sym typeface="Poppins Light"/>
              </a:rPr>
              <a:t>Ακολουθήστε</a:t>
            </a:r>
            <a:r>
              <a:rPr lang="en-US" sz="2000" b="1" u="sng" dirty="0">
                <a:solidFill>
                  <a:srgbClr val="FFFFFF"/>
                </a:solidFill>
                <a:latin typeface="Poppins Light"/>
                <a:cs typeface="Poppins" panose="020B0604020202020204" charset="0"/>
                <a:sym typeface="Poppins Light"/>
              </a:rPr>
              <a:t> </a:t>
            </a:r>
            <a:r>
              <a:rPr lang="el-GR" sz="2000" b="1" u="sng" dirty="0">
                <a:solidFill>
                  <a:srgbClr val="FFFFFF"/>
                </a:solidFill>
                <a:latin typeface="Muli"/>
                <a:sym typeface="Poppins Light"/>
              </a:rPr>
              <a:t>μας</a:t>
            </a:r>
            <a:r>
              <a:rPr lang="el-GR" sz="2000" b="1" u="sng" dirty="0">
                <a:latin typeface="Poppins Light"/>
                <a:ea typeface="Poppins Light"/>
                <a:cs typeface="Poppins" panose="020B0604020202020204" charset="0"/>
                <a:sym typeface="Poppins Light"/>
              </a:rPr>
              <a:t> </a:t>
            </a:r>
          </a:p>
          <a:p>
            <a:pPr lvl="0" algn="ctr">
              <a:buClr>
                <a:schemeClr val="dk1"/>
              </a:buClr>
              <a:buSzPts val="1100"/>
            </a:pPr>
            <a:endParaRPr lang="el-GR" dirty="0">
              <a:solidFill>
                <a:srgbClr val="FFFFFF"/>
              </a:solidFill>
              <a:latin typeface="Muli"/>
              <a:sym typeface="Poppins Light"/>
            </a:endParaRPr>
          </a:p>
          <a:p>
            <a:pPr lvl="0" algn="ctr">
              <a:buClr>
                <a:schemeClr val="dk1"/>
              </a:buClr>
              <a:buSzPts val="1100"/>
            </a:pPr>
            <a:r>
              <a:rPr lang="en-US" dirty="0">
                <a:solidFill>
                  <a:srgbClr val="FFFFFF"/>
                </a:solidFill>
                <a:latin typeface="Muli"/>
                <a:sym typeface="Poppins Light"/>
              </a:rPr>
              <a:t>Facebook</a:t>
            </a:r>
            <a:r>
              <a:rPr lang="en-US" sz="2400" dirty="0">
                <a:latin typeface="Muli"/>
                <a:ea typeface="Poppins Light"/>
                <a:cs typeface="Poppins" panose="020B0604020202020204" charset="0"/>
                <a:sym typeface="Poppins Light"/>
              </a:rPr>
              <a:t>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  <a:latin typeface="Muli"/>
                <a:ea typeface="Poppins Light"/>
                <a:cs typeface="Poppins" panose="020B0604020202020204" charset="0"/>
                <a:sym typeface="Poppins Light"/>
              </a:rPr>
              <a:t>Βιβλιοθήκη Τεχνολογικού Πανεπιστημίου Κύπρου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Muli"/>
              <a:ea typeface="Poppins Light"/>
              <a:cs typeface="Poppins" panose="020B0604020202020204" charset="0"/>
              <a:sym typeface="Poppins Light"/>
            </a:endParaRPr>
          </a:p>
          <a:p>
            <a:pPr lvl="0" algn="ctr">
              <a:buClr>
                <a:schemeClr val="dk1"/>
              </a:buClr>
              <a:buSzPts val="1100"/>
            </a:pPr>
            <a:r>
              <a:rPr lang="en-US" dirty="0">
                <a:solidFill>
                  <a:srgbClr val="FFFFFF"/>
                </a:solidFill>
                <a:latin typeface="Muli"/>
                <a:sym typeface="Poppins Light"/>
              </a:rPr>
              <a:t>Instagram</a:t>
            </a:r>
            <a:r>
              <a:rPr lang="en-US" sz="2400" dirty="0">
                <a:latin typeface="Muli"/>
                <a:ea typeface="Poppins Light"/>
                <a:cs typeface="Poppins" panose="020B0604020202020204" charset="0"/>
                <a:sym typeface="Poppins Light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uli"/>
                <a:cs typeface="Poppins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 library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Muli"/>
              <a:cs typeface="Poppins" panose="020B0604020202020204" charset="0"/>
            </a:endParaRPr>
          </a:p>
          <a:p>
            <a:pPr lvl="0" algn="ctr">
              <a:buClr>
                <a:schemeClr val="dk1"/>
              </a:buClr>
              <a:buSzPts val="1100"/>
            </a:pPr>
            <a:r>
              <a:rPr lang="en-US" dirty="0">
                <a:solidFill>
                  <a:srgbClr val="FFFFFF"/>
                </a:solidFill>
                <a:latin typeface="Muli"/>
              </a:rPr>
              <a:t>Twitter</a:t>
            </a:r>
            <a:r>
              <a:rPr lang="en-US" sz="2400" dirty="0">
                <a:latin typeface="Muli"/>
                <a:cs typeface="Poppins" panose="020B0604020202020204" charset="0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uli"/>
                <a:cs typeface="Poppins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https://twitter.com/LibraryCUT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Muli"/>
              <a:cs typeface="Poppins" panose="020B0604020202020204" charset="0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Muli"/>
              </a:rPr>
              <a:t>YouTube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uli"/>
                <a:cs typeface="Poppins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Library of Cyprus University of Technology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Muli"/>
              <a:cs typeface="Poppins" panose="020B0604020202020204" charset="0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Muli"/>
                <a:sym typeface="Poppins Light"/>
              </a:rPr>
              <a:t>Website</a:t>
            </a:r>
            <a:r>
              <a:rPr lang="en-US" sz="2400" dirty="0">
                <a:latin typeface="Muli"/>
                <a:ea typeface="Poppins Light"/>
                <a:cs typeface="Poppins" panose="020B0604020202020204" charset="0"/>
                <a:sym typeface="Poppins Light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uli"/>
                <a:cs typeface="Poppins" panose="020B0604020202020204" charset="0"/>
                <a:sym typeface="Poppins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www.library.cut.ac.cy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uli"/>
                <a:cs typeface="Poppins" panose="020B0604020202020204" charset="0"/>
                <a:sym typeface="Poppins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lvl="0">
              <a:buClr>
                <a:schemeClr val="dk1"/>
              </a:buClr>
              <a:buSzPts val="1100"/>
            </a:pPr>
            <a:endParaRPr lang="el-GR" sz="2400" b="1" dirty="0">
              <a:latin typeface="Poppins Light"/>
              <a:ea typeface="Poppins Light"/>
              <a:cs typeface="Poppins" panose="020B0604020202020204" charset="0"/>
              <a:sym typeface="Poppins Light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l-GR" sz="2400" b="1" dirty="0">
                <a:latin typeface="Poppins Light"/>
                <a:ea typeface="Poppins Light"/>
                <a:cs typeface="Poppins" panose="020B0604020202020204" charset="0"/>
                <a:sym typeface="Poppins Light"/>
              </a:rPr>
              <a:t> </a:t>
            </a:r>
            <a:endParaRPr lang="en-US" sz="24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l-GR" sz="2400" b="1" dirty="0">
                <a:latin typeface="Poppins Light"/>
                <a:ea typeface="Poppins Light"/>
                <a:cs typeface="Poppins" panose="020B0604020202020204" charset="0"/>
                <a:sym typeface="Poppins Light"/>
              </a:rPr>
              <a:t>    </a:t>
            </a:r>
            <a:endParaRPr lang="el-GR" dirty="0">
              <a:latin typeface="Poppins Light"/>
              <a:ea typeface="Poppins Light"/>
              <a:cs typeface="Poppins" panose="020B0604020202020204" charset="0"/>
              <a:sym typeface="Poppins Light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l-GR" dirty="0">
                <a:latin typeface="Poppins" panose="020B0604020202020204" charset="0"/>
                <a:ea typeface="Poppins Light"/>
                <a:cs typeface="Poppins" panose="020B0604020202020204" charset="0"/>
                <a:sym typeface="Poppins Light"/>
              </a:rPr>
              <a:t>         </a:t>
            </a:r>
            <a:endParaRPr b="1"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80" name="Google Shape;1380;p51"/>
          <p:cNvSpPr txBox="1"/>
          <p:nvPr/>
        </p:nvSpPr>
        <p:spPr>
          <a:xfrm>
            <a:off x="902020" y="2838693"/>
            <a:ext cx="7736241" cy="1394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✋👆👉👍👤👦👧👨👩👪💃🏃💑❤😂😉😋😒😭👶😸🐟🍒🍔💣📌📖🔨🎃🎈🎨🏈🏰🌏</a:t>
            </a:r>
            <a:endParaRPr sz="2400" dirty="0">
              <a:solidFill>
                <a:srgbClr val="FFFFFF"/>
              </a:solidFill>
              <a:highlight>
                <a:srgbClr val="742E46"/>
              </a:highlight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81" name="Google Shape;1381;p51"/>
          <p:cNvSpPr txBox="1">
            <a:spLocks noGrp="1"/>
          </p:cNvSpPr>
          <p:nvPr>
            <p:ph type="sldNum" idx="12"/>
          </p:nvPr>
        </p:nvSpPr>
        <p:spPr>
          <a:xfrm>
            <a:off x="4339800" y="4836607"/>
            <a:ext cx="464400" cy="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 template">
  <a:themeElements>
    <a:clrScheme name="Custom 347">
      <a:dk1>
        <a:srgbClr val="111111"/>
      </a:dk1>
      <a:lt1>
        <a:srgbClr val="FFFFFF"/>
      </a:lt1>
      <a:dk2>
        <a:srgbClr val="666666"/>
      </a:dk2>
      <a:lt2>
        <a:srgbClr val="EFEFEF"/>
      </a:lt2>
      <a:accent1>
        <a:srgbClr val="6B9FA4"/>
      </a:accent1>
      <a:accent2>
        <a:srgbClr val="B1D9DD"/>
      </a:accent2>
      <a:accent3>
        <a:srgbClr val="E6DD8C"/>
      </a:accent3>
      <a:accent4>
        <a:srgbClr val="F1EDCC"/>
      </a:accent4>
      <a:accent5>
        <a:srgbClr val="742E46"/>
      </a:accent5>
      <a:accent6>
        <a:srgbClr val="B98094"/>
      </a:accent6>
      <a:hlink>
        <a:srgbClr val="111111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1005</Words>
  <Application>Microsoft Office PowerPoint</Application>
  <PresentationFormat>On-screen Show (16:9)</PresentationFormat>
  <Paragraphs>246</Paragraphs>
  <Slides>31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Wingdings</vt:lpstr>
      <vt:lpstr>Poppins Light</vt:lpstr>
      <vt:lpstr>Montserrat</vt:lpstr>
      <vt:lpstr>Courier New</vt:lpstr>
      <vt:lpstr>Poppins</vt:lpstr>
      <vt:lpstr>Arial</vt:lpstr>
      <vt:lpstr>Calibri</vt:lpstr>
      <vt:lpstr>Muli</vt:lpstr>
      <vt:lpstr>Base template</vt:lpstr>
      <vt:lpstr>Εισαγωγικό μάθημα βιβλιοθήκης</vt:lpstr>
      <vt:lpstr>Καλωσορίσατε!</vt:lpstr>
      <vt:lpstr>Εισαγωγικό μάθημα βιβλιοθήκης</vt:lpstr>
      <vt:lpstr>Ατζέντα</vt:lpstr>
      <vt:lpstr>Απομακρυσμένη πρόσβαση!!</vt:lpstr>
      <vt:lpstr>Δικαιώματα χρηστών</vt:lpstr>
      <vt:lpstr>Δικαιώματα χρηστών </vt:lpstr>
      <vt:lpstr>Που μπορείτε να μελετήσετε?</vt:lpstr>
      <vt:lpstr>PowerPoint Presentation</vt:lpstr>
      <vt:lpstr>PowerPoint Presentation</vt:lpstr>
      <vt:lpstr>O βιβλιοθηκονόμος στο χώρο της βιβλιοθήκης</vt:lpstr>
      <vt:lpstr>Θεματική βιβλιοθηκονόμος</vt:lpstr>
      <vt:lpstr>Αναζήτηση υλικού στα εργαλεία της βιβλιοθήκης</vt:lpstr>
      <vt:lpstr> Υλικό βιβλιοθήκης </vt:lpstr>
      <vt:lpstr>   Επιστημονικές πήγες VS Διαδίκτυο </vt:lpstr>
      <vt:lpstr>Που αναζητούμε  υλικό </vt:lpstr>
      <vt:lpstr>Ταξινομικός αριθμός</vt:lpstr>
      <vt:lpstr>Παντογνώστης</vt:lpstr>
      <vt:lpstr>Κατάλογος της βιβλιοθήκης</vt:lpstr>
      <vt:lpstr>PowerPoint Presentation</vt:lpstr>
      <vt:lpstr>Google scholar</vt:lpstr>
      <vt:lpstr>Βιβλιογραφία</vt:lpstr>
      <vt:lpstr>Τί είναι η βιβλιογραφία:</vt:lpstr>
      <vt:lpstr>Γιατί είναι σημαντική:</vt:lpstr>
      <vt:lpstr>Πως είναι η βιβλιογραφία</vt:lpstr>
      <vt:lpstr>Πρότυπο Harvard</vt:lpstr>
      <vt:lpstr>Harvard Anglia Ruskin University</vt:lpstr>
      <vt:lpstr>Παράδειγμα για δημιουργία βιβλιογραφίας άρθρου</vt:lpstr>
      <vt:lpstr>Λογοκλοπή</vt:lpstr>
      <vt:lpstr>Σας ευχαριστώ!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Maria Kyprianou</dc:creator>
  <cp:lastModifiedBy>Maria Kyprianou</cp:lastModifiedBy>
  <cp:revision>80</cp:revision>
  <dcterms:modified xsi:type="dcterms:W3CDTF">2022-09-20T10:14:32Z</dcterms:modified>
</cp:coreProperties>
</file>