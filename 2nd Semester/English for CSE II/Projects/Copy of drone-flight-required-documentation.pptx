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rimo Bold" charset="1" panose="020B0704020202020204"/>
      <p:regular r:id="rId28"/>
    </p:embeddedFont>
    <p:embeddedFont>
      <p:font typeface="Arimo" charset="1" panose="020B060402020202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46" Target="notesSlides/notesSlide18.xml" Type="http://schemas.openxmlformats.org/officeDocument/2006/relationships/notesSlide"/><Relationship Id="rId47" Target="notesSlides/notesSlide19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37.png" Type="http://schemas.openxmlformats.org/officeDocument/2006/relationships/image"/><Relationship Id="rId4" Target="../media/image3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47.png" Type="http://schemas.openxmlformats.org/officeDocument/2006/relationships/image"/><Relationship Id="rId4" Target="../media/image4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49.png" Type="http://schemas.openxmlformats.org/officeDocument/2006/relationships/image"/><Relationship Id="rId4" Target="../media/image50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2276" y="-489108"/>
            <a:ext cx="1515952" cy="1344380"/>
          </a:xfrm>
          <a:custGeom>
            <a:avLst/>
            <a:gdLst/>
            <a:ahLst/>
            <a:cxnLst/>
            <a:rect r="r" b="b" t="t" l="l"/>
            <a:pathLst>
              <a:path h="1344380" w="1515952">
                <a:moveTo>
                  <a:pt x="0" y="0"/>
                </a:moveTo>
                <a:lnTo>
                  <a:pt x="1515952" y="0"/>
                </a:lnTo>
                <a:lnTo>
                  <a:pt x="1515952" y="1344380"/>
                </a:lnTo>
                <a:lnTo>
                  <a:pt x="0" y="13443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37125" y="2723607"/>
            <a:ext cx="12503691" cy="3258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3"/>
              </a:lnSpc>
            </a:pPr>
            <a:r>
              <a:rPr lang="en-US" b="true" sz="7771">
                <a:solidFill>
                  <a:srgbClr val="07A893"/>
                </a:solidFill>
                <a:latin typeface="Arimo Bold"/>
                <a:ea typeface="Arimo Bold"/>
                <a:cs typeface="Arimo Bold"/>
                <a:sym typeface="Arimo Bold"/>
              </a:rPr>
              <a:t>LEVERAGING ARTIFICIAL</a:t>
            </a:r>
            <a:r>
              <a:rPr lang="en-US" b="true" sz="7771">
                <a:solidFill>
                  <a:srgbClr val="353F4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true" sz="7771">
                <a:solidFill>
                  <a:srgbClr val="4E677C"/>
                </a:solidFill>
                <a:latin typeface="Arimo Bold"/>
                <a:ea typeface="Arimo Bold"/>
                <a:cs typeface="Arimo Bold"/>
                <a:sym typeface="Arimo Bold"/>
              </a:rPr>
              <a:t>INTELLIGENCE IN DRONE DELIVERY SYSTEMS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0857" y="6617474"/>
            <a:ext cx="11184975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7"/>
              </a:lnSpc>
            </a:pPr>
            <a:r>
              <a:rPr lang="en-US" b="true" sz="3139">
                <a:solidFill>
                  <a:srgbClr val="4E677C"/>
                </a:solidFill>
                <a:latin typeface="Arimo Bold"/>
                <a:ea typeface="Arimo Bold"/>
                <a:cs typeface="Arimo Bold"/>
                <a:sym typeface="Arimo Bold"/>
              </a:rPr>
              <a:t>LCE</a:t>
            </a:r>
            <a:r>
              <a:rPr lang="en-US" b="true" sz="3139">
                <a:solidFill>
                  <a:srgbClr val="4E677C"/>
                </a:solidFill>
                <a:latin typeface="Arimo Bold"/>
                <a:ea typeface="Arimo Bold"/>
                <a:cs typeface="Arimo Bold"/>
                <a:sym typeface="Arimo Bold"/>
              </a:rPr>
              <a:t> 116 </a:t>
            </a:r>
          </a:p>
          <a:p>
            <a:pPr algn="l">
              <a:lnSpc>
                <a:spcPts val="3767"/>
              </a:lnSpc>
            </a:pPr>
            <a:r>
              <a:rPr lang="en-US" b="true" sz="3139">
                <a:solidFill>
                  <a:srgbClr val="4E677C"/>
                </a:solidFill>
                <a:latin typeface="Arimo Bold"/>
                <a:ea typeface="Arimo Bold"/>
                <a:cs typeface="Arimo Bold"/>
                <a:sym typeface="Arimo Bold"/>
              </a:rPr>
              <a:t>Dimitris Chambi - 30727</a:t>
            </a:r>
          </a:p>
          <a:p>
            <a:pPr algn="l">
              <a:lnSpc>
                <a:spcPts val="3767"/>
              </a:lnSpc>
            </a:pPr>
            <a:r>
              <a:rPr lang="en-US" b="true" sz="3139">
                <a:solidFill>
                  <a:srgbClr val="4E677C"/>
                </a:solidFill>
                <a:latin typeface="Arimo Bold"/>
                <a:ea typeface="Arimo Bold"/>
                <a:cs typeface="Arimo Bold"/>
                <a:sym typeface="Arimo Bold"/>
              </a:rPr>
              <a:t>George Karios - 30738</a:t>
            </a:r>
          </a:p>
          <a:p>
            <a:pPr algn="l">
              <a:lnSpc>
                <a:spcPts val="3767"/>
              </a:lnSpc>
            </a:pPr>
            <a:r>
              <a:rPr lang="en-US" b="true" sz="3139">
                <a:solidFill>
                  <a:srgbClr val="4E677C"/>
                </a:solidFill>
                <a:latin typeface="Arimo Bold"/>
                <a:ea typeface="Arimo Bold"/>
                <a:cs typeface="Arimo Bold"/>
                <a:sym typeface="Arimo Bold"/>
              </a:rPr>
              <a:t>Lecturer: Dimitrios Boglou</a:t>
            </a:r>
          </a:p>
          <a:p>
            <a:pPr algn="l">
              <a:lnSpc>
                <a:spcPts val="376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095424" y="451500"/>
            <a:ext cx="5909101" cy="3463681"/>
          </a:xfrm>
          <a:custGeom>
            <a:avLst/>
            <a:gdLst/>
            <a:ahLst/>
            <a:cxnLst/>
            <a:rect r="r" b="b" t="t" l="l"/>
            <a:pathLst>
              <a:path h="3463681" w="5909101">
                <a:moveTo>
                  <a:pt x="0" y="0"/>
                </a:moveTo>
                <a:lnTo>
                  <a:pt x="5909101" y="0"/>
                </a:lnTo>
                <a:lnTo>
                  <a:pt x="5909101" y="3463681"/>
                </a:lnTo>
                <a:lnTo>
                  <a:pt x="0" y="34636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13325" y="8597930"/>
            <a:ext cx="17914050" cy="431400"/>
            <a:chOff x="0" y="0"/>
            <a:chExt cx="23885399" cy="57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85314" cy="575183"/>
            </a:xfrm>
            <a:custGeom>
              <a:avLst/>
              <a:gdLst/>
              <a:ahLst/>
              <a:cxnLst/>
              <a:rect r="r" b="b" t="t" l="l"/>
              <a:pathLst>
                <a:path h="575183" w="23885314">
                  <a:moveTo>
                    <a:pt x="0" y="575183"/>
                  </a:moveTo>
                  <a:lnTo>
                    <a:pt x="362160" y="0"/>
                  </a:lnTo>
                  <a:lnTo>
                    <a:pt x="23885314" y="0"/>
                  </a:lnTo>
                  <a:lnTo>
                    <a:pt x="23523153" y="575183"/>
                  </a:lnTo>
                  <a:close/>
                </a:path>
              </a:pathLst>
            </a:custGeom>
            <a:gradFill rotWithShape="true">
              <a:gsLst>
                <a:gs pos="0">
                  <a:srgbClr val="81A7C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-219750" y="9258300"/>
            <a:ext cx="1248450" cy="1248450"/>
            <a:chOff x="0" y="0"/>
            <a:chExt cx="1268800" cy="126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8857" cy="1268857"/>
            </a:xfrm>
            <a:custGeom>
              <a:avLst/>
              <a:gdLst/>
              <a:ahLst/>
              <a:cxnLst/>
              <a:rect r="r" b="b" t="t" l="l"/>
              <a:pathLst>
                <a:path h="1268857" w="1268857">
                  <a:moveTo>
                    <a:pt x="0" y="634365"/>
                  </a:moveTo>
                  <a:cubicBezTo>
                    <a:pt x="0" y="283972"/>
                    <a:pt x="283972" y="0"/>
                    <a:pt x="634365" y="0"/>
                  </a:cubicBezTo>
                  <a:cubicBezTo>
                    <a:pt x="984758" y="0"/>
                    <a:pt x="1268857" y="283972"/>
                    <a:pt x="1268857" y="634365"/>
                  </a:cubicBezTo>
                  <a:cubicBezTo>
                    <a:pt x="1268857" y="984758"/>
                    <a:pt x="984758" y="1268857"/>
                    <a:pt x="634365" y="1268857"/>
                  </a:cubicBezTo>
                  <a:cubicBezTo>
                    <a:pt x="283972" y="1268857"/>
                    <a:pt x="0" y="984758"/>
                    <a:pt x="0" y="63436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A7C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750575" y="6436499"/>
            <a:ext cx="2253950" cy="5932518"/>
          </a:xfrm>
          <a:custGeom>
            <a:avLst/>
            <a:gdLst/>
            <a:ahLst/>
            <a:cxnLst/>
            <a:rect r="r" b="b" t="t" l="l"/>
            <a:pathLst>
              <a:path h="5932518" w="2253950">
                <a:moveTo>
                  <a:pt x="0" y="0"/>
                </a:moveTo>
                <a:lnTo>
                  <a:pt x="2253950" y="0"/>
                </a:lnTo>
                <a:lnTo>
                  <a:pt x="2253950" y="5932518"/>
                </a:lnTo>
                <a:lnTo>
                  <a:pt x="0" y="59325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1150" y="8893725"/>
            <a:ext cx="969600" cy="969600"/>
            <a:chOff x="0" y="0"/>
            <a:chExt cx="1292800" cy="129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2860" cy="1292860"/>
            </a:xfrm>
            <a:custGeom>
              <a:avLst/>
              <a:gdLst/>
              <a:ahLst/>
              <a:cxnLst/>
              <a:rect r="r" b="b" t="t" l="l"/>
              <a:pathLst>
                <a:path h="1292860" w="1292860">
                  <a:moveTo>
                    <a:pt x="0" y="646430"/>
                  </a:moveTo>
                  <a:cubicBezTo>
                    <a:pt x="0" y="289433"/>
                    <a:pt x="289433" y="0"/>
                    <a:pt x="646430" y="0"/>
                  </a:cubicBezTo>
                  <a:cubicBezTo>
                    <a:pt x="1003427" y="0"/>
                    <a:pt x="1292860" y="289433"/>
                    <a:pt x="1292860" y="646430"/>
                  </a:cubicBezTo>
                  <a:cubicBezTo>
                    <a:pt x="1292860" y="1003427"/>
                    <a:pt x="1003427" y="1292860"/>
                    <a:pt x="646430" y="1292860"/>
                  </a:cubicBezTo>
                  <a:cubicBezTo>
                    <a:pt x="289433" y="1292860"/>
                    <a:pt x="0" y="1003427"/>
                    <a:pt x="0" y="64643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69B82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1150" y="9659925"/>
            <a:ext cx="789000" cy="789000"/>
            <a:chOff x="0" y="0"/>
            <a:chExt cx="1052000" cy="1052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51941" cy="1051941"/>
            </a:xfrm>
            <a:custGeom>
              <a:avLst/>
              <a:gdLst/>
              <a:ahLst/>
              <a:cxnLst/>
              <a:rect r="r" b="b" t="t" l="l"/>
              <a:pathLst>
                <a:path h="1051941" w="1051941">
                  <a:moveTo>
                    <a:pt x="0" y="526034"/>
                  </a:moveTo>
                  <a:cubicBezTo>
                    <a:pt x="0" y="235458"/>
                    <a:pt x="235458" y="0"/>
                    <a:pt x="526034" y="0"/>
                  </a:cubicBezTo>
                  <a:cubicBezTo>
                    <a:pt x="816610" y="0"/>
                    <a:pt x="1051941" y="235458"/>
                    <a:pt x="1051941" y="526034"/>
                  </a:cubicBezTo>
                  <a:cubicBezTo>
                    <a:pt x="1051941" y="816610"/>
                    <a:pt x="816483" y="1051941"/>
                    <a:pt x="526034" y="1051941"/>
                  </a:cubicBezTo>
                  <a:cubicBezTo>
                    <a:pt x="235585" y="1051941"/>
                    <a:pt x="0" y="816483"/>
                    <a:pt x="0" y="52603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BBCD0">
                    <a:alpha val="100000"/>
                  </a:srgbClr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785642" y="-2284583"/>
            <a:ext cx="4874886" cy="4808399"/>
          </a:xfrm>
          <a:custGeom>
            <a:avLst/>
            <a:gdLst/>
            <a:ahLst/>
            <a:cxnLst/>
            <a:rect r="r" b="b" t="t" l="l"/>
            <a:pathLst>
              <a:path h="4808399" w="4874886">
                <a:moveTo>
                  <a:pt x="0" y="0"/>
                </a:moveTo>
                <a:lnTo>
                  <a:pt x="4874886" y="0"/>
                </a:lnTo>
                <a:lnTo>
                  <a:pt x="4874886" y="4808399"/>
                </a:lnTo>
                <a:lnTo>
                  <a:pt x="0" y="48083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31425" y="943375"/>
            <a:ext cx="152251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>
                <a:solidFill>
                  <a:srgbClr val="07A893"/>
                </a:solidFill>
                <a:latin typeface="Arimo Bold"/>
                <a:ea typeface="Arimo Bold"/>
                <a:cs typeface="Arimo Bold"/>
                <a:sym typeface="Arimo Bold"/>
              </a:rPr>
              <a:t>TABLE OF CONTENTS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1425" y="2198135"/>
            <a:ext cx="6199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9"/>
              </a:lnSpc>
            </a:pPr>
            <a:r>
              <a:rPr lang="en-US" b="true" sz="3807">
                <a:solidFill>
                  <a:srgbClr val="F6F6F8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31425" y="3474291"/>
            <a:ext cx="3760103" cy="5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3"/>
              </a:lnSpc>
            </a:pPr>
            <a:r>
              <a:rPr lang="en-US" b="true" sz="3785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INTRODUCTION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29975" y="2772375"/>
            <a:ext cx="4428150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7"/>
              </a:lnSpc>
            </a:pPr>
            <a:r>
              <a:rPr lang="en-US" sz="3789" b="true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WHAT ARE </a:t>
            </a:r>
          </a:p>
          <a:p>
            <a:pPr algn="l">
              <a:lnSpc>
                <a:spcPts val="4547"/>
              </a:lnSpc>
            </a:pPr>
            <a:r>
              <a:rPr lang="en-US" b="true" sz="3789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AI-DRIVEN DRONE DELIVERIES?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28525" y="2772375"/>
            <a:ext cx="4428150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7"/>
              </a:lnSpc>
            </a:pPr>
            <a:r>
              <a:rPr lang="en-US" sz="3789" b="true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BUSINESS</a:t>
            </a:r>
            <a:r>
              <a:rPr lang="en-US" sz="3789" b="true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  <a:p>
            <a:pPr algn="l">
              <a:lnSpc>
                <a:spcPts val="4547"/>
              </a:lnSpc>
            </a:pPr>
            <a:r>
              <a:rPr lang="en-US" b="true" sz="3789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APPLICATIONS &amp; BENEFITS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1425" y="7196075"/>
            <a:ext cx="442815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7"/>
              </a:lnSpc>
            </a:pPr>
            <a:r>
              <a:rPr lang="en-US" b="true" sz="3789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CHALLENGES &amp; CONSIDERATIONS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29975" y="7767575"/>
            <a:ext cx="44281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7"/>
              </a:lnSpc>
            </a:pPr>
            <a:r>
              <a:rPr lang="en-US" b="true" sz="3789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29675" y="7718807"/>
            <a:ext cx="44281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47"/>
              </a:lnSpc>
              <a:spcBef>
                <a:spcPct val="0"/>
              </a:spcBef>
            </a:pPr>
            <a:r>
              <a:rPr lang="en-US" b="true" sz="3789" strike="noStrike" u="none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BIBLIOGRAPHY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29975" y="2198135"/>
            <a:ext cx="6199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9"/>
              </a:lnSpc>
            </a:pPr>
            <a:r>
              <a:rPr lang="en-US" b="true" sz="3807">
                <a:solidFill>
                  <a:srgbClr val="F6F6F8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31475" y="6621835"/>
            <a:ext cx="6199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9"/>
              </a:lnSpc>
            </a:pPr>
            <a:r>
              <a:rPr lang="en-US" b="true" sz="3807">
                <a:solidFill>
                  <a:srgbClr val="F6F6F8"/>
                </a:solidFill>
                <a:latin typeface="Arimo Bold"/>
                <a:ea typeface="Arimo Bold"/>
                <a:cs typeface="Arimo Bold"/>
                <a:sym typeface="Arimo Bold"/>
              </a:rPr>
              <a:t>06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31475" y="2198135"/>
            <a:ext cx="6199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9"/>
              </a:lnSpc>
            </a:pPr>
            <a:r>
              <a:rPr lang="en-US" b="true" sz="3807">
                <a:solidFill>
                  <a:srgbClr val="F6F6F8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29975" y="6621835"/>
            <a:ext cx="6199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9"/>
              </a:lnSpc>
            </a:pPr>
            <a:r>
              <a:rPr lang="en-US" b="true" sz="3807">
                <a:solidFill>
                  <a:srgbClr val="F6F6F8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31425" y="6621835"/>
            <a:ext cx="6199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9"/>
              </a:lnSpc>
            </a:pPr>
            <a:r>
              <a:rPr lang="en-US" b="true" sz="3807">
                <a:solidFill>
                  <a:srgbClr val="F6F6F8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4504" y="9258300"/>
            <a:ext cx="1473204" cy="1555248"/>
          </a:xfrm>
          <a:custGeom>
            <a:avLst/>
            <a:gdLst/>
            <a:ahLst/>
            <a:cxnLst/>
            <a:rect r="r" b="b" t="t" l="l"/>
            <a:pathLst>
              <a:path h="1555248" w="1473204">
                <a:moveTo>
                  <a:pt x="0" y="0"/>
                </a:moveTo>
                <a:lnTo>
                  <a:pt x="1473204" y="0"/>
                </a:lnTo>
                <a:lnTo>
                  <a:pt x="1473204" y="1555248"/>
                </a:lnTo>
                <a:lnTo>
                  <a:pt x="0" y="15552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-646912" y="4337522"/>
            <a:ext cx="1484325" cy="1484325"/>
            <a:chOff x="0" y="0"/>
            <a:chExt cx="1052000" cy="105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51941" cy="1051941"/>
            </a:xfrm>
            <a:custGeom>
              <a:avLst/>
              <a:gdLst/>
              <a:ahLst/>
              <a:cxnLst/>
              <a:rect r="r" b="b" t="t" l="l"/>
              <a:pathLst>
                <a:path h="1051941" w="1051941">
                  <a:moveTo>
                    <a:pt x="0" y="526034"/>
                  </a:moveTo>
                  <a:cubicBezTo>
                    <a:pt x="0" y="235458"/>
                    <a:pt x="235458" y="0"/>
                    <a:pt x="526034" y="0"/>
                  </a:cubicBezTo>
                  <a:cubicBezTo>
                    <a:pt x="816610" y="0"/>
                    <a:pt x="1051941" y="235458"/>
                    <a:pt x="1051941" y="526034"/>
                  </a:cubicBezTo>
                  <a:cubicBezTo>
                    <a:pt x="1051941" y="816610"/>
                    <a:pt x="816483" y="1051941"/>
                    <a:pt x="526034" y="1051941"/>
                  </a:cubicBezTo>
                  <a:cubicBezTo>
                    <a:pt x="235585" y="1051941"/>
                    <a:pt x="0" y="816483"/>
                    <a:pt x="0" y="52603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BBCD0">
                    <a:alpha val="100000"/>
                  </a:srgbClr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/>
            </a:gra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19684" y="5410848"/>
            <a:ext cx="11763077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07A893"/>
                </a:solidFill>
                <a:latin typeface="Arimo Bold"/>
                <a:ea typeface="Arimo Bold"/>
                <a:cs typeface="Arimo Bold"/>
                <a:sym typeface="Arimo Bold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209729"/>
            <a:ext cx="2407252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F6F6F8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37413" y="7463400"/>
            <a:ext cx="18208563" cy="431400"/>
            <a:chOff x="0" y="0"/>
            <a:chExt cx="24278085" cy="57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278137" cy="575183"/>
            </a:xfrm>
            <a:custGeom>
              <a:avLst/>
              <a:gdLst/>
              <a:ahLst/>
              <a:cxnLst/>
              <a:rect r="r" b="b" t="t" l="l"/>
              <a:pathLst>
                <a:path h="575183" w="24278137">
                  <a:moveTo>
                    <a:pt x="0" y="575183"/>
                  </a:moveTo>
                  <a:lnTo>
                    <a:pt x="346674" y="0"/>
                  </a:lnTo>
                  <a:lnTo>
                    <a:pt x="24278137" y="0"/>
                  </a:lnTo>
                  <a:lnTo>
                    <a:pt x="23931229" y="575183"/>
                  </a:lnTo>
                  <a:close/>
                </a:path>
              </a:pathLst>
            </a:custGeom>
            <a:gradFill rotWithShape="true">
              <a:gsLst>
                <a:gs pos="0">
                  <a:srgbClr val="81A7C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5594295" y="5262006"/>
            <a:ext cx="2229151" cy="6167853"/>
          </a:xfrm>
          <a:custGeom>
            <a:avLst/>
            <a:gdLst/>
            <a:ahLst/>
            <a:cxnLst/>
            <a:rect r="r" b="b" t="t" l="l"/>
            <a:pathLst>
              <a:path h="6167853" w="2229151">
                <a:moveTo>
                  <a:pt x="0" y="0"/>
                </a:moveTo>
                <a:lnTo>
                  <a:pt x="2229151" y="0"/>
                </a:lnTo>
                <a:lnTo>
                  <a:pt x="2229151" y="6167853"/>
                </a:lnTo>
                <a:lnTo>
                  <a:pt x="0" y="61678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530024" y="-671354"/>
            <a:ext cx="1515952" cy="1344380"/>
          </a:xfrm>
          <a:custGeom>
            <a:avLst/>
            <a:gdLst/>
            <a:ahLst/>
            <a:cxnLst/>
            <a:rect r="r" b="b" t="t" l="l"/>
            <a:pathLst>
              <a:path h="1344380" w="1515952">
                <a:moveTo>
                  <a:pt x="0" y="0"/>
                </a:moveTo>
                <a:lnTo>
                  <a:pt x="1515952" y="0"/>
                </a:lnTo>
                <a:lnTo>
                  <a:pt x="1515952" y="1344380"/>
                </a:lnTo>
                <a:lnTo>
                  <a:pt x="0" y="13443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443951" y="1151179"/>
            <a:ext cx="6017944" cy="3766581"/>
          </a:xfrm>
          <a:custGeom>
            <a:avLst/>
            <a:gdLst/>
            <a:ahLst/>
            <a:cxnLst/>
            <a:rect r="r" b="b" t="t" l="l"/>
            <a:pathLst>
              <a:path h="3766581" w="6017944">
                <a:moveTo>
                  <a:pt x="0" y="0"/>
                </a:moveTo>
                <a:lnTo>
                  <a:pt x="6017943" y="0"/>
                </a:lnTo>
                <a:lnTo>
                  <a:pt x="6017943" y="3766581"/>
                </a:lnTo>
                <a:lnTo>
                  <a:pt x="0" y="37665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6125394" y="5604001"/>
            <a:ext cx="12625039" cy="431400"/>
            <a:chOff x="0" y="0"/>
            <a:chExt cx="16833385" cy="57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33324" cy="575183"/>
            </a:xfrm>
            <a:custGeom>
              <a:avLst/>
              <a:gdLst/>
              <a:ahLst/>
              <a:cxnLst/>
              <a:rect r="r" b="b" t="t" l="l"/>
              <a:pathLst>
                <a:path h="575183" w="16833324">
                  <a:moveTo>
                    <a:pt x="0" y="575183"/>
                  </a:moveTo>
                  <a:lnTo>
                    <a:pt x="255235" y="0"/>
                  </a:lnTo>
                  <a:lnTo>
                    <a:pt x="16833324" y="0"/>
                  </a:lnTo>
                  <a:lnTo>
                    <a:pt x="16578090" y="575183"/>
                  </a:lnTo>
                  <a:close/>
                </a:path>
              </a:pathLst>
            </a:custGeom>
            <a:gradFill rotWithShape="true">
              <a:gsLst>
                <a:gs pos="0">
                  <a:srgbClr val="81A7C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69850" y="9107175"/>
            <a:ext cx="2368200" cy="2368200"/>
            <a:chOff x="0" y="0"/>
            <a:chExt cx="3157600" cy="3157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57601" cy="3157601"/>
            </a:xfrm>
            <a:custGeom>
              <a:avLst/>
              <a:gdLst/>
              <a:ahLst/>
              <a:cxnLst/>
              <a:rect r="r" b="b" t="t" l="l"/>
              <a:pathLst>
                <a:path h="3157601" w="3157601">
                  <a:moveTo>
                    <a:pt x="0" y="1578737"/>
                  </a:moveTo>
                  <a:cubicBezTo>
                    <a:pt x="0" y="706882"/>
                    <a:pt x="706882" y="0"/>
                    <a:pt x="1578737" y="0"/>
                  </a:cubicBezTo>
                  <a:cubicBezTo>
                    <a:pt x="2450592" y="0"/>
                    <a:pt x="3157601" y="706882"/>
                    <a:pt x="3157601" y="1578737"/>
                  </a:cubicBezTo>
                  <a:cubicBezTo>
                    <a:pt x="3157601" y="2450592"/>
                    <a:pt x="2450719" y="3157601"/>
                    <a:pt x="1578737" y="3157601"/>
                  </a:cubicBezTo>
                  <a:cubicBezTo>
                    <a:pt x="706755" y="3157601"/>
                    <a:pt x="0" y="2450719"/>
                    <a:pt x="0" y="157873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BBCD0">
                    <a:alpha val="100000"/>
                  </a:srgbClr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048156" y="3346196"/>
            <a:ext cx="6203762" cy="3695526"/>
          </a:xfrm>
          <a:custGeom>
            <a:avLst/>
            <a:gdLst/>
            <a:ahLst/>
            <a:cxnLst/>
            <a:rect r="r" b="b" t="t" l="l"/>
            <a:pathLst>
              <a:path h="3695526" w="6203762">
                <a:moveTo>
                  <a:pt x="0" y="0"/>
                </a:moveTo>
                <a:lnTo>
                  <a:pt x="6203762" y="0"/>
                </a:lnTo>
                <a:lnTo>
                  <a:pt x="6203762" y="3695526"/>
                </a:lnTo>
                <a:lnTo>
                  <a:pt x="0" y="36955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59950" y="509325"/>
            <a:ext cx="1522515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7000">
                <a:solidFill>
                  <a:srgbClr val="07A893"/>
                </a:solidFill>
                <a:latin typeface="Arimo Bold"/>
                <a:ea typeface="Arimo Bold"/>
                <a:cs typeface="Arimo Bold"/>
                <a:sym typeface="Arimo Bold"/>
              </a:rPr>
              <a:t>PARTS OF A DRONE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95350" y="2769775"/>
            <a:ext cx="4135145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owers the propellers and controls movement.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26545" y="2283725"/>
            <a:ext cx="37039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79"/>
              </a:lnSpc>
            </a:pPr>
            <a:r>
              <a:rPr lang="en-US" b="true" sz="3400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MOTOR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64353" y="6431625"/>
            <a:ext cx="436614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Prot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ects the drone during takeoff and landing.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26545" y="6006747"/>
            <a:ext cx="37039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79"/>
              </a:lnSpc>
            </a:pPr>
            <a:r>
              <a:rPr lang="en-US" b="true" sz="3400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LANDING GEAR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33425" y="2769775"/>
            <a:ext cx="370395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pins to lift and move the drone.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33425" y="2283725"/>
            <a:ext cx="37039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b="true" sz="3400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PROPELLER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52625" y="5393400"/>
            <a:ext cx="370395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Rec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eives signals and sends them to the AI for decisions.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52625" y="4984565"/>
            <a:ext cx="37039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b="true" sz="3400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RECEPTOR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63237" y="7527000"/>
            <a:ext cx="4258343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U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sed by the AI to see and make flight decisions.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63237" y="7012650"/>
            <a:ext cx="37039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b="true" sz="3400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CAMERA</a:t>
            </a:r>
          </a:p>
        </p:txBody>
      </p:sp>
      <p:sp>
        <p:nvSpPr>
          <p:cNvPr name="AutoShape 18" id="18"/>
          <p:cNvSpPr/>
          <p:nvPr/>
        </p:nvSpPr>
        <p:spPr>
          <a:xfrm>
            <a:off x="6430495" y="2559950"/>
            <a:ext cx="2112150" cy="2336588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9" id="19"/>
          <p:cNvSpPr/>
          <p:nvPr/>
        </p:nvSpPr>
        <p:spPr>
          <a:xfrm flipH="true">
            <a:off x="9835875" y="2559950"/>
            <a:ext cx="1997550" cy="904388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0" id="20"/>
          <p:cNvSpPr/>
          <p:nvPr/>
        </p:nvSpPr>
        <p:spPr>
          <a:xfrm flipH="true">
            <a:off x="9837289" y="5260790"/>
            <a:ext cx="3215336" cy="381523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1" id="21"/>
          <p:cNvSpPr/>
          <p:nvPr/>
        </p:nvSpPr>
        <p:spPr>
          <a:xfrm flipV="true">
            <a:off x="6430495" y="5933997"/>
            <a:ext cx="1726426" cy="348975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22" id="22"/>
          <p:cNvSpPr/>
          <p:nvPr/>
        </p:nvSpPr>
        <p:spPr>
          <a:xfrm flipH="false" flipV="false" rot="-2794321">
            <a:off x="16246673" y="-1246713"/>
            <a:ext cx="3123796" cy="3297762"/>
          </a:xfrm>
          <a:custGeom>
            <a:avLst/>
            <a:gdLst/>
            <a:ahLst/>
            <a:cxnLst/>
            <a:rect r="r" b="b" t="t" l="l"/>
            <a:pathLst>
              <a:path h="3297762" w="3123796">
                <a:moveTo>
                  <a:pt x="0" y="0"/>
                </a:moveTo>
                <a:lnTo>
                  <a:pt x="3123796" y="0"/>
                </a:lnTo>
                <a:lnTo>
                  <a:pt x="3123796" y="3297762"/>
                </a:lnTo>
                <a:lnTo>
                  <a:pt x="0" y="32977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6271775" y="8622375"/>
            <a:ext cx="969600" cy="969600"/>
            <a:chOff x="0" y="0"/>
            <a:chExt cx="1292800" cy="129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92860" cy="1292860"/>
            </a:xfrm>
            <a:custGeom>
              <a:avLst/>
              <a:gdLst/>
              <a:ahLst/>
              <a:cxnLst/>
              <a:rect r="r" b="b" t="t" l="l"/>
              <a:pathLst>
                <a:path h="1292860" w="1292860">
                  <a:moveTo>
                    <a:pt x="0" y="646430"/>
                  </a:moveTo>
                  <a:cubicBezTo>
                    <a:pt x="0" y="289433"/>
                    <a:pt x="289433" y="0"/>
                    <a:pt x="646430" y="0"/>
                  </a:cubicBezTo>
                  <a:cubicBezTo>
                    <a:pt x="1003427" y="0"/>
                    <a:pt x="1292860" y="289433"/>
                    <a:pt x="1292860" y="646430"/>
                  </a:cubicBezTo>
                  <a:cubicBezTo>
                    <a:pt x="1292860" y="1003427"/>
                    <a:pt x="1003427" y="1292860"/>
                    <a:pt x="646430" y="1292860"/>
                  </a:cubicBezTo>
                  <a:cubicBezTo>
                    <a:pt x="289433" y="1292860"/>
                    <a:pt x="0" y="1003427"/>
                    <a:pt x="0" y="64643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8BAAC">
                    <a:alpha val="100000"/>
                  </a:srgbClr>
                </a:gs>
                <a:gs pos="100000">
                  <a:srgbClr val="F6F6F8">
                    <a:alpha val="100000"/>
                  </a:srgbClr>
                </a:gs>
                <a:gs pos="100000">
                  <a:srgbClr val="169B82">
                    <a:alpha val="100000"/>
                  </a:srgbClr>
                </a:gs>
              </a:gsLst>
              <a:lin ang="5400700"/>
            </a:gradFill>
          </p:spPr>
        </p:sp>
      </p:grpSp>
      <p:sp>
        <p:nvSpPr>
          <p:cNvPr name="AutoShape 25" id="25"/>
          <p:cNvSpPr/>
          <p:nvPr/>
        </p:nvSpPr>
        <p:spPr>
          <a:xfrm flipH="true" flipV="true">
            <a:off x="10010851" y="6421085"/>
            <a:ext cx="1721882" cy="620637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6" id="26"/>
          <p:cNvSpPr/>
          <p:nvPr/>
        </p:nvSpPr>
        <p:spPr>
          <a:xfrm flipV="true">
            <a:off x="8514801" y="6760367"/>
            <a:ext cx="636623" cy="1319083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27" id="27"/>
          <p:cNvSpPr txBox="true"/>
          <p:nvPr/>
        </p:nvSpPr>
        <p:spPr>
          <a:xfrm rot="0">
            <a:off x="5761505" y="8060400"/>
            <a:ext cx="456279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b="true" sz="3400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DELIVERY PACKAGE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761505" y="8574750"/>
            <a:ext cx="456279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The Package that the Drone Delivers to the Client.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5697" y="9066611"/>
            <a:ext cx="1482431" cy="1482431"/>
            <a:chOff x="0" y="0"/>
            <a:chExt cx="1268800" cy="126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8857" cy="1268857"/>
            </a:xfrm>
            <a:custGeom>
              <a:avLst/>
              <a:gdLst/>
              <a:ahLst/>
              <a:cxnLst/>
              <a:rect r="r" b="b" t="t" l="l"/>
              <a:pathLst>
                <a:path h="1268857" w="1268857">
                  <a:moveTo>
                    <a:pt x="0" y="634365"/>
                  </a:moveTo>
                  <a:cubicBezTo>
                    <a:pt x="0" y="283972"/>
                    <a:pt x="283972" y="0"/>
                    <a:pt x="634365" y="0"/>
                  </a:cubicBezTo>
                  <a:cubicBezTo>
                    <a:pt x="984758" y="0"/>
                    <a:pt x="1268857" y="283972"/>
                    <a:pt x="1268857" y="634365"/>
                  </a:cubicBezTo>
                  <a:cubicBezTo>
                    <a:pt x="1268857" y="984758"/>
                    <a:pt x="984758" y="1268857"/>
                    <a:pt x="634365" y="1268857"/>
                  </a:cubicBezTo>
                  <a:cubicBezTo>
                    <a:pt x="283972" y="1268857"/>
                    <a:pt x="0" y="984758"/>
                    <a:pt x="0" y="63436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A7C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2032800" y="2677376"/>
            <a:ext cx="18214690" cy="431400"/>
            <a:chOff x="0" y="0"/>
            <a:chExt cx="24286253" cy="57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286166" cy="575183"/>
            </a:xfrm>
            <a:custGeom>
              <a:avLst/>
              <a:gdLst/>
              <a:ahLst/>
              <a:cxnLst/>
              <a:rect r="r" b="b" t="t" l="l"/>
              <a:pathLst>
                <a:path h="575183" w="24286166">
                  <a:moveTo>
                    <a:pt x="0" y="575183"/>
                  </a:moveTo>
                  <a:lnTo>
                    <a:pt x="368238" y="0"/>
                  </a:lnTo>
                  <a:lnTo>
                    <a:pt x="24286166" y="0"/>
                  </a:lnTo>
                  <a:lnTo>
                    <a:pt x="23917928" y="575183"/>
                  </a:lnTo>
                  <a:close/>
                </a:path>
              </a:pathLst>
            </a:custGeom>
            <a:gradFill rotWithShape="true">
              <a:gsLst>
                <a:gs pos="0">
                  <a:srgbClr val="68BAAC">
                    <a:alpha val="59215"/>
                  </a:srgbClr>
                </a:gs>
                <a:gs pos="83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6518" y="1411277"/>
            <a:ext cx="12115326" cy="148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2188" indent="-346094" lvl="1">
              <a:lnSpc>
                <a:spcPts val="3847"/>
              </a:lnSpc>
              <a:buFont typeface="Arial"/>
              <a:buChar char="•"/>
            </a:pPr>
            <a:r>
              <a:rPr lang="en-US" b="true" sz="3206">
                <a:solidFill>
                  <a:srgbClr val="ABBCC9"/>
                </a:solidFill>
                <a:latin typeface="Arimo Bold"/>
                <a:ea typeface="Arimo Bold"/>
                <a:cs typeface="Arimo Bold"/>
                <a:sym typeface="Arimo Bold"/>
              </a:rPr>
              <a:t>2.14B online shoppers in 2021</a:t>
            </a:r>
            <a:r>
              <a:rPr lang="en-US" sz="3206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→Demand for faster deliveries</a:t>
            </a:r>
          </a:p>
          <a:p>
            <a:pPr algn="l" marL="692188" indent="-346094" lvl="1">
              <a:lnSpc>
                <a:spcPts val="3847"/>
              </a:lnSpc>
              <a:buFont typeface="Arial"/>
              <a:buChar char="•"/>
            </a:pPr>
            <a:r>
              <a:rPr lang="en-US" sz="3206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B</a:t>
            </a:r>
            <a:r>
              <a:rPr lang="en-US" sz="3206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usinesses race to meet soaring expectations for deliveries</a:t>
            </a:r>
          </a:p>
          <a:p>
            <a:pPr algn="l">
              <a:lnSpc>
                <a:spcPts val="3847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22698" y="-526548"/>
            <a:ext cx="1473204" cy="1555248"/>
          </a:xfrm>
          <a:custGeom>
            <a:avLst/>
            <a:gdLst/>
            <a:ahLst/>
            <a:cxnLst/>
            <a:rect r="r" b="b" t="t" l="l"/>
            <a:pathLst>
              <a:path h="1555248" w="1473204">
                <a:moveTo>
                  <a:pt x="0" y="0"/>
                </a:moveTo>
                <a:lnTo>
                  <a:pt x="1473204" y="0"/>
                </a:lnTo>
                <a:lnTo>
                  <a:pt x="1473204" y="1555248"/>
                </a:lnTo>
                <a:lnTo>
                  <a:pt x="0" y="15552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94846" y="7048965"/>
            <a:ext cx="4556546" cy="2672880"/>
          </a:xfrm>
          <a:custGeom>
            <a:avLst/>
            <a:gdLst/>
            <a:ahLst/>
            <a:cxnLst/>
            <a:rect r="r" b="b" t="t" l="l"/>
            <a:pathLst>
              <a:path h="2672880" w="4556546">
                <a:moveTo>
                  <a:pt x="0" y="0"/>
                </a:moveTo>
                <a:lnTo>
                  <a:pt x="4556546" y="0"/>
                </a:lnTo>
                <a:lnTo>
                  <a:pt x="4556546" y="2672880"/>
                </a:lnTo>
                <a:lnTo>
                  <a:pt x="0" y="26728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46518" y="3360742"/>
            <a:ext cx="13415287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3206" b="true">
                <a:solidFill>
                  <a:srgbClr val="ABBCC9"/>
                </a:solidFill>
                <a:latin typeface="Arimo Bold"/>
                <a:ea typeface="Arimo Bold"/>
                <a:cs typeface="Arimo Bold"/>
                <a:sym typeface="Arimo Bold"/>
              </a:rPr>
              <a:t>PURPOSE</a:t>
            </a:r>
          </a:p>
          <a:p>
            <a:pPr algn="l">
              <a:lnSpc>
                <a:spcPts val="3847"/>
              </a:lnSpc>
            </a:pPr>
          </a:p>
          <a:p>
            <a:pPr algn="l" marL="692189" indent="-346094" lvl="1">
              <a:lnSpc>
                <a:spcPts val="3847"/>
              </a:lnSpc>
              <a:buFont typeface="Arial"/>
              <a:buChar char="•"/>
            </a:pPr>
            <a:r>
              <a:rPr lang="en-US" sz="3206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Cut costs, speed last-mile delivery with AI-driven drones</a:t>
            </a:r>
          </a:p>
          <a:p>
            <a:pPr algn="l" marL="692189" indent="-346094" lvl="1">
              <a:lnSpc>
                <a:spcPts val="3847"/>
              </a:lnSpc>
              <a:buFont typeface="Arial"/>
              <a:buChar char="•"/>
            </a:pPr>
            <a:r>
              <a:rPr lang="en-US" sz="3206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Key AI features: navigation, real-time routing, predictive analytics</a:t>
            </a:r>
          </a:p>
          <a:p>
            <a:pPr algn="l">
              <a:lnSpc>
                <a:spcPts val="384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46518" y="6315075"/>
            <a:ext cx="13415287" cy="293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3206" b="true">
                <a:solidFill>
                  <a:srgbClr val="ABBCC9"/>
                </a:solidFill>
                <a:latin typeface="Arimo Bold"/>
                <a:ea typeface="Arimo Bold"/>
                <a:cs typeface="Arimo Bold"/>
                <a:sym typeface="Arimo Bold"/>
              </a:rPr>
              <a:t>RELEVANCE</a:t>
            </a:r>
          </a:p>
          <a:p>
            <a:pPr algn="l">
              <a:lnSpc>
                <a:spcPts val="3847"/>
              </a:lnSpc>
            </a:pPr>
          </a:p>
          <a:p>
            <a:pPr algn="l" marL="692189" indent="-346094" lvl="1">
              <a:lnSpc>
                <a:spcPts val="3847"/>
              </a:lnSpc>
              <a:buFont typeface="Arial"/>
              <a:buChar char="•"/>
            </a:pPr>
            <a:r>
              <a:rPr lang="en-US" sz="3206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Gain a</a:t>
            </a:r>
            <a:r>
              <a:rPr lang="en-US" sz="3206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 competitive edge &amp; attract tech-savvy customers</a:t>
            </a:r>
          </a:p>
          <a:p>
            <a:pPr algn="l" marL="692189" indent="-346094" lvl="1">
              <a:lnSpc>
                <a:spcPts val="3847"/>
              </a:lnSpc>
              <a:buFont typeface="Arial"/>
              <a:buChar char="•"/>
            </a:pPr>
            <a:r>
              <a:rPr lang="en-US" sz="3206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Boost customer satisfaction with faster, reliable deliveries</a:t>
            </a:r>
          </a:p>
          <a:p>
            <a:pPr algn="l" marL="692189" indent="-346094" lvl="1">
              <a:lnSpc>
                <a:spcPts val="3847"/>
              </a:lnSpc>
              <a:buFont typeface="Arial"/>
              <a:buChar char="•"/>
            </a:pPr>
            <a:r>
              <a:rPr lang="en-US" sz="3206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Promo</a:t>
            </a:r>
            <a:r>
              <a:rPr lang="en-US" sz="3206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te innovation &amp; sustainability in modern business</a:t>
            </a:r>
          </a:p>
          <a:p>
            <a:pPr algn="l">
              <a:lnSpc>
                <a:spcPts val="3847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-10800000">
            <a:off x="2032800" y="5778900"/>
            <a:ext cx="18214690" cy="431400"/>
            <a:chOff x="0" y="0"/>
            <a:chExt cx="24286253" cy="575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286166" cy="575183"/>
            </a:xfrm>
            <a:custGeom>
              <a:avLst/>
              <a:gdLst/>
              <a:ahLst/>
              <a:cxnLst/>
              <a:rect r="r" b="b" t="t" l="l"/>
              <a:pathLst>
                <a:path h="575183" w="24286166">
                  <a:moveTo>
                    <a:pt x="0" y="575183"/>
                  </a:moveTo>
                  <a:lnTo>
                    <a:pt x="368238" y="0"/>
                  </a:lnTo>
                  <a:lnTo>
                    <a:pt x="24286166" y="0"/>
                  </a:lnTo>
                  <a:lnTo>
                    <a:pt x="23917928" y="575183"/>
                  </a:lnTo>
                  <a:close/>
                </a:path>
              </a:pathLst>
            </a:custGeom>
            <a:gradFill rotWithShape="true">
              <a:gsLst>
                <a:gs pos="0">
                  <a:srgbClr val="68BAAC">
                    <a:alpha val="59215"/>
                  </a:srgbClr>
                </a:gs>
                <a:gs pos="83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93752" y="9652800"/>
            <a:ext cx="1473204" cy="1555248"/>
          </a:xfrm>
          <a:custGeom>
            <a:avLst/>
            <a:gdLst/>
            <a:ahLst/>
            <a:cxnLst/>
            <a:rect r="r" b="b" t="t" l="l"/>
            <a:pathLst>
              <a:path h="1555248" w="1473204">
                <a:moveTo>
                  <a:pt x="0" y="0"/>
                </a:moveTo>
                <a:lnTo>
                  <a:pt x="1473204" y="0"/>
                </a:lnTo>
                <a:lnTo>
                  <a:pt x="1473204" y="1555248"/>
                </a:lnTo>
                <a:lnTo>
                  <a:pt x="0" y="15552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865384" y="9401175"/>
            <a:ext cx="1422616" cy="1422616"/>
            <a:chOff x="0" y="0"/>
            <a:chExt cx="1052000" cy="105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51941" cy="1051941"/>
            </a:xfrm>
            <a:custGeom>
              <a:avLst/>
              <a:gdLst/>
              <a:ahLst/>
              <a:cxnLst/>
              <a:rect r="r" b="b" t="t" l="l"/>
              <a:pathLst>
                <a:path h="1051941" w="1051941">
                  <a:moveTo>
                    <a:pt x="0" y="526034"/>
                  </a:moveTo>
                  <a:cubicBezTo>
                    <a:pt x="0" y="235458"/>
                    <a:pt x="235458" y="0"/>
                    <a:pt x="526034" y="0"/>
                  </a:cubicBezTo>
                  <a:cubicBezTo>
                    <a:pt x="816610" y="0"/>
                    <a:pt x="1051941" y="235458"/>
                    <a:pt x="1051941" y="526034"/>
                  </a:cubicBezTo>
                  <a:cubicBezTo>
                    <a:pt x="1051941" y="816610"/>
                    <a:pt x="816483" y="1051941"/>
                    <a:pt x="526034" y="1051941"/>
                  </a:cubicBezTo>
                  <a:cubicBezTo>
                    <a:pt x="235585" y="1051941"/>
                    <a:pt x="0" y="816483"/>
                    <a:pt x="0" y="52603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BBCD0">
                    <a:alpha val="100000"/>
                  </a:srgbClr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/>
            </a:gra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99289" y="4379643"/>
            <a:ext cx="12737660" cy="281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81"/>
              </a:lnSpc>
            </a:pPr>
            <a:r>
              <a:rPr lang="en-US" b="true" sz="9151">
                <a:solidFill>
                  <a:srgbClr val="07A893"/>
                </a:solidFill>
                <a:latin typeface="Arimo Bold"/>
                <a:ea typeface="Arimo Bold"/>
                <a:cs typeface="Arimo Bold"/>
                <a:sym typeface="Arimo Bold"/>
              </a:rPr>
              <a:t>WHAT ARE AI-DRIVEN DRONE DELIVERIES?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81075"/>
            <a:ext cx="222201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F6F6F8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56292" y="7629150"/>
            <a:ext cx="17213484" cy="431400"/>
            <a:chOff x="0" y="0"/>
            <a:chExt cx="22951312" cy="57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951363" cy="575183"/>
            </a:xfrm>
            <a:custGeom>
              <a:avLst/>
              <a:gdLst/>
              <a:ahLst/>
              <a:cxnLst/>
              <a:rect r="r" b="b" t="t" l="l"/>
              <a:pathLst>
                <a:path h="575183" w="22951363">
                  <a:moveTo>
                    <a:pt x="0" y="575183"/>
                  </a:moveTo>
                  <a:lnTo>
                    <a:pt x="327729" y="0"/>
                  </a:lnTo>
                  <a:lnTo>
                    <a:pt x="22951363" y="0"/>
                  </a:lnTo>
                  <a:lnTo>
                    <a:pt x="22623413" y="575183"/>
                  </a:lnTo>
                  <a:close/>
                </a:path>
              </a:pathLst>
            </a:custGeom>
            <a:gradFill rotWithShape="true">
              <a:gsLst>
                <a:gs pos="0">
                  <a:srgbClr val="81A7C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304763" y="369097"/>
            <a:ext cx="5149061" cy="3778841"/>
          </a:xfrm>
          <a:custGeom>
            <a:avLst/>
            <a:gdLst/>
            <a:ahLst/>
            <a:cxnLst/>
            <a:rect r="r" b="b" t="t" l="l"/>
            <a:pathLst>
              <a:path h="3778841" w="5149061">
                <a:moveTo>
                  <a:pt x="0" y="0"/>
                </a:moveTo>
                <a:lnTo>
                  <a:pt x="5149061" y="0"/>
                </a:lnTo>
                <a:lnTo>
                  <a:pt x="5149061" y="3778841"/>
                </a:lnTo>
                <a:lnTo>
                  <a:pt x="0" y="37788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7259300" y="9258300"/>
            <a:ext cx="1319574" cy="1319574"/>
            <a:chOff x="0" y="0"/>
            <a:chExt cx="1292800" cy="129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2860" cy="1292860"/>
            </a:xfrm>
            <a:custGeom>
              <a:avLst/>
              <a:gdLst/>
              <a:ahLst/>
              <a:cxnLst/>
              <a:rect r="r" b="b" t="t" l="l"/>
              <a:pathLst>
                <a:path h="1292860" w="1292860">
                  <a:moveTo>
                    <a:pt x="0" y="646430"/>
                  </a:moveTo>
                  <a:cubicBezTo>
                    <a:pt x="0" y="289433"/>
                    <a:pt x="289433" y="0"/>
                    <a:pt x="646430" y="0"/>
                  </a:cubicBezTo>
                  <a:cubicBezTo>
                    <a:pt x="1003427" y="0"/>
                    <a:pt x="1292860" y="289433"/>
                    <a:pt x="1292860" y="646430"/>
                  </a:cubicBezTo>
                  <a:cubicBezTo>
                    <a:pt x="1292860" y="1003427"/>
                    <a:pt x="1003427" y="1292860"/>
                    <a:pt x="646430" y="1292860"/>
                  </a:cubicBezTo>
                  <a:cubicBezTo>
                    <a:pt x="289433" y="1292860"/>
                    <a:pt x="0" y="1003427"/>
                    <a:pt x="0" y="64643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8BAAC">
                    <a:alpha val="59215"/>
                  </a:srgbClr>
                </a:gs>
                <a:gs pos="83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779149" y="-86397"/>
            <a:ext cx="1642494" cy="1642494"/>
            <a:chOff x="0" y="0"/>
            <a:chExt cx="1268800" cy="126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68857" cy="1268857"/>
            </a:xfrm>
            <a:custGeom>
              <a:avLst/>
              <a:gdLst/>
              <a:ahLst/>
              <a:cxnLst/>
              <a:rect r="r" b="b" t="t" l="l"/>
              <a:pathLst>
                <a:path h="1268857" w="1268857">
                  <a:moveTo>
                    <a:pt x="0" y="634365"/>
                  </a:moveTo>
                  <a:cubicBezTo>
                    <a:pt x="0" y="283972"/>
                    <a:pt x="283972" y="0"/>
                    <a:pt x="634365" y="0"/>
                  </a:cubicBezTo>
                  <a:cubicBezTo>
                    <a:pt x="984758" y="0"/>
                    <a:pt x="1268857" y="283972"/>
                    <a:pt x="1268857" y="634365"/>
                  </a:cubicBezTo>
                  <a:cubicBezTo>
                    <a:pt x="1268857" y="984758"/>
                    <a:pt x="984758" y="1268857"/>
                    <a:pt x="634365" y="1268857"/>
                  </a:cubicBezTo>
                  <a:cubicBezTo>
                    <a:pt x="283972" y="1268857"/>
                    <a:pt x="0" y="984758"/>
                    <a:pt x="0" y="63436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A7C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238328" y="2996633"/>
            <a:ext cx="17747613" cy="431400"/>
            <a:chOff x="0" y="0"/>
            <a:chExt cx="23663485" cy="57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63354" cy="575183"/>
            </a:xfrm>
            <a:custGeom>
              <a:avLst/>
              <a:gdLst/>
              <a:ahLst/>
              <a:cxnLst/>
              <a:rect r="r" b="b" t="t" l="l"/>
              <a:pathLst>
                <a:path h="575183" w="23663354">
                  <a:moveTo>
                    <a:pt x="0" y="575183"/>
                  </a:moveTo>
                  <a:lnTo>
                    <a:pt x="336215" y="0"/>
                  </a:lnTo>
                  <a:lnTo>
                    <a:pt x="23663354" y="0"/>
                  </a:lnTo>
                  <a:lnTo>
                    <a:pt x="23327139" y="575183"/>
                  </a:lnTo>
                  <a:close/>
                </a:path>
              </a:pathLst>
            </a:custGeom>
            <a:gradFill rotWithShape="true">
              <a:gsLst>
                <a:gs pos="0">
                  <a:srgbClr val="81A7C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50400" y="715800"/>
            <a:ext cx="16896975" cy="195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7"/>
              </a:lnSpc>
              <a:spcBef>
                <a:spcPct val="0"/>
              </a:spcBef>
            </a:pPr>
            <a:r>
              <a:rPr lang="en-US" b="true" sz="3206" strike="noStrike" u="none">
                <a:solidFill>
                  <a:srgbClr val="ABBCC9"/>
                </a:solidFill>
                <a:latin typeface="Arimo Bold"/>
                <a:ea typeface="Arimo Bold"/>
                <a:cs typeface="Arimo Bold"/>
                <a:sym typeface="Arimo Bold"/>
              </a:rPr>
              <a:t>DEFINITION</a:t>
            </a:r>
          </a:p>
          <a:p>
            <a:pPr algn="l">
              <a:lnSpc>
                <a:spcPts val="3847"/>
              </a:lnSpc>
              <a:spcBef>
                <a:spcPct val="0"/>
              </a:spcBef>
            </a:pPr>
          </a:p>
          <a:p>
            <a:pPr algn="l" marL="692188" indent="-346094" lvl="1">
              <a:lnSpc>
                <a:spcPts val="384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06" strike="noStrike" u="none">
                <a:solidFill>
                  <a:srgbClr val="ABBCC9"/>
                </a:solidFill>
                <a:latin typeface="Arimo Bold"/>
                <a:ea typeface="Arimo Bold"/>
                <a:cs typeface="Arimo Bold"/>
                <a:sym typeface="Arimo Bold"/>
              </a:rPr>
              <a:t>Drones (unmanned aerial vehicles) equipped with AI for autonomous or semi-autonomous flight, route optimization, and decision-making.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3344" y="3732833"/>
            <a:ext cx="360953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b="true" sz="3399">
                <a:solidFill>
                  <a:srgbClr val="B8C7D8"/>
                </a:solidFill>
                <a:latin typeface="Arimo Bold"/>
                <a:ea typeface="Arimo Bold"/>
                <a:cs typeface="Arimo Bold"/>
                <a:sym typeface="Arimo Bold"/>
              </a:rPr>
              <a:t>Computer Vision: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3344" y="7637512"/>
            <a:ext cx="345360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b="true" sz="3399">
                <a:solidFill>
                  <a:srgbClr val="B8C7D8"/>
                </a:solidFill>
                <a:latin typeface="Arimo Bold"/>
                <a:ea typeface="Arimo Bold"/>
                <a:cs typeface="Arimo Bold"/>
                <a:sym typeface="Arimo Bold"/>
              </a:rPr>
              <a:t>Edge Computing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3344" y="5608687"/>
            <a:ext cx="738754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b="true" sz="3399">
                <a:solidFill>
                  <a:srgbClr val="B8C7D8"/>
                </a:solidFill>
                <a:latin typeface="Arimo Bold"/>
                <a:ea typeface="Arimo Bold"/>
                <a:cs typeface="Arimo Bold"/>
                <a:sym typeface="Arimo Bold"/>
              </a:rPr>
              <a:t>Machine Learning &amp; Deep Learning: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4774" y="4322812"/>
            <a:ext cx="12809413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9963" indent="-279981" lvl="1">
              <a:lnSpc>
                <a:spcPts val="3112"/>
              </a:lnSpc>
              <a:buFont typeface="Arial"/>
              <a:buChar char="•"/>
            </a:pPr>
            <a:r>
              <a:rPr lang="en-US" sz="2593">
                <a:solidFill>
                  <a:srgbClr val="B8C7D8"/>
                </a:solidFill>
                <a:latin typeface="Arimo"/>
                <a:ea typeface="Arimo"/>
                <a:cs typeface="Arimo"/>
                <a:sym typeface="Arimo"/>
              </a:rPr>
              <a:t>Uses cameras &amp; sensors to detect obstacles, read terrain, and ensure safe navigation.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4774" y="6351637"/>
            <a:ext cx="13062703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9963" indent="-279981" lvl="1">
              <a:lnSpc>
                <a:spcPts val="3112"/>
              </a:lnSpc>
              <a:buFont typeface="Arial"/>
              <a:buChar char="•"/>
            </a:pPr>
            <a:r>
              <a:rPr lang="en-US" sz="2593">
                <a:solidFill>
                  <a:srgbClr val="B8C7D8"/>
                </a:solidFill>
                <a:latin typeface="Arimo"/>
                <a:ea typeface="Arimo"/>
                <a:cs typeface="Arimo"/>
                <a:sym typeface="Arimo"/>
              </a:rPr>
              <a:t>Real-time data processing for route optimization, obstacle avoidance, and predictive maintenance.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8574" y="8380462"/>
            <a:ext cx="1228684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9963" indent="-279981" lvl="1">
              <a:lnSpc>
                <a:spcPts val="3112"/>
              </a:lnSpc>
              <a:buFont typeface="Arial"/>
              <a:buChar char="•"/>
            </a:pPr>
            <a:r>
              <a:rPr lang="en-US" sz="2593">
                <a:solidFill>
                  <a:srgbClr val="B8C7D8"/>
                </a:solidFill>
                <a:latin typeface="Arimo"/>
                <a:ea typeface="Arimo"/>
                <a:cs typeface="Arimo"/>
                <a:sym typeface="Arimo"/>
              </a:rPr>
              <a:t>Onboard processing to reduce latency and make faster decisions mid-flight.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92975" y="4249741"/>
            <a:ext cx="16636233" cy="281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80"/>
              </a:lnSpc>
              <a:spcBef>
                <a:spcPct val="0"/>
              </a:spcBef>
            </a:pPr>
            <a:r>
              <a:rPr lang="en-US" b="true" sz="9150" strike="noStrike" u="none">
                <a:solidFill>
                  <a:srgbClr val="07A893"/>
                </a:solidFill>
                <a:latin typeface="Arimo Bold"/>
                <a:ea typeface="Arimo Bold"/>
                <a:cs typeface="Arimo Bold"/>
                <a:sym typeface="Arimo Bold"/>
              </a:rPr>
              <a:t>BUSINESS </a:t>
            </a:r>
          </a:p>
          <a:p>
            <a:pPr algn="l" marL="0" indent="0" lvl="0">
              <a:lnSpc>
                <a:spcPts val="10980"/>
              </a:lnSpc>
              <a:spcBef>
                <a:spcPct val="0"/>
              </a:spcBef>
            </a:pPr>
            <a:r>
              <a:rPr lang="en-US" b="true" sz="9150" strike="noStrike" u="none">
                <a:solidFill>
                  <a:srgbClr val="07A893"/>
                </a:solidFill>
                <a:latin typeface="Arimo Bold"/>
                <a:ea typeface="Arimo Bold"/>
                <a:cs typeface="Arimo Bold"/>
                <a:sym typeface="Arimo Bold"/>
              </a:rPr>
              <a:t>APPLICATIONS &amp; BENEFITS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81075"/>
            <a:ext cx="1869524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F6F6F8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83450" y="7552950"/>
            <a:ext cx="19261286" cy="431400"/>
            <a:chOff x="0" y="0"/>
            <a:chExt cx="25681714" cy="57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81766" cy="575183"/>
            </a:xfrm>
            <a:custGeom>
              <a:avLst/>
              <a:gdLst/>
              <a:ahLst/>
              <a:cxnLst/>
              <a:rect r="r" b="b" t="t" l="l"/>
              <a:pathLst>
                <a:path h="575183" w="25681766">
                  <a:moveTo>
                    <a:pt x="0" y="575183"/>
                  </a:moveTo>
                  <a:lnTo>
                    <a:pt x="366717" y="0"/>
                  </a:lnTo>
                  <a:lnTo>
                    <a:pt x="25681766" y="0"/>
                  </a:lnTo>
                  <a:lnTo>
                    <a:pt x="25314805" y="575183"/>
                  </a:lnTo>
                  <a:close/>
                </a:path>
              </a:pathLst>
            </a:custGeom>
            <a:gradFill rotWithShape="true">
              <a:gsLst>
                <a:gs pos="0">
                  <a:srgbClr val="81A7C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042563" y="-924568"/>
            <a:ext cx="2085126" cy="1849137"/>
          </a:xfrm>
          <a:custGeom>
            <a:avLst/>
            <a:gdLst/>
            <a:ahLst/>
            <a:cxnLst/>
            <a:rect r="r" b="b" t="t" l="l"/>
            <a:pathLst>
              <a:path h="1849137" w="2085126">
                <a:moveTo>
                  <a:pt x="0" y="0"/>
                </a:moveTo>
                <a:lnTo>
                  <a:pt x="2085126" y="0"/>
                </a:lnTo>
                <a:lnTo>
                  <a:pt x="2085126" y="1849136"/>
                </a:lnTo>
                <a:lnTo>
                  <a:pt x="0" y="18491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3657" y="672190"/>
            <a:ext cx="5742557" cy="5006301"/>
          </a:xfrm>
          <a:custGeom>
            <a:avLst/>
            <a:gdLst/>
            <a:ahLst/>
            <a:cxnLst/>
            <a:rect r="r" b="b" t="t" l="l"/>
            <a:pathLst>
              <a:path h="5006301" w="5742557">
                <a:moveTo>
                  <a:pt x="0" y="0"/>
                </a:moveTo>
                <a:lnTo>
                  <a:pt x="5742557" y="0"/>
                </a:lnTo>
                <a:lnTo>
                  <a:pt x="5742557" y="5006301"/>
                </a:lnTo>
                <a:lnTo>
                  <a:pt x="0" y="50063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849988" y="9039132"/>
            <a:ext cx="1958439" cy="1958439"/>
            <a:chOff x="0" y="0"/>
            <a:chExt cx="1052000" cy="105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1941" cy="1051941"/>
            </a:xfrm>
            <a:custGeom>
              <a:avLst/>
              <a:gdLst/>
              <a:ahLst/>
              <a:cxnLst/>
              <a:rect r="r" b="b" t="t" l="l"/>
              <a:pathLst>
                <a:path h="1051941" w="1051941">
                  <a:moveTo>
                    <a:pt x="0" y="526034"/>
                  </a:moveTo>
                  <a:cubicBezTo>
                    <a:pt x="0" y="235458"/>
                    <a:pt x="235458" y="0"/>
                    <a:pt x="526034" y="0"/>
                  </a:cubicBezTo>
                  <a:cubicBezTo>
                    <a:pt x="816610" y="0"/>
                    <a:pt x="1051941" y="235458"/>
                    <a:pt x="1051941" y="526034"/>
                  </a:cubicBezTo>
                  <a:cubicBezTo>
                    <a:pt x="1051941" y="816610"/>
                    <a:pt x="816483" y="1051941"/>
                    <a:pt x="526034" y="1051941"/>
                  </a:cubicBezTo>
                  <a:cubicBezTo>
                    <a:pt x="235585" y="1051941"/>
                    <a:pt x="0" y="816483"/>
                    <a:pt x="0" y="52603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BBCD0">
                    <a:alpha val="100000"/>
                  </a:srgbClr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/>
            </a:gra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1050" y="3420325"/>
            <a:ext cx="6379557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9263" indent="-374631" lvl="1">
              <a:lnSpc>
                <a:spcPts val="4164"/>
              </a:lnSpc>
              <a:buFont typeface="Arial"/>
              <a:buChar char="•"/>
            </a:pPr>
            <a:r>
              <a:rPr lang="en-US" sz="3470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Cuts delivery time with AI-optimized routes (avoids traffic)</a:t>
            </a:r>
          </a:p>
          <a:p>
            <a:pPr algn="l">
              <a:lnSpc>
                <a:spcPts val="4164"/>
              </a:lnSpc>
            </a:pPr>
          </a:p>
          <a:p>
            <a:pPr algn="l" marL="749263" indent="-374631" lvl="1">
              <a:lnSpc>
                <a:spcPts val="4164"/>
              </a:lnSpc>
              <a:buFont typeface="Arial"/>
              <a:buChar char="•"/>
            </a:pPr>
            <a:r>
              <a:rPr lang="en-US" sz="3470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Reaches remote locations quickly for on-time delivery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0850" y="1644850"/>
            <a:ext cx="7482750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4"/>
              </a:lnSpc>
            </a:pPr>
            <a:r>
              <a:rPr lang="en-US" sz="4395" b="true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Last-Mile Delivery Optimization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19225" y="3410800"/>
            <a:ext cx="6482475" cy="429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7288" indent="-378644" lvl="1">
              <a:lnSpc>
                <a:spcPts val="4209"/>
              </a:lnSpc>
              <a:buFont typeface="Arial"/>
              <a:buChar char="•"/>
            </a:pPr>
            <a:r>
              <a:rPr lang="en-US" sz="3507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Automates internal logistics (e.g. warehouse transfers)</a:t>
            </a:r>
          </a:p>
          <a:p>
            <a:pPr algn="l">
              <a:lnSpc>
                <a:spcPts val="4209"/>
              </a:lnSpc>
            </a:pPr>
          </a:p>
          <a:p>
            <a:pPr algn="l" marL="757288" indent="-378644" lvl="1">
              <a:lnSpc>
                <a:spcPts val="4209"/>
              </a:lnSpc>
              <a:buFont typeface="Arial"/>
              <a:buChar char="•"/>
            </a:pPr>
            <a:r>
              <a:rPr lang="en-US" sz="3507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Streamlines inventory movement &amp; fulfillment</a:t>
            </a:r>
          </a:p>
          <a:p>
            <a:pPr algn="l">
              <a:lnSpc>
                <a:spcPts val="4209"/>
              </a:lnSpc>
            </a:pPr>
          </a:p>
          <a:p>
            <a:pPr algn="l" marL="757288" indent="-378644" lvl="1">
              <a:lnSpc>
                <a:spcPts val="4209"/>
              </a:lnSpc>
              <a:buFont typeface="Arial"/>
              <a:buChar char="•"/>
            </a:pPr>
            <a:r>
              <a:rPr lang="en-US" sz="3507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Lowers costs (fuel, labor)</a:t>
            </a:r>
          </a:p>
          <a:p>
            <a:pPr algn="l">
              <a:lnSpc>
                <a:spcPts val="420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704506" y="1644850"/>
            <a:ext cx="4428150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 b="true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Supply Chain</a:t>
            </a:r>
          </a:p>
          <a:p>
            <a:pPr algn="l">
              <a:lnSpc>
                <a:spcPts val="5279"/>
              </a:lnSpc>
            </a:pPr>
            <a:r>
              <a:rPr lang="en-US" sz="4399" b="true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&amp; Logistics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947435" y="1350469"/>
            <a:ext cx="2196565" cy="1960361"/>
          </a:xfrm>
          <a:custGeom>
            <a:avLst/>
            <a:gdLst/>
            <a:ahLst/>
            <a:cxnLst/>
            <a:rect r="r" b="b" t="t" l="l"/>
            <a:pathLst>
              <a:path h="1960361" w="2196565">
                <a:moveTo>
                  <a:pt x="0" y="0"/>
                </a:moveTo>
                <a:lnTo>
                  <a:pt x="2196565" y="0"/>
                </a:lnTo>
                <a:lnTo>
                  <a:pt x="2196565" y="1960362"/>
                </a:lnTo>
                <a:lnTo>
                  <a:pt x="0" y="19603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51611" y="787261"/>
            <a:ext cx="2341011" cy="2337789"/>
          </a:xfrm>
          <a:custGeom>
            <a:avLst/>
            <a:gdLst/>
            <a:ahLst/>
            <a:cxnLst/>
            <a:rect r="r" b="b" t="t" l="l"/>
            <a:pathLst>
              <a:path h="2337789" w="2341011">
                <a:moveTo>
                  <a:pt x="0" y="0"/>
                </a:moveTo>
                <a:lnTo>
                  <a:pt x="2341011" y="0"/>
                </a:lnTo>
                <a:lnTo>
                  <a:pt x="2341011" y="2337789"/>
                </a:lnTo>
                <a:lnTo>
                  <a:pt x="0" y="23377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622298" y="8841357"/>
            <a:ext cx="2128166" cy="2128166"/>
            <a:chOff x="0" y="0"/>
            <a:chExt cx="1292800" cy="129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2860" cy="1292860"/>
            </a:xfrm>
            <a:custGeom>
              <a:avLst/>
              <a:gdLst/>
              <a:ahLst/>
              <a:cxnLst/>
              <a:rect r="r" b="b" t="t" l="l"/>
              <a:pathLst>
                <a:path h="1292860" w="1292860">
                  <a:moveTo>
                    <a:pt x="0" y="646430"/>
                  </a:moveTo>
                  <a:cubicBezTo>
                    <a:pt x="0" y="289433"/>
                    <a:pt x="289433" y="0"/>
                    <a:pt x="646430" y="0"/>
                  </a:cubicBezTo>
                  <a:cubicBezTo>
                    <a:pt x="1003427" y="0"/>
                    <a:pt x="1292860" y="289433"/>
                    <a:pt x="1292860" y="646430"/>
                  </a:cubicBezTo>
                  <a:cubicBezTo>
                    <a:pt x="1292860" y="1003427"/>
                    <a:pt x="1003427" y="1292860"/>
                    <a:pt x="646430" y="1292860"/>
                  </a:cubicBezTo>
                  <a:cubicBezTo>
                    <a:pt x="289433" y="1292860"/>
                    <a:pt x="0" y="1003427"/>
                    <a:pt x="0" y="64643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8BAAC">
                    <a:alpha val="100000"/>
                  </a:srgbClr>
                </a:gs>
                <a:gs pos="100000">
                  <a:srgbClr val="F6F6F8">
                    <a:alpha val="100000"/>
                  </a:srgbClr>
                </a:gs>
                <a:gs pos="100000">
                  <a:srgbClr val="169B82">
                    <a:alpha val="100000"/>
                  </a:srgbClr>
                </a:gs>
              </a:gsLst>
              <a:lin ang="5400700"/>
            </a:gra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1050" y="3420325"/>
            <a:ext cx="6379557" cy="4694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9262" indent="-374631" lvl="1">
              <a:lnSpc>
                <a:spcPts val="4164"/>
              </a:lnSpc>
              <a:spcBef>
                <a:spcPct val="0"/>
              </a:spcBef>
              <a:buFont typeface="Arial"/>
              <a:buChar char="•"/>
            </a:pPr>
            <a:r>
              <a:rPr lang="en-US" sz="3470" strike="noStrike" u="none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Collects real-time delivery data</a:t>
            </a:r>
          </a:p>
          <a:p>
            <a:pPr algn="l">
              <a:lnSpc>
                <a:spcPts val="4164"/>
              </a:lnSpc>
              <a:spcBef>
                <a:spcPct val="0"/>
              </a:spcBef>
            </a:pPr>
          </a:p>
          <a:p>
            <a:pPr algn="l" marL="749262" indent="-374631" lvl="1">
              <a:lnSpc>
                <a:spcPts val="4164"/>
              </a:lnSpc>
              <a:spcBef>
                <a:spcPct val="0"/>
              </a:spcBef>
              <a:buFont typeface="Arial"/>
              <a:buChar char="•"/>
            </a:pPr>
            <a:r>
              <a:rPr lang="en-US" sz="3470" strike="noStrike" u="none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AI insights for route optimization &amp; resource allocation</a:t>
            </a:r>
          </a:p>
          <a:p>
            <a:pPr algn="l">
              <a:lnSpc>
                <a:spcPts val="4164"/>
              </a:lnSpc>
              <a:spcBef>
                <a:spcPct val="0"/>
              </a:spcBef>
            </a:pPr>
          </a:p>
          <a:p>
            <a:pPr algn="l" marL="749262" indent="-374631" lvl="1">
              <a:lnSpc>
                <a:spcPts val="4164"/>
              </a:lnSpc>
              <a:spcBef>
                <a:spcPct val="0"/>
              </a:spcBef>
              <a:buFont typeface="Arial"/>
              <a:buChar char="•"/>
            </a:pPr>
            <a:r>
              <a:rPr lang="en-US" sz="3470" strike="noStrike" u="none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Enhances forecasting &amp; continuous improvements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0850" y="1644850"/>
            <a:ext cx="7482750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4"/>
              </a:lnSpc>
            </a:pPr>
            <a:r>
              <a:rPr lang="en-US" sz="4395" b="true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Data-Driven Decision Making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81141" y="3420325"/>
            <a:ext cx="6482475" cy="4178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9262" indent="-374631" lvl="1">
              <a:lnSpc>
                <a:spcPts val="4164"/>
              </a:lnSpc>
              <a:spcBef>
                <a:spcPct val="0"/>
              </a:spcBef>
              <a:buFont typeface="Arial"/>
              <a:buChar char="•"/>
            </a:pPr>
            <a:r>
              <a:rPr lang="en-US" sz="3470" strike="noStrike" u="none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Distinguishes businesses with cutting-edge service</a:t>
            </a:r>
          </a:p>
          <a:p>
            <a:pPr algn="l">
              <a:lnSpc>
                <a:spcPts val="4164"/>
              </a:lnSpc>
              <a:spcBef>
                <a:spcPct val="0"/>
              </a:spcBef>
            </a:pPr>
          </a:p>
          <a:p>
            <a:pPr algn="l" marL="749262" indent="-374631" lvl="1">
              <a:lnSpc>
                <a:spcPts val="4164"/>
              </a:lnSpc>
              <a:spcBef>
                <a:spcPct val="0"/>
              </a:spcBef>
              <a:buFont typeface="Arial"/>
              <a:buChar char="•"/>
            </a:pPr>
            <a:r>
              <a:rPr lang="en-US" sz="3470" strike="noStrike" u="none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Faster deliveries → higher customer satisfaction</a:t>
            </a:r>
          </a:p>
          <a:p>
            <a:pPr algn="l">
              <a:lnSpc>
                <a:spcPts val="4164"/>
              </a:lnSpc>
              <a:spcBef>
                <a:spcPct val="0"/>
              </a:spcBef>
            </a:pPr>
          </a:p>
          <a:p>
            <a:pPr algn="l" marL="749262" indent="-374631" lvl="1">
              <a:lnSpc>
                <a:spcPts val="4164"/>
              </a:lnSpc>
              <a:spcBef>
                <a:spcPct val="0"/>
              </a:spcBef>
              <a:buFont typeface="Arial"/>
              <a:buChar char="•"/>
            </a:pPr>
            <a:r>
              <a:rPr lang="en-US" sz="3470" strike="noStrike" u="none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First-mover advantage &amp; innovative brand image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46388" y="1644850"/>
            <a:ext cx="4428150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 b="true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Competitive Advantages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437141" y="-1584270"/>
            <a:ext cx="2874282" cy="3168540"/>
          </a:xfrm>
          <a:custGeom>
            <a:avLst/>
            <a:gdLst/>
            <a:ahLst/>
            <a:cxnLst/>
            <a:rect r="r" b="b" t="t" l="l"/>
            <a:pathLst>
              <a:path h="3168540" w="2874282">
                <a:moveTo>
                  <a:pt x="0" y="0"/>
                </a:moveTo>
                <a:lnTo>
                  <a:pt x="2874282" y="0"/>
                </a:lnTo>
                <a:lnTo>
                  <a:pt x="2874282" y="3168540"/>
                </a:lnTo>
                <a:lnTo>
                  <a:pt x="0" y="31685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08232" y="6153152"/>
            <a:ext cx="3420534" cy="3446243"/>
          </a:xfrm>
          <a:custGeom>
            <a:avLst/>
            <a:gdLst/>
            <a:ahLst/>
            <a:cxnLst/>
            <a:rect r="r" b="b" t="t" l="l"/>
            <a:pathLst>
              <a:path h="3446243" w="3420534">
                <a:moveTo>
                  <a:pt x="0" y="0"/>
                </a:moveTo>
                <a:lnTo>
                  <a:pt x="3420534" y="0"/>
                </a:lnTo>
                <a:lnTo>
                  <a:pt x="3420534" y="3446243"/>
                </a:lnTo>
                <a:lnTo>
                  <a:pt x="0" y="34462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645807" cy="1645807"/>
            <a:chOff x="0" y="0"/>
            <a:chExt cx="1052000" cy="105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1941" cy="1051941"/>
            </a:xfrm>
            <a:custGeom>
              <a:avLst/>
              <a:gdLst/>
              <a:ahLst/>
              <a:cxnLst/>
              <a:rect r="r" b="b" t="t" l="l"/>
              <a:pathLst>
                <a:path h="1051941" w="1051941">
                  <a:moveTo>
                    <a:pt x="0" y="526034"/>
                  </a:moveTo>
                  <a:cubicBezTo>
                    <a:pt x="0" y="235458"/>
                    <a:pt x="235458" y="0"/>
                    <a:pt x="526034" y="0"/>
                  </a:cubicBezTo>
                  <a:cubicBezTo>
                    <a:pt x="816610" y="0"/>
                    <a:pt x="1051941" y="235458"/>
                    <a:pt x="1051941" y="526034"/>
                  </a:cubicBezTo>
                  <a:cubicBezTo>
                    <a:pt x="1051941" y="816610"/>
                    <a:pt x="816483" y="1051941"/>
                    <a:pt x="526034" y="1051941"/>
                  </a:cubicBezTo>
                  <a:cubicBezTo>
                    <a:pt x="235585" y="1051941"/>
                    <a:pt x="0" y="816483"/>
                    <a:pt x="0" y="52603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BBCD0">
                    <a:alpha val="100000"/>
                  </a:srgbClr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/>
            </a:gra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41313" y="4150688"/>
            <a:ext cx="10783222" cy="281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80"/>
              </a:lnSpc>
              <a:spcBef>
                <a:spcPct val="0"/>
              </a:spcBef>
            </a:pPr>
            <a:r>
              <a:rPr lang="en-US" b="true" sz="9150" strike="noStrike" u="none">
                <a:solidFill>
                  <a:srgbClr val="07A893"/>
                </a:solidFill>
                <a:latin typeface="Arimo Bold"/>
                <a:ea typeface="Arimo Bold"/>
                <a:cs typeface="Arimo Bold"/>
                <a:sym typeface="Arimo Bold"/>
              </a:rPr>
              <a:t>CHALLENGES &amp; CONSIDERATIONS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81075"/>
            <a:ext cx="2100375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F6F6F8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7340921"/>
            <a:ext cx="18837081" cy="431400"/>
            <a:chOff x="0" y="0"/>
            <a:chExt cx="25116108" cy="57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116160" cy="575183"/>
            </a:xfrm>
            <a:custGeom>
              <a:avLst/>
              <a:gdLst/>
              <a:ahLst/>
              <a:cxnLst/>
              <a:rect r="r" b="b" t="t" l="l"/>
              <a:pathLst>
                <a:path h="575183" w="25116160">
                  <a:moveTo>
                    <a:pt x="0" y="575183"/>
                  </a:moveTo>
                  <a:lnTo>
                    <a:pt x="358640" y="0"/>
                  </a:lnTo>
                  <a:lnTo>
                    <a:pt x="25116160" y="0"/>
                  </a:lnTo>
                  <a:lnTo>
                    <a:pt x="24757281" y="575183"/>
                  </a:lnTo>
                  <a:close/>
                </a:path>
              </a:pathLst>
            </a:custGeom>
            <a:gradFill rotWithShape="true">
              <a:gsLst>
                <a:gs pos="0">
                  <a:srgbClr val="81A7C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653347" y="1196939"/>
            <a:ext cx="3805508" cy="2844872"/>
          </a:xfrm>
          <a:custGeom>
            <a:avLst/>
            <a:gdLst/>
            <a:ahLst/>
            <a:cxnLst/>
            <a:rect r="r" b="b" t="t" l="l"/>
            <a:pathLst>
              <a:path h="2844872" w="3805508">
                <a:moveTo>
                  <a:pt x="0" y="0"/>
                </a:moveTo>
                <a:lnTo>
                  <a:pt x="3805508" y="0"/>
                </a:lnTo>
                <a:lnTo>
                  <a:pt x="3805508" y="2844872"/>
                </a:lnTo>
                <a:lnTo>
                  <a:pt x="0" y="28448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3458855" y="2927108"/>
            <a:ext cx="3527385" cy="3956535"/>
          </a:xfrm>
          <a:custGeom>
            <a:avLst/>
            <a:gdLst/>
            <a:ahLst/>
            <a:cxnLst/>
            <a:rect r="r" b="b" t="t" l="l"/>
            <a:pathLst>
              <a:path h="3956535" w="3527385">
                <a:moveTo>
                  <a:pt x="3527384" y="0"/>
                </a:moveTo>
                <a:lnTo>
                  <a:pt x="0" y="0"/>
                </a:lnTo>
                <a:lnTo>
                  <a:pt x="0" y="3956534"/>
                </a:lnTo>
                <a:lnTo>
                  <a:pt x="3527384" y="3956534"/>
                </a:lnTo>
                <a:lnTo>
                  <a:pt x="352738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76690" y="2079662"/>
            <a:ext cx="6225118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9263" indent="-374631" lvl="1">
              <a:lnSpc>
                <a:spcPts val="4164"/>
              </a:lnSpc>
              <a:spcBef>
                <a:spcPct val="0"/>
              </a:spcBef>
              <a:buFont typeface="Arial"/>
              <a:buChar char="•"/>
            </a:pPr>
            <a:r>
              <a:rPr lang="en-US" sz="3470" strike="noStrike" u="none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Varying rules on where and how drones can fly</a:t>
            </a:r>
          </a:p>
          <a:p>
            <a:pPr algn="l" marL="749263" indent="-374631" lvl="1">
              <a:lnSpc>
                <a:spcPts val="4164"/>
              </a:lnSpc>
              <a:spcBef>
                <a:spcPct val="0"/>
              </a:spcBef>
              <a:buFont typeface="Arial"/>
              <a:buChar char="•"/>
            </a:pPr>
            <a:r>
              <a:rPr lang="en-US" sz="3470" strike="noStrike" u="none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Compliance with aviation authorities is crucial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18974" y="812837"/>
            <a:ext cx="554055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99"/>
              </a:lnSpc>
            </a:pPr>
            <a:r>
              <a:rPr lang="en-US" sz="3999">
                <a:solidFill>
                  <a:srgbClr val="305B98"/>
                </a:solidFill>
                <a:latin typeface="Arimo"/>
                <a:ea typeface="Arimo"/>
                <a:cs typeface="Arimo"/>
                <a:sym typeface="Arimo"/>
              </a:rPr>
              <a:t>Regulations &amp; Airspace Control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84783" y="2079662"/>
            <a:ext cx="6674517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9263" indent="-374631" lvl="1">
              <a:lnSpc>
                <a:spcPts val="4164"/>
              </a:lnSpc>
              <a:spcBef>
                <a:spcPct val="0"/>
              </a:spcBef>
              <a:buFont typeface="Arial"/>
              <a:buChar char="•"/>
            </a:pPr>
            <a:r>
              <a:rPr lang="en-US" sz="3470" strike="noStrike" u="none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Need secure landing hubs, recharging stations, or “drone lanes”</a:t>
            </a:r>
          </a:p>
          <a:p>
            <a:pPr algn="l" marL="749263" indent="-374631" lvl="1">
              <a:lnSpc>
                <a:spcPts val="4164"/>
              </a:lnSpc>
              <a:spcBef>
                <a:spcPct val="0"/>
              </a:spcBef>
              <a:buFont typeface="Arial"/>
              <a:buChar char="•"/>
            </a:pPr>
            <a:r>
              <a:rPr lang="en-US" sz="3470" strike="noStrike" u="none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AI relies on high-quality data and stable communications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14650" y="5308423"/>
            <a:ext cx="426699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05B98"/>
                </a:solidFill>
                <a:latin typeface="Arimo"/>
                <a:ea typeface="Arimo"/>
                <a:cs typeface="Arimo"/>
                <a:sym typeface="Arimo"/>
              </a:rPr>
              <a:t>Public Acceptance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69652" y="8775525"/>
            <a:ext cx="20310980" cy="431400"/>
            <a:chOff x="0" y="0"/>
            <a:chExt cx="27081307" cy="57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81212" cy="575183"/>
            </a:xfrm>
            <a:custGeom>
              <a:avLst/>
              <a:gdLst/>
              <a:ahLst/>
              <a:cxnLst/>
              <a:rect r="r" b="b" t="t" l="l"/>
              <a:pathLst>
                <a:path h="575183" w="27081212">
                  <a:moveTo>
                    <a:pt x="0" y="575183"/>
                  </a:moveTo>
                  <a:lnTo>
                    <a:pt x="410618" y="0"/>
                  </a:lnTo>
                  <a:lnTo>
                    <a:pt x="27081212" y="0"/>
                  </a:lnTo>
                  <a:lnTo>
                    <a:pt x="26670592" y="575183"/>
                  </a:lnTo>
                  <a:close/>
                </a:path>
              </a:pathLst>
            </a:custGeom>
            <a:gradFill rotWithShape="true">
              <a:gsLst>
                <a:gs pos="0">
                  <a:srgbClr val="81A7C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66206" y="-140694"/>
            <a:ext cx="1321794" cy="1321794"/>
            <a:chOff x="0" y="0"/>
            <a:chExt cx="1268800" cy="126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8857" cy="1268857"/>
            </a:xfrm>
            <a:custGeom>
              <a:avLst/>
              <a:gdLst/>
              <a:ahLst/>
              <a:cxnLst/>
              <a:rect r="r" b="b" t="t" l="l"/>
              <a:pathLst>
                <a:path h="1268857" w="1268857">
                  <a:moveTo>
                    <a:pt x="0" y="634365"/>
                  </a:moveTo>
                  <a:cubicBezTo>
                    <a:pt x="0" y="283972"/>
                    <a:pt x="283972" y="0"/>
                    <a:pt x="634365" y="0"/>
                  </a:cubicBezTo>
                  <a:cubicBezTo>
                    <a:pt x="984758" y="0"/>
                    <a:pt x="1268857" y="283972"/>
                    <a:pt x="1268857" y="634365"/>
                  </a:cubicBezTo>
                  <a:cubicBezTo>
                    <a:pt x="1268857" y="984758"/>
                    <a:pt x="984758" y="1268857"/>
                    <a:pt x="634365" y="1268857"/>
                  </a:cubicBezTo>
                  <a:cubicBezTo>
                    <a:pt x="283972" y="1268857"/>
                    <a:pt x="0" y="984758"/>
                    <a:pt x="0" y="63436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A7C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218974" y="5308425"/>
            <a:ext cx="426699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05B98"/>
                </a:solidFill>
                <a:latin typeface="Arimo"/>
                <a:ea typeface="Arimo"/>
                <a:cs typeface="Arimo"/>
                <a:sym typeface="Arimo"/>
              </a:rPr>
              <a:t>Security &amp; Privacy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14650" y="812837"/>
            <a:ext cx="554055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05B98"/>
                </a:solidFill>
                <a:latin typeface="Arimo"/>
                <a:ea typeface="Arimo"/>
                <a:cs typeface="Arimo"/>
                <a:sym typeface="Arimo"/>
              </a:rPr>
              <a:t>Infrastructure &amp; Tech Gaps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76690" y="6137100"/>
            <a:ext cx="6225118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9263" indent="-374631" lvl="1">
              <a:lnSpc>
                <a:spcPts val="4164"/>
              </a:lnSpc>
              <a:spcBef>
                <a:spcPct val="0"/>
              </a:spcBef>
              <a:buFont typeface="Arial"/>
              <a:buChar char="•"/>
            </a:pPr>
            <a:r>
              <a:rPr lang="en-US" sz="3470" strike="noStrike" u="none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Potential hacking or misuse of drones</a:t>
            </a:r>
          </a:p>
          <a:p>
            <a:pPr algn="l" marL="749263" indent="-374631" lvl="1">
              <a:lnSpc>
                <a:spcPts val="4164"/>
              </a:lnSpc>
              <a:spcBef>
                <a:spcPct val="0"/>
              </a:spcBef>
              <a:buFont typeface="Arial"/>
              <a:buChar char="•"/>
            </a:pPr>
            <a:r>
              <a:rPr lang="en-US" sz="3470" strike="noStrike" u="none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Privacy concerns over flights near private property</a:t>
            </a:r>
          </a:p>
          <a:p>
            <a:pPr algn="l">
              <a:lnSpc>
                <a:spcPts val="4164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584783" y="6137100"/>
            <a:ext cx="6708843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9263" indent="-374631" lvl="1">
              <a:lnSpc>
                <a:spcPts val="4164"/>
              </a:lnSpc>
              <a:spcBef>
                <a:spcPct val="0"/>
              </a:spcBef>
              <a:buFont typeface="Arial"/>
              <a:buChar char="•"/>
            </a:pPr>
            <a:r>
              <a:rPr lang="en-US" sz="3470" strike="noStrike" u="none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Noise, safety worries, and public trust factor into success</a:t>
            </a:r>
          </a:p>
          <a:p>
            <a:pPr algn="l" marL="749263" indent="-374631" lvl="1">
              <a:lnSpc>
                <a:spcPts val="4164"/>
              </a:lnSpc>
              <a:spcBef>
                <a:spcPct val="0"/>
              </a:spcBef>
              <a:buFont typeface="Arial"/>
              <a:buChar char="•"/>
            </a:pPr>
            <a:r>
              <a:rPr lang="en-US" sz="3470" strike="noStrike" u="none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Address local concerns to gain community support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407398" y="4365876"/>
            <a:ext cx="1473204" cy="1555248"/>
          </a:xfrm>
          <a:custGeom>
            <a:avLst/>
            <a:gdLst/>
            <a:ahLst/>
            <a:cxnLst/>
            <a:rect r="r" b="b" t="t" l="l"/>
            <a:pathLst>
              <a:path h="1555248" w="1473204">
                <a:moveTo>
                  <a:pt x="0" y="0"/>
                </a:moveTo>
                <a:lnTo>
                  <a:pt x="1473204" y="0"/>
                </a:lnTo>
                <a:lnTo>
                  <a:pt x="1473204" y="1555248"/>
                </a:lnTo>
                <a:lnTo>
                  <a:pt x="0" y="15552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96656" y="5625907"/>
            <a:ext cx="8361252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80"/>
              </a:lnSpc>
              <a:spcBef>
                <a:spcPct val="0"/>
              </a:spcBef>
            </a:pPr>
            <a:r>
              <a:rPr lang="en-US" b="true" sz="9150" strike="noStrike" u="none">
                <a:solidFill>
                  <a:srgbClr val="07A893"/>
                </a:solidFill>
                <a:latin typeface="Arimo Bold"/>
                <a:ea typeface="Arimo Bold"/>
                <a:cs typeface="Arimo Bold"/>
                <a:sym typeface="Arimo Bold"/>
              </a:rPr>
              <a:t>CONCLUSION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96656" y="981075"/>
            <a:ext cx="1903528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F6F6F8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96656" y="7197532"/>
            <a:ext cx="24664006" cy="431400"/>
            <a:chOff x="0" y="0"/>
            <a:chExt cx="32885341" cy="57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885394" cy="575183"/>
            </a:xfrm>
            <a:custGeom>
              <a:avLst/>
              <a:gdLst/>
              <a:ahLst/>
              <a:cxnLst/>
              <a:rect r="r" b="b" t="t" l="l"/>
              <a:pathLst>
                <a:path h="575183" w="32885394">
                  <a:moveTo>
                    <a:pt x="0" y="575183"/>
                  </a:moveTo>
                  <a:lnTo>
                    <a:pt x="469580" y="0"/>
                  </a:lnTo>
                  <a:lnTo>
                    <a:pt x="32885394" y="0"/>
                  </a:lnTo>
                  <a:lnTo>
                    <a:pt x="32415516" y="575183"/>
                  </a:lnTo>
                  <a:close/>
                </a:path>
              </a:pathLst>
            </a:custGeom>
            <a:gradFill rotWithShape="true">
              <a:gsLst>
                <a:gs pos="0">
                  <a:srgbClr val="81A7C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879582" y="1028700"/>
            <a:ext cx="7379718" cy="4473468"/>
          </a:xfrm>
          <a:custGeom>
            <a:avLst/>
            <a:gdLst/>
            <a:ahLst/>
            <a:cxnLst/>
            <a:rect r="r" b="b" t="t" l="l"/>
            <a:pathLst>
              <a:path h="4473468" w="7379718">
                <a:moveTo>
                  <a:pt x="0" y="0"/>
                </a:moveTo>
                <a:lnTo>
                  <a:pt x="7379718" y="0"/>
                </a:lnTo>
                <a:lnTo>
                  <a:pt x="7379718" y="4473468"/>
                </a:lnTo>
                <a:lnTo>
                  <a:pt x="0" y="4473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9258300"/>
            <a:ext cx="1645807" cy="1645807"/>
            <a:chOff x="0" y="0"/>
            <a:chExt cx="1052000" cy="105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1941" cy="1051941"/>
            </a:xfrm>
            <a:custGeom>
              <a:avLst/>
              <a:gdLst/>
              <a:ahLst/>
              <a:cxnLst/>
              <a:rect r="r" b="b" t="t" l="l"/>
              <a:pathLst>
                <a:path h="1051941" w="1051941">
                  <a:moveTo>
                    <a:pt x="0" y="526034"/>
                  </a:moveTo>
                  <a:cubicBezTo>
                    <a:pt x="0" y="235458"/>
                    <a:pt x="235458" y="0"/>
                    <a:pt x="526034" y="0"/>
                  </a:cubicBezTo>
                  <a:cubicBezTo>
                    <a:pt x="816610" y="0"/>
                    <a:pt x="1051941" y="235458"/>
                    <a:pt x="1051941" y="526034"/>
                  </a:cubicBezTo>
                  <a:cubicBezTo>
                    <a:pt x="1051941" y="816610"/>
                    <a:pt x="816483" y="1051941"/>
                    <a:pt x="526034" y="1051941"/>
                  </a:cubicBezTo>
                  <a:cubicBezTo>
                    <a:pt x="235585" y="1051941"/>
                    <a:pt x="0" y="816483"/>
                    <a:pt x="0" y="52603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BBCD0">
                    <a:alpha val="100000"/>
                  </a:srgbClr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/>
            </a:grad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36590" y="9475000"/>
            <a:ext cx="1473180" cy="1624000"/>
          </a:xfrm>
          <a:custGeom>
            <a:avLst/>
            <a:gdLst/>
            <a:ahLst/>
            <a:cxnLst/>
            <a:rect r="r" b="b" t="t" l="l"/>
            <a:pathLst>
              <a:path h="1624000" w="1473180">
                <a:moveTo>
                  <a:pt x="0" y="0"/>
                </a:moveTo>
                <a:lnTo>
                  <a:pt x="1473180" y="0"/>
                </a:lnTo>
                <a:lnTo>
                  <a:pt x="1473180" y="1624000"/>
                </a:lnTo>
                <a:lnTo>
                  <a:pt x="0" y="162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79206" y="6379828"/>
            <a:ext cx="2968915" cy="7814344"/>
          </a:xfrm>
          <a:custGeom>
            <a:avLst/>
            <a:gdLst/>
            <a:ahLst/>
            <a:cxnLst/>
            <a:rect r="r" b="b" t="t" l="l"/>
            <a:pathLst>
              <a:path h="7814344" w="2968915">
                <a:moveTo>
                  <a:pt x="0" y="0"/>
                </a:moveTo>
                <a:lnTo>
                  <a:pt x="2968915" y="0"/>
                </a:lnTo>
                <a:lnTo>
                  <a:pt x="2968915" y="7814344"/>
                </a:lnTo>
                <a:lnTo>
                  <a:pt x="0" y="78143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62449" y="5143500"/>
            <a:ext cx="4325024" cy="3012511"/>
          </a:xfrm>
          <a:custGeom>
            <a:avLst/>
            <a:gdLst/>
            <a:ahLst/>
            <a:cxnLst/>
            <a:rect r="r" b="b" t="t" l="l"/>
            <a:pathLst>
              <a:path h="3012511" w="4325024">
                <a:moveTo>
                  <a:pt x="0" y="0"/>
                </a:moveTo>
                <a:lnTo>
                  <a:pt x="4325024" y="0"/>
                </a:lnTo>
                <a:lnTo>
                  <a:pt x="4325024" y="3012511"/>
                </a:lnTo>
                <a:lnTo>
                  <a:pt x="0" y="30125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7502681" y="4516769"/>
            <a:ext cx="1473524" cy="1253461"/>
            <a:chOff x="0" y="0"/>
            <a:chExt cx="1052000" cy="894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1941" cy="894839"/>
            </a:xfrm>
            <a:custGeom>
              <a:avLst/>
              <a:gdLst/>
              <a:ahLst/>
              <a:cxnLst/>
              <a:rect r="r" b="b" t="t" l="l"/>
              <a:pathLst>
                <a:path h="894839" w="1051941">
                  <a:moveTo>
                    <a:pt x="0" y="447474"/>
                  </a:moveTo>
                  <a:cubicBezTo>
                    <a:pt x="0" y="200294"/>
                    <a:pt x="235458" y="0"/>
                    <a:pt x="526034" y="0"/>
                  </a:cubicBezTo>
                  <a:cubicBezTo>
                    <a:pt x="816610" y="0"/>
                    <a:pt x="1051941" y="200294"/>
                    <a:pt x="1051941" y="447474"/>
                  </a:cubicBezTo>
                  <a:cubicBezTo>
                    <a:pt x="1051941" y="694654"/>
                    <a:pt x="816483" y="894839"/>
                    <a:pt x="526034" y="894839"/>
                  </a:cubicBezTo>
                  <a:cubicBezTo>
                    <a:pt x="235585" y="894839"/>
                    <a:pt x="0" y="694546"/>
                    <a:pt x="0" y="44747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BBCD0">
                    <a:alpha val="100000"/>
                  </a:srgbClr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/>
            </a:gra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61113" y="989558"/>
            <a:ext cx="649832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9"/>
              </a:lnSpc>
            </a:pPr>
            <a:r>
              <a:rPr lang="en-US" sz="4691" b="true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99998" y="1082478"/>
            <a:ext cx="649832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9"/>
              </a:lnSpc>
            </a:pPr>
            <a:r>
              <a:rPr lang="en-US" sz="4691" b="true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Looking Ahead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1113" y="5431980"/>
            <a:ext cx="649832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9"/>
              </a:lnSpc>
            </a:pPr>
            <a:r>
              <a:rPr lang="en-US" sz="4691" b="true">
                <a:solidFill>
                  <a:srgbClr val="305B98"/>
                </a:solidFill>
                <a:latin typeface="Arimo Bold"/>
                <a:ea typeface="Arimo Bold"/>
                <a:cs typeface="Arimo Bold"/>
                <a:sym typeface="Arimo Bold"/>
              </a:rPr>
              <a:t>Call to Action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9408" y="2158282"/>
            <a:ext cx="7512715" cy="243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2188" indent="-346094" lvl="1">
              <a:lnSpc>
                <a:spcPts val="3847"/>
              </a:lnSpc>
              <a:buFont typeface="Arial"/>
              <a:buChar char="•"/>
            </a:pPr>
            <a:r>
              <a:rPr lang="en-US" b="true" sz="3206">
                <a:solidFill>
                  <a:srgbClr val="ABBCC9"/>
                </a:solidFill>
                <a:latin typeface="Arimo Bold"/>
                <a:ea typeface="Arimo Bold"/>
                <a:cs typeface="Arimo Bold"/>
                <a:sym typeface="Arimo Bold"/>
              </a:rPr>
              <a:t>AI-driven drone delivery can drastically increase speed, reduce costs, and boost competitive advantage.</a:t>
            </a:r>
          </a:p>
          <a:p>
            <a:pPr algn="l">
              <a:lnSpc>
                <a:spcPts val="3847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09408" y="6360778"/>
            <a:ext cx="7512715" cy="293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2189" indent="-346094" lvl="1">
              <a:lnSpc>
                <a:spcPts val="3847"/>
              </a:lnSpc>
              <a:buFont typeface="Arial"/>
              <a:buChar char="•"/>
            </a:pPr>
            <a:r>
              <a:rPr lang="en-US" b="true" sz="3206">
                <a:solidFill>
                  <a:srgbClr val="ABBCC9"/>
                </a:solidFill>
                <a:latin typeface="Arimo Bold"/>
                <a:ea typeface="Arimo Bold"/>
                <a:cs typeface="Arimo Bold"/>
                <a:sym typeface="Arimo Bold"/>
              </a:rPr>
              <a:t>Urge business leaders, policymakers, and customers to invest in research, infrastructure, and pilot programs to refine drone technology and expand its benefits.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99998" y="2158282"/>
            <a:ext cx="7512715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2189" indent="-346094" lvl="1">
              <a:lnSpc>
                <a:spcPts val="3847"/>
              </a:lnSpc>
              <a:buFont typeface="Arial"/>
              <a:buChar char="•"/>
            </a:pPr>
            <a:r>
              <a:rPr lang="en-US" b="true" sz="3206">
                <a:solidFill>
                  <a:srgbClr val="ABBCC9"/>
                </a:solidFill>
                <a:latin typeface="Arimo Bold"/>
                <a:ea typeface="Arimo Bold"/>
                <a:cs typeface="Arimo Bold"/>
                <a:sym typeface="Arimo Bold"/>
              </a:rPr>
              <a:t>As technology matures and regulations adapt, drones could become standard in supply chain operations.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1575" y="3714750"/>
            <a:ext cx="9562572" cy="281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80"/>
              </a:lnSpc>
              <a:spcBef>
                <a:spcPct val="0"/>
              </a:spcBef>
            </a:pPr>
            <a:r>
              <a:rPr lang="en-US" b="true" sz="9150">
                <a:solidFill>
                  <a:srgbClr val="07A893"/>
                </a:solidFill>
                <a:latin typeface="Arimo Bold"/>
                <a:ea typeface="Arimo Bold"/>
                <a:cs typeface="Arimo Bold"/>
                <a:sym typeface="Arimo Bold"/>
              </a:rPr>
              <a:t>BIBLIOGRAPHY &amp; 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19690" y="981075"/>
            <a:ext cx="1903528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F6F6F8"/>
                </a:solidFill>
                <a:latin typeface="Arimo"/>
                <a:ea typeface="Arimo"/>
                <a:cs typeface="Arimo"/>
                <a:sym typeface="Arimo"/>
              </a:rPr>
              <a:t>06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21575" y="6679250"/>
            <a:ext cx="24304370" cy="431400"/>
            <a:chOff x="0" y="0"/>
            <a:chExt cx="32405827" cy="57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405879" cy="575183"/>
            </a:xfrm>
            <a:custGeom>
              <a:avLst/>
              <a:gdLst/>
              <a:ahLst/>
              <a:cxnLst/>
              <a:rect r="r" b="b" t="t" l="l"/>
              <a:pathLst>
                <a:path h="575183" w="32405879">
                  <a:moveTo>
                    <a:pt x="0" y="575183"/>
                  </a:moveTo>
                  <a:lnTo>
                    <a:pt x="462733" y="0"/>
                  </a:lnTo>
                  <a:lnTo>
                    <a:pt x="32405879" y="0"/>
                  </a:lnTo>
                  <a:lnTo>
                    <a:pt x="31942853" y="575183"/>
                  </a:lnTo>
                  <a:close/>
                </a:path>
              </a:pathLst>
            </a:custGeom>
            <a:gradFill rotWithShape="true">
              <a:gsLst>
                <a:gs pos="0">
                  <a:srgbClr val="81A7C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081873" y="5143500"/>
            <a:ext cx="2818783" cy="7799309"/>
          </a:xfrm>
          <a:custGeom>
            <a:avLst/>
            <a:gdLst/>
            <a:ahLst/>
            <a:cxnLst/>
            <a:rect r="r" b="b" t="t" l="l"/>
            <a:pathLst>
              <a:path h="7799309" w="2818783">
                <a:moveTo>
                  <a:pt x="0" y="0"/>
                </a:moveTo>
                <a:lnTo>
                  <a:pt x="2818782" y="0"/>
                </a:lnTo>
                <a:lnTo>
                  <a:pt x="2818782" y="7799309"/>
                </a:lnTo>
                <a:lnTo>
                  <a:pt x="0" y="77993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06957" y="764839"/>
            <a:ext cx="6975090" cy="4185322"/>
          </a:xfrm>
          <a:custGeom>
            <a:avLst/>
            <a:gdLst/>
            <a:ahLst/>
            <a:cxnLst/>
            <a:rect r="r" b="b" t="t" l="l"/>
            <a:pathLst>
              <a:path h="4185322" w="6975090">
                <a:moveTo>
                  <a:pt x="0" y="0"/>
                </a:moveTo>
                <a:lnTo>
                  <a:pt x="6975090" y="0"/>
                </a:lnTo>
                <a:lnTo>
                  <a:pt x="6975090" y="4185322"/>
                </a:lnTo>
                <a:lnTo>
                  <a:pt x="0" y="41853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2917" y="9258300"/>
            <a:ext cx="1451617" cy="1451617"/>
            <a:chOff x="0" y="0"/>
            <a:chExt cx="1052000" cy="105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1941" cy="1051941"/>
            </a:xfrm>
            <a:custGeom>
              <a:avLst/>
              <a:gdLst/>
              <a:ahLst/>
              <a:cxnLst/>
              <a:rect r="r" b="b" t="t" l="l"/>
              <a:pathLst>
                <a:path h="1051941" w="1051941">
                  <a:moveTo>
                    <a:pt x="0" y="526034"/>
                  </a:moveTo>
                  <a:cubicBezTo>
                    <a:pt x="0" y="235458"/>
                    <a:pt x="235458" y="0"/>
                    <a:pt x="526034" y="0"/>
                  </a:cubicBezTo>
                  <a:cubicBezTo>
                    <a:pt x="816610" y="0"/>
                    <a:pt x="1051941" y="235458"/>
                    <a:pt x="1051941" y="526034"/>
                  </a:cubicBezTo>
                  <a:cubicBezTo>
                    <a:pt x="1051941" y="816610"/>
                    <a:pt x="816483" y="1051941"/>
                    <a:pt x="526034" y="1051941"/>
                  </a:cubicBezTo>
                  <a:cubicBezTo>
                    <a:pt x="235585" y="1051941"/>
                    <a:pt x="0" y="816483"/>
                    <a:pt x="0" y="52603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8BAAC">
                    <a:alpha val="100000"/>
                  </a:srgbClr>
                </a:gs>
                <a:gs pos="100000">
                  <a:srgbClr val="F6F6F8">
                    <a:alpha val="100000"/>
                  </a:srgbClr>
                </a:gs>
                <a:gs pos="100000">
                  <a:srgbClr val="169B82">
                    <a:alpha val="100000"/>
                  </a:srgbClr>
                </a:gs>
              </a:gsLst>
              <a:lin ang="5400700"/>
            </a:gra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86880" y="1013225"/>
            <a:ext cx="12601350" cy="840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 marL="655015" indent="-327507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[1] L. C. Dieu, “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AI and Autonomous Drones: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ransform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ng De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l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iv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ry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and Transp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rtation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| Smar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Dev,” SmartD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v,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Se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. 17, 2024. https://smartdev.com/ai-and-a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u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tonomous-drones-transforming-de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li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very-and-transport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ation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/ (accessed Apr. 04, 2025).</a:t>
            </a:r>
          </a:p>
          <a:p>
            <a:pPr algn="l">
              <a:lnSpc>
                <a:spcPts val="3359"/>
              </a:lnSpc>
            </a:pPr>
          </a:p>
          <a:p>
            <a:pPr algn="l" marL="655015" indent="-327507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[2] SwissCognitive Guest Blogger, “How AI Is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ransform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ng Drone De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l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iv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ry,” SwissC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gnitive | AI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Ven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ures, Advisory &amp; Researc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h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u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g. 13, 2024. https://sw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ss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c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ognitive.ch/2024/08/13/how-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i-is-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ransform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ng-dr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on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e-delivery/ (accessed Apr. 04, 2025).</a:t>
            </a:r>
          </a:p>
          <a:p>
            <a:pPr algn="l">
              <a:lnSpc>
                <a:spcPts val="3359"/>
              </a:lnSpc>
            </a:pPr>
          </a:p>
          <a:p>
            <a:pPr algn="l" marL="655015" indent="-327507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[3] F. Magdolna, “Is Drone Delivery Artificial Intelligence? (April 2025),” Fly Eye, Jan. 19, 2024. h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tps://www.f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l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y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ye.i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/is-drone-delivery-arti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icial-intelligence/#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(access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r. 04, 2025).</a:t>
            </a:r>
          </a:p>
          <a:p>
            <a:pPr algn="l">
              <a:lnSpc>
                <a:spcPts val="3359"/>
              </a:lnSpc>
            </a:pPr>
          </a:p>
          <a:p>
            <a:pPr algn="l" marL="655015" indent="-327507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[4] D. Ca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b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al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l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ero-M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tin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, J. M. Lopez-Guede, J. Estevez, and M. Graña, “Artificial Intelligence Applied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o Drone Contro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l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: A Stat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e of the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Art,” Drones, vol. 8, no. 7,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p. 296–296, J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ul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. 2024,  ht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ps://do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.org/10.3390/dr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on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es8070296.(accessed Apr. 04, 2025).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581335" y="1733710"/>
            <a:ext cx="4452298" cy="3881466"/>
          </a:xfrm>
          <a:custGeom>
            <a:avLst/>
            <a:gdLst/>
            <a:ahLst/>
            <a:cxnLst/>
            <a:rect r="r" b="b" t="t" l="l"/>
            <a:pathLst>
              <a:path h="3881466" w="4452298">
                <a:moveTo>
                  <a:pt x="0" y="0"/>
                </a:moveTo>
                <a:lnTo>
                  <a:pt x="4452298" y="0"/>
                </a:lnTo>
                <a:lnTo>
                  <a:pt x="4452298" y="3881465"/>
                </a:lnTo>
                <a:lnTo>
                  <a:pt x="0" y="38814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9258300"/>
            <a:ext cx="1388054" cy="1388054"/>
            <a:chOff x="0" y="0"/>
            <a:chExt cx="1052000" cy="105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1941" cy="1051941"/>
            </a:xfrm>
            <a:custGeom>
              <a:avLst/>
              <a:gdLst/>
              <a:ahLst/>
              <a:cxnLst/>
              <a:rect r="r" b="b" t="t" l="l"/>
              <a:pathLst>
                <a:path h="1051941" w="1051941">
                  <a:moveTo>
                    <a:pt x="0" y="526034"/>
                  </a:moveTo>
                  <a:cubicBezTo>
                    <a:pt x="0" y="235458"/>
                    <a:pt x="235458" y="0"/>
                    <a:pt x="526034" y="0"/>
                  </a:cubicBezTo>
                  <a:cubicBezTo>
                    <a:pt x="816610" y="0"/>
                    <a:pt x="1051941" y="235458"/>
                    <a:pt x="1051941" y="526034"/>
                  </a:cubicBezTo>
                  <a:cubicBezTo>
                    <a:pt x="1051941" y="816610"/>
                    <a:pt x="816483" y="1051941"/>
                    <a:pt x="526034" y="1051941"/>
                  </a:cubicBezTo>
                  <a:cubicBezTo>
                    <a:pt x="235585" y="1051941"/>
                    <a:pt x="0" y="816483"/>
                    <a:pt x="0" y="52603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8BAAC">
                    <a:alpha val="100000"/>
                  </a:srgbClr>
                </a:gs>
                <a:gs pos="100000">
                  <a:srgbClr val="F6F6F8">
                    <a:alpha val="100000"/>
                  </a:srgbClr>
                </a:gs>
                <a:gs pos="100000">
                  <a:srgbClr val="169B82">
                    <a:alpha val="100000"/>
                  </a:srgbClr>
                </a:gs>
              </a:gsLst>
              <a:lin ang="5400700"/>
            </a:gra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8675" y="219075"/>
            <a:ext cx="12967685" cy="1091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[5]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T. Verbitskaya, “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AI Drones Streamlining Delivery and Supply Chain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M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anagement,” Keymakr,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Jan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. 20, 2025. https://keymakr.com/blog/untitled-4/ (accessed Apr. 05, 2025).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[6]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Y. ADEOYE, F. ONOTOLE, T. OGUNYANKINNU, G. AIPOH, A. OSUNKANMIBI, and J. EGBEMHENGHE, “Artificial Intelligence in Logistics and Distribution: The function of AI in dynamic route planning for transportation, including self-driving trucks and drone delivery systems,” World Journal of Advanced Research and Reviews, vo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l. 25,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no. 2, pp. 155–167, Feb. 2025, doi: https://doi.org/10.30574/wjarr.2025.25.2.0214.(accessed Apr. 05, 2025).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[7] W. Walker, “Drones, AI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nd more: 5 Last-mile delivery trends to watch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 | Roadie,” Roadie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Oct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. 28, 2024. https://www.roadie.com/blog/2024/10/drones-ai-and-more-5-last-mi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l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e-delivery-trends-to-watch-ent (accessed Apr. 05, 2025).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[8] D. Amicone, A. Cannas, A. Marci, and G. Tortora, “A Smart Capsule Equipped with Artificial Intelligence for Autonomous Delivery of Medical Material through Drones,” Applied Sciences, vol. 11, no. 17, p. 7976, Aug. 2021, doi: https://doi.org/10.3390/app11177976.(accessed Apr. 05, 2025).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464756" y="3735919"/>
            <a:ext cx="4488571" cy="2815162"/>
          </a:xfrm>
          <a:custGeom>
            <a:avLst/>
            <a:gdLst/>
            <a:ahLst/>
            <a:cxnLst/>
            <a:rect r="r" b="b" t="t" l="l"/>
            <a:pathLst>
              <a:path h="2815162" w="4488571">
                <a:moveTo>
                  <a:pt x="0" y="0"/>
                </a:moveTo>
                <a:lnTo>
                  <a:pt x="4488571" y="0"/>
                </a:lnTo>
                <a:lnTo>
                  <a:pt x="4488571" y="2815162"/>
                </a:lnTo>
                <a:lnTo>
                  <a:pt x="0" y="2815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1550" y="6950576"/>
            <a:ext cx="789000" cy="789000"/>
            <a:chOff x="0" y="0"/>
            <a:chExt cx="1052000" cy="105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1941" cy="1051941"/>
            </a:xfrm>
            <a:custGeom>
              <a:avLst/>
              <a:gdLst/>
              <a:ahLst/>
              <a:cxnLst/>
              <a:rect r="r" b="b" t="t" l="l"/>
              <a:pathLst>
                <a:path h="1051941" w="1051941">
                  <a:moveTo>
                    <a:pt x="0" y="526034"/>
                  </a:moveTo>
                  <a:cubicBezTo>
                    <a:pt x="0" y="235458"/>
                    <a:pt x="235458" y="0"/>
                    <a:pt x="526034" y="0"/>
                  </a:cubicBezTo>
                  <a:cubicBezTo>
                    <a:pt x="816610" y="0"/>
                    <a:pt x="1051941" y="235458"/>
                    <a:pt x="1051941" y="526034"/>
                  </a:cubicBezTo>
                  <a:cubicBezTo>
                    <a:pt x="1051941" y="816610"/>
                    <a:pt x="816483" y="1051941"/>
                    <a:pt x="526034" y="1051941"/>
                  </a:cubicBezTo>
                  <a:cubicBezTo>
                    <a:pt x="235585" y="1051941"/>
                    <a:pt x="0" y="816483"/>
                    <a:pt x="0" y="52603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8BAAC">
                    <a:alpha val="100000"/>
                  </a:srgbClr>
                </a:gs>
                <a:gs pos="100000">
                  <a:srgbClr val="F6F6F8">
                    <a:alpha val="100000"/>
                  </a:srgbClr>
                </a:gs>
                <a:gs pos="100000">
                  <a:srgbClr val="169B82">
                    <a:alpha val="100000"/>
                  </a:srgbClr>
                </a:gs>
              </a:gsLst>
              <a:lin ang="5400700"/>
            </a:gra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01180" y="885100"/>
            <a:ext cx="12601350" cy="504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[9] R. Nunkoo, R. Pillai, B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rijesh Sivathanu, and N. P. Rana, “Drivers and inhibitors of consumers’ adoption of AI-driven drone food delivery services,” International Journal of Hospitality Management, vol. 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, pp. 103913–103913, Sep. 2024, doi: https://doi.org/10.1016/j.ijhm.2024.103913.(accessed Apr. 06, 2025).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[10] A. S. Shuaibu, A. S. Mahmoud, a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n</a:t>
            </a:r>
            <a:r>
              <a:rPr lang="en-US" sz="2799">
                <a:solidFill>
                  <a:srgbClr val="ABBCC9"/>
                </a:solidFill>
                <a:latin typeface="Arimo"/>
                <a:ea typeface="Arimo"/>
                <a:cs typeface="Arimo"/>
                <a:sym typeface="Arimo"/>
              </a:rPr>
              <a:t>d T. R. Sheltami, “A Review of Last-Mile Delivery Optimization: Strategies, Technologies, Drone Integration, and Future Trends,” Drones, vol. 9, no. 3, p. 158, Feb. 2025, doi: https://doi.org/10.3390/drones9030158.(accessed Apr. 06, 2025).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7048827" y="9258300"/>
            <a:ext cx="2140560" cy="1898296"/>
          </a:xfrm>
          <a:custGeom>
            <a:avLst/>
            <a:gdLst/>
            <a:ahLst/>
            <a:cxnLst/>
            <a:rect r="r" b="b" t="t" l="l"/>
            <a:pathLst>
              <a:path h="1898296" w="2140560">
                <a:moveTo>
                  <a:pt x="0" y="0"/>
                </a:moveTo>
                <a:lnTo>
                  <a:pt x="2140561" y="0"/>
                </a:lnTo>
                <a:lnTo>
                  <a:pt x="2140561" y="1898296"/>
                </a:lnTo>
                <a:lnTo>
                  <a:pt x="0" y="1898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22960" y="5515260"/>
            <a:ext cx="6559140" cy="3935736"/>
          </a:xfrm>
          <a:custGeom>
            <a:avLst/>
            <a:gdLst/>
            <a:ahLst/>
            <a:cxnLst/>
            <a:rect r="r" b="b" t="t" l="l"/>
            <a:pathLst>
              <a:path h="3935736" w="6559140">
                <a:moveTo>
                  <a:pt x="0" y="0"/>
                </a:moveTo>
                <a:lnTo>
                  <a:pt x="6559140" y="0"/>
                </a:lnTo>
                <a:lnTo>
                  <a:pt x="6559140" y="3935736"/>
                </a:lnTo>
                <a:lnTo>
                  <a:pt x="0" y="39357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9825" y="2204765"/>
            <a:ext cx="13358435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20"/>
              </a:lnSpc>
            </a:pPr>
            <a:r>
              <a:rPr lang="en-US" sz="16600">
                <a:solidFill>
                  <a:srgbClr val="07A893"/>
                </a:solidFill>
                <a:latin typeface="Arimo"/>
                <a:ea typeface="Arimo"/>
                <a:cs typeface="Arimo"/>
                <a:sym typeface="Arimo"/>
              </a:rPr>
              <a:t>THANK YOU!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7875" y="5114190"/>
            <a:ext cx="1004535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400">
                <a:solidFill>
                  <a:srgbClr val="305B98"/>
                </a:solidFill>
                <a:latin typeface="Arimo"/>
                <a:ea typeface="Arimo"/>
                <a:cs typeface="Arimo"/>
                <a:sym typeface="Arimo"/>
              </a:rPr>
              <a:t>DO YOU HAVE ANY QUESTIONS?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517875" y="4570340"/>
            <a:ext cx="19503801" cy="431400"/>
            <a:chOff x="0" y="0"/>
            <a:chExt cx="26005068" cy="57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004983" cy="575183"/>
            </a:xfrm>
            <a:custGeom>
              <a:avLst/>
              <a:gdLst/>
              <a:ahLst/>
              <a:cxnLst/>
              <a:rect r="r" b="b" t="t" l="l"/>
              <a:pathLst>
                <a:path h="575183" w="26004983">
                  <a:moveTo>
                    <a:pt x="0" y="575183"/>
                  </a:moveTo>
                  <a:lnTo>
                    <a:pt x="531836" y="0"/>
                  </a:lnTo>
                  <a:lnTo>
                    <a:pt x="26004983" y="0"/>
                  </a:lnTo>
                  <a:lnTo>
                    <a:pt x="25473147" y="575183"/>
                  </a:lnTo>
                  <a:close/>
                </a:path>
              </a:pathLst>
            </a:custGeom>
            <a:gradFill rotWithShape="true">
              <a:gsLst>
                <a:gs pos="0">
                  <a:srgbClr val="81A7CE">
                    <a:alpha val="100000"/>
                  </a:srgbClr>
                </a:gs>
                <a:gs pos="100000">
                  <a:srgbClr val="F6F6F8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678150" y="8723857"/>
            <a:ext cx="2196025" cy="2196025"/>
            <a:chOff x="0" y="0"/>
            <a:chExt cx="1268800" cy="126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8857" cy="1268857"/>
            </a:xfrm>
            <a:custGeom>
              <a:avLst/>
              <a:gdLst/>
              <a:ahLst/>
              <a:cxnLst/>
              <a:rect r="r" b="b" t="t" l="l"/>
              <a:pathLst>
                <a:path h="1268857" w="1268857">
                  <a:moveTo>
                    <a:pt x="0" y="634365"/>
                  </a:moveTo>
                  <a:cubicBezTo>
                    <a:pt x="0" y="283972"/>
                    <a:pt x="283972" y="0"/>
                    <a:pt x="634365" y="0"/>
                  </a:cubicBezTo>
                  <a:cubicBezTo>
                    <a:pt x="984758" y="0"/>
                    <a:pt x="1268857" y="283972"/>
                    <a:pt x="1268857" y="634365"/>
                  </a:cubicBezTo>
                  <a:cubicBezTo>
                    <a:pt x="1268857" y="984758"/>
                    <a:pt x="984758" y="1268857"/>
                    <a:pt x="634365" y="1268857"/>
                  </a:cubicBezTo>
                  <a:cubicBezTo>
                    <a:pt x="283972" y="1268857"/>
                    <a:pt x="0" y="984758"/>
                    <a:pt x="0" y="63436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A7CE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340448" y="7767678"/>
            <a:ext cx="2038868" cy="2054192"/>
          </a:xfrm>
          <a:custGeom>
            <a:avLst/>
            <a:gdLst/>
            <a:ahLst/>
            <a:cxnLst/>
            <a:rect r="r" b="b" t="t" l="l"/>
            <a:pathLst>
              <a:path h="2054192" w="2038868">
                <a:moveTo>
                  <a:pt x="0" y="0"/>
                </a:moveTo>
                <a:lnTo>
                  <a:pt x="2038868" y="0"/>
                </a:lnTo>
                <a:lnTo>
                  <a:pt x="2038868" y="2054192"/>
                </a:lnTo>
                <a:lnTo>
                  <a:pt x="0" y="2054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57374" y="5428899"/>
            <a:ext cx="6121008" cy="3590598"/>
          </a:xfrm>
          <a:custGeom>
            <a:avLst/>
            <a:gdLst/>
            <a:ahLst/>
            <a:cxnLst/>
            <a:rect r="r" b="b" t="t" l="l"/>
            <a:pathLst>
              <a:path h="3590598" w="6121008">
                <a:moveTo>
                  <a:pt x="0" y="0"/>
                </a:moveTo>
                <a:lnTo>
                  <a:pt x="6121008" y="0"/>
                </a:lnTo>
                <a:lnTo>
                  <a:pt x="6121008" y="3590598"/>
                </a:lnTo>
                <a:lnTo>
                  <a:pt x="0" y="35905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DAGjwxS0O50</dc:identifier>
  <dcterms:modified xsi:type="dcterms:W3CDTF">2011-08-01T06:04:30Z</dcterms:modified>
  <cp:revision>1</cp:revision>
  <dc:title>Copy of drone-flight-required-documentation.pptx</dc:title>
</cp:coreProperties>
</file>