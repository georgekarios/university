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Inter" charset="1" panose="020B0502030000000004"/>
      <p:regular r:id="rId13"/>
    </p:embeddedFont>
    <p:embeddedFont>
      <p:font typeface="Inter Bold" charset="1" panose="020B080203000000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2.png" Type="http://schemas.openxmlformats.org/officeDocument/2006/relationships/image"/><Relationship Id="rId6" Target="../media/image13.jpeg" Type="http://schemas.openxmlformats.org/officeDocument/2006/relationships/image"/><Relationship Id="rId7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96" t="0" r="-629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997732" y="5368848"/>
            <a:ext cx="6733089" cy="765889"/>
          </a:xfrm>
          <a:custGeom>
            <a:avLst/>
            <a:gdLst/>
            <a:ahLst/>
            <a:cxnLst/>
            <a:rect r="r" b="b" t="t" l="l"/>
            <a:pathLst>
              <a:path h="765889" w="6733089">
                <a:moveTo>
                  <a:pt x="0" y="0"/>
                </a:moveTo>
                <a:lnTo>
                  <a:pt x="6733089" y="0"/>
                </a:lnTo>
                <a:lnTo>
                  <a:pt x="6733089" y="765889"/>
                </a:lnTo>
                <a:lnTo>
                  <a:pt x="0" y="765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750" y="6457284"/>
            <a:ext cx="7658311" cy="223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01"/>
              </a:lnSpc>
              <a:spcBef>
                <a:spcPct val="0"/>
              </a:spcBef>
            </a:pPr>
            <a:r>
              <a:rPr lang="en-US" sz="8601" spc="-6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EINE STADT IN DEUTSCHLAND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4839903"/>
            <a:ext cx="9258300" cy="178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371"/>
              </a:lnSpc>
              <a:spcBef>
                <a:spcPct val="0"/>
              </a:spcBef>
            </a:pPr>
            <a:r>
              <a:rPr lang="en-US" b="true" sz="13371" spc="-100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FRANKFURT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8913232"/>
            <a:ext cx="6733089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69"/>
              </a:lnSpc>
            </a:pPr>
            <a:r>
              <a:rPr lang="en-US" sz="1899" spc="-14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Ein Projekt über eine deutsche Stadt mit Sehenswürdigkeiten, Spezialitäten und Universitäten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6275" y="389890"/>
            <a:ext cx="4056855" cy="31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21"/>
              </a:lnSpc>
            </a:pPr>
            <a:r>
              <a:rPr lang="en-US" b="true" sz="1899" spc="25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Georgios Karios (30738)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" r="0" b="-3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36831" y="-51435"/>
            <a:ext cx="9451169" cy="10389870"/>
            <a:chOff x="0" y="0"/>
            <a:chExt cx="853001" cy="9377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3001" cy="937722"/>
            </a:xfrm>
            <a:custGeom>
              <a:avLst/>
              <a:gdLst/>
              <a:ahLst/>
              <a:cxnLst/>
              <a:rect r="r" b="b" t="t" l="l"/>
              <a:pathLst>
                <a:path h="937722" w="853001">
                  <a:moveTo>
                    <a:pt x="0" y="0"/>
                  </a:moveTo>
                  <a:lnTo>
                    <a:pt x="853001" y="0"/>
                  </a:lnTo>
                  <a:lnTo>
                    <a:pt x="853001" y="937722"/>
                  </a:lnTo>
                  <a:lnTo>
                    <a:pt x="0" y="937722"/>
                  </a:lnTo>
                  <a:close/>
                </a:path>
              </a:pathLst>
            </a:custGeom>
            <a:blipFill>
              <a:blip r:embed="rId3"/>
              <a:stretch>
                <a:fillRect l="0" t="-9779" r="0" b="-977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13997732" y="5368848"/>
            <a:ext cx="6733089" cy="765889"/>
          </a:xfrm>
          <a:custGeom>
            <a:avLst/>
            <a:gdLst/>
            <a:ahLst/>
            <a:cxnLst/>
            <a:rect r="r" b="b" t="t" l="l"/>
            <a:pathLst>
              <a:path h="765889" w="6733089">
                <a:moveTo>
                  <a:pt x="0" y="0"/>
                </a:moveTo>
                <a:lnTo>
                  <a:pt x="6733089" y="0"/>
                </a:lnTo>
                <a:lnTo>
                  <a:pt x="6733089" y="765889"/>
                </a:lnTo>
                <a:lnTo>
                  <a:pt x="0" y="7658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7725" y="2920968"/>
            <a:ext cx="7808131" cy="4445064"/>
            <a:chOff x="0" y="0"/>
            <a:chExt cx="10410842" cy="592675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3350"/>
              <a:ext cx="10026640" cy="28299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b="true" sz="8000" spc="392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WO LIEGT DIE S</a:t>
              </a:r>
              <a:r>
                <a:rPr lang="en-US" b="true" sz="8000" spc="392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TADT?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486321"/>
              <a:ext cx="10410842" cy="2440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8"/>
                </a:lnSpc>
              </a:pPr>
              <a:r>
                <a:rPr lang="en-US" sz="2028" spc="-15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Die Stadt heißt Frankfurt.</a:t>
              </a:r>
            </a:p>
            <a:p>
              <a:pPr algn="l">
                <a:lnSpc>
                  <a:spcPts val="2028"/>
                </a:lnSpc>
              </a:pPr>
            </a:p>
            <a:p>
              <a:pPr algn="l">
                <a:lnSpc>
                  <a:spcPts val="2028"/>
                </a:lnSpc>
              </a:pPr>
              <a:r>
                <a:rPr lang="en-US" sz="2028" spc="-15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Sie liegt im Westen von Deutschland, im Bundesland Hessen.</a:t>
              </a:r>
            </a:p>
            <a:p>
              <a:pPr algn="l">
                <a:lnSpc>
                  <a:spcPts val="2028"/>
                </a:lnSpc>
              </a:pPr>
            </a:p>
            <a:p>
              <a:pPr algn="l">
                <a:lnSpc>
                  <a:spcPts val="2028"/>
                </a:lnSpc>
              </a:pPr>
              <a:r>
                <a:rPr lang="en-US" sz="2028" spc="-15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Frankfurt liegt am Fluss Main, in der Nähe von Wiesbaden und Mainz.</a:t>
              </a:r>
            </a:p>
            <a:p>
              <a:pPr algn="l">
                <a:lnSpc>
                  <a:spcPts val="2028"/>
                </a:lnSpc>
              </a:pPr>
            </a:p>
            <a:p>
              <a:pPr algn="l" marL="0" indent="0" lvl="0">
                <a:lnSpc>
                  <a:spcPts val="2028"/>
                </a:lnSpc>
                <a:spcBef>
                  <a:spcPct val="0"/>
                </a:spcBef>
              </a:pPr>
              <a:r>
                <a:rPr lang="en-US" sz="2028" spc="-15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Es ist eine große, moderne Stadt mit einem wichtigen Flughafen.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" r="0" b="-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997732" y="5368848"/>
            <a:ext cx="6733089" cy="765889"/>
          </a:xfrm>
          <a:custGeom>
            <a:avLst/>
            <a:gdLst/>
            <a:ahLst/>
            <a:cxnLst/>
            <a:rect r="r" b="b" t="t" l="l"/>
            <a:pathLst>
              <a:path h="765889" w="6733089">
                <a:moveTo>
                  <a:pt x="0" y="0"/>
                </a:moveTo>
                <a:lnTo>
                  <a:pt x="6733089" y="0"/>
                </a:lnTo>
                <a:lnTo>
                  <a:pt x="6733089" y="765889"/>
                </a:lnTo>
                <a:lnTo>
                  <a:pt x="0" y="765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72575" y="0"/>
            <a:ext cx="9759063" cy="10370108"/>
            <a:chOff x="0" y="0"/>
            <a:chExt cx="13012084" cy="1382681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4762969" y="4123386"/>
              <a:ext cx="8249115" cy="8249115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25000" t="0" r="-25000" b="0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7371916" cy="7371916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24441" t="0" r="-24441" b="0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3130362" y="9286990"/>
              <a:ext cx="4539821" cy="453982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14412" t="0" r="-14412" b="0"/>
                </a:stretch>
              </a:blipFill>
            </p:spPr>
          </p:sp>
        </p:grpSp>
      </p:grpSp>
      <p:sp>
        <p:nvSpPr>
          <p:cNvPr name="TextBox 11" id="11"/>
          <p:cNvSpPr txBox="true"/>
          <p:nvPr/>
        </p:nvSpPr>
        <p:spPr>
          <a:xfrm rot="0">
            <a:off x="561975" y="3206826"/>
            <a:ext cx="9923614" cy="1019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01"/>
              </a:lnSpc>
              <a:spcBef>
                <a:spcPct val="0"/>
              </a:spcBef>
            </a:pPr>
            <a:r>
              <a:rPr lang="en-US" sz="7601" spc="-57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lang="en-US" sz="7601" spc="-57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 VIELE EINWOHNER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1975" y="6354295"/>
            <a:ext cx="8361298" cy="211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0"/>
              </a:lnSpc>
            </a:pPr>
            <a:r>
              <a:rPr lang="en-US" sz="2000" spc="-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Frankfurt hat ungefähr 750.000 Einwohner.</a:t>
            </a:r>
          </a:p>
          <a:p>
            <a:pPr algn="just">
              <a:lnSpc>
                <a:spcPts val="3380"/>
              </a:lnSpc>
            </a:pPr>
            <a:r>
              <a:rPr lang="en-US" sz="2000" spc="-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Die Menschen nennt man Frankfurter.</a:t>
            </a:r>
          </a:p>
          <a:p>
            <a:pPr algn="just">
              <a:lnSpc>
                <a:spcPts val="3380"/>
              </a:lnSpc>
            </a:pPr>
            <a:r>
              <a:rPr lang="en-US" sz="2000" spc="-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Viele Menschen kommen aus verschiedenen Ländern.</a:t>
            </a:r>
          </a:p>
          <a:p>
            <a:pPr algn="just">
              <a:lnSpc>
                <a:spcPts val="3380"/>
              </a:lnSpc>
            </a:pPr>
            <a:r>
              <a:rPr lang="en-US" sz="2000" spc="-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Die Stadt ist modern und sehr international.</a:t>
            </a:r>
          </a:p>
          <a:p>
            <a:pPr algn="just" marL="0" indent="0" lvl="0">
              <a:lnSpc>
                <a:spcPts val="3380"/>
              </a:lnSpc>
            </a:pPr>
            <a:r>
              <a:rPr lang="en-US" sz="2000" spc="-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 gibt auch viele Studenten und Familien.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1975" y="4273558"/>
            <a:ext cx="10443647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LEBEN IN DE</a:t>
            </a:r>
            <a:r>
              <a:rPr lang="en-US" b="true" sz="8000" spc="-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 STADT?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" r="0" b="-3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66786" y="-51435"/>
            <a:ext cx="10221214" cy="10389870"/>
            <a:chOff x="0" y="0"/>
            <a:chExt cx="922501" cy="9377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2501" cy="937722"/>
            </a:xfrm>
            <a:custGeom>
              <a:avLst/>
              <a:gdLst/>
              <a:ahLst/>
              <a:cxnLst/>
              <a:rect r="r" b="b" t="t" l="l"/>
              <a:pathLst>
                <a:path h="937722" w="922501">
                  <a:moveTo>
                    <a:pt x="0" y="0"/>
                  </a:moveTo>
                  <a:lnTo>
                    <a:pt x="922501" y="0"/>
                  </a:lnTo>
                  <a:lnTo>
                    <a:pt x="922501" y="937722"/>
                  </a:lnTo>
                  <a:lnTo>
                    <a:pt x="0" y="937722"/>
                  </a:lnTo>
                  <a:close/>
                </a:path>
              </a:pathLst>
            </a:custGeom>
            <a:blipFill>
              <a:blip r:embed="rId3"/>
              <a:stretch>
                <a:fillRect l="-71980" t="0" r="-7198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13997732" y="5368848"/>
            <a:ext cx="6733089" cy="765889"/>
          </a:xfrm>
          <a:custGeom>
            <a:avLst/>
            <a:gdLst/>
            <a:ahLst/>
            <a:cxnLst/>
            <a:rect r="r" b="b" t="t" l="l"/>
            <a:pathLst>
              <a:path h="765889" w="6733089">
                <a:moveTo>
                  <a:pt x="0" y="0"/>
                </a:moveTo>
                <a:lnTo>
                  <a:pt x="6733089" y="0"/>
                </a:lnTo>
                <a:lnTo>
                  <a:pt x="6733089" y="765889"/>
                </a:lnTo>
                <a:lnTo>
                  <a:pt x="0" y="7658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7389902" y="5264161"/>
            <a:ext cx="5903054" cy="671472"/>
          </a:xfrm>
          <a:custGeom>
            <a:avLst/>
            <a:gdLst/>
            <a:ahLst/>
            <a:cxnLst/>
            <a:rect r="r" b="b" t="t" l="l"/>
            <a:pathLst>
              <a:path h="671472" w="5903054">
                <a:moveTo>
                  <a:pt x="0" y="0"/>
                </a:moveTo>
                <a:lnTo>
                  <a:pt x="5903054" y="0"/>
                </a:lnTo>
                <a:lnTo>
                  <a:pt x="5903054" y="671473"/>
                </a:lnTo>
                <a:lnTo>
                  <a:pt x="0" y="671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67619" y="2291054"/>
            <a:ext cx="10058867" cy="5704892"/>
            <a:chOff x="0" y="0"/>
            <a:chExt cx="13411823" cy="760652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3411823" cy="7606522"/>
              <a:chOff x="0" y="0"/>
              <a:chExt cx="2649249" cy="150252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649249" cy="1502523"/>
              </a:xfrm>
              <a:custGeom>
                <a:avLst/>
                <a:gdLst/>
                <a:ahLst/>
                <a:cxnLst/>
                <a:rect r="r" b="b" t="t" l="l"/>
                <a:pathLst>
                  <a:path h="1502523" w="2649249">
                    <a:moveTo>
                      <a:pt x="27708" y="0"/>
                    </a:moveTo>
                    <a:lnTo>
                      <a:pt x="2621541" y="0"/>
                    </a:lnTo>
                    <a:cubicBezTo>
                      <a:pt x="2636844" y="0"/>
                      <a:pt x="2649249" y="12405"/>
                      <a:pt x="2649249" y="27708"/>
                    </a:cubicBezTo>
                    <a:lnTo>
                      <a:pt x="2649249" y="1474815"/>
                    </a:lnTo>
                    <a:cubicBezTo>
                      <a:pt x="2649249" y="1490118"/>
                      <a:pt x="2636844" y="1502523"/>
                      <a:pt x="2621541" y="1502523"/>
                    </a:cubicBezTo>
                    <a:lnTo>
                      <a:pt x="27708" y="1502523"/>
                    </a:lnTo>
                    <a:cubicBezTo>
                      <a:pt x="12405" y="1502523"/>
                      <a:pt x="0" y="1490118"/>
                      <a:pt x="0" y="1474815"/>
                    </a:cubicBezTo>
                    <a:lnTo>
                      <a:pt x="0" y="27708"/>
                    </a:lnTo>
                    <a:cubicBezTo>
                      <a:pt x="0" y="12405"/>
                      <a:pt x="12405" y="0"/>
                      <a:pt x="27708" y="0"/>
                    </a:cubicBezTo>
                    <a:close/>
                  </a:path>
                </a:pathLst>
              </a:custGeom>
              <a:solidFill>
                <a:srgbClr val="4C73DA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9050"/>
                <a:ext cx="2649249" cy="15215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74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930902" y="5120194"/>
              <a:ext cx="10418533" cy="2081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60"/>
                </a:lnSpc>
              </a:pPr>
              <a:r>
                <a:rPr lang="en-US" sz="2000" spc="-1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Die Hauptsprache in Frankfurt ist Deutsch.</a:t>
              </a:r>
            </a:p>
            <a:p>
              <a:pPr algn="just">
                <a:lnSpc>
                  <a:spcPts val="3160"/>
                </a:lnSpc>
              </a:pPr>
              <a:r>
                <a:rPr lang="en-US" sz="2000" spc="-1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Viele Menschen sprechen auch Englisch.</a:t>
              </a:r>
            </a:p>
            <a:p>
              <a:pPr algn="just">
                <a:lnSpc>
                  <a:spcPts val="3160"/>
                </a:lnSpc>
              </a:pPr>
              <a:r>
                <a:rPr lang="en-US" sz="2000" spc="-1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Es gibt viele internationale Studierende und ausländische Firmen.</a:t>
              </a:r>
            </a:p>
            <a:p>
              <a:pPr algn="just" marL="0" indent="0" lvl="0">
                <a:lnSpc>
                  <a:spcPts val="3160"/>
                </a:lnSpc>
              </a:pPr>
              <a:r>
                <a:rPr lang="en-US" sz="2000" spc="-1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Deshalb hört man in der Stadt viele verschiedene Sprachen.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916289" y="513323"/>
              <a:ext cx="12312818" cy="28299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WELCHE SPRACHEN SPRICHT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89602" y="3280825"/>
              <a:ext cx="11859223" cy="1483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b="true" sz="8000" spc="-6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DIESER STADT?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186920" y="1639603"/>
              <a:ext cx="4925620" cy="1703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320"/>
                </a:lnSpc>
                <a:spcBef>
                  <a:spcPct val="0"/>
                </a:spcBef>
              </a:pPr>
              <a:r>
                <a:rPr lang="en-US" b="true" sz="8000" spc="-44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MAN IN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" r="0" b="-3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14997" y="0"/>
            <a:ext cx="5120728" cy="5143500"/>
            <a:chOff x="0" y="0"/>
            <a:chExt cx="925750" cy="9298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5750" cy="929866"/>
            </a:xfrm>
            <a:custGeom>
              <a:avLst/>
              <a:gdLst/>
              <a:ahLst/>
              <a:cxnLst/>
              <a:rect r="r" b="b" t="t" l="l"/>
              <a:pathLst>
                <a:path h="929866" w="925750">
                  <a:moveTo>
                    <a:pt x="0" y="0"/>
                  </a:moveTo>
                  <a:lnTo>
                    <a:pt x="925750" y="0"/>
                  </a:lnTo>
                  <a:lnTo>
                    <a:pt x="925750" y="929866"/>
                  </a:lnTo>
                  <a:lnTo>
                    <a:pt x="0" y="929866"/>
                  </a:lnTo>
                  <a:close/>
                </a:path>
              </a:pathLst>
            </a:custGeom>
            <a:blipFill>
              <a:blip r:embed="rId3"/>
              <a:stretch>
                <a:fillRect l="0" t="-24667" r="0" b="-2466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014997" y="5143500"/>
            <a:ext cx="5120728" cy="5143500"/>
            <a:chOff x="0" y="0"/>
            <a:chExt cx="925750" cy="9298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5750" cy="929866"/>
            </a:xfrm>
            <a:custGeom>
              <a:avLst/>
              <a:gdLst/>
              <a:ahLst/>
              <a:cxnLst/>
              <a:rect r="r" b="b" t="t" l="l"/>
              <a:pathLst>
                <a:path h="929866" w="925750">
                  <a:moveTo>
                    <a:pt x="0" y="0"/>
                  </a:moveTo>
                  <a:lnTo>
                    <a:pt x="925750" y="0"/>
                  </a:lnTo>
                  <a:lnTo>
                    <a:pt x="925750" y="929866"/>
                  </a:lnTo>
                  <a:lnTo>
                    <a:pt x="0" y="929866"/>
                  </a:lnTo>
                  <a:close/>
                </a:path>
              </a:pathLst>
            </a:custGeom>
            <a:blipFill>
              <a:blip r:embed="rId4"/>
              <a:stretch>
                <a:fillRect l="-34134" t="0" r="-34134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13997732" y="5368848"/>
            <a:ext cx="6733089" cy="765889"/>
          </a:xfrm>
          <a:custGeom>
            <a:avLst/>
            <a:gdLst/>
            <a:ahLst/>
            <a:cxnLst/>
            <a:rect r="r" b="b" t="t" l="l"/>
            <a:pathLst>
              <a:path h="765889" w="6733089">
                <a:moveTo>
                  <a:pt x="0" y="0"/>
                </a:moveTo>
                <a:lnTo>
                  <a:pt x="6733089" y="0"/>
                </a:lnTo>
                <a:lnTo>
                  <a:pt x="6733089" y="765889"/>
                </a:lnTo>
                <a:lnTo>
                  <a:pt x="0" y="7658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894269" y="0"/>
            <a:ext cx="5120728" cy="5143500"/>
            <a:chOff x="0" y="0"/>
            <a:chExt cx="925750" cy="9298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5750" cy="929866"/>
            </a:xfrm>
            <a:custGeom>
              <a:avLst/>
              <a:gdLst/>
              <a:ahLst/>
              <a:cxnLst/>
              <a:rect r="r" b="b" t="t" l="l"/>
              <a:pathLst>
                <a:path h="929866" w="925750">
                  <a:moveTo>
                    <a:pt x="0" y="0"/>
                  </a:moveTo>
                  <a:lnTo>
                    <a:pt x="925750" y="0"/>
                  </a:lnTo>
                  <a:lnTo>
                    <a:pt x="925750" y="929866"/>
                  </a:lnTo>
                  <a:lnTo>
                    <a:pt x="0" y="929866"/>
                  </a:lnTo>
                  <a:close/>
                </a:path>
              </a:pathLst>
            </a:custGeom>
            <a:blipFill>
              <a:blip r:embed="rId6"/>
              <a:stretch>
                <a:fillRect l="-25664" t="0" r="-2566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94269" y="5143500"/>
            <a:ext cx="5120728" cy="5143500"/>
            <a:chOff x="0" y="0"/>
            <a:chExt cx="925750" cy="9298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5750" cy="929866"/>
            </a:xfrm>
            <a:custGeom>
              <a:avLst/>
              <a:gdLst/>
              <a:ahLst/>
              <a:cxnLst/>
              <a:rect r="r" b="b" t="t" l="l"/>
              <a:pathLst>
                <a:path h="929866" w="925750">
                  <a:moveTo>
                    <a:pt x="0" y="0"/>
                  </a:moveTo>
                  <a:lnTo>
                    <a:pt x="925750" y="0"/>
                  </a:lnTo>
                  <a:lnTo>
                    <a:pt x="925750" y="929866"/>
                  </a:lnTo>
                  <a:lnTo>
                    <a:pt x="0" y="929866"/>
                  </a:lnTo>
                  <a:close/>
                </a:path>
              </a:pathLst>
            </a:custGeom>
            <a:blipFill>
              <a:blip r:embed="rId7"/>
              <a:stretch>
                <a:fillRect l="-6688" t="0" r="-668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61400" y="2548633"/>
            <a:ext cx="8509044" cy="1681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95"/>
              </a:lnSpc>
            </a:pPr>
            <a:r>
              <a:rPr lang="en-US" sz="6495" spc="-4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SEHENSWÜ</a:t>
            </a:r>
            <a:r>
              <a:rPr lang="en-US" sz="6495" spc="-4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RDIGKEITEN </a:t>
            </a:r>
          </a:p>
          <a:p>
            <a:pPr algn="r" marL="0" indent="0" lvl="0">
              <a:lnSpc>
                <a:spcPts val="6495"/>
              </a:lnSpc>
              <a:spcBef>
                <a:spcPct val="0"/>
              </a:spcBef>
            </a:pPr>
            <a:r>
              <a:rPr lang="en-US" sz="6495" spc="-4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IN                            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9553" y="5135492"/>
            <a:ext cx="7401762" cy="305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9"/>
              </a:lnSpc>
            </a:pPr>
            <a:r>
              <a:rPr lang="en-US" sz="2408" spc="-1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 Frankfurt gibt es viele Sehenswürdigkeiten.</a:t>
            </a:r>
          </a:p>
          <a:p>
            <a:pPr algn="just">
              <a:lnSpc>
                <a:spcPts val="4069"/>
              </a:lnSpc>
            </a:pPr>
            <a:r>
              <a:rPr lang="en-US" sz="2408" spc="-1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 kann den Römer (das alte Rathaus), den Dom und die Alte Oper besuchen.</a:t>
            </a:r>
          </a:p>
          <a:p>
            <a:pPr algn="just">
              <a:lnSpc>
                <a:spcPts val="4069"/>
              </a:lnSpc>
            </a:pPr>
            <a:r>
              <a:rPr lang="en-US" sz="2408" spc="-1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Die Skyline mit dem Main Tower ist sehr bekannt.</a:t>
            </a:r>
          </a:p>
          <a:p>
            <a:pPr algn="just">
              <a:lnSpc>
                <a:spcPts val="4069"/>
              </a:lnSpc>
            </a:pPr>
            <a:r>
              <a:rPr lang="en-US" sz="2408" spc="-1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Auch der Eiserne Steg, eine Fußgängerbrücke über den Main, ist beliebt.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84031" y="3394095"/>
            <a:ext cx="6438804" cy="905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789"/>
              </a:lnSpc>
              <a:spcBef>
                <a:spcPct val="0"/>
              </a:spcBef>
            </a:pPr>
            <a:r>
              <a:rPr lang="en-US" b="true" sz="6789" spc="-50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FRA</a:t>
            </a:r>
            <a:r>
              <a:rPr lang="en-US" b="true" sz="6789" spc="-50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NKFURT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" r="0" b="-3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40" y="0"/>
            <a:ext cx="5928874" cy="10287000"/>
            <a:chOff x="0" y="0"/>
            <a:chExt cx="1562667" cy="2711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2667" cy="2711333"/>
            </a:xfrm>
            <a:custGeom>
              <a:avLst/>
              <a:gdLst/>
              <a:ahLst/>
              <a:cxnLst/>
              <a:rect r="r" b="b" t="t" l="l"/>
              <a:pathLst>
                <a:path h="2711333" w="1562667">
                  <a:moveTo>
                    <a:pt x="0" y="0"/>
                  </a:moveTo>
                  <a:lnTo>
                    <a:pt x="1562667" y="0"/>
                  </a:lnTo>
                  <a:lnTo>
                    <a:pt x="1562667" y="2711333"/>
                  </a:lnTo>
                  <a:lnTo>
                    <a:pt x="0" y="2711333"/>
                  </a:lnTo>
                  <a:close/>
                </a:path>
              </a:pathLst>
            </a:custGeom>
            <a:blipFill>
              <a:blip r:embed="rId3"/>
              <a:stretch>
                <a:fillRect l="-65811" t="0" r="-6581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573898" y="2648371"/>
            <a:ext cx="3795416" cy="5461501"/>
            <a:chOff x="0" y="0"/>
            <a:chExt cx="1884214" cy="2711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4214" cy="2711333"/>
            </a:xfrm>
            <a:custGeom>
              <a:avLst/>
              <a:gdLst/>
              <a:ahLst/>
              <a:cxnLst/>
              <a:rect r="r" b="b" t="t" l="l"/>
              <a:pathLst>
                <a:path h="2711333" w="1884214">
                  <a:moveTo>
                    <a:pt x="0" y="0"/>
                  </a:moveTo>
                  <a:lnTo>
                    <a:pt x="1884214" y="0"/>
                  </a:lnTo>
                  <a:lnTo>
                    <a:pt x="1884214" y="2711333"/>
                  </a:lnTo>
                  <a:lnTo>
                    <a:pt x="0" y="2711333"/>
                  </a:lnTo>
                  <a:close/>
                </a:path>
              </a:pathLst>
            </a:custGeom>
            <a:blipFill>
              <a:blip r:embed="rId4"/>
              <a:stretch>
                <a:fillRect l="-78063" t="0" r="-7806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471606" y="1349795"/>
            <a:ext cx="10892670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ESSEN &amp; SPEZIALITÄTEN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69035" y="3899910"/>
            <a:ext cx="7793247" cy="396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3"/>
              </a:lnSpc>
            </a:pPr>
            <a:r>
              <a:rPr lang="en-US" sz="2474" spc="-1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Eine berühmte Spezialität ist das Frankfurter Würstchen.</a:t>
            </a:r>
          </a:p>
          <a:p>
            <a:pPr algn="just">
              <a:lnSpc>
                <a:spcPts val="4503"/>
              </a:lnSpc>
            </a:pPr>
            <a:r>
              <a:rPr lang="en-US" sz="2474" spc="-1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 gibt auch “Handkäs mit Musik”, ein typisches Käsegericht aus Hessen.</a:t>
            </a:r>
          </a:p>
          <a:p>
            <a:pPr algn="just">
              <a:lnSpc>
                <a:spcPts val="4503"/>
              </a:lnSpc>
            </a:pPr>
            <a:r>
              <a:rPr lang="en-US" sz="2474" spc="-1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Dazu trinkt man gern Apfelwein – ein Getränk aus Äpfeln, ähnlich wie Cidre.</a:t>
            </a:r>
          </a:p>
          <a:p>
            <a:pPr algn="just">
              <a:lnSpc>
                <a:spcPts val="4503"/>
              </a:lnSpc>
            </a:pPr>
            <a:r>
              <a:rPr lang="en-US" sz="2474" spc="-1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Diese Gerichte sind sehr beliebt in traditionellen Gasthäusern.</a:t>
            </a:r>
          </a:p>
          <a:p>
            <a:pPr algn="just" marL="0" indent="0" lvl="0">
              <a:lnSpc>
                <a:spcPts val="450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565014" y="2572171"/>
            <a:ext cx="6530618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 FRANKFURT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" r="0" b="-3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4478740" cy="10287000"/>
            <a:chOff x="0" y="0"/>
            <a:chExt cx="1180457" cy="2711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0457" cy="2711333"/>
            </a:xfrm>
            <a:custGeom>
              <a:avLst/>
              <a:gdLst/>
              <a:ahLst/>
              <a:cxnLst/>
              <a:rect r="r" b="b" t="t" l="l"/>
              <a:pathLst>
                <a:path h="2711333" w="1180457">
                  <a:moveTo>
                    <a:pt x="0" y="0"/>
                  </a:moveTo>
                  <a:lnTo>
                    <a:pt x="1180457" y="0"/>
                  </a:lnTo>
                  <a:lnTo>
                    <a:pt x="1180457" y="2711333"/>
                  </a:lnTo>
                  <a:lnTo>
                    <a:pt x="0" y="2711333"/>
                  </a:lnTo>
                  <a:close/>
                </a:path>
              </a:pathLst>
            </a:custGeom>
            <a:blipFill>
              <a:blip r:embed="rId3"/>
              <a:stretch>
                <a:fillRect l="-126341" t="0" r="-12634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478740" y="0"/>
            <a:ext cx="5096559" cy="10287000"/>
            <a:chOff x="0" y="0"/>
            <a:chExt cx="1343295" cy="2711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3295" cy="2711333"/>
            </a:xfrm>
            <a:custGeom>
              <a:avLst/>
              <a:gdLst/>
              <a:ahLst/>
              <a:cxnLst/>
              <a:rect r="r" b="b" t="t" l="l"/>
              <a:pathLst>
                <a:path h="2711333" w="1343295">
                  <a:moveTo>
                    <a:pt x="0" y="0"/>
                  </a:moveTo>
                  <a:lnTo>
                    <a:pt x="1343295" y="0"/>
                  </a:lnTo>
                  <a:lnTo>
                    <a:pt x="1343295" y="2711333"/>
                  </a:lnTo>
                  <a:lnTo>
                    <a:pt x="0" y="2711333"/>
                  </a:lnTo>
                  <a:close/>
                </a:path>
              </a:pathLst>
            </a:custGeom>
            <a:blipFill>
              <a:blip r:embed="rId4"/>
              <a:stretch>
                <a:fillRect l="-101646" t="0" r="-101646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811677" y="2927503"/>
            <a:ext cx="7552599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</a:t>
            </a:r>
            <a:r>
              <a:rPr lang="en-US" sz="8000" spc="-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ERSITÄTEN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11677" y="5022027"/>
            <a:ext cx="7552599" cy="3374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3"/>
              </a:lnSpc>
            </a:pPr>
            <a:r>
              <a:rPr lang="en-US" sz="2343" spc="-1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 Frankfurt gibt es zwei große staatliche Universitäten.</a:t>
            </a:r>
          </a:p>
          <a:p>
            <a:pPr algn="just">
              <a:lnSpc>
                <a:spcPts val="3843"/>
              </a:lnSpc>
            </a:pPr>
            <a:r>
              <a:rPr lang="en-US" sz="2343" spc="-1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Die bekannteste ist die Goethe-Universität Frankfurt.</a:t>
            </a:r>
          </a:p>
          <a:p>
            <a:pPr algn="just">
              <a:lnSpc>
                <a:spcPts val="3843"/>
              </a:lnSpc>
            </a:pPr>
            <a:r>
              <a:rPr lang="en-US" sz="2343" spc="-1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Sie ist berühmt für Forschung, Wirtschaft und Naturwissenschaften.</a:t>
            </a:r>
          </a:p>
          <a:p>
            <a:pPr algn="just">
              <a:lnSpc>
                <a:spcPts val="3843"/>
              </a:lnSpc>
            </a:pPr>
            <a:r>
              <a:rPr lang="en-US" sz="2343" spc="-1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Eine weitere Universität ist die Frankfurt University of Applied Sciences.</a:t>
            </a:r>
          </a:p>
          <a:p>
            <a:pPr algn="just" marL="0" indent="0" lvl="0">
              <a:lnSpc>
                <a:spcPts val="3843"/>
              </a:lnSpc>
            </a:pPr>
            <a:r>
              <a:rPr lang="en-US" sz="2343" spc="-1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Beide ziehen viele Studierende aus dem In- und Ausland an.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11677" y="3907873"/>
            <a:ext cx="7169655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 F</a:t>
            </a:r>
            <a:r>
              <a:rPr lang="en-US" b="true" sz="8000" spc="-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RANKFURT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DAGk4UMzKhI</dc:identifier>
  <dcterms:modified xsi:type="dcterms:W3CDTF">2011-08-01T06:04:30Z</dcterms:modified>
  <cp:revision>1</cp:revision>
  <dc:title>Black and White Modern Travel To India Presentation</dc:title>
</cp:coreProperties>
</file>